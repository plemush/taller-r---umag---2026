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6"/>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69" d="100"/>
          <a:sy n="69" d="100"/>
        </p:scale>
        <p:origin x="756"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theme" Target="theme/theme1.xml"/><Relationship Id="rId21" Type="http://schemas.openxmlformats.org/officeDocument/2006/relationships/slide" Target="slides/slide20.xml"/><Relationship Id="rId34" Type="http://schemas.openxmlformats.org/officeDocument/2006/relationships/slide" Target="slides/slide33.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presProps" Target="presProps.xml"/><Relationship Id="rId40"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8" Type="http://schemas.openxmlformats.org/officeDocument/2006/relationships/slide" Target="slides/slide7.xml"/><Relationship Id="rId3"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360416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[0:00 – 1:00 · 1 min] Portada: Visualización avanzada
Bienvenidas y bienvenidos a la tercera sesión. Hoy vamos a trabajar sobre algo que casi todos hacen ya: gráficos con ggplot2. La diferencia es que pasaremos de "un gráfico que sale" a "un gráfico que comunica", lo vamos a combinar con otros en una sola figura y, al final, lo haremos interactivo. Confirmo que la grabación está activa y les pido que abran RStudio con el proyecto del curso, porque la práctica sigue ahí.
Destacar:
• Confirma que la grabación esté activa.
• Pregunta por el chat quién terminó la tarea de la sesión 2 (mover las funciones a R/funciones.R); sirve para calibrar el ritmo.
• Recuerda que hoy se instala un paquete nuevo: plotly (y verifica que patchwork, scales y ggrepel estén instalados).</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[1:00 – 2:30 · 1 min 30 s] La sesión de hoy: 2 horas, tres partes
La sesión dura dos horas: una de charla y una de práctica. En la charla vemos tres partes. Primero, ggplot2 avanzado, unos veinticinco minutos: escalas, color, ejes, orden, anotaciones, facetas y temas. Segundo, cómo combinar gráficos en una sola figura con patchwork y cómo exportarla para un artículo. Tercero, gráficos interactivos con plotly. Cerramos con un caso que une todo, incluida la programación funcional de la sesión pasada. En la práctica hay tres bloques equivalentes a esas partes.
Destacar:
• La charla da el mapa y los criterios; la práctica es donde se consolida.
• Señala que las tres partes siguen una lógica: primero un gráfico correcto, luego una figura, y al final la versión interactiva.
• Recuerda que la clase queda grabada.</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[2:30 – 3:30 · 1 min] Al terminar la sesión podrás…
Tres objetivos. Primero, controlar lo que ggplot2 hace por defecto: escalas, colores, ejes, orden de categorías y temas, para que el gráfico diga lo que tú quieres decir. Segundo, combinar varios gráficos en una figura lista para publicación y exportarla con la calidad correcta. Y tercero, convertir un gráfico en uno interactivo, con tooltips, y saber cuándo conviene hacerlo y cuándo no.
Destacar:
• El hilo conductor es una idea: cada decisión del gráfico debe ser tuya, no del valor por defecto.
• Conecta con la sesión 2: las funciones y purrr reaparecen al final para automatizar figuras.</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 – 6:00 · 2 min 30 s] El problema: mismo dato, dos gráficos
Miren estos dos gráficos: son exactamente los mismos datos, los artículos publicados por área entre dos mil quince y dos mil veinticinco. A la izquierda, el resultado por defecto: ggplot2 elige colores, fondo gris, años con decimales y una leyenda separada de las líneas. A la derecha, el mismo gráfico con unas diez decisiones: paleta accesible, etiquetas directas, años enteros, una anotación para la pandemia y un título que dice el hallazgo. El primero es un borrador de exploración; el segundo comunica. Hoy aprendemos las decisiones que separan uno de otro.
Destacar:
• Deja que miren unos segundos y pregunta: ¿cuál entienden más rápido?
• El título de la derecha afirma algo ("casi se duplicó"): un buen gráfico tiene un mensaje.
• Advierte que no es cuestión de estética: es cuestión de que el lector no tenga que descifrar el gráfico.</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[6:00 – 6:20 · 0 min 20 s] Divisor: Parte 1 · ggplot2 avanzado
Empezamos con la primera parte: ggplot2 avanzado. Veinticinco minutos.
Destacar:
• Punto de control: deberías estar en el minuto 6.
• Pregunta de enganche: ¿cuántas veces han dejado un gráfico "como salió" porque no sabían cómo cambiar algo?</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[6:20 – 8:20 · 2 min] Repaso exprés: la gramática de gráficos
Un repaso muy breve de la gramática, porque todo lo de hoy se apoya en ella. Un gráfico se construye con capas: los datos, la estética que dice qué variable va a qué eje o color, el geom que dibuja, la escala que traduce valores a posiciones y colores, y el tema que define el aspecto general. La idea clave: casi todo lo que ven por defecto es una escala o un tema que podemos reemplazar. Si dominan esas dos piezas, controlan el gráfico.
Destacar:
• No re-enseñes ggplot2 desde cero: es un recordatorio de que cada capa se puede reemplazar.
• Destaca la frase: "lo que ves por defecto es una escala o un tema que puedes reemplazar".
• Si alguien pregunta por coordenadas (coord_), menciona que existen y que las veremos en la práctica solo si hay tiempo.</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[8:20 – 10:30 · 2 min 10 s] Escalas: de los datos a lo que se ve
Una escala es la traducción entre un dato y algo visible. La regla de nombres es muy útil: scale, guion bajo, el nombre de la estética, guion bajo, el tipo. Es decir, scale_x_continuous para el eje x numérico, scale_color_manual para elegir colores a mano, scale_fill_viridis_c para un relleno continuo con viridis. Si hay una estética en aes, hay una escala que la controla. Y cuidado con una trampa: si el color está mapeado a color, la escala debe ser de color y no de relleno; si no, R no avisa y simplemente la ignora.
Destacar:
• Escribe la regla en el chat: scale_&lt;estética&gt;_&lt;tipo&gt;.
• El error clásico es usar scale_fill_* cuando el gráfico usa color, o al revés; lo retomamos en la lámina de errores.
• Las escalas también controlan breaks, labels y límites; los usaremos en la lámina de ejes.</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[10:30 – 13:00 · 2 min 30 s] Color con propósito: tres tipos de paleta
El color tiene tres usos y cada uno pide un tipo de paleta distinto. Para categorías sin orden, como el área de conocimiento, una paleta categórica: colores claramente diferentes entre sí. Para valores ordenados, de menos a más, una paleta secuencial: de claro a oscuro, como viridis. Y para valores que tienen un centro significativo, por ejemplo una diferencia respecto de cero, una paleta divergente con dos tonos y un neutro en el medio. Usar una categórica para valores ordenados, o al revés, es una de las formas más comunes de confundir al lector.
Destacar:
• Pregunta: ¿qué paleta usarían para satisfacción de 1 a 5? (secuencial); ¿y para el cambio entre dos años? (divergente).
• No uses el arcoíris por defecto: no tiene orden natural y exagera diferencias.
• Menciona scale_fill_distiller y scale_fill_gradient2 como alternativas de ggplot2 para continuas.</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[13:00 – 15:00 · 2 min] Paletas accesibles
Aproximadamente uno de cada doce hombres tiene algún grado de daltonismo, y además muchos de nuestros gráficos se imprimen en blanco y negro o se proyectan con mala calidad. Miren la simulación: la paleta por defecto de ggplot2, que usa un rojo y un verde, hace que el rojo y el verde se confundan; la paleta Okabe-Ito, diseñada para ser distinguible, mantiene los tres colores diferenciados. Mi recomendación: definan una paleta una vez, con nombres, y reutilícenla en todos los gráficos; así además sus figuras se ven coherentes en todo el artículo.
Destacar:
• Verifica la cifra si alguien la discute: es una estimación habitual para hombres; en mujeres es mucho menor.
• No dependas solo del color: combina con etiquetas directas, formas o tipos de línea.
• Una paleta con nombres (c("Ciencias Naturales" = "#0072B2", ...)) evita que un color cambie de significado entre gráficos.</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[15:00 – 17:00 · 2 min] Ejes con scales: formatos y límites
El paquete scales trae funciones para formatear los ejes. A la izquierda, el gráfico por defecto: seis e más ocho, un número que nadie lee. A la derecha, con label_number y scale igual a uno por diez a la menos seis, el eje muestra millones de pesos con separador de miles. Hay equivalentes para porcentajes, para moneda, para fechas. También controlamos los breaks, es decir, dónde aparecen las marcas, y la expansión, para que las barras partan exactamente en cero. Un eje bien formateado ahorra explicar en el texto qué unidad es.
Destacar:
• Recuerda poner siempre la unidad en el título del eje o en el subtítulo.
• Para barras, el eje debe partir en cero: expansion(mult = c(0, 0.05)).
• Si usan escala logarítmica, avisen explícitamente en el eje; es fácil de malinterpretar.</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[17:00 – 19:00 · 2 min] Ordenar categorías con forcats
Por defecto, ggplot2 ordena las categorías alfabéticamente, que casi nunca es el orden que ayuda a leer. Con fct_reorder pasamos una variable y otra por la que ordenar: aquí, el programa por la cantidad de artículos. El resultado es un ranking en el que el ojo sube o baja sin esfuerzo. Tienen otras funciones hermanas: fct_infreq ordena por frecuencia, fct_rev invierte el orden y fct_lump agrupa las categorías pequeñas en "Otros". Si el eje tiene nombres largos, pongan la categoría en el eje y y las barras horizontales.
Destacar:
• Muestra el gráfico izquierdo y pregunta: ¿cuál es el programa que más publica? Cuesta encontrarlo.
• fct_reorder vive en forcats, que ya viene con tidyverse.
• Nombres largos: barras horizontales; es más legible que rotar el texto 45 grados.</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[19:00 – 21:10 · 2 min 10 s] Anotaciones: contar la historia dentro del gráfico
Las anotaciones son el contexto que el dato no trae. Con annotate agregamos un rectángulo sombreado para marcar la pandemia, una etiqueta de texto y, con geom_hline, una línea de referencia para la meta. Así el lector no necesita buscar en el texto por qué cae la producción en dos mil veinte. Dos reglas: anoten lo que explica el dato, no lo que ya se ve, y mantengan el texto corto. Annotate es distinto de un geom, porque no usa datos de la tabla: recibe las coordenadas directamente.
Destacar:
• Diferencia: annotate() para elementos puntuales; geom_text() cuando las etiquetas salen de una columna.
• La anotación debe ayudar a interpretar, no decorar.
• Si anotan un evento con fecha, citen la fuente en el caption.</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[21:10 – 22:20 · 1 min 10 s · OPCIONAL] ggrepel: etiquetas que no se pisan
Cuando etiquetamos puntos con geom_text, las etiquetas se superponen, como en el gráfico de la izquierda, donde dos programas quedan ilegibles. El paquete ggrepel ofrece geom_text_repel, que las separa automáticamente y dibuja un segmento hacia su punto. Es un cambio de una sola línea y mejora mucho los gráficos de dispersión con etiquetas.
Destacar:
• Es opcional: si vas atrasado, sáltala o menciónala en una frase.
• Advierte que ggplotly() no soporta ggrepel: para interactivos se usa el tooltip.
Si vas atrasado: Sáltala por completo (ahorras 1 min 10 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[22:20 – 24:30 · 2 min 10 s] Facetas: comparar grupos con escalas libres
Las facetas dividen un gráfico en paneles, uno por grupo. Por defecto todos los paneles comparten la misma escala, lo que sirve para comparar niveles, pero esconde la forma de los grupos pequeños. Con scales igual a free_y, cada panel tiene su propio eje y vemos la tendencia de cada programa, a costa de que no se puedan comparar magnitudes entre paneles. Eso hay que decirlo en el gráfico. Con labeller, además, controlamos el texto de las etiquetas de cada panel; label_wrap_gen parte los nombres largos. Y facet_grid cruza dos variables, filas por columnas.
Destacar:
• Escalas libres: buenas para ver la forma, malas para comparar magnitudes; hay que avisarlo.
• facet_wrap(vars(variable)) con vars() es la sintaxis moderna.
• Menciona que más de ocho o nueve paneles dejan de ser legibles.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[24:30 – 26:30 · 2 min] Mostrar la incertidumbre
Un gráfico responsable muestra cuán seguro es lo que muestra. A la izquierda, geom_smooth con method igual a lm agrega una recta de regresión con su banda de confianza, por nivel: vemos que la relación entre horas y publicaciones no es la misma en doctorado y en magíster, y que la banda del doctorado es ancha, porque hay pocos casos. A la derecha, stat_summary calcula la media con su intervalo de confianza directamente en el gráfico. En ambos casos el lector ve el tamaño del efecto y su incertidumbre, no solo el promedio.
Destacar:
• Cuidado: una tendencia con banda ancha no es una conclusión; conecta con la sesión 4 (regresión).
• stat_summary evita calcular a mano la media y el error estándar.
• Las bandas son un recurso exploratorio: los resultados formales vienen del modelo.</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[26:30 – 28:50 · 2 min 20 s] Temas: un estilo propio y reutilizable
El tema controla fuentes, fondos, grillas y posición de la leyenda. Partimos de un tema base, como theme_minimal, y lo modificamos con theme. Pero lo importante es lo siguiente: en vez de repetir esas líneas en cada gráfico, las envolvemos en una función. theme_posgrado es una función que devuelve un tema; es exactamente lo que aprendimos en la sesión dos. Con eso todas las figuras del proyecto comparten estilo, y si mañana cambian la tipografía, lo cambian en un solo lugar. También pueden fijarlo para todo el script con theme_set.
Destacar:
• Subraya la conexión con la sesión 2: una función que devuelve un objeto de ggplot2.
• theme_set(theme_posgrado()) aplica el tema a todos los gráficos siguientes.
• Pon la función en R/funciones.R, junto con las de la sesión anterior.</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[28:50 – 30:50 · 2 min] Chequeo: ¿qué harías aquí?
Un chequeo rápido con tres situaciones; respondan por el chat. Uno: un gráfico de barras con nombres largos de programas, ordenados alfabéticamente. ¿Qué función usan? Dos: este código usa scale_fill_manual pero los colores no cambian. ¿Cuál es el error? Tres: en un gráfico de dispersión las etiquetas de los puntos se superponen. ¿Qué paquete ayuda? Dejo un minuto para que contesten y luego reviso las respuestas.
Destacar:
• Respuestas: (1) fct_reorder y barras horizontales; (2) el gráfico mapea color, no fill: corresponde scale_color_manual; (3) ggrepel con geom_text_repel.
• Punto de control: deberías estar en el minuto 31.
• Si más de la mitad no responde, repite la lámina de escalas antes de continuar.
Si vas atrasado: Pide solo la respuesta de la pregunta 2 y avanza.</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[30:50 – 31:10 · 0 min 20 s] Divisor: Parte 2 · Combinar gráficos
Segunda parte: combinar gráficos en una sola figura. Diez minutos.
Destacar:
• Punto de control: deberías estar en el minuto 31.
• Pregunta de enganche: ¿cuántas veces han pegado dos gráficos en Word o PowerPoint para armar una figura?</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[31:10 – 33:00 · 1 min 50 s] ¿Facetas o patchwork?
Dos herramientas parecidas que resuelven problemas distintos. Las facetas dividen un mismo gráfico, con los mismos datos y el mismo tipo de geom, según una variable. Patchwork combina gráficos distintos: una serie de tiempo, un ranking y una dispersión, con datos y tipos diferentes, en una figura. La pregunta para decidir es esta: ¿son el mismo gráfico repetido por grupos? Facetas. ¿Son gráficos distintos que juntos cuentan una historia? Patchwork.
Destacar:
• Una buena figura compuesta cuenta una historia: A muestra el contexto, B el detalle, C el resultado.
• Antes de combinar, pregunta si la figura necesita realmente tantos paneles.</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[33:00 – 35:10 · 2 min 10 s] patchwork: sumar, juntar y apilar
Patchwork usa operadores. El signo más junta gráficos y los acomoda en una cuadrícula. La barra vertical pone un gráfico al lado de otro. La barra inclinada apila uno sobre otro. Y los paréntesis controlan el orden, igual que en matemáticas. Aquí, la expresión paréntesis A barra B cierra paréntesis, barra inclinada C, dibuja A y B arriba y C abajo, ocupando todo el ancho. Es de las construcciones más legibles que existen: el código se parece a la figura que quieren armar.
Destacar:
• Muestra el código y la figura a la derecha; haz que relacionen cada letra con su panel.
• Pregunta: ¿cómo pondrían A arriba y B y C abajo? (A / (B | C)).
• wrap_plots() arma la figura desde una lista de gráficos; lo usamos en el caso final.</a:t>
            </a:r>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[35:10 – 37:30 · 2 min 20 s] Control fino: layout, leyendas y etiquetas
Una vez combinados, tres funciones dan el acabado. plot_layout controla las proporciones, con heights y widths, y con guides igual a "collect" junta las leyendas repetidas en una sola. plot_annotation agrega un título general y las etiquetas A, B, C que piden las revistas. Y una diferencia importante: si aplican un tema con el signo más, solo afecta al último gráfico; con el ampersand, que se lee "aplica a todos", el tema llega a cada panel. Esta es la causa de más de un "¿por qué mi figura quedó dispareja?".
Destacar:
• Subraya + versus &amp;: es la fuente de errores más frecuente con patchwork.
• tag_levels = "A" también admite "a", "1" o "I".
• Las leyendas repetidas confunden: junten o eliminen las que sobran.</a:t>
            </a:r>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[37:30 – 38:40 · 1 min 10 s · OPCIONAL] inset_element: un gráfico dentro de otro
Un último recurso de patchwork: inset_element inserta un gráfico pequeño dentro de otro, indicando las coordenadas de la esquina izquierda, abajo, derecha y arriba, entre cero y uno. Aquí agregamos la tendencia total en la esquina superior de una dispersión. Es útil para dar contexto sin ocupar más espacio, pero no abusen: un gráfico dentro de otro puede ensuciar la lectura.
Destacar:
• Es opcional: si vas atrasado, sáltala.
• Las coordenadas son relativas al panel, de 0 a 1.
Si vas atrasado: Sáltala por completo (ahorras 1 min 10 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[38:40 – 40:40 · 2 min] Exportar: tamaño, resolución y formato
Una figura publicable depende de cómo se guarde. ggsave guarda el último gráfico, o el que le indiquen, y conviene fijar siempre el ancho, el alto y las unidades. Para un artículo, una columna ronda los ocho o nueve centímetros y dos columnas, unos diecisiete o dieciocho, pero revisen la guía de la revista. La resolución para imagen suele ser de trescientos dpi. Y si la revista acepta formatos vectoriales, como pdf o svg, es preferible: no se pixelan al ampliar. Guarden siempre desde el código, no con el botón Export, para poder reproducirlo.
Destacar:
• Recuerda guardar en outputs/figuras/, que quedó fuera del repositorio en la sesión 1.
• El tamaño en ggsave define cuánto pesa el texto: un gráfico de 8 cm con texto de 12 pt se ve enorme.
• ragg::agg_png genera mejor calidad de texto que el dispositivo por defecto.</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[40:40 – 41:00 · 0 min 20 s] Divisor: Parte 3 · Visualizaciones interactivas
Tercera parte: visualizaciones interactivas. Diez minutos.
Destacar:
• Punto de control: deberías estar en el minuto 41.
• Pregunta de enganche: ¿para qué producto necesitarían un gráfico que se pueda explorar? (informes, intranet, tablero).</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[41:00 – 43:10 · 2 min 10 s] ggplotly(): de estático a interactivo en una línea
El paquete plotly convierte un gráfico de ggplot2 en uno interactivo con una sola función: ggplotly. Pasamos el objeto, y obtenemos zoom, selección, desplazamiento, un botón para descargar una imagen y un tooltip al pasar el cursor. A la derecha vemos el resultado, con el tooltip abierto. Es importante entender que ggplotly traduce la mayor parte de ggplot2, pero no todo: por ejemplo, ggrepel no está implementado. Por eso conviene construir primero un gráfico estático correcto y recién después interactivo.
Destacar:
• En vivo: si hay tiempo, ejecuta ggplotly(p) en RStudio y pasa el cursor sobre algún punto.
• El gráfico interactivo aparece en el panel Viewer.
• Los gráficos con geoms poco comunes pueden traducirse mal; revisa siempre el resultado.</a:t>
            </a:r>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[43:10 – 45:20 · 2 min 10 s] Tooltips a medida
El tooltip por defecto muestra todas las variables mapeadas, y muchas veces eso es demasiado o poco. Con la estética text, que ggplot2 ignora pero plotly usa, armamos el mensaje: un paste con el nombre del programa, las horas y las publicaciones, usando mas br para saltar de línea. Luego, en ggplotly, tooltip igual a "text" le dice que muestre solo eso. Con layout y config ajustamos detalles, como ocultar la barra de herramientas. Piensen en el tooltip como la nota explicativa de cada punto.
Destacar:
• Es normal que ggplot2 avise que "text" es una estética desconocida; en este contexto se ignora.
• Usa &lt;br&gt; para saltos de línea dentro del tooltip.
• Escribe tooltips legibles: nombre y unidad, no nombres de columnas internas.</a:t>
            </a:r>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[45:20 – 47:10 · 1 min 50 s] Guardar y compartir un gráfico interactivo
Un gráfico interactivo vive en HTML. Con saveWidget y selfcontained igual a TRUE guardamos un único archivo que cualquiera puede abrir en su navegador, sin R: sirve para enviarlo por correo o publicarlo en una intranet. Dentro de un documento Quarto con salida HTML, simplemente se muestra interactivo. Pero en un PDF o en Word, no: ahí hay que usar la versión estática. Por eso el flujo recomendable es hacer ambas: la estática para el artículo y la interactiva para el informe web.
Destacar:
• Selfcontained puede pesar varios MB porque incluye la librería; tenlo en cuenta al enviar por correo.
• Quarto con PDF o Word: usa el gráfico estático; lo veremos en la sesión 7.
• Un archivo HTML no necesita R instalado para abrirse.</a:t>
            </a:r>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[47:10 – 48:20 · 1 min 10 s · OPCIONAL] Tablas interactivas con DT
Lo mismo ocurre con las tablas. El paquete DT convierte un data frame en una tabla con búsqueda, orden por columna, paginación y filtros por columna. Con una sola línea tienen una exploración cómoda de los datos, y funciona en el mismo HTML que los gráficos. Para presentar resultados finales en papel, mejor una tabla estática; DT es para explorar.
Destacar:
• Es opcional: si vas atrasado, sáltala.
• filter = "top" agrega los cuadros de filtro por columna.
Si vas atrasado: Sáltala por completo (ahorras 1 min 10 s).</a:t>
            </a:r>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[48:20 – 50:10 · 1 min 50 s] ¿Cuándo interactivo y cuándo estático?
Interactivo no es mejor, es distinto. Si el producto es un artículo, un póster, una presentación o un informe en PDF o Word, lo correcto es un gráfico estático bien diseñado, porque el lector no puede pasar el cursor por encima de una hoja. Si el producto es un informe web, una intranet o una exploración con muchos puntos y detalles, lo interactivo aporta. La regla práctica: primero el gráfico estático correcto, y luego, si el medio lo permite, la versión interactiva.
Destacar:
• Una interacción vale la pena cuando el lector necesita detalles que no caben en el gráfico.
• Interactividad sin un buen diseño base es solo una distracción.
• Punto de control: deberías estar en el minuto 50.
Si vas atrasado: Resume la lámina en una frase: primero estático, después interactivo.</a:t>
            </a:r>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[50:10 – 52:10 · 2 min] La receta: del dato al gráfico
Para no perderse, una receta de cinco pasos. Uno: definir la pregunta y el mensaje; qué quiero que el lector concluya. Dos: elegir el geom correcto para esa pregunta. Tres: preparar los datos, incluyendo el orden de las categorías. Cuatro: pulir, con escala, color, anotaciones y tema. Cinco: la salida: una figura combinada, un archivo exportado o una versión interactiva. Fíjense que el estilo viene al final: primero el mensaje, después el maquillaje.
Destacar:
• Si solo recuerdan un paso: el 1. Un gráfico sin mensaje no se arregla con color.
• Es la estructura que sigue la guía de práctica.</a:t>
            </a:r>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[52:10 – 55:10 · 3 min] Caso integrado: función + purrr + patchwork
Un caso que une todo. Escribimos una función, panel, que recibe los datos, el nombre de una variable como texto y un título, y devuelve un gráfico de líneas por área; para usar el nombre como texto empleamos punto data entre dobles corchetes, que ya vimos en la sesión dos. Luego, en vez de copiar tres veces la llamada, usamos map2 de purrr para recorrer las variables y los títulos en paralelo, y wrap_plots acomoda la lista de gráficos en una fila. Con plot_layout juntamos las leyendas, con plot_annotation ponemos las letras, y el ampersand aplica el tema a todos. Una figura de tres paneles con unas pocas líneas.
Destacar:
• Es una demostración: si puedes, ejecútala en vivo y cambia una variable.
• Conecta tres ideas: funciones propias y .data[[ ]] (sesión 2), map2() de purrr y patchwork.
• Pregunta: ¿cómo agregarían un cuarto panel? (otra variable y otro título en los vectores).
Si vas atrasado: Muestra solo la figura final y comenta el código en una frase.</a:t>
            </a:r>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[55:10 – 57:10 · 2 min] Errores frecuentes y buenas prácticas
Cuatro trampas para cerrar. Una: poner un valor fijo dentro de aes; el color "blue" dentro de aes no pinta de azul, crea una leyenda y usa el color por defecto: los valores fijos van fuera. Dos: confundir color y fill en las escalas. Tres: aplicar un tema a una figura de patchwork con el signo más en vez del ampersand. Y cuatro: pasar una figura patchwork a ggplotly; no funciona, hay que convertir cada gráfico y combinarlos con subplot. Y una buena práctica: guarden las figuras con código y no a mano.
Destacar:
• Si alguien tiene un caso real de estos errores, pídele que lo comparta.
• Cierra con la idea de probar cada gráfico antes de combinarlo.</a:t>
            </a:r>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[57:10 – 58:40 · 1 min 30 s] Ahora, a practicar (60 minutos)
Ahora a practicar, una hora, con tres bloques. Una preparación de cinco minutos: crear R/sesion3.R y copiar los datos nuevos. Después, ggplot2 avanzado, veinte minutos. Luego, combinar y exportar, quince, y por último, interactivos, quince; y cinco más para el cierre. Escriban su código en el script y usen la guía como hoja de ruta. Si se traban más de tres minutos, avancen y pregunten por el chat.
Destacar:
• Verifica que todos tengan plotly instalado: install.packages("plotly").
• Comparte el enlace o los archivos del material.
• Avisa que estarás disponible durante la práctica; quien termine antes puede intentar los retos.</a:t>
            </a:r>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[58:40 – 60:00 · 1 min 20 s] Lo esencial y dónde seguir
Para llevar: lo que ves por defecto es una escala o un tema que puedes cambiar; el color debe tener un propósito y ser accesible; ordenar y anotar ayuda más que adornar; patchwork combina con más, barra y barra inclinada, y el ampersand aplica el tema a todos; ggplotly vuelve interactivo un gráfico estático correcto. Para seguir, el libro de ggplot2 de Hadley Wickham y la documentación de patchwork y plotly. La próxima sesión es regresión lineal: traigan una pregunta con dos variables de su investigación que quieran modelar.
Destacar:
• Deja esta lámina visible mientras comienza la práctica.
• Próxima sesión: Regresión lineal.
• Tarea sugerida: terminar los retos y subir theme_posgrado() a R/funciones.R.</a:t>
            </a:r>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1.xml"/><Relationship Id="rId5" Type="http://schemas.openxmlformats.org/officeDocument/2006/relationships/image" Target="../media/image3.png"/><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 Id="rId4" Type="http://schemas.openxmlformats.org/officeDocument/2006/relationships/image" Target="../media/image5.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3.xml"/><Relationship Id="rId1" Type="http://schemas.openxmlformats.org/officeDocument/2006/relationships/slideLayout" Target="../slideLayouts/slideLayout1.xml"/><Relationship Id="rId4" Type="http://schemas.openxmlformats.org/officeDocument/2006/relationships/image" Target="../media/image12.png"/></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xml"/><Relationship Id="rId4" Type="http://schemas.openxmlformats.org/officeDocument/2006/relationships/image" Target="../media/image16.png"/></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xml"/></Relationships>
</file>

<file path=ppt/slides/_rels/slide19.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0.xml"/><Relationship Id="rId1" Type="http://schemas.openxmlformats.org/officeDocument/2006/relationships/slideLayout" Target="../slideLayouts/slideLayout1.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8.xml"/><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1.xml"/><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1.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1828800"/>
            <a:ext cx="100584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ANÁLISIS DE DATOS EN R · NIVEL BÁSICO-INTERMEDIO</a:t>
            </a:r>
            <a:endParaRPr lang="en-US" sz="1100" dirty="0"/>
          </a:p>
        </p:txBody>
      </p:sp>
      <p:sp>
        <p:nvSpPr>
          <p:cNvPr id="5" name="Text 3"/>
          <p:cNvSpPr txBox="1"/>
          <p:nvPr/>
        </p:nvSpPr>
        <p:spPr>
          <a:xfrm>
            <a:off x="731520" y="2286000"/>
            <a:ext cx="10058400" cy="914400"/>
          </a:xfrm>
          <a:prstGeom prst="rect">
            <a:avLst/>
          </a:prstGeom>
          <a:noFill/>
          <a:ln/>
        </p:spPr>
        <p:txBody>
          <a:bodyPr wrap="square" lIns="0" tIns="0" rIns="0" bIns="0" rtlCol="0" anchor="ctr"/>
          <a:lstStyle/>
          <a:p>
            <a:pPr marL="0" indent="0">
              <a:buNone/>
            </a:pPr>
            <a:r>
              <a:rPr lang="en-US" sz="4400" b="1" dirty="0">
                <a:solidFill>
                  <a:srgbClr val="FFFFFF"/>
                </a:solidFill>
                <a:latin typeface="Cambria" pitchFamily="34" charset="0"/>
                <a:ea typeface="Cambria" pitchFamily="34" charset="-122"/>
                <a:cs typeface="Cambria" pitchFamily="34" charset="-120"/>
              </a:rPr>
              <a:t>Visualización avanzada</a:t>
            </a:r>
            <a:endParaRPr lang="en-US" sz="4400" dirty="0"/>
          </a:p>
        </p:txBody>
      </p:sp>
      <p:sp>
        <p:nvSpPr>
          <p:cNvPr id="6" name="Text 4"/>
          <p:cNvSpPr txBox="1"/>
          <p:nvPr/>
        </p:nvSpPr>
        <p:spPr>
          <a:xfrm>
            <a:off x="731520" y="3246120"/>
            <a:ext cx="10515600" cy="457200"/>
          </a:xfrm>
          <a:prstGeom prst="rect">
            <a:avLst/>
          </a:prstGeom>
          <a:noFill/>
          <a:ln/>
        </p:spPr>
        <p:txBody>
          <a:bodyPr wrap="square" lIns="0" tIns="0" rIns="0" bIns="0" rtlCol="0" anchor="ctr"/>
          <a:lstStyle/>
          <a:p>
            <a:pPr marL="0" indent="0">
              <a:buNone/>
            </a:pPr>
            <a:r>
              <a:rPr lang="en-US" sz="2000" dirty="0">
                <a:solidFill>
                  <a:srgbClr val="C9DDEC"/>
                </a:solidFill>
                <a:latin typeface="Calibri" pitchFamily="34" charset="0"/>
                <a:ea typeface="Calibri" pitchFamily="34" charset="-122"/>
                <a:cs typeface="Calibri" pitchFamily="34" charset="-120"/>
              </a:rPr>
              <a:t>ggplot2 avanzado, combinación de gráficos y visualizaciones interactivas</a:t>
            </a:r>
            <a:endParaRPr lang="en-US" sz="2000" dirty="0"/>
          </a:p>
        </p:txBody>
      </p:sp>
      <p:sp>
        <p:nvSpPr>
          <p:cNvPr id="7" name="Text 5"/>
          <p:cNvSpPr txBox="1"/>
          <p:nvPr/>
        </p:nvSpPr>
        <p:spPr>
          <a:xfrm>
            <a:off x="731520" y="4023360"/>
            <a:ext cx="8229600" cy="320040"/>
          </a:xfrm>
          <a:prstGeom prst="rect">
            <a:avLst/>
          </a:prstGeom>
          <a:noFill/>
          <a:ln/>
        </p:spPr>
        <p:txBody>
          <a:bodyPr wrap="square" lIns="0" tIns="0" rIns="0" bIns="0" rtlCol="0" anchor="ctr"/>
          <a:lstStyle/>
          <a:p>
            <a:pPr marL="0" indent="0">
              <a:buNone/>
            </a:pPr>
            <a:r>
              <a:rPr lang="en-US" sz="1400" dirty="0">
                <a:solidFill>
                  <a:srgbClr val="9DB8CE"/>
                </a:solidFill>
                <a:latin typeface="Calibri" pitchFamily="34" charset="0"/>
                <a:ea typeface="Calibri" pitchFamily="34" charset="-122"/>
                <a:cs typeface="Calibri" pitchFamily="34" charset="-120"/>
              </a:rPr>
              <a:t>Sesión 3 de 8 · Charla (1 h) + Práctica guiada (1 h)</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PANORAMA</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La sesión de hoy: 2 horas, tres partes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a:t>
            </a:r>
            <a:endParaRPr lang="en-US" sz="800" dirty="0"/>
          </a:p>
        </p:txBody>
      </p:sp>
      <p:sp>
        <p:nvSpPr>
          <p:cNvPr id="7" name="Shape 4"/>
          <p:cNvSpPr/>
          <p:nvPr/>
        </p:nvSpPr>
        <p:spPr>
          <a:xfrm>
            <a:off x="548640" y="1463040"/>
            <a:ext cx="5330952" cy="4480560"/>
          </a:xfrm>
          <a:prstGeom prst="roundRect">
            <a:avLst>
              <a:gd name="adj" fmla="val 142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Text 5"/>
          <p:cNvSpPr txBox="1"/>
          <p:nvPr/>
        </p:nvSpPr>
        <p:spPr>
          <a:xfrm>
            <a:off x="822960" y="1645920"/>
            <a:ext cx="45720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Charla · 60 min</a:t>
            </a:r>
            <a:endParaRPr lang="en-US" sz="1800" dirty="0"/>
          </a:p>
        </p:txBody>
      </p:sp>
      <p:sp>
        <p:nvSpPr>
          <p:cNvPr id="9" name="Shape 6"/>
          <p:cNvSpPr/>
          <p:nvPr/>
        </p:nvSpPr>
        <p:spPr>
          <a:xfrm>
            <a:off x="822960" y="2148840"/>
            <a:ext cx="450799" cy="164592"/>
          </a:xfrm>
          <a:prstGeom prst="rect">
            <a:avLst/>
          </a:prstGeom>
          <a:solidFill>
            <a:srgbClr val="065A82"/>
          </a:solidFill>
          <a:ln w="12700">
            <a:solidFill>
              <a:srgbClr val="065A82"/>
            </a:solidFill>
            <a:prstDash val="solid"/>
          </a:ln>
        </p:spPr>
        <p:txBody>
          <a:bodyPr/>
          <a:lstStyle/>
          <a:p>
            <a:endParaRPr lang="es-CL"/>
          </a:p>
        </p:txBody>
      </p:sp>
      <p:sp>
        <p:nvSpPr>
          <p:cNvPr id="10" name="Shape 7"/>
          <p:cNvSpPr/>
          <p:nvPr/>
        </p:nvSpPr>
        <p:spPr>
          <a:xfrm>
            <a:off x="1301191" y="2148840"/>
            <a:ext cx="1965198" cy="164592"/>
          </a:xfrm>
          <a:prstGeom prst="rect">
            <a:avLst/>
          </a:prstGeom>
          <a:solidFill>
            <a:srgbClr val="1C7293"/>
          </a:solidFill>
          <a:ln w="12700">
            <a:solidFill>
              <a:srgbClr val="1C7293"/>
            </a:solidFill>
            <a:prstDash val="solid"/>
          </a:ln>
        </p:spPr>
        <p:txBody>
          <a:bodyPr/>
          <a:lstStyle/>
          <a:p>
            <a:endParaRPr lang="es-CL"/>
          </a:p>
        </p:txBody>
      </p:sp>
      <p:sp>
        <p:nvSpPr>
          <p:cNvPr id="11" name="Shape 8"/>
          <p:cNvSpPr/>
          <p:nvPr/>
        </p:nvSpPr>
        <p:spPr>
          <a:xfrm>
            <a:off x="3293821" y="2148840"/>
            <a:ext cx="769620" cy="164592"/>
          </a:xfrm>
          <a:prstGeom prst="rect">
            <a:avLst/>
          </a:prstGeom>
          <a:solidFill>
            <a:srgbClr val="065A82"/>
          </a:solidFill>
          <a:ln w="12700">
            <a:solidFill>
              <a:srgbClr val="065A82"/>
            </a:solidFill>
            <a:prstDash val="solid"/>
          </a:ln>
        </p:spPr>
        <p:txBody>
          <a:bodyPr/>
          <a:lstStyle/>
          <a:p>
            <a:endParaRPr lang="es-CL"/>
          </a:p>
        </p:txBody>
      </p:sp>
      <p:sp>
        <p:nvSpPr>
          <p:cNvPr id="12" name="Shape 9"/>
          <p:cNvSpPr/>
          <p:nvPr/>
        </p:nvSpPr>
        <p:spPr>
          <a:xfrm>
            <a:off x="4090873" y="2148840"/>
            <a:ext cx="769620" cy="164592"/>
          </a:xfrm>
          <a:prstGeom prst="rect">
            <a:avLst/>
          </a:prstGeom>
          <a:solidFill>
            <a:srgbClr val="1C7293"/>
          </a:solidFill>
          <a:ln w="12700">
            <a:solidFill>
              <a:srgbClr val="1C7293"/>
            </a:solidFill>
            <a:prstDash val="solid"/>
          </a:ln>
        </p:spPr>
        <p:txBody>
          <a:bodyPr/>
          <a:lstStyle/>
          <a:p>
            <a:endParaRPr lang="es-CL"/>
          </a:p>
        </p:txBody>
      </p:sp>
      <p:sp>
        <p:nvSpPr>
          <p:cNvPr id="13" name="Shape 10"/>
          <p:cNvSpPr/>
          <p:nvPr/>
        </p:nvSpPr>
        <p:spPr>
          <a:xfrm>
            <a:off x="4887925" y="2148840"/>
            <a:ext cx="689915" cy="164592"/>
          </a:xfrm>
          <a:prstGeom prst="rect">
            <a:avLst/>
          </a:prstGeom>
          <a:solidFill>
            <a:srgbClr val="065A82"/>
          </a:solidFill>
          <a:ln w="12700">
            <a:solidFill>
              <a:srgbClr val="065A82"/>
            </a:solidFill>
            <a:prstDash val="solid"/>
          </a:ln>
        </p:spPr>
        <p:txBody>
          <a:bodyPr/>
          <a:lstStyle/>
          <a:p>
            <a:endParaRPr lang="es-CL"/>
          </a:p>
        </p:txBody>
      </p:sp>
      <p:sp>
        <p:nvSpPr>
          <p:cNvPr id="14" name="Text 11"/>
          <p:cNvSpPr txBox="1"/>
          <p:nvPr/>
        </p:nvSpPr>
        <p:spPr>
          <a:xfrm>
            <a:off x="822960" y="2606040"/>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Apertura</a:t>
            </a:r>
            <a:endParaRPr lang="en-US" sz="1300" dirty="0"/>
          </a:p>
        </p:txBody>
      </p:sp>
      <p:sp>
        <p:nvSpPr>
          <p:cNvPr id="15" name="Text 12"/>
          <p:cNvSpPr txBox="1"/>
          <p:nvPr/>
        </p:nvSpPr>
        <p:spPr>
          <a:xfrm>
            <a:off x="4389120" y="2606040"/>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6 min</a:t>
            </a:r>
            <a:endParaRPr lang="en-US" sz="1300" dirty="0"/>
          </a:p>
        </p:txBody>
      </p:sp>
      <p:sp>
        <p:nvSpPr>
          <p:cNvPr id="16" name="Shape 13"/>
          <p:cNvSpPr/>
          <p:nvPr/>
        </p:nvSpPr>
        <p:spPr>
          <a:xfrm>
            <a:off x="822960" y="3063240"/>
            <a:ext cx="4782312" cy="0"/>
          </a:xfrm>
          <a:prstGeom prst="line">
            <a:avLst/>
          </a:prstGeom>
          <a:noFill/>
          <a:ln w="9525">
            <a:solidFill>
              <a:srgbClr val="E4EEF2"/>
            </a:solidFill>
            <a:prstDash val="solid"/>
          </a:ln>
        </p:spPr>
        <p:txBody>
          <a:bodyPr/>
          <a:lstStyle/>
          <a:p>
            <a:endParaRPr lang="es-CL"/>
          </a:p>
        </p:txBody>
      </p:sp>
      <p:sp>
        <p:nvSpPr>
          <p:cNvPr id="17" name="Text 14"/>
          <p:cNvSpPr txBox="1"/>
          <p:nvPr/>
        </p:nvSpPr>
        <p:spPr>
          <a:xfrm>
            <a:off x="822960" y="3227832"/>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ggplot2 avanzado</a:t>
            </a:r>
            <a:endParaRPr lang="en-US" sz="1300" dirty="0"/>
          </a:p>
        </p:txBody>
      </p:sp>
      <p:sp>
        <p:nvSpPr>
          <p:cNvPr id="18" name="Text 15"/>
          <p:cNvSpPr txBox="1"/>
          <p:nvPr/>
        </p:nvSpPr>
        <p:spPr>
          <a:xfrm>
            <a:off x="4389120" y="3227832"/>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25 min</a:t>
            </a:r>
            <a:endParaRPr lang="en-US" sz="1300" dirty="0"/>
          </a:p>
        </p:txBody>
      </p:sp>
      <p:sp>
        <p:nvSpPr>
          <p:cNvPr id="19" name="Shape 16"/>
          <p:cNvSpPr/>
          <p:nvPr/>
        </p:nvSpPr>
        <p:spPr>
          <a:xfrm>
            <a:off x="822960" y="3685032"/>
            <a:ext cx="4782312" cy="0"/>
          </a:xfrm>
          <a:prstGeom prst="line">
            <a:avLst/>
          </a:prstGeom>
          <a:noFill/>
          <a:ln w="9525">
            <a:solidFill>
              <a:srgbClr val="E4EEF2"/>
            </a:solidFill>
            <a:prstDash val="solid"/>
          </a:ln>
        </p:spPr>
        <p:txBody>
          <a:bodyPr/>
          <a:lstStyle/>
          <a:p>
            <a:endParaRPr lang="es-CL"/>
          </a:p>
        </p:txBody>
      </p:sp>
      <p:sp>
        <p:nvSpPr>
          <p:cNvPr id="20" name="Text 17"/>
          <p:cNvSpPr txBox="1"/>
          <p:nvPr/>
        </p:nvSpPr>
        <p:spPr>
          <a:xfrm>
            <a:off x="822960" y="3849624"/>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Combinar gráficos</a:t>
            </a:r>
            <a:endParaRPr lang="en-US" sz="1300" dirty="0"/>
          </a:p>
        </p:txBody>
      </p:sp>
      <p:sp>
        <p:nvSpPr>
          <p:cNvPr id="21" name="Text 18"/>
          <p:cNvSpPr txBox="1"/>
          <p:nvPr/>
        </p:nvSpPr>
        <p:spPr>
          <a:xfrm>
            <a:off x="4389120" y="3849624"/>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10 min</a:t>
            </a:r>
            <a:endParaRPr lang="en-US" sz="1300" dirty="0"/>
          </a:p>
        </p:txBody>
      </p:sp>
      <p:sp>
        <p:nvSpPr>
          <p:cNvPr id="22" name="Shape 19"/>
          <p:cNvSpPr/>
          <p:nvPr/>
        </p:nvSpPr>
        <p:spPr>
          <a:xfrm>
            <a:off x="822960" y="4306824"/>
            <a:ext cx="4782312" cy="0"/>
          </a:xfrm>
          <a:prstGeom prst="line">
            <a:avLst/>
          </a:prstGeom>
          <a:noFill/>
          <a:ln w="9525">
            <a:solidFill>
              <a:srgbClr val="E4EEF2"/>
            </a:solidFill>
            <a:prstDash val="solid"/>
          </a:ln>
        </p:spPr>
        <p:txBody>
          <a:bodyPr/>
          <a:lstStyle/>
          <a:p>
            <a:endParaRPr lang="es-CL"/>
          </a:p>
        </p:txBody>
      </p:sp>
      <p:sp>
        <p:nvSpPr>
          <p:cNvPr id="23" name="Text 20"/>
          <p:cNvSpPr txBox="1"/>
          <p:nvPr/>
        </p:nvSpPr>
        <p:spPr>
          <a:xfrm>
            <a:off x="822960" y="4471416"/>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Visualizaciones interactivas</a:t>
            </a:r>
            <a:endParaRPr lang="en-US" sz="1300" dirty="0"/>
          </a:p>
        </p:txBody>
      </p:sp>
      <p:sp>
        <p:nvSpPr>
          <p:cNvPr id="24" name="Text 21"/>
          <p:cNvSpPr txBox="1"/>
          <p:nvPr/>
        </p:nvSpPr>
        <p:spPr>
          <a:xfrm>
            <a:off x="4389120" y="4471416"/>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10 min</a:t>
            </a:r>
            <a:endParaRPr lang="en-US" sz="1300" dirty="0"/>
          </a:p>
        </p:txBody>
      </p:sp>
      <p:sp>
        <p:nvSpPr>
          <p:cNvPr id="25" name="Shape 22"/>
          <p:cNvSpPr/>
          <p:nvPr/>
        </p:nvSpPr>
        <p:spPr>
          <a:xfrm>
            <a:off x="822960" y="4928616"/>
            <a:ext cx="4782312" cy="0"/>
          </a:xfrm>
          <a:prstGeom prst="line">
            <a:avLst/>
          </a:prstGeom>
          <a:noFill/>
          <a:ln w="9525">
            <a:solidFill>
              <a:srgbClr val="E4EEF2"/>
            </a:solidFill>
            <a:prstDash val="solid"/>
          </a:ln>
        </p:spPr>
        <p:txBody>
          <a:bodyPr/>
          <a:lstStyle/>
          <a:p>
            <a:endParaRPr lang="es-CL"/>
          </a:p>
        </p:txBody>
      </p:sp>
      <p:sp>
        <p:nvSpPr>
          <p:cNvPr id="26" name="Text 23"/>
          <p:cNvSpPr txBox="1"/>
          <p:nvPr/>
        </p:nvSpPr>
        <p:spPr>
          <a:xfrm>
            <a:off x="822960" y="5093208"/>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Integración y cierre</a:t>
            </a:r>
            <a:endParaRPr lang="en-US" sz="1300" dirty="0"/>
          </a:p>
        </p:txBody>
      </p:sp>
      <p:sp>
        <p:nvSpPr>
          <p:cNvPr id="27" name="Text 24"/>
          <p:cNvSpPr txBox="1"/>
          <p:nvPr/>
        </p:nvSpPr>
        <p:spPr>
          <a:xfrm>
            <a:off x="4389120" y="5093208"/>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9 min</a:t>
            </a:r>
            <a:endParaRPr lang="en-US" sz="1300" dirty="0"/>
          </a:p>
        </p:txBody>
      </p:sp>
      <p:sp>
        <p:nvSpPr>
          <p:cNvPr id="28" name="Shape 25"/>
          <p:cNvSpPr/>
          <p:nvPr/>
        </p:nvSpPr>
        <p:spPr>
          <a:xfrm>
            <a:off x="6309360" y="1463040"/>
            <a:ext cx="5330952" cy="4480560"/>
          </a:xfrm>
          <a:prstGeom prst="roundRect">
            <a:avLst>
              <a:gd name="adj" fmla="val 142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9" name="Text 26"/>
          <p:cNvSpPr txBox="1"/>
          <p:nvPr/>
        </p:nvSpPr>
        <p:spPr>
          <a:xfrm>
            <a:off x="6583680" y="1645920"/>
            <a:ext cx="4572000" cy="365760"/>
          </a:xfrm>
          <a:prstGeom prst="rect">
            <a:avLst/>
          </a:prstGeom>
          <a:noFill/>
          <a:ln/>
        </p:spPr>
        <p:txBody>
          <a:bodyPr wrap="square" lIns="0" tIns="0" rIns="0" bIns="0" rtlCol="0" anchor="ctr"/>
          <a:lstStyle/>
          <a:p>
            <a:pPr marL="0" indent="0">
              <a:buNone/>
            </a:pPr>
            <a:r>
              <a:rPr lang="en-US" sz="1800" b="1" dirty="0">
                <a:solidFill>
                  <a:srgbClr val="21295C"/>
                </a:solidFill>
                <a:latin typeface="Cambria" pitchFamily="34" charset="0"/>
                <a:ea typeface="Cambria" pitchFamily="34" charset="-122"/>
                <a:cs typeface="Cambria" pitchFamily="34" charset="-120"/>
              </a:rPr>
              <a:t>Práctica · 60 min</a:t>
            </a:r>
            <a:endParaRPr lang="en-US" sz="1800" dirty="0"/>
          </a:p>
        </p:txBody>
      </p:sp>
      <p:sp>
        <p:nvSpPr>
          <p:cNvPr id="30" name="Shape 27"/>
          <p:cNvSpPr/>
          <p:nvPr/>
        </p:nvSpPr>
        <p:spPr>
          <a:xfrm>
            <a:off x="6583680" y="2148840"/>
            <a:ext cx="371094" cy="164592"/>
          </a:xfrm>
          <a:prstGeom prst="rect">
            <a:avLst/>
          </a:prstGeom>
          <a:solidFill>
            <a:srgbClr val="065A82"/>
          </a:solidFill>
          <a:ln w="12700">
            <a:solidFill>
              <a:srgbClr val="065A82"/>
            </a:solidFill>
            <a:prstDash val="solid"/>
          </a:ln>
        </p:spPr>
        <p:txBody>
          <a:bodyPr/>
          <a:lstStyle/>
          <a:p>
            <a:endParaRPr lang="es-CL"/>
          </a:p>
        </p:txBody>
      </p:sp>
      <p:sp>
        <p:nvSpPr>
          <p:cNvPr id="31" name="Shape 28"/>
          <p:cNvSpPr/>
          <p:nvPr/>
        </p:nvSpPr>
        <p:spPr>
          <a:xfrm>
            <a:off x="6982206" y="2148840"/>
            <a:ext cx="1566672" cy="164592"/>
          </a:xfrm>
          <a:prstGeom prst="rect">
            <a:avLst/>
          </a:prstGeom>
          <a:solidFill>
            <a:srgbClr val="1C7293"/>
          </a:solidFill>
          <a:ln w="12700">
            <a:solidFill>
              <a:srgbClr val="1C7293"/>
            </a:solidFill>
            <a:prstDash val="solid"/>
          </a:ln>
        </p:spPr>
        <p:txBody>
          <a:bodyPr/>
          <a:lstStyle/>
          <a:p>
            <a:endParaRPr lang="es-CL"/>
          </a:p>
        </p:txBody>
      </p:sp>
      <p:sp>
        <p:nvSpPr>
          <p:cNvPr id="32" name="Shape 29"/>
          <p:cNvSpPr/>
          <p:nvPr/>
        </p:nvSpPr>
        <p:spPr>
          <a:xfrm>
            <a:off x="8576310" y="2148840"/>
            <a:ext cx="1168146" cy="164592"/>
          </a:xfrm>
          <a:prstGeom prst="rect">
            <a:avLst/>
          </a:prstGeom>
          <a:solidFill>
            <a:srgbClr val="065A82"/>
          </a:solidFill>
          <a:ln w="12700">
            <a:solidFill>
              <a:srgbClr val="065A82"/>
            </a:solidFill>
            <a:prstDash val="solid"/>
          </a:ln>
        </p:spPr>
        <p:txBody>
          <a:bodyPr/>
          <a:lstStyle/>
          <a:p>
            <a:endParaRPr lang="es-CL"/>
          </a:p>
        </p:txBody>
      </p:sp>
      <p:sp>
        <p:nvSpPr>
          <p:cNvPr id="33" name="Shape 30"/>
          <p:cNvSpPr/>
          <p:nvPr/>
        </p:nvSpPr>
        <p:spPr>
          <a:xfrm>
            <a:off x="9771888" y="2148840"/>
            <a:ext cx="1168146" cy="164592"/>
          </a:xfrm>
          <a:prstGeom prst="rect">
            <a:avLst/>
          </a:prstGeom>
          <a:solidFill>
            <a:srgbClr val="1C7293"/>
          </a:solidFill>
          <a:ln w="12700">
            <a:solidFill>
              <a:srgbClr val="1C7293"/>
            </a:solidFill>
            <a:prstDash val="solid"/>
          </a:ln>
        </p:spPr>
        <p:txBody>
          <a:bodyPr/>
          <a:lstStyle/>
          <a:p>
            <a:endParaRPr lang="es-CL"/>
          </a:p>
        </p:txBody>
      </p:sp>
      <p:sp>
        <p:nvSpPr>
          <p:cNvPr id="34" name="Shape 31"/>
          <p:cNvSpPr/>
          <p:nvPr/>
        </p:nvSpPr>
        <p:spPr>
          <a:xfrm>
            <a:off x="10967466" y="2148840"/>
            <a:ext cx="371094" cy="164592"/>
          </a:xfrm>
          <a:prstGeom prst="rect">
            <a:avLst/>
          </a:prstGeom>
          <a:solidFill>
            <a:srgbClr val="065A82"/>
          </a:solidFill>
          <a:ln w="12700">
            <a:solidFill>
              <a:srgbClr val="065A82"/>
            </a:solidFill>
            <a:prstDash val="solid"/>
          </a:ln>
        </p:spPr>
        <p:txBody>
          <a:bodyPr/>
          <a:lstStyle/>
          <a:p>
            <a:endParaRPr lang="es-CL"/>
          </a:p>
        </p:txBody>
      </p:sp>
      <p:sp>
        <p:nvSpPr>
          <p:cNvPr id="35" name="Text 32"/>
          <p:cNvSpPr txBox="1"/>
          <p:nvPr/>
        </p:nvSpPr>
        <p:spPr>
          <a:xfrm>
            <a:off x="6583680" y="2606040"/>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0 · Preparación</a:t>
            </a:r>
            <a:endParaRPr lang="en-US" sz="1300" dirty="0"/>
          </a:p>
        </p:txBody>
      </p:sp>
      <p:sp>
        <p:nvSpPr>
          <p:cNvPr id="36" name="Text 33"/>
          <p:cNvSpPr txBox="1"/>
          <p:nvPr/>
        </p:nvSpPr>
        <p:spPr>
          <a:xfrm>
            <a:off x="10149840" y="2606040"/>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37" name="Shape 34"/>
          <p:cNvSpPr/>
          <p:nvPr/>
        </p:nvSpPr>
        <p:spPr>
          <a:xfrm>
            <a:off x="6583680" y="3063240"/>
            <a:ext cx="4782312" cy="0"/>
          </a:xfrm>
          <a:prstGeom prst="line">
            <a:avLst/>
          </a:prstGeom>
          <a:noFill/>
          <a:ln w="9525">
            <a:solidFill>
              <a:srgbClr val="E4EEF2"/>
            </a:solidFill>
            <a:prstDash val="solid"/>
          </a:ln>
        </p:spPr>
        <p:txBody>
          <a:bodyPr/>
          <a:lstStyle/>
          <a:p>
            <a:endParaRPr lang="es-CL"/>
          </a:p>
        </p:txBody>
      </p:sp>
      <p:sp>
        <p:nvSpPr>
          <p:cNvPr id="38" name="Text 35"/>
          <p:cNvSpPr txBox="1"/>
          <p:nvPr/>
        </p:nvSpPr>
        <p:spPr>
          <a:xfrm>
            <a:off x="6583680" y="3227832"/>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1 · ggplot2 avanzado</a:t>
            </a:r>
            <a:endParaRPr lang="en-US" sz="1300" dirty="0"/>
          </a:p>
        </p:txBody>
      </p:sp>
      <p:sp>
        <p:nvSpPr>
          <p:cNvPr id="39" name="Text 36"/>
          <p:cNvSpPr txBox="1"/>
          <p:nvPr/>
        </p:nvSpPr>
        <p:spPr>
          <a:xfrm>
            <a:off x="10149840" y="3227832"/>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40" name="Shape 37"/>
          <p:cNvSpPr/>
          <p:nvPr/>
        </p:nvSpPr>
        <p:spPr>
          <a:xfrm>
            <a:off x="6583680" y="3685032"/>
            <a:ext cx="4782312" cy="0"/>
          </a:xfrm>
          <a:prstGeom prst="line">
            <a:avLst/>
          </a:prstGeom>
          <a:noFill/>
          <a:ln w="9525">
            <a:solidFill>
              <a:srgbClr val="E4EEF2"/>
            </a:solidFill>
            <a:prstDash val="solid"/>
          </a:ln>
        </p:spPr>
        <p:txBody>
          <a:bodyPr/>
          <a:lstStyle/>
          <a:p>
            <a:endParaRPr lang="es-CL"/>
          </a:p>
        </p:txBody>
      </p:sp>
      <p:sp>
        <p:nvSpPr>
          <p:cNvPr id="41" name="Text 38"/>
          <p:cNvSpPr txBox="1"/>
          <p:nvPr/>
        </p:nvSpPr>
        <p:spPr>
          <a:xfrm>
            <a:off x="6583680" y="3849624"/>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2 · Combinar y exportar</a:t>
            </a:r>
            <a:endParaRPr lang="en-US" sz="1300" dirty="0"/>
          </a:p>
        </p:txBody>
      </p:sp>
      <p:sp>
        <p:nvSpPr>
          <p:cNvPr id="42" name="Text 39"/>
          <p:cNvSpPr txBox="1"/>
          <p:nvPr/>
        </p:nvSpPr>
        <p:spPr>
          <a:xfrm>
            <a:off x="10149840" y="3849624"/>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15 min</a:t>
            </a:r>
            <a:endParaRPr lang="en-US" sz="1300" dirty="0"/>
          </a:p>
        </p:txBody>
      </p:sp>
      <p:sp>
        <p:nvSpPr>
          <p:cNvPr id="43" name="Shape 40"/>
          <p:cNvSpPr/>
          <p:nvPr/>
        </p:nvSpPr>
        <p:spPr>
          <a:xfrm>
            <a:off x="6583680" y="4306824"/>
            <a:ext cx="4782312" cy="0"/>
          </a:xfrm>
          <a:prstGeom prst="line">
            <a:avLst/>
          </a:prstGeom>
          <a:noFill/>
          <a:ln w="9525">
            <a:solidFill>
              <a:srgbClr val="E4EEF2"/>
            </a:solidFill>
            <a:prstDash val="solid"/>
          </a:ln>
        </p:spPr>
        <p:txBody>
          <a:bodyPr/>
          <a:lstStyle/>
          <a:p>
            <a:endParaRPr lang="es-CL"/>
          </a:p>
        </p:txBody>
      </p:sp>
      <p:sp>
        <p:nvSpPr>
          <p:cNvPr id="44" name="Text 41"/>
          <p:cNvSpPr txBox="1"/>
          <p:nvPr/>
        </p:nvSpPr>
        <p:spPr>
          <a:xfrm>
            <a:off x="6583680" y="4471416"/>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Bloque 3 · Interactivos</a:t>
            </a:r>
            <a:endParaRPr lang="en-US" sz="1300" dirty="0"/>
          </a:p>
        </p:txBody>
      </p:sp>
      <p:sp>
        <p:nvSpPr>
          <p:cNvPr id="45" name="Text 42"/>
          <p:cNvSpPr txBox="1"/>
          <p:nvPr/>
        </p:nvSpPr>
        <p:spPr>
          <a:xfrm>
            <a:off x="10149840" y="4471416"/>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15 min</a:t>
            </a:r>
            <a:endParaRPr lang="en-US" sz="1300" dirty="0"/>
          </a:p>
        </p:txBody>
      </p:sp>
      <p:sp>
        <p:nvSpPr>
          <p:cNvPr id="46" name="Shape 43"/>
          <p:cNvSpPr/>
          <p:nvPr/>
        </p:nvSpPr>
        <p:spPr>
          <a:xfrm>
            <a:off x="6583680" y="4928616"/>
            <a:ext cx="4782312" cy="0"/>
          </a:xfrm>
          <a:prstGeom prst="line">
            <a:avLst/>
          </a:prstGeom>
          <a:noFill/>
          <a:ln w="9525">
            <a:solidFill>
              <a:srgbClr val="E4EEF2"/>
            </a:solidFill>
            <a:prstDash val="solid"/>
          </a:ln>
        </p:spPr>
        <p:txBody>
          <a:bodyPr/>
          <a:lstStyle/>
          <a:p>
            <a:endParaRPr lang="es-CL"/>
          </a:p>
        </p:txBody>
      </p:sp>
      <p:sp>
        <p:nvSpPr>
          <p:cNvPr id="47" name="Text 44"/>
          <p:cNvSpPr txBox="1"/>
          <p:nvPr/>
        </p:nvSpPr>
        <p:spPr>
          <a:xfrm>
            <a:off x="6583680" y="5093208"/>
            <a:ext cx="3657600" cy="365760"/>
          </a:xfrm>
          <a:prstGeom prst="rect">
            <a:avLst/>
          </a:prstGeom>
          <a:noFill/>
          <a:ln/>
        </p:spPr>
        <p:txBody>
          <a:bodyPr wrap="square" lIns="0" tIns="0" rIns="0" bIns="0" rtlCol="0" anchor="ctr"/>
          <a:lstStyle/>
          <a:p>
            <a:pPr marL="0" indent="0">
              <a:buNone/>
            </a:pPr>
            <a:r>
              <a:rPr lang="en-US" sz="1300" dirty="0">
                <a:solidFill>
                  <a:srgbClr val="1E2A44"/>
                </a:solidFill>
                <a:latin typeface="Calibri" pitchFamily="34" charset="0"/>
                <a:ea typeface="Calibri" pitchFamily="34" charset="-122"/>
                <a:cs typeface="Calibri" pitchFamily="34" charset="-120"/>
              </a:rPr>
              <a:t>Cierre y dudas</a:t>
            </a:r>
            <a:endParaRPr lang="en-US" sz="1300" dirty="0"/>
          </a:p>
        </p:txBody>
      </p:sp>
      <p:sp>
        <p:nvSpPr>
          <p:cNvPr id="48" name="Text 45"/>
          <p:cNvSpPr txBox="1"/>
          <p:nvPr/>
        </p:nvSpPr>
        <p:spPr>
          <a:xfrm>
            <a:off x="10149840" y="5093208"/>
            <a:ext cx="1216152" cy="365760"/>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OBJETIVOS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Al terminar la sesión podrás…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a:t>
            </a:r>
            <a:endParaRPr lang="en-US" sz="800" dirty="0"/>
          </a:p>
        </p:txBody>
      </p:sp>
      <p:sp>
        <p:nvSpPr>
          <p:cNvPr id="7" name="Shape 4"/>
          <p:cNvSpPr/>
          <p:nvPr/>
        </p:nvSpPr>
        <p:spPr>
          <a:xfrm>
            <a:off x="548640" y="1600200"/>
            <a:ext cx="3584448"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868680" y="1920240"/>
            <a:ext cx="868680" cy="868680"/>
          </a:xfrm>
          <a:prstGeom prst="ellipse">
            <a:avLst/>
          </a:prstGeom>
          <a:solidFill>
            <a:srgbClr val="21295C"/>
          </a:solidFill>
          <a:ln w="12700">
            <a:solidFill>
              <a:srgbClr val="21295C"/>
            </a:solidFill>
            <a:prstDash val="solid"/>
          </a:ln>
        </p:spPr>
        <p:txBody>
          <a:bodyPr/>
          <a:lstStyle/>
          <a:p>
            <a:endParaRPr lang="es-CL"/>
          </a:p>
        </p:txBody>
      </p:sp>
      <p:pic>
        <p:nvPicPr>
          <p:cNvPr id="9" name="Image 0" descr="preencoded.png"/>
          <p:cNvPicPr>
            <a:picLocks noChangeAspect="1"/>
          </p:cNvPicPr>
          <p:nvPr/>
        </p:nvPicPr>
        <p:blipFill>
          <a:blip r:embed="rId3"/>
          <a:stretch>
            <a:fillRect/>
          </a:stretch>
        </p:blipFill>
        <p:spPr>
          <a:xfrm>
            <a:off x="1115568" y="2167128"/>
            <a:ext cx="374904" cy="374904"/>
          </a:xfrm>
          <a:prstGeom prst="rect">
            <a:avLst/>
          </a:prstGeom>
        </p:spPr>
      </p:pic>
      <p:sp>
        <p:nvSpPr>
          <p:cNvPr id="10" name="Text 6"/>
          <p:cNvSpPr txBox="1"/>
          <p:nvPr/>
        </p:nvSpPr>
        <p:spPr>
          <a:xfrm>
            <a:off x="868680" y="3017520"/>
            <a:ext cx="3017520"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Controlar el gráfico</a:t>
            </a:r>
            <a:endParaRPr lang="en-US" sz="1900" dirty="0"/>
          </a:p>
        </p:txBody>
      </p:sp>
      <p:sp>
        <p:nvSpPr>
          <p:cNvPr id="11" name="Text 7"/>
          <p:cNvSpPr txBox="1"/>
          <p:nvPr/>
        </p:nvSpPr>
        <p:spPr>
          <a:xfrm>
            <a:off x="868680" y="3520440"/>
            <a:ext cx="2971800" cy="137160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Escalas, color, ejes, orden y temas: que el gráfico diga lo que tú quieres decir, no lo que decide el valor por defecto.</a:t>
            </a:r>
            <a:endParaRPr lang="en-US" sz="1400" dirty="0"/>
          </a:p>
        </p:txBody>
      </p:sp>
      <p:sp>
        <p:nvSpPr>
          <p:cNvPr id="12" name="Shape 8"/>
          <p:cNvSpPr/>
          <p:nvPr/>
        </p:nvSpPr>
        <p:spPr>
          <a:xfrm>
            <a:off x="4297680" y="1600200"/>
            <a:ext cx="3584448"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Shape 9"/>
          <p:cNvSpPr/>
          <p:nvPr/>
        </p:nvSpPr>
        <p:spPr>
          <a:xfrm>
            <a:off x="4617720" y="1920240"/>
            <a:ext cx="868680" cy="868680"/>
          </a:xfrm>
          <a:prstGeom prst="ellipse">
            <a:avLst/>
          </a:prstGeom>
          <a:solidFill>
            <a:srgbClr val="065A82"/>
          </a:solidFill>
          <a:ln w="12700">
            <a:solidFill>
              <a:srgbClr val="065A82"/>
            </a:solidFill>
            <a:prstDash val="solid"/>
          </a:ln>
        </p:spPr>
        <p:txBody>
          <a:bodyPr/>
          <a:lstStyle/>
          <a:p>
            <a:endParaRPr lang="es-CL"/>
          </a:p>
        </p:txBody>
      </p:sp>
      <p:pic>
        <p:nvPicPr>
          <p:cNvPr id="14" name="Image 1" descr="preencoded.png"/>
          <p:cNvPicPr>
            <a:picLocks noChangeAspect="1"/>
          </p:cNvPicPr>
          <p:nvPr/>
        </p:nvPicPr>
        <p:blipFill>
          <a:blip r:embed="rId4"/>
          <a:stretch>
            <a:fillRect/>
          </a:stretch>
        </p:blipFill>
        <p:spPr>
          <a:xfrm>
            <a:off x="4864608" y="2167128"/>
            <a:ext cx="374904" cy="374904"/>
          </a:xfrm>
          <a:prstGeom prst="rect">
            <a:avLst/>
          </a:prstGeom>
        </p:spPr>
      </p:pic>
      <p:sp>
        <p:nvSpPr>
          <p:cNvPr id="15" name="Text 10"/>
          <p:cNvSpPr txBox="1"/>
          <p:nvPr/>
        </p:nvSpPr>
        <p:spPr>
          <a:xfrm>
            <a:off x="4617720" y="3017520"/>
            <a:ext cx="3017520"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Combinar y exportar</a:t>
            </a:r>
            <a:endParaRPr lang="en-US" sz="1900" dirty="0"/>
          </a:p>
        </p:txBody>
      </p:sp>
      <p:sp>
        <p:nvSpPr>
          <p:cNvPr id="16" name="Text 11"/>
          <p:cNvSpPr txBox="1"/>
          <p:nvPr/>
        </p:nvSpPr>
        <p:spPr>
          <a:xfrm>
            <a:off x="4617720" y="3520440"/>
            <a:ext cx="2971800" cy="137160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Reunir varios gráficos en una figura lista para publicación y guardarla con el tamaño y la resolución correctos.</a:t>
            </a:r>
            <a:endParaRPr lang="en-US" sz="1400" dirty="0"/>
          </a:p>
        </p:txBody>
      </p:sp>
      <p:sp>
        <p:nvSpPr>
          <p:cNvPr id="17" name="Shape 12"/>
          <p:cNvSpPr/>
          <p:nvPr/>
        </p:nvSpPr>
        <p:spPr>
          <a:xfrm>
            <a:off x="8046720" y="1600200"/>
            <a:ext cx="3584448" cy="3246120"/>
          </a:xfrm>
          <a:prstGeom prst="roundRect">
            <a:avLst>
              <a:gd name="adj" fmla="val 197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Shape 13"/>
          <p:cNvSpPr/>
          <p:nvPr/>
        </p:nvSpPr>
        <p:spPr>
          <a:xfrm>
            <a:off x="8366760" y="1920240"/>
            <a:ext cx="868680" cy="868680"/>
          </a:xfrm>
          <a:prstGeom prst="ellipse">
            <a:avLst/>
          </a:prstGeom>
          <a:solidFill>
            <a:srgbClr val="1C7293"/>
          </a:solidFill>
          <a:ln w="12700">
            <a:solidFill>
              <a:srgbClr val="1C7293"/>
            </a:solidFill>
            <a:prstDash val="solid"/>
          </a:ln>
        </p:spPr>
        <p:txBody>
          <a:bodyPr/>
          <a:lstStyle/>
          <a:p>
            <a:endParaRPr lang="es-CL"/>
          </a:p>
        </p:txBody>
      </p:sp>
      <p:pic>
        <p:nvPicPr>
          <p:cNvPr id="19" name="Image 2" descr="preencoded.png"/>
          <p:cNvPicPr>
            <a:picLocks noChangeAspect="1"/>
          </p:cNvPicPr>
          <p:nvPr/>
        </p:nvPicPr>
        <p:blipFill>
          <a:blip r:embed="rId5"/>
          <a:stretch>
            <a:fillRect/>
          </a:stretch>
        </p:blipFill>
        <p:spPr>
          <a:xfrm>
            <a:off x="8613648" y="2167128"/>
            <a:ext cx="374904" cy="374904"/>
          </a:xfrm>
          <a:prstGeom prst="rect">
            <a:avLst/>
          </a:prstGeom>
        </p:spPr>
      </p:pic>
      <p:sp>
        <p:nvSpPr>
          <p:cNvPr id="20" name="Text 14"/>
          <p:cNvSpPr txBox="1"/>
          <p:nvPr/>
        </p:nvSpPr>
        <p:spPr>
          <a:xfrm>
            <a:off x="8366760" y="3017520"/>
            <a:ext cx="3017520" cy="411480"/>
          </a:xfrm>
          <a:prstGeom prst="rect">
            <a:avLst/>
          </a:prstGeom>
          <a:noFill/>
          <a:ln/>
        </p:spPr>
        <p:txBody>
          <a:bodyPr wrap="square" lIns="0" tIns="0" rIns="0" bIns="0" rtlCol="0" anchor="ctr"/>
          <a:lstStyle/>
          <a:p>
            <a:pPr marL="0" indent="0">
              <a:buNone/>
            </a:pPr>
            <a:r>
              <a:rPr lang="en-US" sz="1900" b="1" dirty="0">
                <a:solidFill>
                  <a:srgbClr val="21295C"/>
                </a:solidFill>
                <a:latin typeface="Cambria" pitchFamily="34" charset="0"/>
                <a:ea typeface="Cambria" pitchFamily="34" charset="-122"/>
                <a:cs typeface="Cambria" pitchFamily="34" charset="-120"/>
              </a:rPr>
              <a:t>Hacerlo interactivo</a:t>
            </a:r>
            <a:endParaRPr lang="en-US" sz="1900" dirty="0"/>
          </a:p>
        </p:txBody>
      </p:sp>
      <p:sp>
        <p:nvSpPr>
          <p:cNvPr id="21" name="Text 15"/>
          <p:cNvSpPr txBox="1"/>
          <p:nvPr/>
        </p:nvSpPr>
        <p:spPr>
          <a:xfrm>
            <a:off x="8366760" y="3520440"/>
            <a:ext cx="2971800" cy="1371600"/>
          </a:xfrm>
          <a:prstGeom prst="rect">
            <a:avLst/>
          </a:prstGeom>
          <a:noFill/>
          <a:ln/>
        </p:spPr>
        <p:txBody>
          <a:bodyPr wrap="square" lIns="0" tIns="0" rIns="0" bIns="0" rtlCol="0" anchor="t"/>
          <a:lstStyle/>
          <a:p>
            <a:pPr marL="0" indent="0">
              <a:buNone/>
            </a:pPr>
            <a:r>
              <a:rPr lang="en-US" sz="1400" dirty="0">
                <a:solidFill>
                  <a:srgbClr val="1E2A44"/>
                </a:solidFill>
                <a:latin typeface="Calibri" pitchFamily="34" charset="0"/>
                <a:ea typeface="Calibri" pitchFamily="34" charset="-122"/>
                <a:cs typeface="Calibri" pitchFamily="34" charset="-120"/>
              </a:rPr>
              <a:t>Convertir un gráfico en uno interactivo con tooltips, y decidir cuándo conviene y cuándo no.</a:t>
            </a:r>
            <a:endParaRPr lang="en-US" sz="1400" dirty="0"/>
          </a:p>
        </p:txBody>
      </p:sp>
      <p:sp>
        <p:nvSpPr>
          <p:cNvPr id="22" name="Shape 16"/>
          <p:cNvSpPr/>
          <p:nvPr/>
        </p:nvSpPr>
        <p:spPr>
          <a:xfrm>
            <a:off x="548640" y="5166360"/>
            <a:ext cx="11091672" cy="548640"/>
          </a:xfrm>
          <a:prstGeom prst="rect">
            <a:avLst/>
          </a:prstGeom>
          <a:solidFill>
            <a:srgbClr val="E4EEF2"/>
          </a:solidFill>
          <a:ln w="12700">
            <a:solidFill>
              <a:srgbClr val="E4EEF2"/>
            </a:solidFill>
            <a:prstDash val="solid"/>
          </a:ln>
        </p:spPr>
        <p:txBody>
          <a:bodyPr/>
          <a:lstStyle/>
          <a:p>
            <a:endParaRPr lang="es-CL"/>
          </a:p>
        </p:txBody>
      </p:sp>
      <p:sp>
        <p:nvSpPr>
          <p:cNvPr id="23" name="Shape 17"/>
          <p:cNvSpPr/>
          <p:nvPr/>
        </p:nvSpPr>
        <p:spPr>
          <a:xfrm>
            <a:off x="548640" y="5166360"/>
            <a:ext cx="64008" cy="548640"/>
          </a:xfrm>
          <a:prstGeom prst="rect">
            <a:avLst/>
          </a:prstGeom>
          <a:solidFill>
            <a:srgbClr val="1C7293"/>
          </a:solidFill>
          <a:ln w="12700">
            <a:solidFill>
              <a:srgbClr val="1C7293"/>
            </a:solidFill>
            <a:prstDash val="solid"/>
          </a:ln>
        </p:spPr>
        <p:txBody>
          <a:bodyPr/>
          <a:lstStyle/>
          <a:p>
            <a:endParaRPr lang="es-CL"/>
          </a:p>
        </p:txBody>
      </p:sp>
      <p:sp>
        <p:nvSpPr>
          <p:cNvPr id="24" name="Text 18"/>
          <p:cNvSpPr txBox="1"/>
          <p:nvPr/>
        </p:nvSpPr>
        <p:spPr>
          <a:xfrm>
            <a:off x="749808" y="5166360"/>
            <a:ext cx="10771632" cy="548640"/>
          </a:xfrm>
          <a:prstGeom prst="rect">
            <a:avLst/>
          </a:prstGeom>
          <a:noFill/>
          <a:ln/>
        </p:spPr>
        <p:txBody>
          <a:bodyPr wrap="square" lIns="0" tIns="0" rIns="0" bIns="0" rtlCol="0" anchor="ctr"/>
          <a:lstStyle/>
          <a:p>
            <a:pPr marL="0" indent="0">
              <a:buNone/>
            </a:pPr>
            <a:r>
              <a:rPr lang="en-US" sz="1300" i="1" dirty="0">
                <a:solidFill>
                  <a:srgbClr val="1E2A44"/>
                </a:solidFill>
                <a:latin typeface="Calibri" pitchFamily="34" charset="0"/>
                <a:ea typeface="Calibri" pitchFamily="34" charset="-122"/>
                <a:cs typeface="Calibri" pitchFamily="34" charset="-120"/>
              </a:rPr>
              <a:t>Hilo conductor: cada decisión del gráfico debe ser tuya, no del valor por defecto.</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MOTIVACIÓN</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El problema: mismo dato, dos gráficos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4</a:t>
            </a:r>
            <a:endParaRPr lang="en-US" sz="800" dirty="0"/>
          </a:p>
        </p:txBody>
      </p:sp>
      <p:sp>
        <p:nvSpPr>
          <p:cNvPr id="7" name="Text 4"/>
          <p:cNvSpPr txBox="1"/>
          <p:nvPr/>
        </p:nvSpPr>
        <p:spPr>
          <a:xfrm>
            <a:off x="548640" y="137160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POR DEFECTO</a:t>
            </a:r>
            <a:endParaRPr lang="en-US" sz="900" dirty="0"/>
          </a:p>
        </p:txBody>
      </p:sp>
      <p:sp>
        <p:nvSpPr>
          <p:cNvPr id="8" name="Text 5"/>
          <p:cNvSpPr txBox="1"/>
          <p:nvPr/>
        </p:nvSpPr>
        <p:spPr>
          <a:xfrm>
            <a:off x="6309360" y="1371600"/>
            <a:ext cx="4572000" cy="228600"/>
          </a:xfrm>
          <a:prstGeom prst="rect">
            <a:avLst/>
          </a:prstGeom>
          <a:noFill/>
          <a:ln/>
        </p:spPr>
        <p:txBody>
          <a:bodyPr wrap="square" lIns="0" tIns="0" rIns="0" bIns="0" rtlCol="0" anchor="ctr"/>
          <a:lstStyle/>
          <a:p>
            <a:pPr marL="0" indent="0">
              <a:buNone/>
            </a:pPr>
            <a:r>
              <a:rPr lang="en-US" sz="900" b="1" kern="0" spc="200" dirty="0">
                <a:solidFill>
                  <a:srgbClr val="B7791F"/>
                </a:solidFill>
                <a:latin typeface="Calibri" pitchFamily="34" charset="0"/>
                <a:ea typeface="Calibri" pitchFamily="34" charset="-122"/>
                <a:cs typeface="Calibri" pitchFamily="34" charset="-120"/>
              </a:rPr>
              <a:t>CON DECISIONES</a:t>
            </a:r>
            <a:endParaRPr lang="en-US" sz="900" dirty="0"/>
          </a:p>
        </p:txBody>
      </p:sp>
      <p:sp>
        <p:nvSpPr>
          <p:cNvPr id="9" name="Shape 6"/>
          <p:cNvSpPr/>
          <p:nvPr/>
        </p:nvSpPr>
        <p:spPr>
          <a:xfrm>
            <a:off x="548640" y="1627632"/>
            <a:ext cx="5340096" cy="3406582"/>
          </a:xfrm>
          <a:prstGeom prst="roundRect">
            <a:avLst>
              <a:gd name="adj" fmla="val 134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0" name="Image 0" descr="/home/claude/s3/figs/f01_defecto.png"/>
          <p:cNvPicPr>
            <a:picLocks noChangeAspect="1"/>
          </p:cNvPicPr>
          <p:nvPr/>
        </p:nvPicPr>
        <p:blipFill>
          <a:blip r:embed="rId3"/>
          <a:stretch>
            <a:fillRect/>
          </a:stretch>
        </p:blipFill>
        <p:spPr>
          <a:xfrm>
            <a:off x="612648" y="1691640"/>
            <a:ext cx="5212080" cy="3278566"/>
          </a:xfrm>
          <a:prstGeom prst="rect">
            <a:avLst/>
          </a:prstGeom>
        </p:spPr>
      </p:pic>
      <p:sp>
        <p:nvSpPr>
          <p:cNvPr id="11" name="Shape 7"/>
          <p:cNvSpPr/>
          <p:nvPr/>
        </p:nvSpPr>
        <p:spPr>
          <a:xfrm>
            <a:off x="6309360" y="1627632"/>
            <a:ext cx="5340096" cy="3406582"/>
          </a:xfrm>
          <a:prstGeom prst="roundRect">
            <a:avLst>
              <a:gd name="adj" fmla="val 134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2" name="Image 1" descr="/home/claude/s3/figs/f01_final.png"/>
          <p:cNvPicPr>
            <a:picLocks noChangeAspect="1"/>
          </p:cNvPicPr>
          <p:nvPr/>
        </p:nvPicPr>
        <p:blipFill>
          <a:blip r:embed="rId4"/>
          <a:stretch>
            <a:fillRect/>
          </a:stretch>
        </p:blipFill>
        <p:spPr>
          <a:xfrm>
            <a:off x="6373368" y="1691640"/>
            <a:ext cx="5212080" cy="3278566"/>
          </a:xfrm>
          <a:prstGeom prst="rect">
            <a:avLst/>
          </a:prstGeom>
        </p:spPr>
      </p:pic>
      <p:sp>
        <p:nvSpPr>
          <p:cNvPr id="13" name="Shape 8"/>
          <p:cNvSpPr/>
          <p:nvPr/>
        </p:nvSpPr>
        <p:spPr>
          <a:xfrm>
            <a:off x="548640" y="5257800"/>
            <a:ext cx="1755648" cy="365760"/>
          </a:xfrm>
          <a:prstGeom prst="roundRect">
            <a:avLst>
              <a:gd name="adj" fmla="val 50000"/>
            </a:avLst>
          </a:prstGeom>
          <a:solidFill>
            <a:srgbClr val="E4EEF2"/>
          </a:solidFill>
          <a:ln w="12700">
            <a:solidFill>
              <a:srgbClr val="E4EEF2"/>
            </a:solidFill>
            <a:prstDash val="solid"/>
          </a:ln>
        </p:spPr>
        <p:txBody>
          <a:bodyPr/>
          <a:lstStyle/>
          <a:p>
            <a:endParaRPr lang="es-CL"/>
          </a:p>
        </p:txBody>
      </p:sp>
      <p:sp>
        <p:nvSpPr>
          <p:cNvPr id="14" name="Text 9"/>
          <p:cNvSpPr txBox="1"/>
          <p:nvPr/>
        </p:nvSpPr>
        <p:spPr>
          <a:xfrm>
            <a:off x="548640" y="5257800"/>
            <a:ext cx="1755648" cy="365760"/>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Paleta accesible</a:t>
            </a:r>
            <a:endParaRPr lang="en-US" sz="1100" dirty="0"/>
          </a:p>
        </p:txBody>
      </p:sp>
      <p:sp>
        <p:nvSpPr>
          <p:cNvPr id="15" name="Shape 10"/>
          <p:cNvSpPr/>
          <p:nvPr/>
        </p:nvSpPr>
        <p:spPr>
          <a:xfrm>
            <a:off x="2423160" y="5257800"/>
            <a:ext cx="1755648" cy="365760"/>
          </a:xfrm>
          <a:prstGeom prst="roundRect">
            <a:avLst>
              <a:gd name="adj" fmla="val 50000"/>
            </a:avLst>
          </a:prstGeom>
          <a:solidFill>
            <a:srgbClr val="E4EEF2"/>
          </a:solidFill>
          <a:ln w="12700">
            <a:solidFill>
              <a:srgbClr val="E4EEF2"/>
            </a:solidFill>
            <a:prstDash val="solid"/>
          </a:ln>
        </p:spPr>
        <p:txBody>
          <a:bodyPr/>
          <a:lstStyle/>
          <a:p>
            <a:endParaRPr lang="es-CL"/>
          </a:p>
        </p:txBody>
      </p:sp>
      <p:sp>
        <p:nvSpPr>
          <p:cNvPr id="16" name="Text 11"/>
          <p:cNvSpPr txBox="1"/>
          <p:nvPr/>
        </p:nvSpPr>
        <p:spPr>
          <a:xfrm>
            <a:off x="2423160" y="5257800"/>
            <a:ext cx="1755648" cy="365760"/>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Etiquetas directas</a:t>
            </a:r>
            <a:endParaRPr lang="en-US" sz="1100" dirty="0"/>
          </a:p>
        </p:txBody>
      </p:sp>
      <p:sp>
        <p:nvSpPr>
          <p:cNvPr id="17" name="Shape 12"/>
          <p:cNvSpPr/>
          <p:nvPr/>
        </p:nvSpPr>
        <p:spPr>
          <a:xfrm>
            <a:off x="4297680" y="5257800"/>
            <a:ext cx="1755648" cy="365760"/>
          </a:xfrm>
          <a:prstGeom prst="roundRect">
            <a:avLst>
              <a:gd name="adj" fmla="val 50000"/>
            </a:avLst>
          </a:prstGeom>
          <a:solidFill>
            <a:srgbClr val="E4EEF2"/>
          </a:solidFill>
          <a:ln w="12700">
            <a:solidFill>
              <a:srgbClr val="E4EEF2"/>
            </a:solidFill>
            <a:prstDash val="solid"/>
          </a:ln>
        </p:spPr>
        <p:txBody>
          <a:bodyPr/>
          <a:lstStyle/>
          <a:p>
            <a:endParaRPr lang="es-CL"/>
          </a:p>
        </p:txBody>
      </p:sp>
      <p:sp>
        <p:nvSpPr>
          <p:cNvPr id="18" name="Text 13"/>
          <p:cNvSpPr txBox="1"/>
          <p:nvPr/>
        </p:nvSpPr>
        <p:spPr>
          <a:xfrm>
            <a:off x="4297680" y="5257800"/>
            <a:ext cx="1755648" cy="365760"/>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Años enteros</a:t>
            </a:r>
            <a:endParaRPr lang="en-US" sz="1100" dirty="0"/>
          </a:p>
        </p:txBody>
      </p:sp>
      <p:sp>
        <p:nvSpPr>
          <p:cNvPr id="19" name="Shape 14"/>
          <p:cNvSpPr/>
          <p:nvPr/>
        </p:nvSpPr>
        <p:spPr>
          <a:xfrm>
            <a:off x="6172200" y="5257800"/>
            <a:ext cx="1755648" cy="365760"/>
          </a:xfrm>
          <a:prstGeom prst="roundRect">
            <a:avLst>
              <a:gd name="adj" fmla="val 50000"/>
            </a:avLst>
          </a:prstGeom>
          <a:solidFill>
            <a:srgbClr val="E4EEF2"/>
          </a:solidFill>
          <a:ln w="12700">
            <a:solidFill>
              <a:srgbClr val="E4EEF2"/>
            </a:solidFill>
            <a:prstDash val="solid"/>
          </a:ln>
        </p:spPr>
        <p:txBody>
          <a:bodyPr/>
          <a:lstStyle/>
          <a:p>
            <a:endParaRPr lang="es-CL"/>
          </a:p>
        </p:txBody>
      </p:sp>
      <p:sp>
        <p:nvSpPr>
          <p:cNvPr id="20" name="Text 15"/>
          <p:cNvSpPr txBox="1"/>
          <p:nvPr/>
        </p:nvSpPr>
        <p:spPr>
          <a:xfrm>
            <a:off x="6172200" y="5257800"/>
            <a:ext cx="1755648" cy="365760"/>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Anotación</a:t>
            </a:r>
            <a:endParaRPr lang="en-US" sz="1100" dirty="0"/>
          </a:p>
        </p:txBody>
      </p:sp>
      <p:sp>
        <p:nvSpPr>
          <p:cNvPr id="21" name="Shape 16"/>
          <p:cNvSpPr/>
          <p:nvPr/>
        </p:nvSpPr>
        <p:spPr>
          <a:xfrm>
            <a:off x="8046720" y="5257800"/>
            <a:ext cx="1755648" cy="365760"/>
          </a:xfrm>
          <a:prstGeom prst="roundRect">
            <a:avLst>
              <a:gd name="adj" fmla="val 50000"/>
            </a:avLst>
          </a:prstGeom>
          <a:solidFill>
            <a:srgbClr val="E4EEF2"/>
          </a:solidFill>
          <a:ln w="12700">
            <a:solidFill>
              <a:srgbClr val="E4EEF2"/>
            </a:solidFill>
            <a:prstDash val="solid"/>
          </a:ln>
        </p:spPr>
        <p:txBody>
          <a:bodyPr/>
          <a:lstStyle/>
          <a:p>
            <a:endParaRPr lang="es-CL"/>
          </a:p>
        </p:txBody>
      </p:sp>
      <p:sp>
        <p:nvSpPr>
          <p:cNvPr id="22" name="Text 17"/>
          <p:cNvSpPr txBox="1"/>
          <p:nvPr/>
        </p:nvSpPr>
        <p:spPr>
          <a:xfrm>
            <a:off x="8046720" y="5257800"/>
            <a:ext cx="1755648" cy="365760"/>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Título con mensaje</a:t>
            </a:r>
            <a:endParaRPr lang="en-US" sz="1100" dirty="0"/>
          </a:p>
        </p:txBody>
      </p:sp>
      <p:sp>
        <p:nvSpPr>
          <p:cNvPr id="23" name="Shape 18"/>
          <p:cNvSpPr/>
          <p:nvPr/>
        </p:nvSpPr>
        <p:spPr>
          <a:xfrm>
            <a:off x="9921240" y="5257800"/>
            <a:ext cx="1755648" cy="365760"/>
          </a:xfrm>
          <a:prstGeom prst="roundRect">
            <a:avLst>
              <a:gd name="adj" fmla="val 50000"/>
            </a:avLst>
          </a:prstGeom>
          <a:solidFill>
            <a:srgbClr val="E4EEF2"/>
          </a:solidFill>
          <a:ln w="12700">
            <a:solidFill>
              <a:srgbClr val="E4EEF2"/>
            </a:solidFill>
            <a:prstDash val="solid"/>
          </a:ln>
        </p:spPr>
        <p:txBody>
          <a:bodyPr/>
          <a:lstStyle/>
          <a:p>
            <a:endParaRPr lang="es-CL"/>
          </a:p>
        </p:txBody>
      </p:sp>
      <p:sp>
        <p:nvSpPr>
          <p:cNvPr id="24" name="Text 19"/>
          <p:cNvSpPr txBox="1"/>
          <p:nvPr/>
        </p:nvSpPr>
        <p:spPr>
          <a:xfrm>
            <a:off x="9921240" y="5257800"/>
            <a:ext cx="1755648" cy="365760"/>
          </a:xfrm>
          <a:prstGeom prst="rect">
            <a:avLst/>
          </a:prstGeom>
          <a:noFill/>
          <a:ln/>
        </p:spPr>
        <p:txBody>
          <a:bodyPr wrap="square" lIns="0" tIns="0" rIns="0" bIns="0" rtlCol="0" anchor="ctr"/>
          <a:lstStyle/>
          <a:p>
            <a:pPr marL="0" indent="0" algn="ctr">
              <a:buNone/>
            </a:pPr>
            <a:r>
              <a:rPr lang="en-US" sz="1100" b="1" dirty="0">
                <a:solidFill>
                  <a:srgbClr val="065A82"/>
                </a:solidFill>
                <a:latin typeface="Calibri" pitchFamily="34" charset="0"/>
                <a:ea typeface="Calibri" pitchFamily="34" charset="-122"/>
                <a:cs typeface="Calibri" pitchFamily="34" charset="-120"/>
              </a:rPr>
              <a:t>Tema limpio</a:t>
            </a:r>
            <a:endParaRPr lang="en-US" sz="1100" dirty="0"/>
          </a:p>
        </p:txBody>
      </p:sp>
      <p:sp>
        <p:nvSpPr>
          <p:cNvPr id="25" name="Shape 20"/>
          <p:cNvSpPr/>
          <p:nvPr/>
        </p:nvSpPr>
        <p:spPr>
          <a:xfrm>
            <a:off x="548640" y="5760720"/>
            <a:ext cx="11091672" cy="502920"/>
          </a:xfrm>
          <a:prstGeom prst="rect">
            <a:avLst/>
          </a:prstGeom>
          <a:solidFill>
            <a:srgbClr val="E4EEF2"/>
          </a:solidFill>
          <a:ln w="12700">
            <a:solidFill>
              <a:srgbClr val="E4EEF2"/>
            </a:solidFill>
            <a:prstDash val="solid"/>
          </a:ln>
        </p:spPr>
        <p:txBody>
          <a:bodyPr/>
          <a:lstStyle/>
          <a:p>
            <a:endParaRPr lang="es-CL"/>
          </a:p>
        </p:txBody>
      </p:sp>
      <p:sp>
        <p:nvSpPr>
          <p:cNvPr id="26" name="Shape 21"/>
          <p:cNvSpPr/>
          <p:nvPr/>
        </p:nvSpPr>
        <p:spPr>
          <a:xfrm>
            <a:off x="548640" y="5760720"/>
            <a:ext cx="64008" cy="502920"/>
          </a:xfrm>
          <a:prstGeom prst="rect">
            <a:avLst/>
          </a:prstGeom>
          <a:solidFill>
            <a:srgbClr val="1C7293"/>
          </a:solidFill>
          <a:ln w="12700">
            <a:solidFill>
              <a:srgbClr val="1C7293"/>
            </a:solidFill>
            <a:prstDash val="solid"/>
          </a:ln>
        </p:spPr>
        <p:txBody>
          <a:bodyPr/>
          <a:lstStyle/>
          <a:p>
            <a:endParaRPr lang="es-CL"/>
          </a:p>
        </p:txBody>
      </p:sp>
      <p:sp>
        <p:nvSpPr>
          <p:cNvPr id="27" name="Text 22"/>
          <p:cNvSpPr txBox="1"/>
          <p:nvPr/>
        </p:nvSpPr>
        <p:spPr>
          <a:xfrm>
            <a:off x="749808" y="5760720"/>
            <a:ext cx="10771632" cy="502920"/>
          </a:xfrm>
          <a:prstGeom prst="rect">
            <a:avLst/>
          </a:prstGeom>
          <a:noFill/>
          <a:ln/>
        </p:spPr>
        <p:txBody>
          <a:bodyPr wrap="square" lIns="0" tIns="0" rIns="0" bIns="0" rtlCol="0" anchor="ctr"/>
          <a:lstStyle/>
          <a:p>
            <a:pPr marL="0" indent="0">
              <a:buNone/>
            </a:pPr>
            <a:r>
              <a:rPr lang="en-US" sz="1300" i="1" dirty="0">
                <a:solidFill>
                  <a:srgbClr val="1E2A44"/>
                </a:solidFill>
                <a:latin typeface="Calibri" pitchFamily="34" charset="0"/>
                <a:ea typeface="Calibri" pitchFamily="34" charset="-122"/>
                <a:cs typeface="Calibri" pitchFamily="34" charset="-120"/>
              </a:rPr>
              <a:t>Los mismos datos. La diferencia son decisiones que hoy aprenderemos a tomar.</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2331720"/>
            <a:ext cx="73152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PARTE 1</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ggplot2 avanzado</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rgbClr val="C9DDEC"/>
                </a:solidFill>
                <a:latin typeface="Calibri" pitchFamily="34" charset="0"/>
                <a:ea typeface="Calibri" pitchFamily="34" charset="-122"/>
                <a:cs typeface="Calibri" pitchFamily="34" charset="-120"/>
              </a:rPr>
              <a:t>Escalas, color, ejes, orden, anotaciones y temas</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marL="0" indent="0">
              <a:buNone/>
            </a:pPr>
            <a:r>
              <a:rPr lang="en-US" sz="1300" dirty="0">
                <a:solidFill>
                  <a:srgbClr val="9DB8CE"/>
                </a:solidFill>
                <a:latin typeface="Calibri" pitchFamily="34" charset="0"/>
                <a:ea typeface="Calibri" pitchFamily="34" charset="-122"/>
                <a:cs typeface="Calibri" pitchFamily="34" charset="-120"/>
              </a:rPr>
              <a:t>25 minutos</a:t>
            </a:r>
            <a:endParaRPr lang="en-US" sz="13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Repaso exprés: la gramática de gráficos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6</a:t>
            </a:r>
            <a:endParaRPr lang="en-US" sz="800" dirty="0"/>
          </a:p>
        </p:txBody>
      </p:sp>
      <p:sp>
        <p:nvSpPr>
          <p:cNvPr id="7" name="Shape 4"/>
          <p:cNvSpPr/>
          <p:nvPr/>
        </p:nvSpPr>
        <p:spPr>
          <a:xfrm>
            <a:off x="548640" y="1417320"/>
            <a:ext cx="2103120" cy="1417320"/>
          </a:xfrm>
          <a:prstGeom prst="roundRect">
            <a:avLst>
              <a:gd name="adj" fmla="val 451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731520" y="1554480"/>
            <a:ext cx="329184" cy="329184"/>
          </a:xfrm>
          <a:prstGeom prst="ellipse">
            <a:avLst/>
          </a:prstGeom>
          <a:solidFill>
            <a:srgbClr val="065A82"/>
          </a:solidFill>
          <a:ln w="12700">
            <a:solidFill>
              <a:srgbClr val="065A82"/>
            </a:solidFill>
            <a:prstDash val="solid"/>
          </a:ln>
        </p:spPr>
        <p:txBody>
          <a:bodyPr/>
          <a:lstStyle/>
          <a:p>
            <a:endParaRPr lang="es-CL"/>
          </a:p>
        </p:txBody>
      </p:sp>
      <p:sp>
        <p:nvSpPr>
          <p:cNvPr id="9" name="Text 6"/>
          <p:cNvSpPr txBox="1"/>
          <p:nvPr/>
        </p:nvSpPr>
        <p:spPr>
          <a:xfrm>
            <a:off x="731520" y="15544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0" name="Text 7"/>
          <p:cNvSpPr txBox="1"/>
          <p:nvPr/>
        </p:nvSpPr>
        <p:spPr>
          <a:xfrm>
            <a:off x="1170432" y="1554480"/>
            <a:ext cx="1371600" cy="32918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Datos</a:t>
            </a:r>
            <a:endParaRPr lang="en-US" sz="1600" dirty="0"/>
          </a:p>
        </p:txBody>
      </p:sp>
      <p:sp>
        <p:nvSpPr>
          <p:cNvPr id="11" name="Text 8"/>
          <p:cNvSpPr txBox="1"/>
          <p:nvPr/>
        </p:nvSpPr>
        <p:spPr>
          <a:xfrm>
            <a:off x="731520" y="2011680"/>
            <a:ext cx="1783080" cy="27432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la tabla</a:t>
            </a:r>
            <a:endParaRPr lang="en-US" sz="1200" dirty="0"/>
          </a:p>
        </p:txBody>
      </p:sp>
      <p:sp>
        <p:nvSpPr>
          <p:cNvPr id="12" name="Text 9"/>
          <p:cNvSpPr txBox="1"/>
          <p:nvPr/>
        </p:nvSpPr>
        <p:spPr>
          <a:xfrm>
            <a:off x="731520" y="2377440"/>
            <a:ext cx="1783080" cy="274320"/>
          </a:xfrm>
          <a:prstGeom prst="rect">
            <a:avLst/>
          </a:prstGeom>
          <a:noFill/>
          <a:ln/>
        </p:spPr>
        <p:txBody>
          <a:bodyPr wrap="square" lIns="0" tIns="0" rIns="0" bIns="0" rtlCol="0" anchor="t"/>
          <a:lstStyle/>
          <a:p>
            <a:pPr marL="0" indent="0">
              <a:buNone/>
            </a:pPr>
            <a:r>
              <a:rPr lang="en-US" sz="1200" b="1" dirty="0">
                <a:solidFill>
                  <a:srgbClr val="065A82"/>
                </a:solidFill>
                <a:latin typeface="Courier New" pitchFamily="34" charset="0"/>
                <a:ea typeface="Courier New" pitchFamily="34" charset="-122"/>
                <a:cs typeface="Courier New" pitchFamily="34" charset="-120"/>
              </a:rPr>
              <a:t>prod</a:t>
            </a:r>
            <a:endParaRPr lang="en-US" sz="1200" dirty="0"/>
          </a:p>
        </p:txBody>
      </p:sp>
      <p:sp>
        <p:nvSpPr>
          <p:cNvPr id="13" name="Shape 10"/>
          <p:cNvSpPr/>
          <p:nvPr/>
        </p:nvSpPr>
        <p:spPr>
          <a:xfrm>
            <a:off x="2788920" y="1417320"/>
            <a:ext cx="2103120" cy="1417320"/>
          </a:xfrm>
          <a:prstGeom prst="roundRect">
            <a:avLst>
              <a:gd name="adj" fmla="val 451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Shape 11"/>
          <p:cNvSpPr/>
          <p:nvPr/>
        </p:nvSpPr>
        <p:spPr>
          <a:xfrm>
            <a:off x="2971800" y="1554480"/>
            <a:ext cx="329184" cy="329184"/>
          </a:xfrm>
          <a:prstGeom prst="ellipse">
            <a:avLst/>
          </a:prstGeom>
          <a:solidFill>
            <a:srgbClr val="065A82"/>
          </a:solidFill>
          <a:ln w="12700">
            <a:solidFill>
              <a:srgbClr val="065A82"/>
            </a:solidFill>
            <a:prstDash val="solid"/>
          </a:ln>
        </p:spPr>
        <p:txBody>
          <a:bodyPr/>
          <a:lstStyle/>
          <a:p>
            <a:endParaRPr lang="es-CL"/>
          </a:p>
        </p:txBody>
      </p:sp>
      <p:sp>
        <p:nvSpPr>
          <p:cNvPr id="15" name="Text 12"/>
          <p:cNvSpPr txBox="1"/>
          <p:nvPr/>
        </p:nvSpPr>
        <p:spPr>
          <a:xfrm>
            <a:off x="2971800" y="15544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6" name="Text 13"/>
          <p:cNvSpPr txBox="1"/>
          <p:nvPr/>
        </p:nvSpPr>
        <p:spPr>
          <a:xfrm>
            <a:off x="3410712" y="1554480"/>
            <a:ext cx="1371600" cy="32918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Estética</a:t>
            </a:r>
            <a:endParaRPr lang="en-US" sz="1600" dirty="0"/>
          </a:p>
        </p:txBody>
      </p:sp>
      <p:sp>
        <p:nvSpPr>
          <p:cNvPr id="17" name="Text 14"/>
          <p:cNvSpPr txBox="1"/>
          <p:nvPr/>
        </p:nvSpPr>
        <p:spPr>
          <a:xfrm>
            <a:off x="2971800" y="2011680"/>
            <a:ext cx="1783080" cy="27432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qué va dónde</a:t>
            </a:r>
            <a:endParaRPr lang="en-US" sz="1200" dirty="0"/>
          </a:p>
        </p:txBody>
      </p:sp>
      <p:sp>
        <p:nvSpPr>
          <p:cNvPr id="18" name="Text 15"/>
          <p:cNvSpPr txBox="1"/>
          <p:nvPr/>
        </p:nvSpPr>
        <p:spPr>
          <a:xfrm>
            <a:off x="2971800" y="2377440"/>
            <a:ext cx="1783080" cy="274320"/>
          </a:xfrm>
          <a:prstGeom prst="rect">
            <a:avLst/>
          </a:prstGeom>
          <a:noFill/>
          <a:ln/>
        </p:spPr>
        <p:txBody>
          <a:bodyPr wrap="square" lIns="0" tIns="0" rIns="0" bIns="0" rtlCol="0" anchor="t"/>
          <a:lstStyle/>
          <a:p>
            <a:pPr marL="0" indent="0">
              <a:buNone/>
            </a:pPr>
            <a:r>
              <a:rPr lang="en-US" sz="1200" b="1" dirty="0">
                <a:solidFill>
                  <a:srgbClr val="065A82"/>
                </a:solidFill>
                <a:latin typeface="Courier New" pitchFamily="34" charset="0"/>
                <a:ea typeface="Courier New" pitchFamily="34" charset="-122"/>
                <a:cs typeface="Courier New" pitchFamily="34" charset="-120"/>
              </a:rPr>
              <a:t>aes()</a:t>
            </a:r>
            <a:endParaRPr lang="en-US" sz="1200" dirty="0"/>
          </a:p>
        </p:txBody>
      </p:sp>
      <p:sp>
        <p:nvSpPr>
          <p:cNvPr id="19" name="Shape 16"/>
          <p:cNvSpPr/>
          <p:nvPr/>
        </p:nvSpPr>
        <p:spPr>
          <a:xfrm>
            <a:off x="5029200" y="1417320"/>
            <a:ext cx="2103120" cy="1417320"/>
          </a:xfrm>
          <a:prstGeom prst="roundRect">
            <a:avLst>
              <a:gd name="adj" fmla="val 451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5212080" y="1554480"/>
            <a:ext cx="329184" cy="329184"/>
          </a:xfrm>
          <a:prstGeom prst="ellipse">
            <a:avLst/>
          </a:prstGeom>
          <a:solidFill>
            <a:srgbClr val="065A82"/>
          </a:solidFill>
          <a:ln w="12700">
            <a:solidFill>
              <a:srgbClr val="065A82"/>
            </a:solidFill>
            <a:prstDash val="solid"/>
          </a:ln>
        </p:spPr>
        <p:txBody>
          <a:bodyPr/>
          <a:lstStyle/>
          <a:p>
            <a:endParaRPr lang="es-CL"/>
          </a:p>
        </p:txBody>
      </p:sp>
      <p:sp>
        <p:nvSpPr>
          <p:cNvPr id="21" name="Text 18"/>
          <p:cNvSpPr txBox="1"/>
          <p:nvPr/>
        </p:nvSpPr>
        <p:spPr>
          <a:xfrm>
            <a:off x="5212080" y="15544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9"/>
          <p:cNvSpPr txBox="1"/>
          <p:nvPr/>
        </p:nvSpPr>
        <p:spPr>
          <a:xfrm>
            <a:off x="5650992" y="1554480"/>
            <a:ext cx="1371600" cy="32918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Geom</a:t>
            </a:r>
            <a:endParaRPr lang="en-US" sz="1600" dirty="0"/>
          </a:p>
        </p:txBody>
      </p:sp>
      <p:sp>
        <p:nvSpPr>
          <p:cNvPr id="23" name="Text 20"/>
          <p:cNvSpPr txBox="1"/>
          <p:nvPr/>
        </p:nvSpPr>
        <p:spPr>
          <a:xfrm>
            <a:off x="5212080" y="2011680"/>
            <a:ext cx="1783080" cy="27432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cómo se dibuja</a:t>
            </a:r>
            <a:endParaRPr lang="en-US" sz="1200" dirty="0"/>
          </a:p>
        </p:txBody>
      </p:sp>
      <p:sp>
        <p:nvSpPr>
          <p:cNvPr id="24" name="Text 21"/>
          <p:cNvSpPr txBox="1"/>
          <p:nvPr/>
        </p:nvSpPr>
        <p:spPr>
          <a:xfrm>
            <a:off x="5212080" y="2377440"/>
            <a:ext cx="1783080" cy="274320"/>
          </a:xfrm>
          <a:prstGeom prst="rect">
            <a:avLst/>
          </a:prstGeom>
          <a:noFill/>
          <a:ln/>
        </p:spPr>
        <p:txBody>
          <a:bodyPr wrap="square" lIns="0" tIns="0" rIns="0" bIns="0" rtlCol="0" anchor="t"/>
          <a:lstStyle/>
          <a:p>
            <a:pPr marL="0" indent="0">
              <a:buNone/>
            </a:pPr>
            <a:r>
              <a:rPr lang="en-US" sz="1200" b="1" dirty="0">
                <a:solidFill>
                  <a:srgbClr val="065A82"/>
                </a:solidFill>
                <a:latin typeface="Courier New" pitchFamily="34" charset="0"/>
                <a:ea typeface="Courier New" pitchFamily="34" charset="-122"/>
                <a:cs typeface="Courier New" pitchFamily="34" charset="-120"/>
              </a:rPr>
              <a:t>geom_line()</a:t>
            </a:r>
            <a:endParaRPr lang="en-US" sz="1200" dirty="0"/>
          </a:p>
        </p:txBody>
      </p:sp>
      <p:sp>
        <p:nvSpPr>
          <p:cNvPr id="25" name="Shape 22"/>
          <p:cNvSpPr/>
          <p:nvPr/>
        </p:nvSpPr>
        <p:spPr>
          <a:xfrm>
            <a:off x="7269480" y="1417320"/>
            <a:ext cx="2103120" cy="1417320"/>
          </a:xfrm>
          <a:prstGeom prst="roundRect">
            <a:avLst>
              <a:gd name="adj" fmla="val 4516"/>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6" name="Shape 23"/>
          <p:cNvSpPr/>
          <p:nvPr/>
        </p:nvSpPr>
        <p:spPr>
          <a:xfrm>
            <a:off x="7452360" y="1554480"/>
            <a:ext cx="329184" cy="329184"/>
          </a:xfrm>
          <a:prstGeom prst="ellipse">
            <a:avLst/>
          </a:prstGeom>
          <a:solidFill>
            <a:srgbClr val="B7791F"/>
          </a:solidFill>
          <a:ln w="12700">
            <a:solidFill>
              <a:srgbClr val="B7791F"/>
            </a:solidFill>
            <a:prstDash val="solid"/>
          </a:ln>
        </p:spPr>
        <p:txBody>
          <a:bodyPr/>
          <a:lstStyle/>
          <a:p>
            <a:endParaRPr lang="es-CL"/>
          </a:p>
        </p:txBody>
      </p:sp>
      <p:sp>
        <p:nvSpPr>
          <p:cNvPr id="27" name="Text 24"/>
          <p:cNvSpPr txBox="1"/>
          <p:nvPr/>
        </p:nvSpPr>
        <p:spPr>
          <a:xfrm>
            <a:off x="7452360" y="15544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8" name="Text 25"/>
          <p:cNvSpPr txBox="1"/>
          <p:nvPr/>
        </p:nvSpPr>
        <p:spPr>
          <a:xfrm>
            <a:off x="7891272" y="1554480"/>
            <a:ext cx="1371600" cy="32918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Escala</a:t>
            </a:r>
            <a:endParaRPr lang="en-US" sz="1600" dirty="0"/>
          </a:p>
        </p:txBody>
      </p:sp>
      <p:sp>
        <p:nvSpPr>
          <p:cNvPr id="29" name="Text 26"/>
          <p:cNvSpPr txBox="1"/>
          <p:nvPr/>
        </p:nvSpPr>
        <p:spPr>
          <a:xfrm>
            <a:off x="7452360" y="2011680"/>
            <a:ext cx="1783080" cy="27432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dato → visual</a:t>
            </a:r>
            <a:endParaRPr lang="en-US" sz="1200" dirty="0"/>
          </a:p>
        </p:txBody>
      </p:sp>
      <p:sp>
        <p:nvSpPr>
          <p:cNvPr id="30" name="Text 27"/>
          <p:cNvSpPr txBox="1"/>
          <p:nvPr/>
        </p:nvSpPr>
        <p:spPr>
          <a:xfrm>
            <a:off x="7452360" y="2377440"/>
            <a:ext cx="1783080" cy="274320"/>
          </a:xfrm>
          <a:prstGeom prst="rect">
            <a:avLst/>
          </a:prstGeom>
          <a:noFill/>
          <a:ln/>
        </p:spPr>
        <p:txBody>
          <a:bodyPr wrap="square" lIns="0" tIns="0" rIns="0" bIns="0" rtlCol="0" anchor="t"/>
          <a:lstStyle/>
          <a:p>
            <a:pPr marL="0" indent="0">
              <a:buNone/>
            </a:pPr>
            <a:r>
              <a:rPr lang="en-US" sz="1200" b="1" dirty="0">
                <a:solidFill>
                  <a:srgbClr val="8A5A00"/>
                </a:solidFill>
                <a:latin typeface="Courier New" pitchFamily="34" charset="0"/>
                <a:ea typeface="Courier New" pitchFamily="34" charset="-122"/>
                <a:cs typeface="Courier New" pitchFamily="34" charset="-120"/>
              </a:rPr>
              <a:t>scale_*()</a:t>
            </a:r>
            <a:endParaRPr lang="en-US" sz="1200" dirty="0"/>
          </a:p>
        </p:txBody>
      </p:sp>
      <p:sp>
        <p:nvSpPr>
          <p:cNvPr id="31" name="Shape 28"/>
          <p:cNvSpPr/>
          <p:nvPr/>
        </p:nvSpPr>
        <p:spPr>
          <a:xfrm>
            <a:off x="9509760" y="1417320"/>
            <a:ext cx="2103120" cy="1417320"/>
          </a:xfrm>
          <a:prstGeom prst="roundRect">
            <a:avLst>
              <a:gd name="adj" fmla="val 4516"/>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32" name="Shape 29"/>
          <p:cNvSpPr/>
          <p:nvPr/>
        </p:nvSpPr>
        <p:spPr>
          <a:xfrm>
            <a:off x="9692640" y="1554480"/>
            <a:ext cx="329184" cy="329184"/>
          </a:xfrm>
          <a:prstGeom prst="ellipse">
            <a:avLst/>
          </a:prstGeom>
          <a:solidFill>
            <a:srgbClr val="B7791F"/>
          </a:solidFill>
          <a:ln w="12700">
            <a:solidFill>
              <a:srgbClr val="B7791F"/>
            </a:solidFill>
            <a:prstDash val="solid"/>
          </a:ln>
        </p:spPr>
        <p:txBody>
          <a:bodyPr/>
          <a:lstStyle/>
          <a:p>
            <a:endParaRPr lang="es-CL"/>
          </a:p>
        </p:txBody>
      </p:sp>
      <p:sp>
        <p:nvSpPr>
          <p:cNvPr id="33" name="Text 30"/>
          <p:cNvSpPr txBox="1"/>
          <p:nvPr/>
        </p:nvSpPr>
        <p:spPr>
          <a:xfrm>
            <a:off x="9692640" y="1554480"/>
            <a:ext cx="329184" cy="329184"/>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34" name="Text 31"/>
          <p:cNvSpPr txBox="1"/>
          <p:nvPr/>
        </p:nvSpPr>
        <p:spPr>
          <a:xfrm>
            <a:off x="10131552" y="1554480"/>
            <a:ext cx="1371600" cy="329184"/>
          </a:xfrm>
          <a:prstGeom prst="rect">
            <a:avLst/>
          </a:prstGeom>
          <a:noFill/>
          <a:ln/>
        </p:spPr>
        <p:txBody>
          <a:bodyPr wrap="square" lIns="0" tIns="0" rIns="0" bIns="0" rtlCol="0" anchor="ctr"/>
          <a:lstStyle/>
          <a:p>
            <a:pPr marL="0" indent="0">
              <a:buNone/>
            </a:pPr>
            <a:r>
              <a:rPr lang="en-US" sz="1600" b="1" dirty="0">
                <a:solidFill>
                  <a:srgbClr val="21295C"/>
                </a:solidFill>
                <a:latin typeface="Cambria" pitchFamily="34" charset="0"/>
                <a:ea typeface="Cambria" pitchFamily="34" charset="-122"/>
                <a:cs typeface="Cambria" pitchFamily="34" charset="-120"/>
              </a:rPr>
              <a:t>Tema</a:t>
            </a:r>
            <a:endParaRPr lang="en-US" sz="1600" dirty="0"/>
          </a:p>
        </p:txBody>
      </p:sp>
      <p:sp>
        <p:nvSpPr>
          <p:cNvPr id="35" name="Text 32"/>
          <p:cNvSpPr txBox="1"/>
          <p:nvPr/>
        </p:nvSpPr>
        <p:spPr>
          <a:xfrm>
            <a:off x="9692640" y="2011680"/>
            <a:ext cx="1783080" cy="274320"/>
          </a:xfrm>
          <a:prstGeom prst="rect">
            <a:avLst/>
          </a:prstGeom>
          <a:noFill/>
          <a:ln/>
        </p:spPr>
        <p:txBody>
          <a:bodyPr wrap="square" lIns="0" tIns="0" rIns="0" bIns="0" rtlCol="0" anchor="t"/>
          <a:lstStyle/>
          <a:p>
            <a:pPr marL="0" indent="0">
              <a:buNone/>
            </a:pPr>
            <a:r>
              <a:rPr lang="en-US" sz="1200" dirty="0">
                <a:solidFill>
                  <a:srgbClr val="5B6B7F"/>
                </a:solidFill>
                <a:latin typeface="Calibri" pitchFamily="34" charset="0"/>
                <a:ea typeface="Calibri" pitchFamily="34" charset="-122"/>
                <a:cs typeface="Calibri" pitchFamily="34" charset="-120"/>
              </a:rPr>
              <a:t>el aspecto</a:t>
            </a:r>
            <a:endParaRPr lang="en-US" sz="1200" dirty="0"/>
          </a:p>
        </p:txBody>
      </p:sp>
      <p:sp>
        <p:nvSpPr>
          <p:cNvPr id="36" name="Text 33"/>
          <p:cNvSpPr txBox="1"/>
          <p:nvPr/>
        </p:nvSpPr>
        <p:spPr>
          <a:xfrm>
            <a:off x="9692640" y="2377440"/>
            <a:ext cx="1783080" cy="274320"/>
          </a:xfrm>
          <a:prstGeom prst="rect">
            <a:avLst/>
          </a:prstGeom>
          <a:noFill/>
          <a:ln/>
        </p:spPr>
        <p:txBody>
          <a:bodyPr wrap="square" lIns="0" tIns="0" rIns="0" bIns="0" rtlCol="0" anchor="t"/>
          <a:lstStyle/>
          <a:p>
            <a:pPr marL="0" indent="0">
              <a:buNone/>
            </a:pPr>
            <a:r>
              <a:rPr lang="en-US" sz="1200" b="1" dirty="0">
                <a:solidFill>
                  <a:srgbClr val="8A5A00"/>
                </a:solidFill>
                <a:latin typeface="Courier New" pitchFamily="34" charset="0"/>
                <a:ea typeface="Courier New" pitchFamily="34" charset="-122"/>
                <a:cs typeface="Courier New" pitchFamily="34" charset="-120"/>
              </a:rPr>
              <a:t>theme_*()</a:t>
            </a:r>
            <a:endParaRPr lang="en-US" sz="1200" dirty="0"/>
          </a:p>
        </p:txBody>
      </p:sp>
      <p:sp>
        <p:nvSpPr>
          <p:cNvPr id="37" name="Shape 34"/>
          <p:cNvSpPr/>
          <p:nvPr/>
        </p:nvSpPr>
        <p:spPr>
          <a:xfrm>
            <a:off x="548640" y="3200400"/>
            <a:ext cx="11091672" cy="1248664"/>
          </a:xfrm>
          <a:prstGeom prst="roundRect">
            <a:avLst>
              <a:gd name="adj" fmla="val 4394"/>
            </a:avLst>
          </a:prstGeom>
          <a:solidFill>
            <a:srgbClr val="162044"/>
          </a:solidFill>
          <a:ln w="12700">
            <a:solidFill>
              <a:srgbClr val="162044"/>
            </a:solidFill>
            <a:prstDash val="solid"/>
          </a:ln>
        </p:spPr>
        <p:txBody>
          <a:bodyPr/>
          <a:lstStyle/>
          <a:p>
            <a:endParaRPr lang="es-CL"/>
          </a:p>
        </p:txBody>
      </p:sp>
      <p:sp>
        <p:nvSpPr>
          <p:cNvPr id="38" name="Shape 35"/>
          <p:cNvSpPr/>
          <p:nvPr/>
        </p:nvSpPr>
        <p:spPr>
          <a:xfrm>
            <a:off x="621792" y="3797300"/>
            <a:ext cx="10945368" cy="234442"/>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39" name="Shape 36"/>
          <p:cNvSpPr/>
          <p:nvPr/>
        </p:nvSpPr>
        <p:spPr>
          <a:xfrm>
            <a:off x="621792" y="4031742"/>
            <a:ext cx="10945368" cy="234442"/>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40" name="Text 37"/>
          <p:cNvSpPr txBox="1"/>
          <p:nvPr/>
        </p:nvSpPr>
        <p:spPr>
          <a:xfrm>
            <a:off x="731520" y="3328416"/>
            <a:ext cx="10725912" cy="937768"/>
          </a:xfrm>
          <a:prstGeom prst="rect">
            <a:avLst/>
          </a:prstGeom>
          <a:noFill/>
          <a:ln/>
        </p:spPr>
        <p:txBody>
          <a:bodyPr wrap="square" lIns="0" tIns="0" rIns="0" bIns="0" rtlCol="0" anchor="t"/>
          <a:lstStyle/>
          <a:p>
            <a:pPr marL="0" indent="0">
              <a:lnSpc>
                <a:spcPts val="1846"/>
              </a:lnSpc>
              <a:buNone/>
            </a:pPr>
            <a:r>
              <a:rPr lang="en-US" sz="1300" dirty="0">
                <a:solidFill>
                  <a:srgbClr val="7DD3FC"/>
                </a:solidFill>
                <a:latin typeface="Courier New" pitchFamily="34" charset="0"/>
                <a:ea typeface="Courier New" pitchFamily="34" charset="-122"/>
                <a:cs typeface="Courier New" pitchFamily="34" charset="-120"/>
              </a:rPr>
              <a:t>ggplot</a:t>
            </a:r>
            <a:r>
              <a:rPr lang="en-US" sz="1300" dirty="0">
                <a:solidFill>
                  <a:srgbClr val="E6EDF7"/>
                </a:solidFill>
                <a:latin typeface="Courier New" pitchFamily="34" charset="0"/>
                <a:ea typeface="Courier New" pitchFamily="34" charset="-122"/>
                <a:cs typeface="Courier New" pitchFamily="34" charset="-120"/>
              </a:rPr>
              <a:t>(prod, </a:t>
            </a:r>
            <a:r>
              <a:rPr lang="en-US" sz="1300" dirty="0">
                <a:solidFill>
                  <a:srgbClr val="7DD3FC"/>
                </a:solidFill>
                <a:latin typeface="Courier New" pitchFamily="34" charset="0"/>
                <a:ea typeface="Courier New" pitchFamily="34" charset="-122"/>
                <a:cs typeface="Courier New" pitchFamily="34" charset="-120"/>
              </a:rPr>
              <a:t>aes</a:t>
            </a:r>
            <a:r>
              <a:rPr lang="en-US" sz="1300" dirty="0">
                <a:solidFill>
                  <a:srgbClr val="E6EDF7"/>
                </a:solidFill>
                <a:latin typeface="Courier New" pitchFamily="34" charset="0"/>
                <a:ea typeface="Courier New" pitchFamily="34" charset="-122"/>
                <a:cs typeface="Courier New" pitchFamily="34" charset="-120"/>
              </a:rPr>
              <a:t>(anio, n_articulos, color = area)) +   </a:t>
            </a:r>
            <a:r>
              <a:rPr lang="en-US" sz="1300" i="1" dirty="0">
                <a:solidFill>
                  <a:srgbClr val="8196BC"/>
                </a:solidFill>
                <a:latin typeface="Courier New" pitchFamily="34" charset="0"/>
                <a:ea typeface="Courier New" pitchFamily="34" charset="-122"/>
                <a:cs typeface="Courier New" pitchFamily="34" charset="-120"/>
              </a:rPr>
              <a:t># datos + estética</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geom_line</a:t>
            </a:r>
            <a:r>
              <a:rPr lang="en-US" sz="1300" dirty="0">
                <a:solidFill>
                  <a:srgbClr val="E6EDF7"/>
                </a:solidFill>
                <a:latin typeface="Courier New" pitchFamily="34" charset="0"/>
                <a:ea typeface="Courier New" pitchFamily="34" charset="-122"/>
                <a:cs typeface="Courier New" pitchFamily="34" charset="-120"/>
              </a:rPr>
              <a:t>() +                                          </a:t>
            </a:r>
            <a:r>
              <a:rPr lang="en-US" sz="1300" i="1" dirty="0">
                <a:solidFill>
                  <a:srgbClr val="8196BC"/>
                </a:solidFill>
                <a:latin typeface="Courier New" pitchFamily="34" charset="0"/>
                <a:ea typeface="Courier New" pitchFamily="34" charset="-122"/>
                <a:cs typeface="Courier New" pitchFamily="34" charset="-120"/>
              </a:rPr>
              <a:t># geom</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scale_color_manual</a:t>
            </a:r>
            <a:r>
              <a:rPr lang="en-US" sz="1300" dirty="0">
                <a:solidFill>
                  <a:srgbClr val="E6EDF7"/>
                </a:solidFill>
                <a:latin typeface="Courier New" pitchFamily="34" charset="0"/>
                <a:ea typeface="Courier New" pitchFamily="34" charset="-122"/>
                <a:cs typeface="Courier New" pitchFamily="34" charset="-120"/>
              </a:rPr>
              <a:t>(values = pal_area) +                </a:t>
            </a:r>
            <a:r>
              <a:rPr lang="en-US" sz="1300" i="1" dirty="0">
                <a:solidFill>
                  <a:srgbClr val="8196BC"/>
                </a:solidFill>
                <a:latin typeface="Courier New" pitchFamily="34" charset="0"/>
                <a:ea typeface="Courier New" pitchFamily="34" charset="-122"/>
                <a:cs typeface="Courier New" pitchFamily="34" charset="-120"/>
              </a:rPr>
              <a:t># escala</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theme_minimal</a:t>
            </a:r>
            <a:r>
              <a:rPr lang="en-US" sz="1300" dirty="0">
                <a:solidFill>
                  <a:srgbClr val="E6EDF7"/>
                </a:solidFill>
                <a:latin typeface="Courier New" pitchFamily="34" charset="0"/>
                <a:ea typeface="Courier New" pitchFamily="34" charset="-122"/>
                <a:cs typeface="Courier New" pitchFamily="34" charset="-120"/>
              </a:rPr>
              <a:t>()                                        </a:t>
            </a:r>
            <a:r>
              <a:rPr lang="en-US" sz="1300" i="1" dirty="0">
                <a:solidFill>
                  <a:srgbClr val="8196BC"/>
                </a:solidFill>
                <a:latin typeface="Courier New" pitchFamily="34" charset="0"/>
                <a:ea typeface="Courier New" pitchFamily="34" charset="-122"/>
                <a:cs typeface="Courier New" pitchFamily="34" charset="-120"/>
              </a:rPr>
              <a:t># tema</a:t>
            </a:r>
            <a:endParaRPr lang="en-US" sz="1300" dirty="0"/>
          </a:p>
        </p:txBody>
      </p:sp>
      <p:sp>
        <p:nvSpPr>
          <p:cNvPr id="41" name="Shape 38"/>
          <p:cNvSpPr/>
          <p:nvPr/>
        </p:nvSpPr>
        <p:spPr>
          <a:xfrm>
            <a:off x="548640" y="5074920"/>
            <a:ext cx="11091672" cy="731520"/>
          </a:xfrm>
          <a:prstGeom prst="rect">
            <a:avLst/>
          </a:prstGeom>
          <a:solidFill>
            <a:srgbClr val="E4EEF2"/>
          </a:solidFill>
          <a:ln w="12700">
            <a:solidFill>
              <a:srgbClr val="E4EEF2"/>
            </a:solidFill>
            <a:prstDash val="solid"/>
          </a:ln>
        </p:spPr>
        <p:txBody>
          <a:bodyPr/>
          <a:lstStyle/>
          <a:p>
            <a:endParaRPr lang="es-CL"/>
          </a:p>
        </p:txBody>
      </p:sp>
      <p:sp>
        <p:nvSpPr>
          <p:cNvPr id="42" name="Shape 39"/>
          <p:cNvSpPr/>
          <p:nvPr/>
        </p:nvSpPr>
        <p:spPr>
          <a:xfrm>
            <a:off x="548640" y="5074920"/>
            <a:ext cx="64008" cy="731520"/>
          </a:xfrm>
          <a:prstGeom prst="rect">
            <a:avLst/>
          </a:prstGeom>
          <a:solidFill>
            <a:srgbClr val="1C7293"/>
          </a:solidFill>
          <a:ln w="12700">
            <a:solidFill>
              <a:srgbClr val="1C7293"/>
            </a:solidFill>
            <a:prstDash val="solid"/>
          </a:ln>
        </p:spPr>
        <p:txBody>
          <a:bodyPr/>
          <a:lstStyle/>
          <a:p>
            <a:endParaRPr lang="es-CL"/>
          </a:p>
        </p:txBody>
      </p:sp>
      <p:sp>
        <p:nvSpPr>
          <p:cNvPr id="43" name="Text 40"/>
          <p:cNvSpPr txBox="1"/>
          <p:nvPr/>
        </p:nvSpPr>
        <p:spPr>
          <a:xfrm>
            <a:off x="749808" y="5074920"/>
            <a:ext cx="10771632" cy="731520"/>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Lo que ves por defecto es una escala o un tema que puedes reemplazar. Hoy aprendemos a hacerlo.</a:t>
            </a:r>
            <a:endParaRPr lang="en-US" sz="15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Escalas: de los datos a lo que se ve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7</a:t>
            </a:r>
            <a:endParaRPr lang="en-US" sz="800" dirty="0"/>
          </a:p>
        </p:txBody>
      </p:sp>
      <p:sp>
        <p:nvSpPr>
          <p:cNvPr id="7" name="Text 4"/>
          <p:cNvSpPr txBox="1"/>
          <p:nvPr/>
        </p:nvSpPr>
        <p:spPr>
          <a:xfrm>
            <a:off x="548640" y="1371600"/>
            <a:ext cx="54864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QUÉ ESCALA CONTROLA CADA ESTÉTICA</a:t>
            </a:r>
            <a:endParaRPr lang="en-US" sz="900" dirty="0"/>
          </a:p>
        </p:txBody>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548640" y="1691640"/>
          <a:ext cx="5669280" cy="2688336"/>
        </p:xfrm>
        <a:graphic>
          <a:graphicData uri="http://schemas.openxmlformats.org/drawingml/2006/table">
            <a:tbl>
              <a:tblPr/>
              <a:tblGrid>
                <a:gridCol w="2468880">
                  <a:extLst>
                    <a:ext uri="{9D8B030D-6E8A-4147-A177-3AD203B41FA5}">
                      <a16:colId xmlns:a16="http://schemas.microsoft.com/office/drawing/2014/main" val="20000"/>
                    </a:ext>
                  </a:extLst>
                </a:gridCol>
                <a:gridCol w="3200400">
                  <a:extLst>
                    <a:ext uri="{9D8B030D-6E8A-4147-A177-3AD203B41FA5}">
                      <a16:colId xmlns:a16="http://schemas.microsoft.com/office/drawing/2014/main" val="20001"/>
                    </a:ext>
                  </a:extLst>
                </a:gridCol>
              </a:tblGrid>
              <a:tr h="384048">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Estética en aes()</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200" b="1" dirty="0">
                          <a:solidFill>
                            <a:srgbClr val="FFFFFF"/>
                          </a:solidFill>
                          <a:latin typeface="Calibri" pitchFamily="34" charset="0"/>
                          <a:ea typeface="Calibri" pitchFamily="34" charset="-122"/>
                          <a:cs typeface="Calibri" pitchFamily="34" charset="-120"/>
                        </a:rPr>
                        <a:t>Escala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lgn="l">
                        <a:buNone/>
                      </a:pPr>
                      <a:r>
                        <a:rPr lang="en-US" sz="1200" dirty="0">
                          <a:solidFill>
                            <a:srgbClr val="1E2A44"/>
                          </a:solidFill>
                          <a:latin typeface="Calibri" pitchFamily="34" charset="0"/>
                          <a:ea typeface="Calibri" pitchFamily="34" charset="-122"/>
                          <a:cs typeface="Calibri" pitchFamily="34" charset="-120"/>
                        </a:rPr>
                        <a:t>x, y (número)</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65A82"/>
                          </a:solidFill>
                          <a:latin typeface="Courier New" pitchFamily="34" charset="0"/>
                          <a:ea typeface="Courier New" pitchFamily="34" charset="-122"/>
                          <a:cs typeface="Courier New" pitchFamily="34" charset="-120"/>
                        </a:rPr>
                        <a:t>scale_x_continuous()</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200" dirty="0">
                          <a:solidFill>
                            <a:srgbClr val="1E2A44"/>
                          </a:solidFill>
                          <a:latin typeface="Calibri" pitchFamily="34" charset="0"/>
                          <a:ea typeface="Calibri" pitchFamily="34" charset="-122"/>
                          <a:cs typeface="Calibri" pitchFamily="34" charset="-120"/>
                        </a:rPr>
                        <a:t>x (fecha)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00" dirty="0">
                          <a:solidFill>
                            <a:srgbClr val="065A82"/>
                          </a:solidFill>
                          <a:latin typeface="Courier New" pitchFamily="34" charset="0"/>
                          <a:ea typeface="Courier New" pitchFamily="34" charset="-122"/>
                          <a:cs typeface="Courier New" pitchFamily="34" charset="-120"/>
                        </a:rPr>
                        <a:t>scale_x_date()</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84048">
                <a:tc>
                  <a:txBody>
                    <a:bodyPr/>
                    <a:lstStyle/>
                    <a:p>
                      <a:pPr marL="0" indent="0" algn="l">
                        <a:buNone/>
                      </a:pPr>
                      <a:r>
                        <a:rPr lang="en-US" sz="1200" dirty="0">
                          <a:solidFill>
                            <a:srgbClr val="1E2A44"/>
                          </a:solidFill>
                          <a:latin typeface="Calibri" pitchFamily="34" charset="0"/>
                          <a:ea typeface="Calibri" pitchFamily="34" charset="-122"/>
                          <a:cs typeface="Calibri" pitchFamily="34" charset="-120"/>
                        </a:rPr>
                        <a:t>color, fill (categoría)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65A82"/>
                          </a:solidFill>
                          <a:latin typeface="Courier New" pitchFamily="34" charset="0"/>
                          <a:ea typeface="Courier New" pitchFamily="34" charset="-122"/>
                          <a:cs typeface="Courier New" pitchFamily="34" charset="-120"/>
                        </a:rPr>
                        <a:t>scale_color_manual()</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200" dirty="0">
                          <a:solidFill>
                            <a:srgbClr val="1E2A44"/>
                          </a:solidFill>
                          <a:latin typeface="Calibri" pitchFamily="34" charset="0"/>
                          <a:ea typeface="Calibri" pitchFamily="34" charset="-122"/>
                          <a:cs typeface="Calibri" pitchFamily="34" charset="-120"/>
                        </a:rPr>
                        <a:t>color, fill (continua)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00" dirty="0">
                          <a:solidFill>
                            <a:srgbClr val="065A82"/>
                          </a:solidFill>
                          <a:latin typeface="Courier New" pitchFamily="34" charset="0"/>
                          <a:ea typeface="Courier New" pitchFamily="34" charset="-122"/>
                          <a:cs typeface="Courier New" pitchFamily="34" charset="-120"/>
                        </a:rPr>
                        <a:t>scale_fill_viridis_c()</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384048">
                <a:tc>
                  <a:txBody>
                    <a:bodyPr/>
                    <a:lstStyle/>
                    <a:p>
                      <a:pPr marL="0" indent="0" algn="l">
                        <a:buNone/>
                      </a:pPr>
                      <a:r>
                        <a:rPr lang="en-US" sz="1200" dirty="0">
                          <a:solidFill>
                            <a:srgbClr val="1E2A44"/>
                          </a:solidFill>
                          <a:latin typeface="Calibri" pitchFamily="34" charset="0"/>
                          <a:ea typeface="Calibri" pitchFamily="34" charset="-122"/>
                          <a:cs typeface="Calibri" pitchFamily="34" charset="-120"/>
                        </a:rPr>
                        <a:t>size</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065A82"/>
                          </a:solidFill>
                          <a:latin typeface="Courier New" pitchFamily="34" charset="0"/>
                          <a:ea typeface="Courier New" pitchFamily="34" charset="-122"/>
                          <a:cs typeface="Courier New" pitchFamily="34" charset="-120"/>
                        </a:rPr>
                        <a:t>scale_size()</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84048">
                <a:tc>
                  <a:txBody>
                    <a:bodyPr/>
                    <a:lstStyle/>
                    <a:p>
                      <a:pPr marL="0" indent="0" algn="l">
                        <a:buNone/>
                      </a:pPr>
                      <a:r>
                        <a:rPr lang="en-US" sz="1200" dirty="0">
                          <a:solidFill>
                            <a:srgbClr val="1E2A44"/>
                          </a:solidFill>
                          <a:latin typeface="Calibri" pitchFamily="34" charset="0"/>
                          <a:ea typeface="Calibri" pitchFamily="34" charset="-122"/>
                          <a:cs typeface="Calibri" pitchFamily="34" charset="-120"/>
                        </a:rPr>
                        <a:t>x, y (categoría)</a:t>
                      </a:r>
                      <a:endParaRPr lang="en-US" sz="12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00" dirty="0">
                          <a:solidFill>
                            <a:srgbClr val="065A82"/>
                          </a:solidFill>
                          <a:latin typeface="Courier New" pitchFamily="34" charset="0"/>
                          <a:ea typeface="Courier New" pitchFamily="34" charset="-122"/>
                          <a:cs typeface="Courier New" pitchFamily="34" charset="-120"/>
                        </a:rPr>
                        <a:t>scale_x_discrete()</a:t>
                      </a:r>
                      <a:endParaRPr lang="en-US" sz="11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6"/>
                  </a:ext>
                </a:extLst>
              </a:tr>
            </a:tbl>
          </a:graphicData>
        </a:graphic>
      </p:graphicFrame>
      <p:sp>
        <p:nvSpPr>
          <p:cNvPr id="9" name="Shape 5"/>
          <p:cNvSpPr/>
          <p:nvPr/>
        </p:nvSpPr>
        <p:spPr>
          <a:xfrm>
            <a:off x="548640" y="4663440"/>
            <a:ext cx="5669280" cy="777240"/>
          </a:xfrm>
          <a:prstGeom prst="rect">
            <a:avLst/>
          </a:prstGeom>
          <a:solidFill>
            <a:srgbClr val="E4EEF2"/>
          </a:solidFill>
          <a:ln w="12700">
            <a:solidFill>
              <a:srgbClr val="E4EEF2"/>
            </a:solidFill>
            <a:prstDash val="solid"/>
          </a:ln>
        </p:spPr>
        <p:txBody>
          <a:bodyPr/>
          <a:lstStyle/>
          <a:p>
            <a:endParaRPr lang="es-CL"/>
          </a:p>
        </p:txBody>
      </p:sp>
      <p:sp>
        <p:nvSpPr>
          <p:cNvPr id="10" name="Shape 6"/>
          <p:cNvSpPr/>
          <p:nvPr/>
        </p:nvSpPr>
        <p:spPr>
          <a:xfrm>
            <a:off x="548640" y="4663440"/>
            <a:ext cx="64008" cy="777240"/>
          </a:xfrm>
          <a:prstGeom prst="rect">
            <a:avLst/>
          </a:prstGeom>
          <a:solidFill>
            <a:srgbClr val="1C7293"/>
          </a:solidFill>
          <a:ln w="12700">
            <a:solidFill>
              <a:srgbClr val="1C7293"/>
            </a:solidFill>
            <a:prstDash val="solid"/>
          </a:ln>
        </p:spPr>
        <p:txBody>
          <a:bodyPr/>
          <a:lstStyle/>
          <a:p>
            <a:endParaRPr lang="es-CL"/>
          </a:p>
        </p:txBody>
      </p:sp>
      <p:sp>
        <p:nvSpPr>
          <p:cNvPr id="11" name="Text 7"/>
          <p:cNvSpPr txBox="1"/>
          <p:nvPr/>
        </p:nvSpPr>
        <p:spPr>
          <a:xfrm>
            <a:off x="749808" y="4663440"/>
            <a:ext cx="5349240" cy="777240"/>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Regla de nombres: scale_&lt;estética&gt;_&lt;tipo&gt;</a:t>
            </a:r>
            <a:endParaRPr lang="en-US" sz="1500" dirty="0"/>
          </a:p>
        </p:txBody>
      </p:sp>
      <p:sp>
        <p:nvSpPr>
          <p:cNvPr id="12" name="Text 8"/>
          <p:cNvSpPr txBox="1"/>
          <p:nvPr/>
        </p:nvSpPr>
        <p:spPr>
          <a:xfrm>
            <a:off x="6492240" y="137160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EJEMPLO</a:t>
            </a:r>
            <a:endParaRPr lang="en-US" sz="900" dirty="0"/>
          </a:p>
        </p:txBody>
      </p:sp>
      <p:sp>
        <p:nvSpPr>
          <p:cNvPr id="13" name="Shape 9"/>
          <p:cNvSpPr/>
          <p:nvPr/>
        </p:nvSpPr>
        <p:spPr>
          <a:xfrm>
            <a:off x="6492240" y="1691640"/>
            <a:ext cx="5148072" cy="1609344"/>
          </a:xfrm>
          <a:prstGeom prst="roundRect">
            <a:avLst>
              <a:gd name="adj" fmla="val 3409"/>
            </a:avLst>
          </a:prstGeom>
          <a:solidFill>
            <a:srgbClr val="162044"/>
          </a:solidFill>
          <a:ln w="12700">
            <a:solidFill>
              <a:srgbClr val="162044"/>
            </a:solidFill>
            <a:prstDash val="solid"/>
          </a:ln>
        </p:spPr>
        <p:txBody>
          <a:bodyPr/>
          <a:lstStyle/>
          <a:p>
            <a:endParaRPr lang="es-CL"/>
          </a:p>
        </p:txBody>
      </p:sp>
      <p:sp>
        <p:nvSpPr>
          <p:cNvPr id="14" name="Text 10"/>
          <p:cNvSpPr txBox="1"/>
          <p:nvPr/>
        </p:nvSpPr>
        <p:spPr>
          <a:xfrm>
            <a:off x="6675120" y="1819656"/>
            <a:ext cx="4782312" cy="1298448"/>
          </a:xfrm>
          <a:prstGeom prst="rect">
            <a:avLst/>
          </a:prstGeom>
          <a:noFill/>
          <a:ln/>
        </p:spPr>
        <p:txBody>
          <a:bodyPr wrap="square" lIns="0" tIns="0" rIns="0" bIns="0" rtlCol="0" anchor="t"/>
          <a:lstStyle/>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ggplot</a:t>
            </a:r>
            <a:r>
              <a:rPr lang="en-US" sz="1200" dirty="0">
                <a:solidFill>
                  <a:srgbClr val="E6EDF7"/>
                </a:solidFill>
                <a:latin typeface="Courier New" pitchFamily="34" charset="0"/>
                <a:ea typeface="Courier New" pitchFamily="34" charset="-122"/>
                <a:cs typeface="Courier New" pitchFamily="34" charset="-120"/>
              </a:rPr>
              <a:t>(d, </a:t>
            </a:r>
            <a:r>
              <a:rPr lang="en-US" sz="1200" dirty="0">
                <a:solidFill>
                  <a:srgbClr val="7DD3FC"/>
                </a:solidFill>
                <a:latin typeface="Courier New" pitchFamily="34" charset="0"/>
                <a:ea typeface="Courier New" pitchFamily="34" charset="-122"/>
                <a:cs typeface="Courier New" pitchFamily="34" charset="-120"/>
              </a:rPr>
              <a:t>aes</a:t>
            </a:r>
            <a:r>
              <a:rPr lang="en-US" sz="1200" dirty="0">
                <a:solidFill>
                  <a:srgbClr val="E6EDF7"/>
                </a:solidFill>
                <a:latin typeface="Courier New" pitchFamily="34" charset="0"/>
                <a:ea typeface="Courier New" pitchFamily="34" charset="-122"/>
                <a:cs typeface="Courier New" pitchFamily="34" charset="-120"/>
              </a:rPr>
              <a:t>(horas, pubs, color = nivel))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geom_point</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scale_x_continuous</a:t>
            </a:r>
            <a:r>
              <a:rPr lang="en-US" sz="1200" dirty="0">
                <a:solidFill>
                  <a:srgbClr val="E6EDF7"/>
                </a:solidFill>
                <a:latin typeface="Courier New" pitchFamily="34" charset="0"/>
                <a:ea typeface="Courier New" pitchFamily="34" charset="-122"/>
                <a:cs typeface="Courier New" pitchFamily="34" charset="-120"/>
              </a:rPr>
              <a:t>(breaks = </a:t>
            </a:r>
            <a:r>
              <a:rPr lang="en-US" sz="1200" dirty="0">
                <a:solidFill>
                  <a:srgbClr val="7DD3FC"/>
                </a:solidFill>
                <a:latin typeface="Courier New" pitchFamily="34" charset="0"/>
                <a:ea typeface="Courier New" pitchFamily="34" charset="-122"/>
                <a:cs typeface="Courier New" pitchFamily="34" charset="-120"/>
              </a:rPr>
              <a:t>seq</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0</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50</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F2C97D"/>
                </a:solidFill>
                <a:latin typeface="Courier New" pitchFamily="34" charset="0"/>
                <a:ea typeface="Courier New" pitchFamily="34" charset="-122"/>
                <a:cs typeface="Courier New" pitchFamily="34" charset="-120"/>
              </a:rPr>
              <a:t>10</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scale_color_manual</a:t>
            </a:r>
            <a:r>
              <a:rPr lang="en-US" sz="1200" dirty="0">
                <a:solidFill>
                  <a:srgbClr val="E6EDF7"/>
                </a:solidFill>
                <a:latin typeface="Courier New" pitchFamily="34" charset="0"/>
                <a:ea typeface="Courier New" pitchFamily="34" charset="-122"/>
                <a:cs typeface="Courier New" pitchFamily="34" charset="-120"/>
              </a:rPr>
              <a:t>(values = </a:t>
            </a:r>
            <a:r>
              <a:rPr lang="en-US" sz="1200" dirty="0">
                <a:solidFill>
                  <a:srgbClr val="7DD3FC"/>
                </a:solidFill>
                <a:latin typeface="Courier New" pitchFamily="34" charset="0"/>
                <a:ea typeface="Courier New" pitchFamily="34" charset="-122"/>
                <a:cs typeface="Courier New" pitchFamily="34" charset="-120"/>
              </a:rPr>
              <a:t>c</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Doctorado = </a:t>
            </a:r>
            <a:r>
              <a:rPr lang="en-US" sz="1200" dirty="0">
                <a:solidFill>
                  <a:srgbClr val="F2C97D"/>
                </a:solidFill>
                <a:latin typeface="Courier New" pitchFamily="34" charset="0"/>
                <a:ea typeface="Courier New" pitchFamily="34" charset="-122"/>
                <a:cs typeface="Courier New" pitchFamily="34" charset="-120"/>
              </a:rPr>
              <a:t>"#0072B2"</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Magíster  = </a:t>
            </a:r>
            <a:r>
              <a:rPr lang="en-US" sz="1200" dirty="0">
                <a:solidFill>
                  <a:srgbClr val="F2C97D"/>
                </a:solidFill>
                <a:latin typeface="Courier New" pitchFamily="34" charset="0"/>
                <a:ea typeface="Courier New" pitchFamily="34" charset="-122"/>
                <a:cs typeface="Courier New" pitchFamily="34" charset="-120"/>
              </a:rPr>
              <a:t>"#E69F00"</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5" name="Shape 11"/>
          <p:cNvSpPr/>
          <p:nvPr/>
        </p:nvSpPr>
        <p:spPr>
          <a:xfrm>
            <a:off x="6492240" y="3575304"/>
            <a:ext cx="5148072" cy="1417320"/>
          </a:xfrm>
          <a:prstGeom prst="roundRect">
            <a:avLst>
              <a:gd name="adj" fmla="val 4516"/>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6" name="Text 12"/>
          <p:cNvSpPr txBox="1"/>
          <p:nvPr/>
        </p:nvSpPr>
        <p:spPr>
          <a:xfrm>
            <a:off x="6720840" y="3685032"/>
            <a:ext cx="4572000" cy="274320"/>
          </a:xfrm>
          <a:prstGeom prst="rect">
            <a:avLst/>
          </a:prstGeom>
          <a:noFill/>
          <a:ln/>
        </p:spPr>
        <p:txBody>
          <a:bodyPr wrap="square" lIns="0" tIns="0" rIns="0" bIns="0" rtlCol="0" anchor="t"/>
          <a:lstStyle/>
          <a:p>
            <a:pPr marL="0" indent="0">
              <a:buNone/>
            </a:pPr>
            <a:r>
              <a:rPr lang="en-US" sz="1400" b="1" dirty="0">
                <a:solidFill>
                  <a:srgbClr val="B7791F"/>
                </a:solidFill>
                <a:latin typeface="Cambria" pitchFamily="34" charset="0"/>
                <a:ea typeface="Cambria" pitchFamily="34" charset="-122"/>
                <a:cs typeface="Cambria" pitchFamily="34" charset="-120"/>
              </a:rPr>
              <a:t>Trampa frecuente</a:t>
            </a:r>
            <a:endParaRPr lang="en-US" sz="1400" dirty="0"/>
          </a:p>
        </p:txBody>
      </p:sp>
      <p:sp>
        <p:nvSpPr>
          <p:cNvPr id="17" name="Text 13"/>
          <p:cNvSpPr txBox="1"/>
          <p:nvPr/>
        </p:nvSpPr>
        <p:spPr>
          <a:xfrm>
            <a:off x="6720840" y="4014216"/>
            <a:ext cx="4663440" cy="82296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Si el gráfico usa color y escribes scale_fill_manual(), R no avisa: simplemente la ignora.</a:t>
            </a:r>
            <a:endParaRPr lang="en-US" sz="12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Color con propósito: tres tipos de paleta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8</a:t>
            </a:r>
            <a:endParaRPr lang="en-US" sz="800" dirty="0"/>
          </a:p>
        </p:txBody>
      </p:sp>
      <p:sp>
        <p:nvSpPr>
          <p:cNvPr id="7" name="Shape 4"/>
          <p:cNvSpPr/>
          <p:nvPr/>
        </p:nvSpPr>
        <p:spPr>
          <a:xfrm>
            <a:off x="548640" y="1399032"/>
            <a:ext cx="7443216" cy="2226564"/>
          </a:xfrm>
          <a:prstGeom prst="roundRect">
            <a:avLst>
              <a:gd name="adj" fmla="val 205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2_color.png"/>
          <p:cNvPicPr>
            <a:picLocks noChangeAspect="1"/>
          </p:cNvPicPr>
          <p:nvPr/>
        </p:nvPicPr>
        <p:blipFill>
          <a:blip r:embed="rId3"/>
          <a:stretch>
            <a:fillRect/>
          </a:stretch>
        </p:blipFill>
        <p:spPr>
          <a:xfrm>
            <a:off x="612648" y="1463040"/>
            <a:ext cx="7315200" cy="2098548"/>
          </a:xfrm>
          <a:prstGeom prst="rect">
            <a:avLst/>
          </a:prstGeom>
        </p:spPr>
      </p:pic>
      <p:sp>
        <p:nvSpPr>
          <p:cNvPr id="9" name="Shape 5"/>
          <p:cNvSpPr/>
          <p:nvPr/>
        </p:nvSpPr>
        <p:spPr>
          <a:xfrm>
            <a:off x="8321040" y="1399032"/>
            <a:ext cx="3319272" cy="2194560"/>
          </a:xfrm>
          <a:prstGeom prst="roundRect">
            <a:avLst>
              <a:gd name="adj" fmla="val 2917"/>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0" name="Text 6"/>
          <p:cNvSpPr txBox="1"/>
          <p:nvPr/>
        </p:nvSpPr>
        <p:spPr>
          <a:xfrm>
            <a:off x="8549640" y="1536192"/>
            <a:ext cx="2926080" cy="274320"/>
          </a:xfrm>
          <a:prstGeom prst="rect">
            <a:avLst/>
          </a:prstGeom>
          <a:noFill/>
          <a:ln/>
        </p:spPr>
        <p:txBody>
          <a:bodyPr wrap="square" lIns="0" tIns="0" rIns="0" bIns="0" rtlCol="0" anchor="t"/>
          <a:lstStyle/>
          <a:p>
            <a:pPr marL="0" indent="0">
              <a:buNone/>
            </a:pPr>
            <a:r>
              <a:rPr lang="en-US" sz="1400" b="1" dirty="0">
                <a:solidFill>
                  <a:srgbClr val="B7791F"/>
                </a:solidFill>
                <a:latin typeface="Cambria" pitchFamily="34" charset="0"/>
                <a:ea typeface="Cambria" pitchFamily="34" charset="-122"/>
                <a:cs typeface="Cambria" pitchFamily="34" charset="-120"/>
              </a:rPr>
              <a:t>No uses el arcoíris</a:t>
            </a:r>
            <a:endParaRPr lang="en-US" sz="1400" dirty="0"/>
          </a:p>
        </p:txBody>
      </p:sp>
      <p:sp>
        <p:nvSpPr>
          <p:cNvPr id="11" name="Text 7"/>
          <p:cNvSpPr txBox="1"/>
          <p:nvPr/>
        </p:nvSpPr>
        <p:spPr>
          <a:xfrm>
            <a:off x="8549640" y="1874520"/>
            <a:ext cx="2926080" cy="16459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No tiene un orden natural, exagera diferencias pequeñas y es difícil de leer para personas daltónicas.</a:t>
            </a:r>
            <a:endParaRPr lang="en-US" sz="1250" dirty="0"/>
          </a:p>
        </p:txBody>
      </p:sp>
      <p:sp>
        <p:nvSpPr>
          <p:cNvPr id="12" name="Shape 8"/>
          <p:cNvSpPr/>
          <p:nvPr/>
        </p:nvSpPr>
        <p:spPr>
          <a:xfrm>
            <a:off x="548640" y="3977640"/>
            <a:ext cx="3584448" cy="2148840"/>
          </a:xfrm>
          <a:prstGeom prst="roundRect">
            <a:avLst>
              <a:gd name="adj" fmla="val 297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Shape 9"/>
          <p:cNvSpPr/>
          <p:nvPr/>
        </p:nvSpPr>
        <p:spPr>
          <a:xfrm>
            <a:off x="548640" y="3977640"/>
            <a:ext cx="3584448" cy="64008"/>
          </a:xfrm>
          <a:prstGeom prst="rect">
            <a:avLst/>
          </a:prstGeom>
          <a:solidFill>
            <a:srgbClr val="065A82"/>
          </a:solidFill>
          <a:ln w="12700">
            <a:solidFill>
              <a:srgbClr val="065A82"/>
            </a:solidFill>
            <a:prstDash val="solid"/>
          </a:ln>
        </p:spPr>
        <p:txBody>
          <a:bodyPr/>
          <a:lstStyle/>
          <a:p>
            <a:endParaRPr lang="es-CL"/>
          </a:p>
        </p:txBody>
      </p:sp>
      <p:sp>
        <p:nvSpPr>
          <p:cNvPr id="14" name="Text 10"/>
          <p:cNvSpPr txBox="1"/>
          <p:nvPr/>
        </p:nvSpPr>
        <p:spPr>
          <a:xfrm>
            <a:off x="777240" y="4206240"/>
            <a:ext cx="3108960" cy="320040"/>
          </a:xfrm>
          <a:prstGeom prst="rect">
            <a:avLst/>
          </a:prstGeom>
          <a:noFill/>
          <a:ln/>
        </p:spPr>
        <p:txBody>
          <a:bodyPr wrap="square" lIns="0" tIns="0" rIns="0" bIns="0" rtlCol="0" anchor="t"/>
          <a:lstStyle/>
          <a:p>
            <a:pPr marL="0" indent="0">
              <a:buNone/>
            </a:pPr>
            <a:r>
              <a:rPr lang="en-US" sz="1700" b="1" dirty="0">
                <a:solidFill>
                  <a:srgbClr val="21295C"/>
                </a:solidFill>
                <a:latin typeface="Cambria" pitchFamily="34" charset="0"/>
                <a:ea typeface="Cambria" pitchFamily="34" charset="-122"/>
                <a:cs typeface="Cambria" pitchFamily="34" charset="-120"/>
              </a:rPr>
              <a:t>Categórica</a:t>
            </a:r>
            <a:endParaRPr lang="en-US" sz="1700" dirty="0"/>
          </a:p>
        </p:txBody>
      </p:sp>
      <p:sp>
        <p:nvSpPr>
          <p:cNvPr id="15" name="Text 11"/>
          <p:cNvSpPr txBox="1"/>
          <p:nvPr/>
        </p:nvSpPr>
        <p:spPr>
          <a:xfrm>
            <a:off x="777240" y="4617720"/>
            <a:ext cx="3108960" cy="5029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Grupos sin orden (área, nivel).</a:t>
            </a:r>
            <a:endParaRPr lang="en-US" sz="1250" dirty="0"/>
          </a:p>
        </p:txBody>
      </p:sp>
      <p:sp>
        <p:nvSpPr>
          <p:cNvPr id="16" name="Text 12"/>
          <p:cNvSpPr txBox="1"/>
          <p:nvPr/>
        </p:nvSpPr>
        <p:spPr>
          <a:xfrm>
            <a:off x="777240" y="5257800"/>
            <a:ext cx="3200400" cy="731520"/>
          </a:xfrm>
          <a:prstGeom prst="rect">
            <a:avLst/>
          </a:prstGeom>
          <a:noFill/>
          <a:ln/>
        </p:spPr>
        <p:txBody>
          <a:bodyPr wrap="square" lIns="0" tIns="0" rIns="0" bIns="0" rtlCol="0" anchor="t"/>
          <a:lstStyle/>
          <a:p>
            <a:pPr marL="0" indent="0">
              <a:buNone/>
            </a:pPr>
            <a:r>
              <a:rPr lang="en-US" sz="1100" b="1" dirty="0">
                <a:solidFill>
                  <a:srgbClr val="065A82"/>
                </a:solidFill>
                <a:latin typeface="Courier New" pitchFamily="34" charset="0"/>
                <a:ea typeface="Courier New" pitchFamily="34" charset="-122"/>
                <a:cs typeface="Courier New" pitchFamily="34" charset="-120"/>
              </a:rPr>
              <a:t>scale_color_manual()</a:t>
            </a:r>
            <a:endParaRPr lang="en-US" sz="1100" dirty="0"/>
          </a:p>
          <a:p>
            <a:pPr marL="0" indent="0">
              <a:buNone/>
            </a:pPr>
            <a:r>
              <a:rPr lang="en-US" sz="1100" b="1" dirty="0">
                <a:solidFill>
                  <a:srgbClr val="065A82"/>
                </a:solidFill>
                <a:latin typeface="Courier New" pitchFamily="34" charset="0"/>
                <a:ea typeface="Courier New" pitchFamily="34" charset="-122"/>
                <a:cs typeface="Courier New" pitchFamily="34" charset="-120"/>
              </a:rPr>
              <a:t>scale_fill_brewer()</a:t>
            </a:r>
            <a:endParaRPr lang="en-US" sz="1100" dirty="0"/>
          </a:p>
        </p:txBody>
      </p:sp>
      <p:sp>
        <p:nvSpPr>
          <p:cNvPr id="17" name="Shape 13"/>
          <p:cNvSpPr/>
          <p:nvPr/>
        </p:nvSpPr>
        <p:spPr>
          <a:xfrm>
            <a:off x="4297680" y="3977640"/>
            <a:ext cx="3584448" cy="2148840"/>
          </a:xfrm>
          <a:prstGeom prst="roundRect">
            <a:avLst>
              <a:gd name="adj" fmla="val 297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Shape 14"/>
          <p:cNvSpPr/>
          <p:nvPr/>
        </p:nvSpPr>
        <p:spPr>
          <a:xfrm>
            <a:off x="4297680" y="3977640"/>
            <a:ext cx="3584448" cy="64008"/>
          </a:xfrm>
          <a:prstGeom prst="rect">
            <a:avLst/>
          </a:prstGeom>
          <a:solidFill>
            <a:srgbClr val="1C7293"/>
          </a:solidFill>
          <a:ln w="12700">
            <a:solidFill>
              <a:srgbClr val="1C7293"/>
            </a:solidFill>
            <a:prstDash val="solid"/>
          </a:ln>
        </p:spPr>
        <p:txBody>
          <a:bodyPr/>
          <a:lstStyle/>
          <a:p>
            <a:endParaRPr lang="es-CL"/>
          </a:p>
        </p:txBody>
      </p:sp>
      <p:sp>
        <p:nvSpPr>
          <p:cNvPr id="19" name="Text 15"/>
          <p:cNvSpPr txBox="1"/>
          <p:nvPr/>
        </p:nvSpPr>
        <p:spPr>
          <a:xfrm>
            <a:off x="4526280" y="4206240"/>
            <a:ext cx="3108960" cy="320040"/>
          </a:xfrm>
          <a:prstGeom prst="rect">
            <a:avLst/>
          </a:prstGeom>
          <a:noFill/>
          <a:ln/>
        </p:spPr>
        <p:txBody>
          <a:bodyPr wrap="square" lIns="0" tIns="0" rIns="0" bIns="0" rtlCol="0" anchor="t"/>
          <a:lstStyle/>
          <a:p>
            <a:pPr marL="0" indent="0">
              <a:buNone/>
            </a:pPr>
            <a:r>
              <a:rPr lang="en-US" sz="1700" b="1" dirty="0">
                <a:solidFill>
                  <a:srgbClr val="21295C"/>
                </a:solidFill>
                <a:latin typeface="Cambria" pitchFamily="34" charset="0"/>
                <a:ea typeface="Cambria" pitchFamily="34" charset="-122"/>
                <a:cs typeface="Cambria" pitchFamily="34" charset="-120"/>
              </a:rPr>
              <a:t>Secuencial</a:t>
            </a:r>
            <a:endParaRPr lang="en-US" sz="1700" dirty="0"/>
          </a:p>
        </p:txBody>
      </p:sp>
      <p:sp>
        <p:nvSpPr>
          <p:cNvPr id="20" name="Text 16"/>
          <p:cNvSpPr txBox="1"/>
          <p:nvPr/>
        </p:nvSpPr>
        <p:spPr>
          <a:xfrm>
            <a:off x="4526280" y="4617720"/>
            <a:ext cx="3108960" cy="5029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Valores ordenados, de menos a más.</a:t>
            </a:r>
            <a:endParaRPr lang="en-US" sz="1250" dirty="0"/>
          </a:p>
        </p:txBody>
      </p:sp>
      <p:sp>
        <p:nvSpPr>
          <p:cNvPr id="21" name="Text 17"/>
          <p:cNvSpPr txBox="1"/>
          <p:nvPr/>
        </p:nvSpPr>
        <p:spPr>
          <a:xfrm>
            <a:off x="4526280" y="5257800"/>
            <a:ext cx="3200400" cy="731520"/>
          </a:xfrm>
          <a:prstGeom prst="rect">
            <a:avLst/>
          </a:prstGeom>
          <a:noFill/>
          <a:ln/>
        </p:spPr>
        <p:txBody>
          <a:bodyPr wrap="square" lIns="0" tIns="0" rIns="0" bIns="0" rtlCol="0" anchor="t"/>
          <a:lstStyle/>
          <a:p>
            <a:pPr marL="0" indent="0">
              <a:buNone/>
            </a:pPr>
            <a:r>
              <a:rPr lang="en-US" sz="1100" b="1" dirty="0">
                <a:solidFill>
                  <a:srgbClr val="065A82"/>
                </a:solidFill>
                <a:latin typeface="Courier New" pitchFamily="34" charset="0"/>
                <a:ea typeface="Courier New" pitchFamily="34" charset="-122"/>
                <a:cs typeface="Courier New" pitchFamily="34" charset="-120"/>
              </a:rPr>
              <a:t>scale_fill_viridis_c()</a:t>
            </a:r>
            <a:endParaRPr lang="en-US" sz="1100" dirty="0"/>
          </a:p>
          <a:p>
            <a:pPr marL="0" indent="0">
              <a:buNone/>
            </a:pPr>
            <a:r>
              <a:rPr lang="en-US" sz="1100" b="1" dirty="0">
                <a:solidFill>
                  <a:srgbClr val="065A82"/>
                </a:solidFill>
                <a:latin typeface="Courier New" pitchFamily="34" charset="0"/>
                <a:ea typeface="Courier New" pitchFamily="34" charset="-122"/>
                <a:cs typeface="Courier New" pitchFamily="34" charset="-120"/>
              </a:rPr>
              <a:t>scale_fill_distiller()</a:t>
            </a:r>
            <a:endParaRPr lang="en-US" sz="1100" dirty="0"/>
          </a:p>
        </p:txBody>
      </p:sp>
      <p:sp>
        <p:nvSpPr>
          <p:cNvPr id="22" name="Shape 18"/>
          <p:cNvSpPr/>
          <p:nvPr/>
        </p:nvSpPr>
        <p:spPr>
          <a:xfrm>
            <a:off x="8046720" y="3977640"/>
            <a:ext cx="3584448" cy="2148840"/>
          </a:xfrm>
          <a:prstGeom prst="roundRect">
            <a:avLst>
              <a:gd name="adj" fmla="val 297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3" name="Shape 19"/>
          <p:cNvSpPr/>
          <p:nvPr/>
        </p:nvSpPr>
        <p:spPr>
          <a:xfrm>
            <a:off x="8046720" y="3977640"/>
            <a:ext cx="3584448" cy="64008"/>
          </a:xfrm>
          <a:prstGeom prst="rect">
            <a:avLst/>
          </a:prstGeom>
          <a:solidFill>
            <a:srgbClr val="B7791F"/>
          </a:solidFill>
          <a:ln w="12700">
            <a:solidFill>
              <a:srgbClr val="B7791F"/>
            </a:solidFill>
            <a:prstDash val="solid"/>
          </a:ln>
        </p:spPr>
        <p:txBody>
          <a:bodyPr/>
          <a:lstStyle/>
          <a:p>
            <a:endParaRPr lang="es-CL"/>
          </a:p>
        </p:txBody>
      </p:sp>
      <p:sp>
        <p:nvSpPr>
          <p:cNvPr id="24" name="Text 20"/>
          <p:cNvSpPr txBox="1"/>
          <p:nvPr/>
        </p:nvSpPr>
        <p:spPr>
          <a:xfrm>
            <a:off x="8275320" y="4206240"/>
            <a:ext cx="3108960" cy="320040"/>
          </a:xfrm>
          <a:prstGeom prst="rect">
            <a:avLst/>
          </a:prstGeom>
          <a:noFill/>
          <a:ln/>
        </p:spPr>
        <p:txBody>
          <a:bodyPr wrap="square" lIns="0" tIns="0" rIns="0" bIns="0" rtlCol="0" anchor="t"/>
          <a:lstStyle/>
          <a:p>
            <a:pPr marL="0" indent="0">
              <a:buNone/>
            </a:pPr>
            <a:r>
              <a:rPr lang="en-US" sz="1700" b="1" dirty="0">
                <a:solidFill>
                  <a:srgbClr val="21295C"/>
                </a:solidFill>
                <a:latin typeface="Cambria" pitchFamily="34" charset="0"/>
                <a:ea typeface="Cambria" pitchFamily="34" charset="-122"/>
                <a:cs typeface="Cambria" pitchFamily="34" charset="-120"/>
              </a:rPr>
              <a:t>Divergente</a:t>
            </a:r>
            <a:endParaRPr lang="en-US" sz="1700" dirty="0"/>
          </a:p>
        </p:txBody>
      </p:sp>
      <p:sp>
        <p:nvSpPr>
          <p:cNvPr id="25" name="Text 21"/>
          <p:cNvSpPr txBox="1"/>
          <p:nvPr/>
        </p:nvSpPr>
        <p:spPr>
          <a:xfrm>
            <a:off x="8275320" y="4617720"/>
            <a:ext cx="3108960" cy="50292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Hay un centro significativo (cero, promedio).</a:t>
            </a:r>
            <a:endParaRPr lang="en-US" sz="1250" dirty="0"/>
          </a:p>
        </p:txBody>
      </p:sp>
      <p:sp>
        <p:nvSpPr>
          <p:cNvPr id="26" name="Text 22"/>
          <p:cNvSpPr txBox="1"/>
          <p:nvPr/>
        </p:nvSpPr>
        <p:spPr>
          <a:xfrm>
            <a:off x="8275320" y="5257800"/>
            <a:ext cx="3200400" cy="731520"/>
          </a:xfrm>
          <a:prstGeom prst="rect">
            <a:avLst/>
          </a:prstGeom>
          <a:noFill/>
          <a:ln/>
        </p:spPr>
        <p:txBody>
          <a:bodyPr wrap="square" lIns="0" tIns="0" rIns="0" bIns="0" rtlCol="0" anchor="t"/>
          <a:lstStyle/>
          <a:p>
            <a:pPr marL="0" indent="0">
              <a:buNone/>
            </a:pPr>
            <a:r>
              <a:rPr lang="en-US" sz="1100" b="1" dirty="0">
                <a:solidFill>
                  <a:srgbClr val="065A82"/>
                </a:solidFill>
                <a:latin typeface="Courier New" pitchFamily="34" charset="0"/>
                <a:ea typeface="Courier New" pitchFamily="34" charset="-122"/>
                <a:cs typeface="Courier New" pitchFamily="34" charset="-120"/>
              </a:rPr>
              <a:t>scale_fill_gradient2()</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Paletas accesibles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9</a:t>
            </a:r>
            <a:endParaRPr lang="en-US" sz="800" dirty="0"/>
          </a:p>
        </p:txBody>
      </p:sp>
      <p:sp>
        <p:nvSpPr>
          <p:cNvPr id="7" name="Shape 4"/>
          <p:cNvSpPr/>
          <p:nvPr/>
        </p:nvSpPr>
        <p:spPr>
          <a:xfrm>
            <a:off x="548640" y="1399032"/>
            <a:ext cx="5980176" cy="2636085"/>
          </a:xfrm>
          <a:prstGeom prst="roundRect">
            <a:avLst>
              <a:gd name="adj" fmla="val 1734"/>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9_daltonismo.png"/>
          <p:cNvPicPr>
            <a:picLocks noChangeAspect="1"/>
          </p:cNvPicPr>
          <p:nvPr/>
        </p:nvPicPr>
        <p:blipFill>
          <a:blip r:embed="rId3"/>
          <a:stretch>
            <a:fillRect/>
          </a:stretch>
        </p:blipFill>
        <p:spPr>
          <a:xfrm>
            <a:off x="612648" y="1463040"/>
            <a:ext cx="5852160" cy="2508069"/>
          </a:xfrm>
          <a:prstGeom prst="rect">
            <a:avLst/>
          </a:prstGeom>
        </p:spPr>
      </p:pic>
      <p:sp>
        <p:nvSpPr>
          <p:cNvPr id="9" name="Shape 5"/>
          <p:cNvSpPr/>
          <p:nvPr/>
        </p:nvSpPr>
        <p:spPr>
          <a:xfrm>
            <a:off x="548640" y="4336869"/>
            <a:ext cx="5989320" cy="1347851"/>
          </a:xfrm>
          <a:prstGeom prst="roundRect">
            <a:avLst>
              <a:gd name="adj" fmla="val 4070"/>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31520" y="4464885"/>
            <a:ext cx="5623560" cy="1036955"/>
          </a:xfrm>
          <a:prstGeom prst="rect">
            <a:avLst/>
          </a:prstGeom>
          <a:noFill/>
          <a:ln/>
        </p:spPr>
        <p:txBody>
          <a:bodyPr wrap="square" lIns="0" tIns="0" rIns="0" bIns="0" rtlCol="0" anchor="t"/>
          <a:lstStyle/>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pal_area </a:t>
            </a:r>
            <a:r>
              <a:rPr lang="en-US" sz="1150" dirty="0">
                <a:solidFill>
                  <a:srgbClr val="A5D8FF"/>
                </a:solidFill>
                <a:latin typeface="Courier New" pitchFamily="34" charset="0"/>
                <a:ea typeface="Courier New" pitchFamily="34" charset="-122"/>
                <a:cs typeface="Courier New" pitchFamily="34" charset="-120"/>
              </a:rPr>
              <a:t>&lt;-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c</a:t>
            </a:r>
            <a:r>
              <a:rPr lang="en-US" sz="1150" dirty="0">
                <a:solidFill>
                  <a:srgbClr val="E6EDF7"/>
                </a:solidFill>
                <a:latin typeface="Courier New" pitchFamily="34" charset="0"/>
                <a:ea typeface="Courier New" pitchFamily="34" charset="-122"/>
                <a:cs typeface="Courier New" pitchFamily="34" charset="-120"/>
              </a:rPr>
              <a:t>(</a:t>
            </a:r>
            <a:r>
              <a:rPr lang="en-US" sz="1150" dirty="0">
                <a:solidFill>
                  <a:srgbClr val="F2C97D"/>
                </a:solidFill>
                <a:latin typeface="Courier New" pitchFamily="34" charset="0"/>
                <a:ea typeface="Courier New" pitchFamily="34" charset="-122"/>
                <a:cs typeface="Courier New" pitchFamily="34" charset="-120"/>
              </a:rPr>
              <a:t>"Ciencias Naturales"</a:t>
            </a:r>
            <a:r>
              <a:rPr lang="en-US" sz="1150" dirty="0">
                <a:solidFill>
                  <a:srgbClr val="E6EDF7"/>
                </a:solidFill>
                <a:latin typeface="Courier New" pitchFamily="34" charset="0"/>
                <a:ea typeface="Courier New" pitchFamily="34" charset="-122"/>
                <a:cs typeface="Courier New" pitchFamily="34" charset="-120"/>
              </a:rPr>
              <a:t> = </a:t>
            </a:r>
            <a:r>
              <a:rPr lang="en-US" sz="1150" dirty="0">
                <a:solidFill>
                  <a:srgbClr val="F2C97D"/>
                </a:solidFill>
                <a:latin typeface="Courier New" pitchFamily="34" charset="0"/>
                <a:ea typeface="Courier New" pitchFamily="34" charset="-122"/>
                <a:cs typeface="Courier New" pitchFamily="34" charset="-120"/>
              </a:rPr>
              <a:t>"#0072B2"</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"Ciencias Sociales"</a:t>
            </a:r>
            <a:r>
              <a:rPr lang="en-US" sz="1150" dirty="0">
                <a:solidFill>
                  <a:srgbClr val="E6EDF7"/>
                </a:solidFill>
                <a:latin typeface="Courier New" pitchFamily="34" charset="0"/>
                <a:ea typeface="Courier New" pitchFamily="34" charset="-122"/>
                <a:cs typeface="Courier New" pitchFamily="34" charset="-120"/>
              </a:rPr>
              <a:t>  = </a:t>
            </a:r>
            <a:r>
              <a:rPr lang="en-US" sz="1150" dirty="0">
                <a:solidFill>
                  <a:srgbClr val="F2C97D"/>
                </a:solidFill>
                <a:latin typeface="Courier New" pitchFamily="34" charset="0"/>
                <a:ea typeface="Courier New" pitchFamily="34" charset="-122"/>
                <a:cs typeface="Courier New" pitchFamily="34" charset="-120"/>
              </a:rPr>
              <a:t>"#E69F00"</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"Ingeniería"</a:t>
            </a:r>
            <a:r>
              <a:rPr lang="en-US" sz="1150" dirty="0">
                <a:solidFill>
                  <a:srgbClr val="E6EDF7"/>
                </a:solidFill>
                <a:latin typeface="Courier New" pitchFamily="34" charset="0"/>
                <a:ea typeface="Courier New" pitchFamily="34" charset="-122"/>
                <a:cs typeface="Courier New" pitchFamily="34" charset="-120"/>
              </a:rPr>
              <a:t>         = </a:t>
            </a:r>
            <a:r>
              <a:rPr lang="en-US" sz="1150" dirty="0">
                <a:solidFill>
                  <a:srgbClr val="F2C97D"/>
                </a:solidFill>
                <a:latin typeface="Courier New" pitchFamily="34" charset="0"/>
                <a:ea typeface="Courier New" pitchFamily="34" charset="-122"/>
                <a:cs typeface="Courier New" pitchFamily="34" charset="-120"/>
              </a:rPr>
              <a:t>"#009E73"</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7DD3FC"/>
                </a:solidFill>
                <a:latin typeface="Courier New" pitchFamily="34" charset="0"/>
                <a:ea typeface="Courier New" pitchFamily="34" charset="-122"/>
                <a:cs typeface="Courier New" pitchFamily="34" charset="-120"/>
              </a:rPr>
              <a:t>ggplot</a:t>
            </a:r>
            <a:r>
              <a:rPr lang="en-US" sz="1150" dirty="0">
                <a:solidFill>
                  <a:srgbClr val="E6EDF7"/>
                </a:solidFill>
                <a:latin typeface="Courier New" pitchFamily="34" charset="0"/>
                <a:ea typeface="Courier New" pitchFamily="34" charset="-122"/>
                <a:cs typeface="Courier New" pitchFamily="34" charset="-120"/>
              </a:rPr>
              <a:t>(...) + </a:t>
            </a:r>
            <a:r>
              <a:rPr lang="en-US" sz="1150" dirty="0">
                <a:solidFill>
                  <a:srgbClr val="7DD3FC"/>
                </a:solidFill>
                <a:latin typeface="Courier New" pitchFamily="34" charset="0"/>
                <a:ea typeface="Courier New" pitchFamily="34" charset="-122"/>
                <a:cs typeface="Courier New" pitchFamily="34" charset="-120"/>
              </a:rPr>
              <a:t>scale_color_manual</a:t>
            </a:r>
            <a:r>
              <a:rPr lang="en-US" sz="1150" dirty="0">
                <a:solidFill>
                  <a:srgbClr val="E6EDF7"/>
                </a:solidFill>
                <a:latin typeface="Courier New" pitchFamily="34" charset="0"/>
                <a:ea typeface="Courier New" pitchFamily="34" charset="-122"/>
                <a:cs typeface="Courier New" pitchFamily="34" charset="-120"/>
              </a:rPr>
              <a:t>(values = pal_area)</a:t>
            </a:r>
            <a:endParaRPr lang="en-US" sz="1150" dirty="0"/>
          </a:p>
        </p:txBody>
      </p:sp>
      <p:sp>
        <p:nvSpPr>
          <p:cNvPr id="11" name="Text 7"/>
          <p:cNvSpPr txBox="1"/>
          <p:nvPr/>
        </p:nvSpPr>
        <p:spPr>
          <a:xfrm>
            <a:off x="7040880" y="137160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TRES HÁBITOS</a:t>
            </a:r>
            <a:endParaRPr lang="en-US" sz="900" dirty="0"/>
          </a:p>
        </p:txBody>
      </p:sp>
      <p:sp>
        <p:nvSpPr>
          <p:cNvPr id="12" name="Shape 8"/>
          <p:cNvSpPr/>
          <p:nvPr/>
        </p:nvSpPr>
        <p:spPr>
          <a:xfrm>
            <a:off x="7040880" y="1737360"/>
            <a:ext cx="310896" cy="310896"/>
          </a:xfrm>
          <a:prstGeom prst="ellipse">
            <a:avLst/>
          </a:prstGeom>
          <a:solidFill>
            <a:srgbClr val="065A82"/>
          </a:solidFill>
          <a:ln w="12700">
            <a:solidFill>
              <a:srgbClr val="065A82"/>
            </a:solidFill>
            <a:prstDash val="solid"/>
          </a:ln>
        </p:spPr>
        <p:txBody>
          <a:bodyPr/>
          <a:lstStyle/>
          <a:p>
            <a:endParaRPr lang="es-CL"/>
          </a:p>
        </p:txBody>
      </p:sp>
      <p:sp>
        <p:nvSpPr>
          <p:cNvPr id="13" name="Text 9"/>
          <p:cNvSpPr txBox="1"/>
          <p:nvPr/>
        </p:nvSpPr>
        <p:spPr>
          <a:xfrm>
            <a:off x="7040880" y="173736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14" name="Text 10"/>
          <p:cNvSpPr txBox="1"/>
          <p:nvPr/>
        </p:nvSpPr>
        <p:spPr>
          <a:xfrm>
            <a:off x="7516368" y="1719072"/>
            <a:ext cx="4096512" cy="274320"/>
          </a:xfrm>
          <a:prstGeom prst="rect">
            <a:avLst/>
          </a:prstGeom>
          <a:noFill/>
          <a:ln/>
        </p:spPr>
        <p:txBody>
          <a:bodyPr wrap="square" lIns="0" tIns="0" rIns="0" bIns="0" rtlCol="0" anchor="t"/>
          <a:lstStyle/>
          <a:p>
            <a:pPr marL="0" indent="0">
              <a:buNone/>
            </a:pPr>
            <a:r>
              <a:rPr lang="en-US" sz="1400" b="1" dirty="0">
                <a:solidFill>
                  <a:srgbClr val="21295C"/>
                </a:solidFill>
                <a:latin typeface="Cambria" pitchFamily="34" charset="0"/>
                <a:ea typeface="Cambria" pitchFamily="34" charset="-122"/>
                <a:cs typeface="Cambria" pitchFamily="34" charset="-120"/>
              </a:rPr>
              <a:t>Define la paleta una sola vez</a:t>
            </a:r>
            <a:endParaRPr lang="en-US" sz="1400" dirty="0"/>
          </a:p>
        </p:txBody>
      </p:sp>
      <p:sp>
        <p:nvSpPr>
          <p:cNvPr id="15" name="Text 11"/>
          <p:cNvSpPr txBox="1"/>
          <p:nvPr/>
        </p:nvSpPr>
        <p:spPr>
          <a:xfrm>
            <a:off x="7516368" y="1993392"/>
            <a:ext cx="4096512" cy="9601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Un vector con nombres: cada categoría conserva su color en todos los gráficos.</a:t>
            </a:r>
            <a:endParaRPr lang="en-US" sz="1150" dirty="0"/>
          </a:p>
        </p:txBody>
      </p:sp>
      <p:sp>
        <p:nvSpPr>
          <p:cNvPr id="16" name="Shape 12"/>
          <p:cNvSpPr/>
          <p:nvPr/>
        </p:nvSpPr>
        <p:spPr>
          <a:xfrm>
            <a:off x="7040880" y="2971800"/>
            <a:ext cx="310896" cy="310896"/>
          </a:xfrm>
          <a:prstGeom prst="ellipse">
            <a:avLst/>
          </a:prstGeom>
          <a:solidFill>
            <a:srgbClr val="065A82"/>
          </a:solidFill>
          <a:ln w="12700">
            <a:solidFill>
              <a:srgbClr val="065A82"/>
            </a:solidFill>
            <a:prstDash val="solid"/>
          </a:ln>
        </p:spPr>
        <p:txBody>
          <a:bodyPr/>
          <a:lstStyle/>
          <a:p>
            <a:endParaRPr lang="es-CL"/>
          </a:p>
        </p:txBody>
      </p:sp>
      <p:sp>
        <p:nvSpPr>
          <p:cNvPr id="17" name="Text 13"/>
          <p:cNvSpPr txBox="1"/>
          <p:nvPr/>
        </p:nvSpPr>
        <p:spPr>
          <a:xfrm>
            <a:off x="7040880" y="297180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8" name="Text 14"/>
          <p:cNvSpPr txBox="1"/>
          <p:nvPr/>
        </p:nvSpPr>
        <p:spPr>
          <a:xfrm>
            <a:off x="7516368" y="2953512"/>
            <a:ext cx="4096512" cy="274320"/>
          </a:xfrm>
          <a:prstGeom prst="rect">
            <a:avLst/>
          </a:prstGeom>
          <a:noFill/>
          <a:ln/>
        </p:spPr>
        <p:txBody>
          <a:bodyPr wrap="square" lIns="0" tIns="0" rIns="0" bIns="0" rtlCol="0" anchor="t"/>
          <a:lstStyle/>
          <a:p>
            <a:pPr marL="0" indent="0">
              <a:buNone/>
            </a:pPr>
            <a:r>
              <a:rPr lang="en-US" sz="1400" b="1" dirty="0">
                <a:solidFill>
                  <a:srgbClr val="21295C"/>
                </a:solidFill>
                <a:latin typeface="Cambria" pitchFamily="34" charset="0"/>
                <a:ea typeface="Cambria" pitchFamily="34" charset="-122"/>
                <a:cs typeface="Cambria" pitchFamily="34" charset="-120"/>
              </a:rPr>
              <a:t>No dependas solo del color</a:t>
            </a:r>
            <a:endParaRPr lang="en-US" sz="1400" dirty="0"/>
          </a:p>
        </p:txBody>
      </p:sp>
      <p:sp>
        <p:nvSpPr>
          <p:cNvPr id="19" name="Text 15"/>
          <p:cNvSpPr txBox="1"/>
          <p:nvPr/>
        </p:nvSpPr>
        <p:spPr>
          <a:xfrm>
            <a:off x="7516368" y="3227832"/>
            <a:ext cx="4096512" cy="9601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Suma etiquetas directas, formas o tipos de línea; la figura debe leerse en blanco y negro.</a:t>
            </a:r>
            <a:endParaRPr lang="en-US" sz="1150" dirty="0"/>
          </a:p>
        </p:txBody>
      </p:sp>
      <p:sp>
        <p:nvSpPr>
          <p:cNvPr id="20" name="Shape 16"/>
          <p:cNvSpPr/>
          <p:nvPr/>
        </p:nvSpPr>
        <p:spPr>
          <a:xfrm>
            <a:off x="7040880" y="4206240"/>
            <a:ext cx="310896" cy="310896"/>
          </a:xfrm>
          <a:prstGeom prst="ellipse">
            <a:avLst/>
          </a:prstGeom>
          <a:solidFill>
            <a:srgbClr val="065A82"/>
          </a:solidFill>
          <a:ln w="12700">
            <a:solidFill>
              <a:srgbClr val="065A82"/>
            </a:solidFill>
            <a:prstDash val="solid"/>
          </a:ln>
        </p:spPr>
        <p:txBody>
          <a:bodyPr/>
          <a:lstStyle/>
          <a:p>
            <a:endParaRPr lang="es-CL"/>
          </a:p>
        </p:txBody>
      </p:sp>
      <p:sp>
        <p:nvSpPr>
          <p:cNvPr id="21" name="Text 17"/>
          <p:cNvSpPr txBox="1"/>
          <p:nvPr/>
        </p:nvSpPr>
        <p:spPr>
          <a:xfrm>
            <a:off x="7040880" y="4206240"/>
            <a:ext cx="310896" cy="310896"/>
          </a:xfrm>
          <a:prstGeom prst="rect">
            <a:avLst/>
          </a:prstGeom>
          <a:noFill/>
          <a:ln/>
        </p:spPr>
        <p:txBody>
          <a:bodyPr wrap="square" lIns="0" tIns="0" rIns="0" bIns="0" rtlCol="0" anchor="ctr"/>
          <a:lstStyle/>
          <a:p>
            <a:pPr marL="0" indent="0" algn="ctr">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22" name="Text 18"/>
          <p:cNvSpPr txBox="1"/>
          <p:nvPr/>
        </p:nvSpPr>
        <p:spPr>
          <a:xfrm>
            <a:off x="7516368" y="4187952"/>
            <a:ext cx="4096512" cy="274320"/>
          </a:xfrm>
          <a:prstGeom prst="rect">
            <a:avLst/>
          </a:prstGeom>
          <a:noFill/>
          <a:ln/>
        </p:spPr>
        <p:txBody>
          <a:bodyPr wrap="square" lIns="0" tIns="0" rIns="0" bIns="0" rtlCol="0" anchor="t"/>
          <a:lstStyle/>
          <a:p>
            <a:pPr marL="0" indent="0">
              <a:buNone/>
            </a:pPr>
            <a:r>
              <a:rPr lang="en-US" sz="1400" b="1" dirty="0">
                <a:solidFill>
                  <a:srgbClr val="21295C"/>
                </a:solidFill>
                <a:latin typeface="Cambria" pitchFamily="34" charset="0"/>
                <a:ea typeface="Cambria" pitchFamily="34" charset="-122"/>
                <a:cs typeface="Cambria" pitchFamily="34" charset="-120"/>
              </a:rPr>
              <a:t>Pruébala</a:t>
            </a:r>
            <a:endParaRPr lang="en-US" sz="1400" dirty="0"/>
          </a:p>
        </p:txBody>
      </p:sp>
      <p:sp>
        <p:nvSpPr>
          <p:cNvPr id="23" name="Text 19"/>
          <p:cNvSpPr txBox="1"/>
          <p:nvPr/>
        </p:nvSpPr>
        <p:spPr>
          <a:xfrm>
            <a:off x="7516368" y="4462272"/>
            <a:ext cx="4096512" cy="960120"/>
          </a:xfrm>
          <a:prstGeom prst="rect">
            <a:avLst/>
          </a:prstGeom>
          <a:noFill/>
          <a:ln/>
        </p:spPr>
        <p:txBody>
          <a:bodyPr wrap="square" lIns="0" tIns="0" rIns="0" bIns="0" rtlCol="0" anchor="t"/>
          <a:lstStyle/>
          <a:p>
            <a:pPr marL="0" indent="0">
              <a:buNone/>
            </a:pPr>
            <a:r>
              <a:rPr lang="en-US" sz="1150" dirty="0">
                <a:solidFill>
                  <a:srgbClr val="5B6B7F"/>
                </a:solidFill>
                <a:latin typeface="Calibri" pitchFamily="34" charset="0"/>
                <a:ea typeface="Calibri" pitchFamily="34" charset="-122"/>
                <a:cs typeface="Calibri" pitchFamily="34" charset="-120"/>
              </a:rPr>
              <a:t>colorspace::deutan() simula una visión deuteranópica en segundos.</a:t>
            </a:r>
            <a:endParaRPr lang="en-US" sz="11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Ejes con scales: formatos y límites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10</a:t>
            </a:r>
            <a:endParaRPr lang="en-US" sz="800" dirty="0"/>
          </a:p>
        </p:txBody>
      </p:sp>
      <p:sp>
        <p:nvSpPr>
          <p:cNvPr id="7" name="Shape 4"/>
          <p:cNvSpPr/>
          <p:nvPr/>
        </p:nvSpPr>
        <p:spPr>
          <a:xfrm>
            <a:off x="548640" y="1399032"/>
            <a:ext cx="7626096" cy="2794000"/>
          </a:xfrm>
          <a:prstGeom prst="roundRect">
            <a:avLst>
              <a:gd name="adj" fmla="val 163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3_ejes.png"/>
          <p:cNvPicPr>
            <a:picLocks noChangeAspect="1"/>
          </p:cNvPicPr>
          <p:nvPr/>
        </p:nvPicPr>
        <p:blipFill>
          <a:blip r:embed="rId3"/>
          <a:stretch>
            <a:fillRect/>
          </a:stretch>
        </p:blipFill>
        <p:spPr>
          <a:xfrm>
            <a:off x="612648" y="1463040"/>
            <a:ext cx="7498080" cy="2665984"/>
          </a:xfrm>
          <a:prstGeom prst="rect">
            <a:avLst/>
          </a:prstGeom>
        </p:spPr>
      </p:pic>
      <p:sp>
        <p:nvSpPr>
          <p:cNvPr id="9" name="Shape 5"/>
          <p:cNvSpPr/>
          <p:nvPr/>
        </p:nvSpPr>
        <p:spPr>
          <a:xfrm>
            <a:off x="548640" y="4449064"/>
            <a:ext cx="7635240" cy="1302766"/>
          </a:xfrm>
          <a:prstGeom prst="roundRect">
            <a:avLst>
              <a:gd name="adj" fmla="val 4211"/>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31520" y="4577080"/>
            <a:ext cx="7269480" cy="991870"/>
          </a:xfrm>
          <a:prstGeom prst="rect">
            <a:avLst/>
          </a:prstGeom>
          <a:noFill/>
          <a:ln/>
        </p:spPr>
        <p:txBody>
          <a:bodyPr wrap="square" lIns="0" tIns="0" rIns="0" bIns="0" rtlCol="0" anchor="t"/>
          <a:lstStyle/>
          <a:p>
            <a:pPr marL="0" indent="0">
              <a:lnSpc>
                <a:spcPts val="1562"/>
              </a:lnSpc>
              <a:buNone/>
            </a:pPr>
            <a:r>
              <a:rPr lang="en-US" sz="1100" dirty="0">
                <a:solidFill>
                  <a:srgbClr val="7DD3FC"/>
                </a:solidFill>
                <a:latin typeface="Courier New" pitchFamily="34" charset="0"/>
                <a:ea typeface="Courier New" pitchFamily="34" charset="-122"/>
                <a:cs typeface="Courier New" pitchFamily="34" charset="-120"/>
              </a:rPr>
              <a:t>scale_y_continuous</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labels = </a:t>
            </a:r>
            <a:r>
              <a:rPr lang="en-US" sz="1100" dirty="0">
                <a:solidFill>
                  <a:srgbClr val="7DD3FC"/>
                </a:solidFill>
                <a:latin typeface="Courier New" pitchFamily="34" charset="0"/>
                <a:ea typeface="Courier New" pitchFamily="34" charset="-122"/>
                <a:cs typeface="Courier New" pitchFamily="34" charset="-120"/>
              </a:rPr>
              <a:t>label_number</a:t>
            </a:r>
            <a:r>
              <a:rPr lang="en-US" sz="1100" dirty="0">
                <a:solidFill>
                  <a:srgbClr val="E6EDF7"/>
                </a:solidFill>
                <a:latin typeface="Courier New" pitchFamily="34" charset="0"/>
                <a:ea typeface="Courier New" pitchFamily="34" charset="-122"/>
                <a:cs typeface="Courier New" pitchFamily="34" charset="-120"/>
              </a:rPr>
              <a:t>(scale = 1e-</a:t>
            </a:r>
            <a:r>
              <a:rPr lang="en-US" sz="1100" dirty="0">
                <a:solidFill>
                  <a:srgbClr val="F2C97D"/>
                </a:solidFill>
                <a:latin typeface="Courier New" pitchFamily="34" charset="0"/>
                <a:ea typeface="Courier New" pitchFamily="34" charset="-122"/>
                <a:cs typeface="Courier New" pitchFamily="34" charset="-120"/>
              </a:rPr>
              <a:t>6</a:t>
            </a:r>
            <a:r>
              <a:rPr lang="en-US" sz="1100" dirty="0">
                <a:solidFill>
                  <a:srgbClr val="E6EDF7"/>
                </a:solidFill>
                <a:latin typeface="Courier New" pitchFamily="34" charset="0"/>
                <a:ea typeface="Courier New" pitchFamily="34" charset="-122"/>
                <a:cs typeface="Courier New" pitchFamily="34" charset="-120"/>
              </a:rPr>
              <a:t>, big.mark = </a:t>
            </a:r>
            <a:r>
              <a:rPr lang="en-US" sz="1100" dirty="0">
                <a:solidFill>
                  <a:srgbClr val="F2C97D"/>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 decimal.mark = </a:t>
            </a:r>
            <a:r>
              <a:rPr lang="en-US" sz="1100" dirty="0">
                <a:solidFill>
                  <a:srgbClr val="F2C97D"/>
                </a:solidFill>
                <a:latin typeface="Courier New" pitchFamily="34" charset="0"/>
                <a:ea typeface="Courier New" pitchFamily="34" charset="-122"/>
                <a:cs typeface="Courier New" pitchFamily="34" charset="-120"/>
              </a:rPr>
              <a:t>","</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expand = </a:t>
            </a:r>
            <a:r>
              <a:rPr lang="en-US" sz="1100" dirty="0">
                <a:solidFill>
                  <a:srgbClr val="7DD3FC"/>
                </a:solidFill>
                <a:latin typeface="Courier New" pitchFamily="34" charset="0"/>
                <a:ea typeface="Courier New" pitchFamily="34" charset="-122"/>
                <a:cs typeface="Courier New" pitchFamily="34" charset="-120"/>
              </a:rPr>
              <a:t>expansion</a:t>
            </a:r>
            <a:r>
              <a:rPr lang="en-US" sz="1100" dirty="0">
                <a:solidFill>
                  <a:srgbClr val="E6EDF7"/>
                </a:solidFill>
                <a:latin typeface="Courier New" pitchFamily="34" charset="0"/>
                <a:ea typeface="Courier New" pitchFamily="34" charset="-122"/>
                <a:cs typeface="Courier New" pitchFamily="34" charset="-120"/>
              </a:rPr>
              <a:t>(mult = </a:t>
            </a:r>
            <a:r>
              <a:rPr lang="en-US" sz="1100" dirty="0">
                <a:solidFill>
                  <a:srgbClr val="7DD3FC"/>
                </a:solidFill>
                <a:latin typeface="Courier New" pitchFamily="34" charset="0"/>
                <a:ea typeface="Courier New" pitchFamily="34" charset="-122"/>
                <a:cs typeface="Courier New" pitchFamily="34" charset="-120"/>
              </a:rPr>
              <a:t>c</a:t>
            </a:r>
            <a:r>
              <a:rPr lang="en-US" sz="1100" dirty="0">
                <a:solidFill>
                  <a:srgbClr val="E6EDF7"/>
                </a:solidFill>
                <a:latin typeface="Courier New" pitchFamily="34" charset="0"/>
                <a:ea typeface="Courier New" pitchFamily="34" charset="-122"/>
                <a:cs typeface="Courier New" pitchFamily="34" charset="-120"/>
              </a:rPr>
              <a:t>(</a:t>
            </a:r>
            <a:r>
              <a:rPr lang="en-US" sz="1100" dirty="0">
                <a:solidFill>
                  <a:srgbClr val="F2C97D"/>
                </a:solidFill>
                <a:latin typeface="Courier New" pitchFamily="34" charset="0"/>
                <a:ea typeface="Courier New" pitchFamily="34" charset="-122"/>
                <a:cs typeface="Courier New" pitchFamily="34" charset="-120"/>
              </a:rPr>
              <a:t>0</a:t>
            </a:r>
            <a:r>
              <a:rPr lang="en-US" sz="1100" dirty="0">
                <a:solidFill>
                  <a:srgbClr val="E6EDF7"/>
                </a:solidFill>
                <a:latin typeface="Courier New" pitchFamily="34" charset="0"/>
                <a:ea typeface="Courier New" pitchFamily="34" charset="-122"/>
                <a:cs typeface="Courier New" pitchFamily="34" charset="-120"/>
              </a:rPr>
              <a:t>, </a:t>
            </a:r>
            <a:r>
              <a:rPr lang="en-US" sz="1100" dirty="0">
                <a:solidFill>
                  <a:srgbClr val="F2C97D"/>
                </a:solidFill>
                <a:latin typeface="Courier New" pitchFamily="34" charset="0"/>
                <a:ea typeface="Courier New" pitchFamily="34" charset="-122"/>
                <a:cs typeface="Courier New" pitchFamily="34" charset="-120"/>
              </a:rPr>
              <a:t>0.05</a:t>
            </a:r>
            <a:r>
              <a:rPr lang="en-US" sz="1100" dirty="0">
                <a:solidFill>
                  <a:srgbClr val="E6EDF7"/>
                </a:solidFill>
                <a:latin typeface="Courier New" pitchFamily="34" charset="0"/>
                <a:ea typeface="Courier New" pitchFamily="34" charset="-122"/>
                <a:cs typeface="Courier New" pitchFamily="34" charset="-120"/>
              </a:rPr>
              <a:t>))</a:t>
            </a:r>
            <a:endParaRPr lang="en-US" sz="1100" dirty="0"/>
          </a:p>
          <a:p>
            <a:pPr marL="0" indent="0">
              <a:lnSpc>
                <a:spcPts val="1562"/>
              </a:lnSpc>
              <a:buNone/>
            </a:pPr>
            <a:r>
              <a:rPr lang="en-US" sz="1100" dirty="0">
                <a:solidFill>
                  <a:srgbClr val="E6EDF7"/>
                </a:solidFill>
                <a:latin typeface="Courier New" pitchFamily="34" charset="0"/>
                <a:ea typeface="Courier New" pitchFamily="34" charset="-122"/>
                <a:cs typeface="Courier New" pitchFamily="34" charset="-120"/>
              </a:rPr>
              <a:t>) +</a:t>
            </a:r>
            <a:endParaRPr lang="en-US" sz="1100" dirty="0"/>
          </a:p>
          <a:p>
            <a:pPr marL="0" indent="0">
              <a:lnSpc>
                <a:spcPts val="1562"/>
              </a:lnSpc>
              <a:buNone/>
            </a:pPr>
            <a:r>
              <a:rPr lang="en-US" sz="1100" dirty="0">
                <a:solidFill>
                  <a:srgbClr val="7DD3FC"/>
                </a:solidFill>
                <a:latin typeface="Courier New" pitchFamily="34" charset="0"/>
                <a:ea typeface="Courier New" pitchFamily="34" charset="-122"/>
                <a:cs typeface="Courier New" pitchFamily="34" charset="-120"/>
              </a:rPr>
              <a:t>labs</a:t>
            </a:r>
            <a:r>
              <a:rPr lang="en-US" sz="1100" dirty="0">
                <a:solidFill>
                  <a:srgbClr val="E6EDF7"/>
                </a:solidFill>
                <a:latin typeface="Courier New" pitchFamily="34" charset="0"/>
                <a:ea typeface="Courier New" pitchFamily="34" charset="-122"/>
                <a:cs typeface="Courier New" pitchFamily="34" charset="-120"/>
              </a:rPr>
              <a:t>(y = </a:t>
            </a:r>
            <a:r>
              <a:rPr lang="en-US" sz="1100" dirty="0">
                <a:solidFill>
                  <a:srgbClr val="F2C97D"/>
                </a:solidFill>
                <a:latin typeface="Courier New" pitchFamily="34" charset="0"/>
                <a:ea typeface="Courier New" pitchFamily="34" charset="-122"/>
                <a:cs typeface="Courier New" pitchFamily="34" charset="-120"/>
              </a:rPr>
              <a:t>"Millones de CLP"</a:t>
            </a:r>
            <a:r>
              <a:rPr lang="en-US" sz="1100" dirty="0">
                <a:solidFill>
                  <a:srgbClr val="E6EDF7"/>
                </a:solidFill>
                <a:latin typeface="Courier New" pitchFamily="34" charset="0"/>
                <a:ea typeface="Courier New" pitchFamily="34" charset="-122"/>
                <a:cs typeface="Courier New" pitchFamily="34" charset="-120"/>
              </a:rPr>
              <a:t>)</a:t>
            </a:r>
            <a:endParaRPr lang="en-US" sz="1100" dirty="0"/>
          </a:p>
        </p:txBody>
      </p:sp>
      <p:sp>
        <p:nvSpPr>
          <p:cNvPr id="11" name="Text 7"/>
          <p:cNvSpPr txBox="1"/>
          <p:nvPr/>
        </p:nvSpPr>
        <p:spPr>
          <a:xfrm>
            <a:off x="8549640" y="1371600"/>
            <a:ext cx="310896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ÚTILES DEL PAQUETE SCALES</a:t>
            </a:r>
            <a:endParaRPr lang="en-US" sz="9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8549640" y="1691640"/>
          <a:ext cx="3090672" cy="2432304"/>
        </p:xfrm>
        <a:graphic>
          <a:graphicData uri="http://schemas.openxmlformats.org/drawingml/2006/table">
            <a:tbl>
              <a:tblPr/>
              <a:tblGrid>
                <a:gridCol w="1783080">
                  <a:extLst>
                    <a:ext uri="{9D8B030D-6E8A-4147-A177-3AD203B41FA5}">
                      <a16:colId xmlns:a16="http://schemas.microsoft.com/office/drawing/2014/main" val="20000"/>
                    </a:ext>
                  </a:extLst>
                </a:gridCol>
                <a:gridCol w="1307592">
                  <a:extLst>
                    <a:ext uri="{9D8B030D-6E8A-4147-A177-3AD203B41FA5}">
                      <a16:colId xmlns:a16="http://schemas.microsoft.com/office/drawing/2014/main" val="20001"/>
                    </a:ext>
                  </a:extLst>
                </a:gridCol>
              </a:tblGrid>
              <a:tr h="347472">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Función</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Resultado</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47472">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label_percent()</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25 %</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47472">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label_comma()</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1,234</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47472">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label_dollar()</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$1.500</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47472">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label_date()</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ene 2025</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r h="347472">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breaks_pretty()</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cortes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347472">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expansion()</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márgenes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6"/>
                  </a:ext>
                </a:extLst>
              </a:tr>
            </a:tbl>
          </a:graphicData>
        </a:graphic>
      </p:graphicFrame>
      <p:sp>
        <p:nvSpPr>
          <p:cNvPr id="13" name="Shape 8"/>
          <p:cNvSpPr/>
          <p:nvPr/>
        </p:nvSpPr>
        <p:spPr>
          <a:xfrm>
            <a:off x="8549640" y="4526280"/>
            <a:ext cx="3090672" cy="1005840"/>
          </a:xfrm>
          <a:prstGeom prst="rect">
            <a:avLst/>
          </a:prstGeom>
          <a:solidFill>
            <a:srgbClr val="E4EEF2"/>
          </a:solidFill>
          <a:ln w="12700">
            <a:solidFill>
              <a:srgbClr val="E4EEF2"/>
            </a:solidFill>
            <a:prstDash val="solid"/>
          </a:ln>
        </p:spPr>
        <p:txBody>
          <a:bodyPr/>
          <a:lstStyle/>
          <a:p>
            <a:endParaRPr lang="es-CL"/>
          </a:p>
        </p:txBody>
      </p:sp>
      <p:sp>
        <p:nvSpPr>
          <p:cNvPr id="14" name="Shape 9"/>
          <p:cNvSpPr/>
          <p:nvPr/>
        </p:nvSpPr>
        <p:spPr>
          <a:xfrm>
            <a:off x="8549640" y="4526280"/>
            <a:ext cx="64008" cy="1005840"/>
          </a:xfrm>
          <a:prstGeom prst="rect">
            <a:avLst/>
          </a:prstGeom>
          <a:solidFill>
            <a:srgbClr val="1C7293"/>
          </a:solidFill>
          <a:ln w="12700">
            <a:solidFill>
              <a:srgbClr val="1C7293"/>
            </a:solidFill>
            <a:prstDash val="solid"/>
          </a:ln>
        </p:spPr>
        <p:txBody>
          <a:bodyPr/>
          <a:lstStyle/>
          <a:p>
            <a:endParaRPr lang="es-CL"/>
          </a:p>
        </p:txBody>
      </p:sp>
      <p:sp>
        <p:nvSpPr>
          <p:cNvPr id="15" name="Text 10"/>
          <p:cNvSpPr txBox="1"/>
          <p:nvPr/>
        </p:nvSpPr>
        <p:spPr>
          <a:xfrm>
            <a:off x="8750808" y="4526280"/>
            <a:ext cx="2770632" cy="1005840"/>
          </a:xfrm>
          <a:prstGeom prst="rect">
            <a:avLst/>
          </a:prstGeom>
          <a:noFill/>
          <a:ln/>
        </p:spPr>
        <p:txBody>
          <a:bodyPr wrap="square" lIns="0" tIns="0" rIns="0" bIns="0" rtlCol="0" anchor="ctr"/>
          <a:lstStyle/>
          <a:p>
            <a:pPr marL="0" indent="0">
              <a:buNone/>
            </a:pPr>
            <a:r>
              <a:rPr lang="en-US" sz="1250" i="1" dirty="0">
                <a:solidFill>
                  <a:srgbClr val="1E2A44"/>
                </a:solidFill>
                <a:latin typeface="Calibri" pitchFamily="34" charset="0"/>
                <a:ea typeface="Calibri" pitchFamily="34" charset="-122"/>
                <a:cs typeface="Calibri" pitchFamily="34" charset="-120"/>
              </a:rPr>
              <a:t>Para barras: el eje debe partir en cero.</a:t>
            </a:r>
            <a:endParaRPr lang="en-US" sz="12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Ordenar categorías con forcats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11</a:t>
            </a:r>
            <a:endParaRPr lang="en-US" sz="800" dirty="0"/>
          </a:p>
        </p:txBody>
      </p:sp>
      <p:sp>
        <p:nvSpPr>
          <p:cNvPr id="7" name="Shape 4"/>
          <p:cNvSpPr/>
          <p:nvPr/>
        </p:nvSpPr>
        <p:spPr>
          <a:xfrm>
            <a:off x="548640" y="1399032"/>
            <a:ext cx="7808976" cy="2509114"/>
          </a:xfrm>
          <a:prstGeom prst="roundRect">
            <a:avLst>
              <a:gd name="adj" fmla="val 182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4_forcats.png"/>
          <p:cNvPicPr>
            <a:picLocks noChangeAspect="1"/>
          </p:cNvPicPr>
          <p:nvPr/>
        </p:nvPicPr>
        <p:blipFill>
          <a:blip r:embed="rId3"/>
          <a:stretch>
            <a:fillRect/>
          </a:stretch>
        </p:blipFill>
        <p:spPr>
          <a:xfrm>
            <a:off x="612648" y="1463040"/>
            <a:ext cx="7680960" cy="2381098"/>
          </a:xfrm>
          <a:prstGeom prst="rect">
            <a:avLst/>
          </a:prstGeom>
        </p:spPr>
      </p:pic>
      <p:sp>
        <p:nvSpPr>
          <p:cNvPr id="9" name="Shape 5"/>
          <p:cNvSpPr/>
          <p:nvPr/>
        </p:nvSpPr>
        <p:spPr>
          <a:xfrm>
            <a:off x="548640" y="4164178"/>
            <a:ext cx="7818120" cy="1347851"/>
          </a:xfrm>
          <a:prstGeom prst="roundRect">
            <a:avLst>
              <a:gd name="adj" fmla="val 4070"/>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31520" y="4292194"/>
            <a:ext cx="7452360" cy="1036955"/>
          </a:xfrm>
          <a:prstGeom prst="rect">
            <a:avLst/>
          </a:prstGeom>
          <a:noFill/>
          <a:ln/>
        </p:spPr>
        <p:txBody>
          <a:bodyPr wrap="square" lIns="0" tIns="0" rIns="0" bIns="0" rtlCol="0" anchor="t"/>
          <a:lstStyle/>
          <a:p>
            <a:pPr marL="0" indent="0">
              <a:lnSpc>
                <a:spcPts val="1633"/>
              </a:lnSpc>
              <a:buNone/>
            </a:pPr>
            <a:r>
              <a:rPr lang="en-US" sz="1150" dirty="0">
                <a:solidFill>
                  <a:srgbClr val="7DD3FC"/>
                </a:solidFill>
                <a:latin typeface="Courier New" pitchFamily="34" charset="0"/>
                <a:ea typeface="Courier New" pitchFamily="34" charset="-122"/>
                <a:cs typeface="Courier New" pitchFamily="34" charset="-120"/>
              </a:rPr>
              <a:t>ggplot</a:t>
            </a:r>
            <a:r>
              <a:rPr lang="en-US" sz="1150" dirty="0">
                <a:solidFill>
                  <a:srgbClr val="E6EDF7"/>
                </a:solidFill>
                <a:latin typeface="Courier New" pitchFamily="34" charset="0"/>
                <a:ea typeface="Courier New" pitchFamily="34" charset="-122"/>
                <a:cs typeface="Courier New" pitchFamily="34" charset="-120"/>
              </a:rPr>
              <a:t>(tot, </a:t>
            </a:r>
            <a:r>
              <a:rPr lang="en-US" sz="1150" dirty="0">
                <a:solidFill>
                  <a:srgbClr val="7DD3FC"/>
                </a:solidFill>
                <a:latin typeface="Courier New" pitchFamily="34" charset="0"/>
                <a:ea typeface="Courier New" pitchFamily="34" charset="-122"/>
                <a:cs typeface="Courier New" pitchFamily="34" charset="-120"/>
              </a:rPr>
              <a:t>aes</a:t>
            </a:r>
            <a:r>
              <a:rPr lang="en-US" sz="1150" dirty="0">
                <a:solidFill>
                  <a:srgbClr val="E6EDF7"/>
                </a:solidFill>
                <a:latin typeface="Courier New" pitchFamily="34" charset="0"/>
                <a:ea typeface="Courier New" pitchFamily="34" charset="-122"/>
                <a:cs typeface="Courier New" pitchFamily="34" charset="-120"/>
              </a:rPr>
              <a:t>(n, programa)) +                    </a:t>
            </a:r>
            <a:r>
              <a:rPr lang="en-US" sz="1150" i="1" dirty="0">
                <a:solidFill>
                  <a:srgbClr val="8196BC"/>
                </a:solidFill>
                <a:latin typeface="Courier New" pitchFamily="34" charset="0"/>
                <a:ea typeface="Courier New" pitchFamily="34" charset="-122"/>
                <a:cs typeface="Courier New" pitchFamily="34" charset="-120"/>
              </a:rPr>
              <a:t># alfabético</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geom_col</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7DD3FC"/>
                </a:solidFill>
                <a:latin typeface="Courier New" pitchFamily="34" charset="0"/>
                <a:ea typeface="Courier New" pitchFamily="34" charset="-122"/>
                <a:cs typeface="Courier New" pitchFamily="34" charset="-120"/>
              </a:rPr>
              <a:t>ggplot</a:t>
            </a:r>
            <a:r>
              <a:rPr lang="en-US" sz="1150" dirty="0">
                <a:solidFill>
                  <a:srgbClr val="E6EDF7"/>
                </a:solidFill>
                <a:latin typeface="Courier New" pitchFamily="34" charset="0"/>
                <a:ea typeface="Courier New" pitchFamily="34" charset="-122"/>
                <a:cs typeface="Courier New" pitchFamily="34" charset="-120"/>
              </a:rPr>
              <a:t>(tot, </a:t>
            </a:r>
            <a:r>
              <a:rPr lang="en-US" sz="1150" dirty="0">
                <a:solidFill>
                  <a:srgbClr val="7DD3FC"/>
                </a:solidFill>
                <a:latin typeface="Courier New" pitchFamily="34" charset="0"/>
                <a:ea typeface="Courier New" pitchFamily="34" charset="-122"/>
                <a:cs typeface="Courier New" pitchFamily="34" charset="-120"/>
              </a:rPr>
              <a:t>aes</a:t>
            </a:r>
            <a:r>
              <a:rPr lang="en-US" sz="1150" dirty="0">
                <a:solidFill>
                  <a:srgbClr val="E6EDF7"/>
                </a:solidFill>
                <a:latin typeface="Courier New" pitchFamily="34" charset="0"/>
                <a:ea typeface="Courier New" pitchFamily="34" charset="-122"/>
                <a:cs typeface="Courier New" pitchFamily="34" charset="-120"/>
              </a:rPr>
              <a:t>(n, </a:t>
            </a:r>
            <a:r>
              <a:rPr lang="en-US" sz="1150" dirty="0">
                <a:solidFill>
                  <a:srgbClr val="7DD3FC"/>
                </a:solidFill>
                <a:latin typeface="Courier New" pitchFamily="34" charset="0"/>
                <a:ea typeface="Courier New" pitchFamily="34" charset="-122"/>
                <a:cs typeface="Courier New" pitchFamily="34" charset="-120"/>
              </a:rPr>
              <a:t>fct_reorder</a:t>
            </a:r>
            <a:r>
              <a:rPr lang="en-US" sz="1150" dirty="0">
                <a:solidFill>
                  <a:srgbClr val="E6EDF7"/>
                </a:solidFill>
                <a:latin typeface="Courier New" pitchFamily="34" charset="0"/>
                <a:ea typeface="Courier New" pitchFamily="34" charset="-122"/>
                <a:cs typeface="Courier New" pitchFamily="34" charset="-120"/>
              </a:rPr>
              <a:t>(programa, n))) +   </a:t>
            </a:r>
            <a:r>
              <a:rPr lang="en-US" sz="1150" i="1" dirty="0">
                <a:solidFill>
                  <a:srgbClr val="8196BC"/>
                </a:solidFill>
                <a:latin typeface="Courier New" pitchFamily="34" charset="0"/>
                <a:ea typeface="Courier New" pitchFamily="34" charset="-122"/>
                <a:cs typeface="Courier New" pitchFamily="34" charset="-120"/>
              </a:rPr>
              <a:t># ordenado</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geom_col</a:t>
            </a:r>
            <a:r>
              <a:rPr lang="en-US" sz="1150" dirty="0">
                <a:solidFill>
                  <a:srgbClr val="E6EDF7"/>
                </a:solidFill>
                <a:latin typeface="Courier New" pitchFamily="34" charset="0"/>
                <a:ea typeface="Courier New" pitchFamily="34" charset="-122"/>
                <a:cs typeface="Courier New" pitchFamily="34" charset="-120"/>
              </a:rPr>
              <a:t>()</a:t>
            </a:r>
            <a:endParaRPr lang="en-US" sz="1150" dirty="0"/>
          </a:p>
        </p:txBody>
      </p:sp>
      <p:sp>
        <p:nvSpPr>
          <p:cNvPr id="11" name="Text 7"/>
          <p:cNvSpPr txBox="1"/>
          <p:nvPr/>
        </p:nvSpPr>
        <p:spPr>
          <a:xfrm>
            <a:off x="8686800" y="1371600"/>
            <a:ext cx="301752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FUNCIONES HERMANAS</a:t>
            </a:r>
            <a:endParaRPr lang="en-US" sz="900" dirty="0"/>
          </a:p>
        </p:txBody>
      </p:sp>
      <p:graphicFrame>
        <p:nvGraphicFramePr>
          <p:cNvPr id="12" name="Table 0"/>
          <p:cNvGraphicFramePr>
            <a:graphicFrameLocks noGrp="1"/>
          </p:cNvGraphicFramePr>
          <p:nvPr>
            <p:extLst>
              <p:ext uri="{D42A27DB-BD31-4B8C-83A1-F6EECF244321}">
                <p14:modId xmlns:p14="http://schemas.microsoft.com/office/powerpoint/2010/main" val="1579011935"/>
              </p:ext>
            </p:extLst>
          </p:nvPr>
        </p:nvGraphicFramePr>
        <p:xfrm>
          <a:off x="8686800" y="1691640"/>
          <a:ext cx="2953512" cy="2057400"/>
        </p:xfrm>
        <a:graphic>
          <a:graphicData uri="http://schemas.openxmlformats.org/drawingml/2006/table">
            <a:tbl>
              <a:tblPr/>
              <a:tblGrid>
                <a:gridCol w="1508760">
                  <a:extLst>
                    <a:ext uri="{9D8B030D-6E8A-4147-A177-3AD203B41FA5}">
                      <a16:colId xmlns:a16="http://schemas.microsoft.com/office/drawing/2014/main" val="20000"/>
                    </a:ext>
                  </a:extLst>
                </a:gridCol>
                <a:gridCol w="1444752">
                  <a:extLst>
                    <a:ext uri="{9D8B030D-6E8A-4147-A177-3AD203B41FA5}">
                      <a16:colId xmlns:a16="http://schemas.microsoft.com/office/drawing/2014/main" val="20001"/>
                    </a:ext>
                  </a:extLst>
                </a:gridCol>
              </a:tblGrid>
              <a:tr h="41148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Función</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Ordena…</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fct_reorder()</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por otra variable</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fct_infreq()</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por frecuencia</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fct_rev()</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invirtiendo</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fct_lump_n()</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agrupa en "Otros"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bl>
          </a:graphicData>
        </a:graphic>
      </p:graphicFrame>
      <p:sp>
        <p:nvSpPr>
          <p:cNvPr id="13" name="Shape 8"/>
          <p:cNvSpPr/>
          <p:nvPr/>
        </p:nvSpPr>
        <p:spPr>
          <a:xfrm>
            <a:off x="8686800" y="3931920"/>
            <a:ext cx="2953512" cy="1188720"/>
          </a:xfrm>
          <a:prstGeom prst="rect">
            <a:avLst/>
          </a:prstGeom>
          <a:solidFill>
            <a:srgbClr val="E4EEF2"/>
          </a:solidFill>
          <a:ln w="12700">
            <a:solidFill>
              <a:srgbClr val="E4EEF2"/>
            </a:solidFill>
            <a:prstDash val="solid"/>
          </a:ln>
        </p:spPr>
        <p:txBody>
          <a:bodyPr/>
          <a:lstStyle/>
          <a:p>
            <a:endParaRPr lang="es-CL"/>
          </a:p>
        </p:txBody>
      </p:sp>
      <p:sp>
        <p:nvSpPr>
          <p:cNvPr id="14" name="Shape 9"/>
          <p:cNvSpPr/>
          <p:nvPr/>
        </p:nvSpPr>
        <p:spPr>
          <a:xfrm>
            <a:off x="8686800" y="3931920"/>
            <a:ext cx="64008" cy="1188720"/>
          </a:xfrm>
          <a:prstGeom prst="rect">
            <a:avLst/>
          </a:prstGeom>
          <a:solidFill>
            <a:srgbClr val="1C7293"/>
          </a:solidFill>
          <a:ln w="12700">
            <a:solidFill>
              <a:srgbClr val="1C7293"/>
            </a:solidFill>
            <a:prstDash val="solid"/>
          </a:ln>
        </p:spPr>
        <p:txBody>
          <a:bodyPr/>
          <a:lstStyle/>
          <a:p>
            <a:endParaRPr lang="es-CL"/>
          </a:p>
        </p:txBody>
      </p:sp>
      <p:sp>
        <p:nvSpPr>
          <p:cNvPr id="15" name="Text 10"/>
          <p:cNvSpPr txBox="1"/>
          <p:nvPr/>
        </p:nvSpPr>
        <p:spPr>
          <a:xfrm>
            <a:off x="8887968" y="3931920"/>
            <a:ext cx="2633472" cy="1188720"/>
          </a:xfrm>
          <a:prstGeom prst="rect">
            <a:avLst/>
          </a:prstGeom>
          <a:noFill/>
          <a:ln/>
        </p:spPr>
        <p:txBody>
          <a:bodyPr wrap="square" lIns="0" tIns="0" rIns="0" bIns="0" rtlCol="0" anchor="ctr"/>
          <a:lstStyle/>
          <a:p>
            <a:pPr marL="0" indent="0">
              <a:buNone/>
            </a:pPr>
            <a:r>
              <a:rPr lang="en-US" sz="1250" i="1" dirty="0">
                <a:solidFill>
                  <a:srgbClr val="1E2A44"/>
                </a:solidFill>
                <a:latin typeface="Calibri" pitchFamily="34" charset="0"/>
                <a:ea typeface="Calibri" pitchFamily="34" charset="-122"/>
                <a:cs typeface="Calibri" pitchFamily="34" charset="-120"/>
              </a:rPr>
              <a:t>Nombres largos: barras horizontales, en vez de rotar el texto.</a:t>
            </a:r>
            <a:endParaRPr lang="en-US" sz="12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Anotaciones: contar la historia dentro del gráfico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12</a:t>
            </a:r>
            <a:endParaRPr lang="en-US" sz="800" dirty="0"/>
          </a:p>
        </p:txBody>
      </p:sp>
      <p:sp>
        <p:nvSpPr>
          <p:cNvPr id="7" name="Shape 4"/>
          <p:cNvSpPr/>
          <p:nvPr/>
        </p:nvSpPr>
        <p:spPr>
          <a:xfrm>
            <a:off x="548640" y="1399032"/>
            <a:ext cx="6163056" cy="3749040"/>
          </a:xfrm>
          <a:prstGeom prst="roundRect">
            <a:avLst>
              <a:gd name="adj" fmla="val 122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5_anota.png"/>
          <p:cNvPicPr>
            <a:picLocks noChangeAspect="1"/>
          </p:cNvPicPr>
          <p:nvPr/>
        </p:nvPicPr>
        <p:blipFill>
          <a:blip r:embed="rId3"/>
          <a:stretch>
            <a:fillRect/>
          </a:stretch>
        </p:blipFill>
        <p:spPr>
          <a:xfrm>
            <a:off x="612648" y="1463040"/>
            <a:ext cx="6035040" cy="3621024"/>
          </a:xfrm>
          <a:prstGeom prst="rect">
            <a:avLst/>
          </a:prstGeom>
        </p:spPr>
      </p:pic>
      <p:sp>
        <p:nvSpPr>
          <p:cNvPr id="9" name="Shape 5"/>
          <p:cNvSpPr/>
          <p:nvPr/>
        </p:nvSpPr>
        <p:spPr>
          <a:xfrm>
            <a:off x="6949440" y="1463040"/>
            <a:ext cx="4690872" cy="1636395"/>
          </a:xfrm>
          <a:prstGeom prst="roundRect">
            <a:avLst>
              <a:gd name="adj" fmla="val 3353"/>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132320" y="1591056"/>
            <a:ext cx="4325112" cy="1325499"/>
          </a:xfrm>
          <a:prstGeom prst="rect">
            <a:avLst/>
          </a:prstGeom>
          <a:noFill/>
          <a:ln/>
        </p:spPr>
        <p:txBody>
          <a:bodyPr wrap="square" lIns="0" tIns="0" rIns="0" bIns="0" rtlCol="0" anchor="t"/>
          <a:lstStyle/>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annotate</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F2C97D"/>
                </a:solidFill>
                <a:latin typeface="Courier New" pitchFamily="34" charset="0"/>
                <a:ea typeface="Courier New" pitchFamily="34" charset="-122"/>
                <a:cs typeface="Courier New" pitchFamily="34" charset="-120"/>
              </a:rPr>
              <a:t>"rect"</a:t>
            </a:r>
            <a:r>
              <a:rPr lang="en-US" sz="1050" dirty="0">
                <a:solidFill>
                  <a:srgbClr val="E6EDF7"/>
                </a:solidFill>
                <a:latin typeface="Courier New" pitchFamily="34" charset="0"/>
                <a:ea typeface="Courier New" pitchFamily="34" charset="-122"/>
                <a:cs typeface="Courier New" pitchFamily="34" charset="-120"/>
              </a:rPr>
              <a:t>, xmin = </a:t>
            </a:r>
            <a:r>
              <a:rPr lang="en-US" sz="1050" dirty="0">
                <a:solidFill>
                  <a:srgbClr val="F2C97D"/>
                </a:solidFill>
                <a:latin typeface="Courier New" pitchFamily="34" charset="0"/>
                <a:ea typeface="Courier New" pitchFamily="34" charset="-122"/>
                <a:cs typeface="Courier New" pitchFamily="34" charset="-120"/>
              </a:rPr>
              <a:t>2019.5</a:t>
            </a:r>
            <a:r>
              <a:rPr lang="en-US" sz="1050" dirty="0">
                <a:solidFill>
                  <a:srgbClr val="E6EDF7"/>
                </a:solidFill>
                <a:latin typeface="Courier New" pitchFamily="34" charset="0"/>
                <a:ea typeface="Courier New" pitchFamily="34" charset="-122"/>
                <a:cs typeface="Courier New" pitchFamily="34" charset="-120"/>
              </a:rPr>
              <a:t>, xmax = </a:t>
            </a:r>
            <a:r>
              <a:rPr lang="en-US" sz="1050" dirty="0">
                <a:solidFill>
                  <a:srgbClr val="F2C97D"/>
                </a:solidFill>
                <a:latin typeface="Courier New" pitchFamily="34" charset="0"/>
                <a:ea typeface="Courier New" pitchFamily="34" charset="-122"/>
                <a:cs typeface="Courier New" pitchFamily="34" charset="-120"/>
              </a:rPr>
              <a:t>2021.5</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ymin = -Inf, ymax = Inf, alpha = </a:t>
            </a:r>
            <a:r>
              <a:rPr lang="en-US" sz="1050" dirty="0">
                <a:solidFill>
                  <a:srgbClr val="F2C97D"/>
                </a:solidFill>
                <a:latin typeface="Courier New" pitchFamily="34" charset="0"/>
                <a:ea typeface="Courier New" pitchFamily="34" charset="-122"/>
                <a:cs typeface="Courier New" pitchFamily="34" charset="-120"/>
              </a:rPr>
              <a:t>0.12</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annotate</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F2C97D"/>
                </a:solidFill>
                <a:latin typeface="Courier New" pitchFamily="34" charset="0"/>
                <a:ea typeface="Courier New" pitchFamily="34" charset="-122"/>
                <a:cs typeface="Courier New" pitchFamily="34" charset="-120"/>
              </a:rPr>
              <a:t>"label"</a:t>
            </a:r>
            <a:r>
              <a:rPr lang="en-US" sz="1050" dirty="0">
                <a:solidFill>
                  <a:srgbClr val="E6EDF7"/>
                </a:solidFill>
                <a:latin typeface="Courier New" pitchFamily="34" charset="0"/>
                <a:ea typeface="Courier New" pitchFamily="34" charset="-122"/>
                <a:cs typeface="Courier New" pitchFamily="34" charset="-120"/>
              </a:rPr>
              <a:t>, x = </a:t>
            </a:r>
            <a:r>
              <a:rPr lang="en-US" sz="1050" dirty="0">
                <a:solidFill>
                  <a:srgbClr val="F2C97D"/>
                </a:solidFill>
                <a:latin typeface="Courier New" pitchFamily="34" charset="0"/>
                <a:ea typeface="Courier New" pitchFamily="34" charset="-122"/>
                <a:cs typeface="Courier New" pitchFamily="34" charset="-120"/>
              </a:rPr>
              <a:t>2020.5</a:t>
            </a:r>
            <a:r>
              <a:rPr lang="en-US" sz="1050" dirty="0">
                <a:solidFill>
                  <a:srgbClr val="E6EDF7"/>
                </a:solidFill>
                <a:latin typeface="Courier New" pitchFamily="34" charset="0"/>
                <a:ea typeface="Courier New" pitchFamily="34" charset="-122"/>
                <a:cs typeface="Courier New" pitchFamily="34" charset="-120"/>
              </a:rPr>
              <a:t>, y = </a:t>
            </a:r>
            <a:r>
              <a:rPr lang="en-US" sz="1050" dirty="0">
                <a:solidFill>
                  <a:srgbClr val="F2C97D"/>
                </a:solidFill>
                <a:latin typeface="Courier New" pitchFamily="34" charset="0"/>
                <a:ea typeface="Courier New" pitchFamily="34" charset="-122"/>
                <a:cs typeface="Courier New" pitchFamily="34" charset="-120"/>
              </a:rPr>
              <a:t>60</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label = </a:t>
            </a:r>
            <a:r>
              <a:rPr lang="en-US" sz="1050" dirty="0">
                <a:solidFill>
                  <a:srgbClr val="F2C97D"/>
                </a:solidFill>
                <a:latin typeface="Courier New" pitchFamily="34" charset="0"/>
                <a:ea typeface="Courier New" pitchFamily="34" charset="-122"/>
                <a:cs typeface="Courier New" pitchFamily="34" charset="-120"/>
              </a:rPr>
              <a:t>"Pandemia"</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geom_hline</a:t>
            </a:r>
            <a:r>
              <a:rPr lang="en-US" sz="1050" dirty="0">
                <a:solidFill>
                  <a:srgbClr val="E6EDF7"/>
                </a:solidFill>
                <a:latin typeface="Courier New" pitchFamily="34" charset="0"/>
                <a:ea typeface="Courier New" pitchFamily="34" charset="-122"/>
                <a:cs typeface="Courier New" pitchFamily="34" charset="-120"/>
              </a:rPr>
              <a:t>(yintercept = </a:t>
            </a:r>
            <a:r>
              <a:rPr lang="en-US" sz="1050" dirty="0">
                <a:solidFill>
                  <a:srgbClr val="F2C97D"/>
                </a:solidFill>
                <a:latin typeface="Courier New" pitchFamily="34" charset="0"/>
                <a:ea typeface="Courier New" pitchFamily="34" charset="-122"/>
                <a:cs typeface="Courier New" pitchFamily="34" charset="-120"/>
              </a:rPr>
              <a:t>80</a:t>
            </a:r>
            <a:r>
              <a:rPr lang="en-US" sz="1050" dirty="0">
                <a:solidFill>
                  <a:srgbClr val="E6EDF7"/>
                </a:solidFill>
                <a:latin typeface="Courier New" pitchFamily="34" charset="0"/>
                <a:ea typeface="Courier New" pitchFamily="34" charset="-122"/>
                <a:cs typeface="Courier New" pitchFamily="34" charset="-120"/>
              </a:rPr>
              <a:t>, linetype = </a:t>
            </a:r>
            <a:r>
              <a:rPr lang="en-US" sz="1050" dirty="0">
                <a:solidFill>
                  <a:srgbClr val="F2C97D"/>
                </a:solidFill>
                <a:latin typeface="Courier New" pitchFamily="34" charset="0"/>
                <a:ea typeface="Courier New" pitchFamily="34" charset="-122"/>
                <a:cs typeface="Courier New" pitchFamily="34" charset="-120"/>
              </a:rPr>
              <a:t>"dashed"</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annotate</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F2C97D"/>
                </a:solidFill>
                <a:latin typeface="Courier New" pitchFamily="34" charset="0"/>
                <a:ea typeface="Courier New" pitchFamily="34" charset="-122"/>
                <a:cs typeface="Courier New" pitchFamily="34" charset="-120"/>
              </a:rPr>
              <a:t>"text"</a:t>
            </a:r>
            <a:r>
              <a:rPr lang="en-US" sz="1050" dirty="0">
                <a:solidFill>
                  <a:srgbClr val="E6EDF7"/>
                </a:solidFill>
                <a:latin typeface="Courier New" pitchFamily="34" charset="0"/>
                <a:ea typeface="Courier New" pitchFamily="34" charset="-122"/>
                <a:cs typeface="Courier New" pitchFamily="34" charset="-120"/>
              </a:rPr>
              <a:t>, x = </a:t>
            </a:r>
            <a:r>
              <a:rPr lang="en-US" sz="1050" dirty="0">
                <a:solidFill>
                  <a:srgbClr val="F2C97D"/>
                </a:solidFill>
                <a:latin typeface="Courier New" pitchFamily="34" charset="0"/>
                <a:ea typeface="Courier New" pitchFamily="34" charset="-122"/>
                <a:cs typeface="Courier New" pitchFamily="34" charset="-120"/>
              </a:rPr>
              <a:t>2015.1</a:t>
            </a:r>
            <a:r>
              <a:rPr lang="en-US" sz="1050" dirty="0">
                <a:solidFill>
                  <a:srgbClr val="E6EDF7"/>
                </a:solidFill>
                <a:latin typeface="Courier New" pitchFamily="34" charset="0"/>
                <a:ea typeface="Courier New" pitchFamily="34" charset="-122"/>
                <a:cs typeface="Courier New" pitchFamily="34" charset="-120"/>
              </a:rPr>
              <a:t>, y = </a:t>
            </a:r>
            <a:r>
              <a:rPr lang="en-US" sz="1050" dirty="0">
                <a:solidFill>
                  <a:srgbClr val="F2C97D"/>
                </a:solidFill>
                <a:latin typeface="Courier New" pitchFamily="34" charset="0"/>
                <a:ea typeface="Courier New" pitchFamily="34" charset="-122"/>
                <a:cs typeface="Courier New" pitchFamily="34" charset="-120"/>
              </a:rPr>
              <a:t>83</a:t>
            </a:r>
            <a:r>
              <a:rPr lang="en-US" sz="1050" dirty="0">
                <a:solidFill>
                  <a:srgbClr val="E6EDF7"/>
                </a:solidFill>
                <a:latin typeface="Courier New" pitchFamily="34" charset="0"/>
                <a:ea typeface="Courier New" pitchFamily="34" charset="-122"/>
                <a:cs typeface="Courier New" pitchFamily="34" charset="-120"/>
              </a:rPr>
              <a:t>, hjust = </a:t>
            </a:r>
            <a:r>
              <a:rPr lang="en-US" sz="1050" dirty="0">
                <a:solidFill>
                  <a:srgbClr val="F2C97D"/>
                </a:solidFill>
                <a:latin typeface="Courier New" pitchFamily="34" charset="0"/>
                <a:ea typeface="Courier New" pitchFamily="34" charset="-122"/>
                <a:cs typeface="Courier New" pitchFamily="34" charset="-120"/>
              </a:rPr>
              <a:t>0</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label = </a:t>
            </a:r>
            <a:r>
              <a:rPr lang="en-US" sz="1050" dirty="0">
                <a:solidFill>
                  <a:srgbClr val="F2C97D"/>
                </a:solidFill>
                <a:latin typeface="Courier New" pitchFamily="34" charset="0"/>
                <a:ea typeface="Courier New" pitchFamily="34" charset="-122"/>
                <a:cs typeface="Courier New" pitchFamily="34" charset="-120"/>
              </a:rPr>
              <a:t>"Meta: 80 artículos"</a:t>
            </a: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1" name="Shape 7"/>
          <p:cNvSpPr/>
          <p:nvPr/>
        </p:nvSpPr>
        <p:spPr>
          <a:xfrm>
            <a:off x="6949440" y="4572000"/>
            <a:ext cx="4690872" cy="1051560"/>
          </a:xfrm>
          <a:prstGeom prst="rect">
            <a:avLst/>
          </a:prstGeom>
          <a:solidFill>
            <a:srgbClr val="E4EEF2"/>
          </a:solidFill>
          <a:ln w="12700">
            <a:solidFill>
              <a:srgbClr val="E4EEF2"/>
            </a:solidFill>
            <a:prstDash val="solid"/>
          </a:ln>
        </p:spPr>
        <p:txBody>
          <a:bodyPr/>
          <a:lstStyle/>
          <a:p>
            <a:endParaRPr lang="es-CL"/>
          </a:p>
        </p:txBody>
      </p:sp>
      <p:sp>
        <p:nvSpPr>
          <p:cNvPr id="12" name="Shape 8"/>
          <p:cNvSpPr/>
          <p:nvPr/>
        </p:nvSpPr>
        <p:spPr>
          <a:xfrm>
            <a:off x="6949440" y="4572000"/>
            <a:ext cx="64008" cy="1051560"/>
          </a:xfrm>
          <a:prstGeom prst="rect">
            <a:avLst/>
          </a:prstGeom>
          <a:solidFill>
            <a:srgbClr val="1C7293"/>
          </a:solidFill>
          <a:ln w="12700">
            <a:solidFill>
              <a:srgbClr val="1C7293"/>
            </a:solidFill>
            <a:prstDash val="solid"/>
          </a:ln>
        </p:spPr>
        <p:txBody>
          <a:bodyPr/>
          <a:lstStyle/>
          <a:p>
            <a:endParaRPr lang="es-CL"/>
          </a:p>
        </p:txBody>
      </p:sp>
      <p:sp>
        <p:nvSpPr>
          <p:cNvPr id="13" name="Text 9"/>
          <p:cNvSpPr txBox="1"/>
          <p:nvPr/>
        </p:nvSpPr>
        <p:spPr>
          <a:xfrm>
            <a:off x="7150608" y="4572000"/>
            <a:ext cx="4370832" cy="105156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Anota lo que explica el dato, no lo que ya se ve. Texto corto.</a:t>
            </a:r>
            <a:endParaRPr lang="en-US" sz="1350" dirty="0"/>
          </a:p>
        </p:txBody>
      </p:sp>
      <p:sp>
        <p:nvSpPr>
          <p:cNvPr id="14" name="Text 10"/>
          <p:cNvSpPr txBox="1"/>
          <p:nvPr/>
        </p:nvSpPr>
        <p:spPr>
          <a:xfrm>
            <a:off x="548640" y="5449824"/>
            <a:ext cx="6035040" cy="82296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annotate(): coordenadas escritas a mano.</a:t>
            </a:r>
            <a:endParaRPr lang="en-US" sz="1250" dirty="0"/>
          </a:p>
          <a:p>
            <a:pPr marL="0" indent="0">
              <a:buNone/>
            </a:pPr>
            <a:r>
              <a:rPr lang="en-US" sz="1250" dirty="0">
                <a:solidFill>
                  <a:srgbClr val="5B6B7F"/>
                </a:solidFill>
                <a:latin typeface="Calibri" pitchFamily="34" charset="0"/>
                <a:ea typeface="Calibri" pitchFamily="34" charset="-122"/>
                <a:cs typeface="Calibri" pitchFamily="34" charset="-120"/>
              </a:rPr>
              <a:t>geom_text(): etiquetas que salen de una columna.</a:t>
            </a:r>
            <a:endParaRPr lang="en-US" sz="12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 · OPCIONAL</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ggrepel: etiquetas que no se pisan</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13</a:t>
            </a:r>
            <a:endParaRPr lang="en-US" sz="800" dirty="0"/>
          </a:p>
        </p:txBody>
      </p:sp>
      <p:sp>
        <p:nvSpPr>
          <p:cNvPr id="7" name="Shape 4"/>
          <p:cNvSpPr/>
          <p:nvPr/>
        </p:nvSpPr>
        <p:spPr>
          <a:xfrm>
            <a:off x="548640" y="1399032"/>
            <a:ext cx="5051338" cy="3145536"/>
          </a:xfrm>
          <a:prstGeom prst="roundRect">
            <a:avLst>
              <a:gd name="adj" fmla="val 145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6_repel0.png"/>
          <p:cNvPicPr>
            <a:picLocks noChangeAspect="1"/>
          </p:cNvPicPr>
          <p:nvPr/>
        </p:nvPicPr>
        <p:blipFill>
          <a:blip r:embed="rId3"/>
          <a:stretch>
            <a:fillRect/>
          </a:stretch>
        </p:blipFill>
        <p:spPr>
          <a:xfrm>
            <a:off x="612648" y="1463040"/>
            <a:ext cx="4923322" cy="3017520"/>
          </a:xfrm>
          <a:prstGeom prst="rect">
            <a:avLst/>
          </a:prstGeom>
        </p:spPr>
      </p:pic>
      <p:sp>
        <p:nvSpPr>
          <p:cNvPr id="9" name="Shape 5"/>
          <p:cNvSpPr/>
          <p:nvPr/>
        </p:nvSpPr>
        <p:spPr>
          <a:xfrm>
            <a:off x="5879592" y="1399032"/>
            <a:ext cx="5320957" cy="3145536"/>
          </a:xfrm>
          <a:prstGeom prst="roundRect">
            <a:avLst>
              <a:gd name="adj" fmla="val 145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0" name="Image 1" descr="/home/claude/s3/figs/f06_repel.png"/>
          <p:cNvPicPr>
            <a:picLocks noChangeAspect="1"/>
          </p:cNvPicPr>
          <p:nvPr/>
        </p:nvPicPr>
        <p:blipFill>
          <a:blip r:embed="rId4"/>
          <a:stretch>
            <a:fillRect/>
          </a:stretch>
        </p:blipFill>
        <p:spPr>
          <a:xfrm>
            <a:off x="5943600" y="1463040"/>
            <a:ext cx="5192941" cy="3017520"/>
          </a:xfrm>
          <a:prstGeom prst="rect">
            <a:avLst/>
          </a:prstGeom>
        </p:spPr>
      </p:pic>
      <p:sp>
        <p:nvSpPr>
          <p:cNvPr id="11" name="Shape 6"/>
          <p:cNvSpPr/>
          <p:nvPr/>
        </p:nvSpPr>
        <p:spPr>
          <a:xfrm>
            <a:off x="548640" y="4754880"/>
            <a:ext cx="11091672" cy="1392936"/>
          </a:xfrm>
          <a:prstGeom prst="roundRect">
            <a:avLst>
              <a:gd name="adj" fmla="val 3939"/>
            </a:avLst>
          </a:prstGeom>
          <a:solidFill>
            <a:srgbClr val="162044"/>
          </a:solidFill>
          <a:ln w="12700">
            <a:solidFill>
              <a:srgbClr val="162044"/>
            </a:solidFill>
            <a:prstDash val="solid"/>
          </a:ln>
        </p:spPr>
        <p:txBody>
          <a:bodyPr/>
          <a:lstStyle/>
          <a:p>
            <a:endParaRPr lang="es-CL"/>
          </a:p>
        </p:txBody>
      </p:sp>
      <p:sp>
        <p:nvSpPr>
          <p:cNvPr id="12" name="Text 7"/>
          <p:cNvSpPr txBox="1"/>
          <p:nvPr/>
        </p:nvSpPr>
        <p:spPr>
          <a:xfrm>
            <a:off x="731520" y="4882896"/>
            <a:ext cx="10725912" cy="1082040"/>
          </a:xfrm>
          <a:prstGeom prst="rect">
            <a:avLst/>
          </a:prstGeom>
          <a:noFill/>
          <a:ln/>
        </p:spPr>
        <p:txBody>
          <a:bodyPr wrap="square" lIns="0" tIns="0" rIns="0" bIns="0" rtlCol="0" anchor="t"/>
          <a:lstStyle/>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library</a:t>
            </a:r>
            <a:r>
              <a:rPr lang="en-US" sz="1200" dirty="0">
                <a:solidFill>
                  <a:srgbClr val="E6EDF7"/>
                </a:solidFill>
                <a:latin typeface="Courier New" pitchFamily="34" charset="0"/>
                <a:ea typeface="Courier New" pitchFamily="34" charset="-122"/>
                <a:cs typeface="Courier New" pitchFamily="34" charset="-120"/>
              </a:rPr>
              <a:t>(ggrepel)</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geom_text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aes</a:t>
            </a:r>
            <a:r>
              <a:rPr lang="en-US" sz="1200" dirty="0">
                <a:solidFill>
                  <a:srgbClr val="E6EDF7"/>
                </a:solidFill>
                <a:latin typeface="Courier New" pitchFamily="34" charset="0"/>
                <a:ea typeface="Courier New" pitchFamily="34" charset="-122"/>
                <a:cs typeface="Courier New" pitchFamily="34" charset="-120"/>
              </a:rPr>
              <a:t>(label = programa))          </a:t>
            </a:r>
            <a:r>
              <a:rPr lang="en-US" sz="1200" i="1" dirty="0">
                <a:solidFill>
                  <a:srgbClr val="8196BC"/>
                </a:solidFill>
                <a:latin typeface="Courier New" pitchFamily="34" charset="0"/>
                <a:ea typeface="Courier New" pitchFamily="34" charset="-122"/>
                <a:cs typeface="Courier New" pitchFamily="34" charset="-120"/>
              </a:rPr>
              <a:t># las etiquetas se pisan</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geom_text_repel</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aes</a:t>
            </a:r>
            <a:r>
              <a:rPr lang="en-US" sz="1200" dirty="0">
                <a:solidFill>
                  <a:srgbClr val="E6EDF7"/>
                </a:solidFill>
                <a:latin typeface="Courier New" pitchFamily="34" charset="0"/>
                <a:ea typeface="Courier New" pitchFamily="34" charset="-122"/>
                <a:cs typeface="Courier New" pitchFamily="34" charset="-120"/>
              </a:rPr>
              <a:t>(label = programa),    </a:t>
            </a:r>
            <a:r>
              <a:rPr lang="en-US" sz="1200" i="1" dirty="0">
                <a:solidFill>
                  <a:srgbClr val="8196BC"/>
                </a:solidFill>
                <a:latin typeface="Courier New" pitchFamily="34" charset="0"/>
                <a:ea typeface="Courier New" pitchFamily="34" charset="-122"/>
                <a:cs typeface="Courier New" pitchFamily="34" charset="-120"/>
              </a:rPr>
              <a:t># se separan solas</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box.padding = </a:t>
            </a:r>
            <a:r>
              <a:rPr lang="en-US" sz="1200" dirty="0">
                <a:solidFill>
                  <a:srgbClr val="F2C97D"/>
                </a:solidFill>
                <a:latin typeface="Courier New" pitchFamily="34" charset="0"/>
                <a:ea typeface="Courier New" pitchFamily="34" charset="-122"/>
                <a:cs typeface="Courier New" pitchFamily="34" charset="-120"/>
              </a:rPr>
              <a:t>0.6</a:t>
            </a:r>
            <a:r>
              <a:rPr lang="en-US" sz="1200" dirty="0">
                <a:solidFill>
                  <a:srgbClr val="E6EDF7"/>
                </a:solidFill>
                <a:latin typeface="Courier New" pitchFamily="34" charset="0"/>
                <a:ea typeface="Courier New" pitchFamily="34" charset="-122"/>
                <a:cs typeface="Courier New" pitchFamily="34" charset="-120"/>
              </a:rPr>
              <a:t>, seed = </a:t>
            </a:r>
            <a:r>
              <a:rPr lang="en-US" sz="1200" dirty="0">
                <a:solidFill>
                  <a:srgbClr val="F2C97D"/>
                </a:solidFill>
                <a:latin typeface="Courier New" pitchFamily="34" charset="0"/>
                <a:ea typeface="Courier New" pitchFamily="34" charset="-122"/>
                <a:cs typeface="Courier New" pitchFamily="34" charset="-120"/>
              </a:rPr>
              <a:t>1</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Facetas: comparar grupos con escalas libres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14</a:t>
            </a:r>
            <a:endParaRPr lang="en-US" sz="800" dirty="0"/>
          </a:p>
        </p:txBody>
      </p:sp>
      <p:sp>
        <p:nvSpPr>
          <p:cNvPr id="7" name="Shape 4"/>
          <p:cNvSpPr/>
          <p:nvPr/>
        </p:nvSpPr>
        <p:spPr>
          <a:xfrm>
            <a:off x="548640" y="1399032"/>
            <a:ext cx="8540496" cy="3156509"/>
          </a:xfrm>
          <a:prstGeom prst="roundRect">
            <a:avLst>
              <a:gd name="adj" fmla="val 144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7_facets.png"/>
          <p:cNvPicPr>
            <a:picLocks noChangeAspect="1"/>
          </p:cNvPicPr>
          <p:nvPr/>
        </p:nvPicPr>
        <p:blipFill>
          <a:blip r:embed="rId3"/>
          <a:stretch>
            <a:fillRect/>
          </a:stretch>
        </p:blipFill>
        <p:spPr>
          <a:xfrm>
            <a:off x="612648" y="1463040"/>
            <a:ext cx="8412480" cy="3028493"/>
          </a:xfrm>
          <a:prstGeom prst="rect">
            <a:avLst/>
          </a:prstGeom>
        </p:spPr>
      </p:pic>
      <p:sp>
        <p:nvSpPr>
          <p:cNvPr id="9" name="Shape 5"/>
          <p:cNvSpPr/>
          <p:nvPr/>
        </p:nvSpPr>
        <p:spPr>
          <a:xfrm>
            <a:off x="548640" y="4811573"/>
            <a:ext cx="8549640" cy="743712"/>
          </a:xfrm>
          <a:prstGeom prst="roundRect">
            <a:avLst>
              <a:gd name="adj" fmla="val 7377"/>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31520" y="4939589"/>
            <a:ext cx="8183880" cy="432816"/>
          </a:xfrm>
          <a:prstGeom prst="rect">
            <a:avLst/>
          </a:prstGeom>
          <a:noFill/>
          <a:ln/>
        </p:spPr>
        <p:txBody>
          <a:bodyPr wrap="square" lIns="0" tIns="0" rIns="0" bIns="0" rtlCol="0" anchor="t"/>
          <a:lstStyle/>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facet_wrap</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vars</a:t>
            </a:r>
            <a:r>
              <a:rPr lang="en-US" sz="1200" dirty="0">
                <a:solidFill>
                  <a:srgbClr val="E6EDF7"/>
                </a:solidFill>
                <a:latin typeface="Courier New" pitchFamily="34" charset="0"/>
                <a:ea typeface="Courier New" pitchFamily="34" charset="-122"/>
                <a:cs typeface="Courier New" pitchFamily="34" charset="-120"/>
              </a:rPr>
              <a:t>(programa), scales = </a:t>
            </a:r>
            <a:r>
              <a:rPr lang="en-US" sz="1200" dirty="0">
                <a:solidFill>
                  <a:srgbClr val="F2C97D"/>
                </a:solidFill>
                <a:latin typeface="Courier New" pitchFamily="34" charset="0"/>
                <a:ea typeface="Courier New" pitchFamily="34" charset="-122"/>
                <a:cs typeface="Courier New" pitchFamily="34" charset="-120"/>
              </a:rPr>
              <a:t>"free_y"</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labeller = </a:t>
            </a:r>
            <a:r>
              <a:rPr lang="en-US" sz="1200" dirty="0">
                <a:solidFill>
                  <a:srgbClr val="7DD3FC"/>
                </a:solidFill>
                <a:latin typeface="Courier New" pitchFamily="34" charset="0"/>
                <a:ea typeface="Courier New" pitchFamily="34" charset="-122"/>
                <a:cs typeface="Courier New" pitchFamily="34" charset="-120"/>
              </a:rPr>
              <a:t>label_wrap_gen</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22</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1" name="Text 7"/>
          <p:cNvSpPr txBox="1"/>
          <p:nvPr/>
        </p:nvSpPr>
        <p:spPr>
          <a:xfrm>
            <a:off x="9464040" y="1371600"/>
            <a:ext cx="219456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SCALES =</a:t>
            </a:r>
            <a:endParaRPr lang="en-US" sz="900" dirty="0"/>
          </a:p>
        </p:txBody>
      </p:sp>
      <p:graphicFrame>
        <p:nvGraphicFramePr>
          <p:cNvPr id="15" name="Table 0"/>
          <p:cNvGraphicFramePr>
            <a:graphicFrameLocks noGrp="1"/>
          </p:cNvGraphicFramePr>
          <p:nvPr>
            <p:extLst>
              <p:ext uri="{D42A27DB-BD31-4B8C-83A1-F6EECF244321}">
                <p14:modId xmlns:p14="http://schemas.microsoft.com/office/powerpoint/2010/main" val="1579011935"/>
              </p:ext>
            </p:extLst>
          </p:nvPr>
        </p:nvGraphicFramePr>
        <p:xfrm>
          <a:off x="9464040" y="1691640"/>
          <a:ext cx="2176272" cy="1645920"/>
        </p:xfrm>
        <a:graphic>
          <a:graphicData uri="http://schemas.openxmlformats.org/drawingml/2006/table">
            <a:tbl>
              <a:tblPr/>
              <a:tblGrid>
                <a:gridCol w="914400">
                  <a:extLst>
                    <a:ext uri="{9D8B030D-6E8A-4147-A177-3AD203B41FA5}">
                      <a16:colId xmlns:a16="http://schemas.microsoft.com/office/drawing/2014/main" val="20000"/>
                    </a:ext>
                  </a:extLst>
                </a:gridCol>
                <a:gridCol w="1261872">
                  <a:extLst>
                    <a:ext uri="{9D8B030D-6E8A-4147-A177-3AD203B41FA5}">
                      <a16:colId xmlns:a16="http://schemas.microsoft.com/office/drawing/2014/main" val="20001"/>
                    </a:ext>
                  </a:extLst>
                </a:gridCol>
              </a:tblGrid>
              <a:tr h="411480">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Valor</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050" b="1" dirty="0">
                          <a:solidFill>
                            <a:srgbClr val="FFFFFF"/>
                          </a:solidFill>
                          <a:latin typeface="Calibri" pitchFamily="34" charset="0"/>
                          <a:ea typeface="Calibri" pitchFamily="34" charset="-122"/>
                          <a:cs typeface="Calibri" pitchFamily="34" charset="-120"/>
                        </a:rPr>
                        <a:t>Cada panel…</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"fixed"</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misma escala</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"free_y"</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su propio y</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411480">
                <a:tc>
                  <a:txBody>
                    <a:bodyPr/>
                    <a:lstStyle/>
                    <a:p>
                      <a:pPr marL="0" indent="0" algn="l">
                        <a:buNone/>
                      </a:pPr>
                      <a:r>
                        <a:rPr lang="en-US" sz="950" dirty="0">
                          <a:solidFill>
                            <a:srgbClr val="065A82"/>
                          </a:solidFill>
                          <a:latin typeface="Courier New" pitchFamily="34" charset="0"/>
                          <a:ea typeface="Courier New" pitchFamily="34" charset="-122"/>
                          <a:cs typeface="Courier New" pitchFamily="34" charset="-120"/>
                        </a:rPr>
                        <a:t>"free"</a:t>
                      </a:r>
                      <a:endParaRPr lang="en-US" sz="9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050" dirty="0">
                          <a:solidFill>
                            <a:srgbClr val="1E2A44"/>
                          </a:solidFill>
                          <a:latin typeface="Calibri" pitchFamily="34" charset="0"/>
                          <a:ea typeface="Calibri" pitchFamily="34" charset="-122"/>
                          <a:cs typeface="Calibri" pitchFamily="34" charset="-120"/>
                        </a:rPr>
                        <a:t>x e y propios</a:t>
                      </a:r>
                      <a:endParaRPr lang="en-US" sz="10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3" name="Shape 8"/>
          <p:cNvSpPr/>
          <p:nvPr/>
        </p:nvSpPr>
        <p:spPr>
          <a:xfrm>
            <a:off x="9464040" y="3566160"/>
            <a:ext cx="2176272" cy="1828800"/>
          </a:xfrm>
          <a:prstGeom prst="rect">
            <a:avLst/>
          </a:prstGeom>
          <a:solidFill>
            <a:srgbClr val="E4EEF2"/>
          </a:solidFill>
          <a:ln w="12700">
            <a:solidFill>
              <a:srgbClr val="E4EEF2"/>
            </a:solidFill>
            <a:prstDash val="solid"/>
          </a:ln>
        </p:spPr>
        <p:txBody>
          <a:bodyPr/>
          <a:lstStyle/>
          <a:p>
            <a:endParaRPr lang="es-CL"/>
          </a:p>
        </p:txBody>
      </p:sp>
      <p:sp>
        <p:nvSpPr>
          <p:cNvPr id="14" name="Shape 9"/>
          <p:cNvSpPr/>
          <p:nvPr/>
        </p:nvSpPr>
        <p:spPr>
          <a:xfrm>
            <a:off x="9464040" y="3566160"/>
            <a:ext cx="64008" cy="1828800"/>
          </a:xfrm>
          <a:prstGeom prst="rect">
            <a:avLst/>
          </a:prstGeom>
          <a:solidFill>
            <a:srgbClr val="1C7293"/>
          </a:solidFill>
          <a:ln w="12700">
            <a:solidFill>
              <a:srgbClr val="1C7293"/>
            </a:solidFill>
            <a:prstDash val="solid"/>
          </a:ln>
        </p:spPr>
        <p:txBody>
          <a:bodyPr/>
          <a:lstStyle/>
          <a:p>
            <a:endParaRPr lang="es-CL"/>
          </a:p>
        </p:txBody>
      </p:sp>
      <p:sp>
        <p:nvSpPr>
          <p:cNvPr id="6" name="Text 10"/>
          <p:cNvSpPr txBox="1"/>
          <p:nvPr/>
        </p:nvSpPr>
        <p:spPr>
          <a:xfrm>
            <a:off x="9665208" y="3566160"/>
            <a:ext cx="1856232" cy="1828800"/>
          </a:xfrm>
          <a:prstGeom prst="rect">
            <a:avLst/>
          </a:prstGeom>
          <a:noFill/>
          <a:ln/>
        </p:spPr>
        <p:txBody>
          <a:bodyPr wrap="square" lIns="0" tIns="0" rIns="0" bIns="0" rtlCol="0" anchor="ctr"/>
          <a:lstStyle/>
          <a:p>
            <a:pPr marL="0" indent="0">
              <a:buNone/>
            </a:pPr>
            <a:r>
              <a:rPr lang="en-US" sz="1150" i="1" dirty="0">
                <a:solidFill>
                  <a:srgbClr val="1E2A44"/>
                </a:solidFill>
                <a:latin typeface="Calibri" pitchFamily="34" charset="0"/>
                <a:ea typeface="Calibri" pitchFamily="34" charset="-122"/>
                <a:cs typeface="Calibri" pitchFamily="34" charset="-120"/>
              </a:rPr>
              <a:t>Con escalas libres no se comparan magnitudes entre </a:t>
            </a:r>
            <a:r>
              <a:rPr lang="en-US" sz="1150" i="1" dirty="0" err="1">
                <a:solidFill>
                  <a:srgbClr val="1E2A44"/>
                </a:solidFill>
                <a:latin typeface="Calibri" pitchFamily="34" charset="0"/>
                <a:ea typeface="Calibri" pitchFamily="34" charset="-122"/>
                <a:cs typeface="Calibri" pitchFamily="34" charset="-120"/>
              </a:rPr>
              <a:t>paneles</a:t>
            </a:r>
            <a:endParaRPr lang="en-US" sz="11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Mostrar la incertidumbre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15</a:t>
            </a:r>
            <a:endParaRPr lang="en-US" sz="800" dirty="0"/>
          </a:p>
        </p:txBody>
      </p:sp>
      <p:sp>
        <p:nvSpPr>
          <p:cNvPr id="7" name="Shape 4"/>
          <p:cNvSpPr/>
          <p:nvPr/>
        </p:nvSpPr>
        <p:spPr>
          <a:xfrm>
            <a:off x="548640" y="1399032"/>
            <a:ext cx="8723376" cy="3050438"/>
          </a:xfrm>
          <a:prstGeom prst="roundRect">
            <a:avLst>
              <a:gd name="adj" fmla="val 149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08_incert.png"/>
          <p:cNvPicPr>
            <a:picLocks noChangeAspect="1"/>
          </p:cNvPicPr>
          <p:nvPr/>
        </p:nvPicPr>
        <p:blipFill>
          <a:blip r:embed="rId3"/>
          <a:stretch>
            <a:fillRect/>
          </a:stretch>
        </p:blipFill>
        <p:spPr>
          <a:xfrm>
            <a:off x="612648" y="1463040"/>
            <a:ext cx="8595360" cy="2922422"/>
          </a:xfrm>
          <a:prstGeom prst="rect">
            <a:avLst/>
          </a:prstGeom>
        </p:spPr>
      </p:pic>
      <p:sp>
        <p:nvSpPr>
          <p:cNvPr id="9" name="Shape 5"/>
          <p:cNvSpPr/>
          <p:nvPr/>
        </p:nvSpPr>
        <p:spPr>
          <a:xfrm>
            <a:off x="548640" y="4705502"/>
            <a:ext cx="8732520" cy="707644"/>
          </a:xfrm>
          <a:prstGeom prst="roundRect">
            <a:avLst>
              <a:gd name="adj" fmla="val 7753"/>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31520" y="4833518"/>
            <a:ext cx="8366760" cy="396748"/>
          </a:xfrm>
          <a:prstGeom prst="rect">
            <a:avLst/>
          </a:prstGeom>
          <a:noFill/>
          <a:ln/>
        </p:spPr>
        <p:txBody>
          <a:bodyPr wrap="square" lIns="0" tIns="0" rIns="0" bIns="0" rtlCol="0" anchor="t"/>
          <a:lstStyle/>
          <a:p>
            <a:pPr marL="0" indent="0">
              <a:lnSpc>
                <a:spcPts val="1562"/>
              </a:lnSpc>
              <a:buNone/>
            </a:pPr>
            <a:r>
              <a:rPr lang="en-US" sz="1100" dirty="0">
                <a:solidFill>
                  <a:srgbClr val="7DD3FC"/>
                </a:solidFill>
                <a:latin typeface="Courier New" pitchFamily="34" charset="0"/>
                <a:ea typeface="Courier New" pitchFamily="34" charset="-122"/>
                <a:cs typeface="Courier New" pitchFamily="34" charset="-120"/>
              </a:rPr>
              <a:t>geom_smooth</a:t>
            </a:r>
            <a:r>
              <a:rPr lang="en-US" sz="1100" dirty="0">
                <a:solidFill>
                  <a:srgbClr val="E6EDF7"/>
                </a:solidFill>
                <a:latin typeface="Courier New" pitchFamily="34" charset="0"/>
                <a:ea typeface="Courier New" pitchFamily="34" charset="-122"/>
                <a:cs typeface="Courier New" pitchFamily="34" charset="-120"/>
              </a:rPr>
              <a:t>(method = </a:t>
            </a:r>
            <a:r>
              <a:rPr lang="en-US" sz="1100" dirty="0">
                <a:solidFill>
                  <a:srgbClr val="F2C97D"/>
                </a:solidFill>
                <a:latin typeface="Courier New" pitchFamily="34" charset="0"/>
                <a:ea typeface="Courier New" pitchFamily="34" charset="-122"/>
                <a:cs typeface="Courier New" pitchFamily="34" charset="-120"/>
              </a:rPr>
              <a:t>"lm"</a:t>
            </a:r>
            <a:r>
              <a:rPr lang="en-US" sz="1100" dirty="0">
                <a:solidFill>
                  <a:srgbClr val="E6EDF7"/>
                </a:solidFill>
                <a:latin typeface="Courier New" pitchFamily="34" charset="0"/>
                <a:ea typeface="Courier New" pitchFamily="34" charset="-122"/>
                <a:cs typeface="Courier New" pitchFamily="34" charset="-120"/>
              </a:rPr>
              <a:t>, se = </a:t>
            </a:r>
            <a:r>
              <a:rPr lang="en-US" sz="1100" dirty="0">
                <a:solidFill>
                  <a:srgbClr val="C9B8FF"/>
                </a:solidFill>
                <a:latin typeface="Courier New" pitchFamily="34" charset="0"/>
                <a:ea typeface="Courier New" pitchFamily="34" charset="-122"/>
                <a:cs typeface="Courier New" pitchFamily="34" charset="-120"/>
              </a:rPr>
              <a:t>TRUE</a:t>
            </a:r>
            <a:r>
              <a:rPr lang="en-US" sz="1100" dirty="0">
                <a:solidFill>
                  <a:srgbClr val="E6EDF7"/>
                </a:solidFill>
                <a:latin typeface="Courier New" pitchFamily="34" charset="0"/>
                <a:ea typeface="Courier New" pitchFamily="34" charset="-122"/>
                <a:cs typeface="Courier New" pitchFamily="34" charset="-120"/>
              </a:rPr>
              <a:t>)                  </a:t>
            </a:r>
            <a:r>
              <a:rPr lang="en-US" sz="1100" i="1" dirty="0">
                <a:solidFill>
                  <a:srgbClr val="8196BC"/>
                </a:solidFill>
                <a:latin typeface="Courier New" pitchFamily="34" charset="0"/>
                <a:ea typeface="Courier New" pitchFamily="34" charset="-122"/>
                <a:cs typeface="Courier New" pitchFamily="34" charset="-120"/>
              </a:rPr>
              <a:t># recta con banda de confianza</a:t>
            </a:r>
            <a:endParaRPr lang="en-US" sz="1100" dirty="0"/>
          </a:p>
          <a:p>
            <a:pPr marL="0" indent="0">
              <a:lnSpc>
                <a:spcPts val="1562"/>
              </a:lnSpc>
              <a:buNone/>
            </a:pPr>
            <a:r>
              <a:rPr lang="en-US" sz="1100" dirty="0">
                <a:solidFill>
                  <a:srgbClr val="7DD3FC"/>
                </a:solidFill>
                <a:latin typeface="Courier New" pitchFamily="34" charset="0"/>
                <a:ea typeface="Courier New" pitchFamily="34" charset="-122"/>
                <a:cs typeface="Courier New" pitchFamily="34" charset="-120"/>
              </a:rPr>
              <a:t>stat_summary</a:t>
            </a:r>
            <a:r>
              <a:rPr lang="en-US" sz="1100" dirty="0">
                <a:solidFill>
                  <a:srgbClr val="E6EDF7"/>
                </a:solidFill>
                <a:latin typeface="Courier New" pitchFamily="34" charset="0"/>
                <a:ea typeface="Courier New" pitchFamily="34" charset="-122"/>
                <a:cs typeface="Courier New" pitchFamily="34" charset="-120"/>
              </a:rPr>
              <a:t>(fun.data = mean_cl_normal)                </a:t>
            </a:r>
            <a:r>
              <a:rPr lang="en-US" sz="1100" i="1" dirty="0">
                <a:solidFill>
                  <a:srgbClr val="8196BC"/>
                </a:solidFill>
                <a:latin typeface="Courier New" pitchFamily="34" charset="0"/>
                <a:ea typeface="Courier New" pitchFamily="34" charset="-122"/>
                <a:cs typeface="Courier New" pitchFamily="34" charset="-120"/>
              </a:rPr>
              <a:t># media con IC 95 %</a:t>
            </a:r>
            <a:endParaRPr lang="en-US" sz="1100" dirty="0"/>
          </a:p>
        </p:txBody>
      </p:sp>
      <p:sp>
        <p:nvSpPr>
          <p:cNvPr id="11" name="Shape 7"/>
          <p:cNvSpPr/>
          <p:nvPr/>
        </p:nvSpPr>
        <p:spPr>
          <a:xfrm>
            <a:off x="9601200" y="1417320"/>
            <a:ext cx="2039112" cy="3291840"/>
          </a:xfrm>
          <a:prstGeom prst="roundRect">
            <a:avLst>
              <a:gd name="adj" fmla="val 3139"/>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2" name="Text 8"/>
          <p:cNvSpPr txBox="1"/>
          <p:nvPr/>
        </p:nvSpPr>
        <p:spPr>
          <a:xfrm>
            <a:off x="9784080" y="1554480"/>
            <a:ext cx="1737360" cy="274320"/>
          </a:xfrm>
          <a:prstGeom prst="rect">
            <a:avLst/>
          </a:prstGeom>
          <a:noFill/>
          <a:ln/>
        </p:spPr>
        <p:txBody>
          <a:bodyPr wrap="square" lIns="0" tIns="0" rIns="0" bIns="0" rtlCol="0" anchor="t"/>
          <a:lstStyle/>
          <a:p>
            <a:pPr marL="0" indent="0">
              <a:buNone/>
            </a:pPr>
            <a:r>
              <a:rPr lang="en-US" sz="1400" b="1" dirty="0">
                <a:solidFill>
                  <a:srgbClr val="B7791F"/>
                </a:solidFill>
                <a:latin typeface="Cambria" pitchFamily="34" charset="0"/>
                <a:ea typeface="Cambria" pitchFamily="34" charset="-122"/>
                <a:cs typeface="Cambria" pitchFamily="34" charset="-120"/>
              </a:rPr>
              <a:t>Cuidado</a:t>
            </a:r>
            <a:endParaRPr lang="en-US" sz="1400" dirty="0"/>
          </a:p>
        </p:txBody>
      </p:sp>
      <p:sp>
        <p:nvSpPr>
          <p:cNvPr id="13" name="Text 9"/>
          <p:cNvSpPr txBox="1"/>
          <p:nvPr/>
        </p:nvSpPr>
        <p:spPr>
          <a:xfrm>
            <a:off x="9784080" y="1920240"/>
            <a:ext cx="1737360" cy="2743200"/>
          </a:xfrm>
          <a:prstGeom prst="rect">
            <a:avLst/>
          </a:prstGeom>
          <a:noFill/>
          <a:ln/>
        </p:spPr>
        <p:txBody>
          <a:bodyPr wrap="square" lIns="0" tIns="0" rIns="0" bIns="0" rtlCol="0" anchor="t"/>
          <a:lstStyle/>
          <a:p>
            <a:pPr marL="0" indent="0">
              <a:buNone/>
            </a:pPr>
            <a:r>
              <a:rPr lang="en-US" sz="1150" dirty="0">
                <a:solidFill>
                  <a:srgbClr val="1E2A44"/>
                </a:solidFill>
                <a:latin typeface="Calibri" pitchFamily="34" charset="0"/>
                <a:ea typeface="Calibri" pitchFamily="34" charset="-122"/>
                <a:cs typeface="Calibri" pitchFamily="34" charset="-120"/>
              </a:rPr>
              <a:t>Una tendencia con banda ancha no es una conclusión. Es un recurso exploratorio; el resultado formal viene del modelo (sesión 4).</a:t>
            </a:r>
            <a:endParaRPr lang="en-US" sz="11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Temas: un estilo propio y reutilizable</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16</a:t>
            </a:r>
            <a:endParaRPr lang="en-US" sz="800" dirty="0"/>
          </a:p>
        </p:txBody>
      </p:sp>
      <p:sp>
        <p:nvSpPr>
          <p:cNvPr id="7" name="Shape 4"/>
          <p:cNvSpPr/>
          <p:nvPr/>
        </p:nvSpPr>
        <p:spPr>
          <a:xfrm>
            <a:off x="548640" y="1399032"/>
            <a:ext cx="4059936" cy="2515253"/>
          </a:xfrm>
          <a:prstGeom prst="roundRect">
            <a:avLst>
              <a:gd name="adj" fmla="val 181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10_tema0.png"/>
          <p:cNvPicPr>
            <a:picLocks noChangeAspect="1"/>
          </p:cNvPicPr>
          <p:nvPr/>
        </p:nvPicPr>
        <p:blipFill>
          <a:blip r:embed="rId3"/>
          <a:stretch>
            <a:fillRect/>
          </a:stretch>
        </p:blipFill>
        <p:spPr>
          <a:xfrm>
            <a:off x="612648" y="1463040"/>
            <a:ext cx="3931920" cy="2387237"/>
          </a:xfrm>
          <a:prstGeom prst="rect">
            <a:avLst/>
          </a:prstGeom>
        </p:spPr>
      </p:pic>
      <p:sp>
        <p:nvSpPr>
          <p:cNvPr id="9" name="Shape 5"/>
          <p:cNvSpPr/>
          <p:nvPr/>
        </p:nvSpPr>
        <p:spPr>
          <a:xfrm>
            <a:off x="548640" y="3867912"/>
            <a:ext cx="4059936" cy="2515253"/>
          </a:xfrm>
          <a:prstGeom prst="roundRect">
            <a:avLst>
              <a:gd name="adj" fmla="val 1818"/>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0" name="Image 1" descr="/home/claude/s3/figs/f10_tema1.png"/>
          <p:cNvPicPr>
            <a:picLocks noChangeAspect="1"/>
          </p:cNvPicPr>
          <p:nvPr/>
        </p:nvPicPr>
        <p:blipFill>
          <a:blip r:embed="rId4"/>
          <a:stretch>
            <a:fillRect/>
          </a:stretch>
        </p:blipFill>
        <p:spPr>
          <a:xfrm>
            <a:off x="612648" y="3931920"/>
            <a:ext cx="3931920" cy="2387237"/>
          </a:xfrm>
          <a:prstGeom prst="rect">
            <a:avLst/>
          </a:prstGeom>
        </p:spPr>
      </p:pic>
      <p:sp>
        <p:nvSpPr>
          <p:cNvPr id="11" name="Shape 6"/>
          <p:cNvSpPr/>
          <p:nvPr/>
        </p:nvSpPr>
        <p:spPr>
          <a:xfrm>
            <a:off x="5029200" y="1463040"/>
            <a:ext cx="6611112" cy="2907792"/>
          </a:xfrm>
          <a:prstGeom prst="roundRect">
            <a:avLst>
              <a:gd name="adj" fmla="val 1887"/>
            </a:avLst>
          </a:prstGeom>
          <a:solidFill>
            <a:srgbClr val="162044"/>
          </a:solidFill>
          <a:ln w="12700">
            <a:solidFill>
              <a:srgbClr val="162044"/>
            </a:solidFill>
            <a:prstDash val="solid"/>
          </a:ln>
        </p:spPr>
        <p:txBody>
          <a:bodyPr/>
          <a:lstStyle/>
          <a:p>
            <a:endParaRPr lang="es-CL"/>
          </a:p>
        </p:txBody>
      </p:sp>
      <p:sp>
        <p:nvSpPr>
          <p:cNvPr id="12" name="Text 7"/>
          <p:cNvSpPr txBox="1"/>
          <p:nvPr/>
        </p:nvSpPr>
        <p:spPr>
          <a:xfrm>
            <a:off x="5212080" y="1591056"/>
            <a:ext cx="6245352" cy="2596896"/>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theme_posgrado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C9B8FF"/>
                </a:solidFill>
                <a:latin typeface="Courier New" pitchFamily="34" charset="0"/>
                <a:ea typeface="Courier New" pitchFamily="34" charset="-122"/>
                <a:cs typeface="Courier New" pitchFamily="34" charset="-120"/>
              </a:rPr>
              <a:t>function</a:t>
            </a:r>
            <a:r>
              <a:rPr lang="en-US" sz="1200" dirty="0">
                <a:solidFill>
                  <a:srgbClr val="E6EDF7"/>
                </a:solidFill>
                <a:latin typeface="Courier New" pitchFamily="34" charset="0"/>
                <a:ea typeface="Courier New" pitchFamily="34" charset="-122"/>
                <a:cs typeface="Courier New" pitchFamily="34" charset="-120"/>
              </a:rPr>
              <a:t>(base_size = </a:t>
            </a:r>
            <a:r>
              <a:rPr lang="en-US" sz="1200" dirty="0">
                <a:solidFill>
                  <a:srgbClr val="F2C97D"/>
                </a:solidFill>
                <a:latin typeface="Courier New" pitchFamily="34" charset="0"/>
                <a:ea typeface="Courier New" pitchFamily="34" charset="-122"/>
                <a:cs typeface="Courier New" pitchFamily="34" charset="-120"/>
              </a:rPr>
              <a:t>13</a:t>
            </a: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theme_minimal</a:t>
            </a:r>
            <a:r>
              <a:rPr lang="en-US" sz="1200" dirty="0">
                <a:solidFill>
                  <a:srgbClr val="E6EDF7"/>
                </a:solidFill>
                <a:latin typeface="Courier New" pitchFamily="34" charset="0"/>
                <a:ea typeface="Courier New" pitchFamily="34" charset="-122"/>
                <a:cs typeface="Courier New" pitchFamily="34" charset="-120"/>
              </a:rPr>
              <a:t>(base_size = base_size)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theme</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plot.title.position = </a:t>
            </a:r>
            <a:r>
              <a:rPr lang="en-US" sz="1200" dirty="0">
                <a:solidFill>
                  <a:srgbClr val="F2C97D"/>
                </a:solidFill>
                <a:latin typeface="Courier New" pitchFamily="34" charset="0"/>
                <a:ea typeface="Courier New" pitchFamily="34" charset="-122"/>
                <a:cs typeface="Courier New" pitchFamily="34" charset="-120"/>
              </a:rPr>
              <a:t>"plot"</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plot.title = </a:t>
            </a:r>
            <a:r>
              <a:rPr lang="en-US" sz="1200" dirty="0">
                <a:solidFill>
                  <a:srgbClr val="7DD3FC"/>
                </a:solidFill>
                <a:latin typeface="Courier New" pitchFamily="34" charset="0"/>
                <a:ea typeface="Courier New" pitchFamily="34" charset="-122"/>
                <a:cs typeface="Courier New" pitchFamily="34" charset="-120"/>
              </a:rPr>
              <a:t>element_text</a:t>
            </a:r>
            <a:r>
              <a:rPr lang="en-US" sz="1200" dirty="0">
                <a:solidFill>
                  <a:srgbClr val="E6EDF7"/>
                </a:solidFill>
                <a:latin typeface="Courier New" pitchFamily="34" charset="0"/>
                <a:ea typeface="Courier New" pitchFamily="34" charset="-122"/>
                <a:cs typeface="Courier New" pitchFamily="34" charset="-120"/>
              </a:rPr>
              <a:t>(face = </a:t>
            </a:r>
            <a:r>
              <a:rPr lang="en-US" sz="1200" dirty="0">
                <a:solidFill>
                  <a:srgbClr val="F2C97D"/>
                </a:solidFill>
                <a:latin typeface="Courier New" pitchFamily="34" charset="0"/>
                <a:ea typeface="Courier New" pitchFamily="34" charset="-122"/>
                <a:cs typeface="Courier New" pitchFamily="34" charset="-120"/>
              </a:rPr>
              <a:t>"bold"</a:t>
            </a:r>
            <a:r>
              <a:rPr lang="en-US" sz="1200" dirty="0">
                <a:solidFill>
                  <a:srgbClr val="E6EDF7"/>
                </a:solidFill>
                <a:latin typeface="Courier New" pitchFamily="34" charset="0"/>
                <a:ea typeface="Courier New" pitchFamily="34" charset="-122"/>
                <a:cs typeface="Courier New" pitchFamily="34" charset="-120"/>
              </a:rPr>
              <a:t>, color = </a:t>
            </a:r>
            <a:r>
              <a:rPr lang="en-US" sz="1200" dirty="0">
                <a:solidFill>
                  <a:srgbClr val="F2C97D"/>
                </a:solidFill>
                <a:latin typeface="Courier New" pitchFamily="34" charset="0"/>
                <a:ea typeface="Courier New" pitchFamily="34" charset="-122"/>
                <a:cs typeface="Courier New" pitchFamily="34" charset="-120"/>
              </a:rPr>
              <a:t>"#21295C"</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panel.grid.minor = </a:t>
            </a:r>
            <a:r>
              <a:rPr lang="en-US" sz="1200" dirty="0">
                <a:solidFill>
                  <a:srgbClr val="7DD3FC"/>
                </a:solidFill>
                <a:latin typeface="Courier New" pitchFamily="34" charset="0"/>
                <a:ea typeface="Courier New" pitchFamily="34" charset="-122"/>
                <a:cs typeface="Courier New" pitchFamily="34" charset="-120"/>
              </a:rPr>
              <a:t>element_blank</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legend.position = </a:t>
            </a:r>
            <a:r>
              <a:rPr lang="en-US" sz="1200" dirty="0">
                <a:solidFill>
                  <a:srgbClr val="F2C97D"/>
                </a:solidFill>
                <a:latin typeface="Courier New" pitchFamily="34" charset="0"/>
                <a:ea typeface="Courier New" pitchFamily="34" charset="-122"/>
                <a:cs typeface="Courier New" pitchFamily="34" charset="-120"/>
              </a:rPr>
              <a:t>"bottom"</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i="1" dirty="0">
                <a:solidFill>
                  <a:srgbClr val="8196BC"/>
                </a:solidFill>
                <a:latin typeface="Courier New" pitchFamily="34" charset="0"/>
                <a:ea typeface="Courier New" pitchFamily="34" charset="-122"/>
                <a:cs typeface="Courier New" pitchFamily="34" charset="-120"/>
              </a:rPr>
              <a:t># En todo el script:</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theme_set</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7DD3FC"/>
                </a:solidFill>
                <a:latin typeface="Courier New" pitchFamily="34" charset="0"/>
                <a:ea typeface="Courier New" pitchFamily="34" charset="-122"/>
                <a:cs typeface="Courier New" pitchFamily="34" charset="-120"/>
              </a:rPr>
              <a:t>theme_posgrado</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13" name="Shape 8"/>
          <p:cNvSpPr/>
          <p:nvPr/>
        </p:nvSpPr>
        <p:spPr>
          <a:xfrm>
            <a:off x="5029200" y="4645152"/>
            <a:ext cx="6611112" cy="914400"/>
          </a:xfrm>
          <a:prstGeom prst="rect">
            <a:avLst/>
          </a:prstGeom>
          <a:solidFill>
            <a:srgbClr val="E4EEF2"/>
          </a:solidFill>
          <a:ln w="12700">
            <a:solidFill>
              <a:srgbClr val="E4EEF2"/>
            </a:solidFill>
            <a:prstDash val="solid"/>
          </a:ln>
        </p:spPr>
        <p:txBody>
          <a:bodyPr/>
          <a:lstStyle/>
          <a:p>
            <a:endParaRPr lang="es-CL"/>
          </a:p>
        </p:txBody>
      </p:sp>
      <p:sp>
        <p:nvSpPr>
          <p:cNvPr id="14" name="Shape 9"/>
          <p:cNvSpPr/>
          <p:nvPr/>
        </p:nvSpPr>
        <p:spPr>
          <a:xfrm>
            <a:off x="5029200" y="4645152"/>
            <a:ext cx="64008" cy="914400"/>
          </a:xfrm>
          <a:prstGeom prst="rect">
            <a:avLst/>
          </a:prstGeom>
          <a:solidFill>
            <a:srgbClr val="1C7293"/>
          </a:solidFill>
          <a:ln w="12700">
            <a:solidFill>
              <a:srgbClr val="1C7293"/>
            </a:solidFill>
            <a:prstDash val="solid"/>
          </a:ln>
        </p:spPr>
        <p:txBody>
          <a:bodyPr/>
          <a:lstStyle/>
          <a:p>
            <a:endParaRPr lang="es-CL"/>
          </a:p>
        </p:txBody>
      </p:sp>
      <p:sp>
        <p:nvSpPr>
          <p:cNvPr id="15" name="Text 10"/>
          <p:cNvSpPr txBox="1"/>
          <p:nvPr/>
        </p:nvSpPr>
        <p:spPr>
          <a:xfrm>
            <a:off x="5230368" y="4645152"/>
            <a:ext cx="6291072" cy="914400"/>
          </a:xfrm>
          <a:prstGeom prst="rect">
            <a:avLst/>
          </a:prstGeom>
          <a:noFill/>
          <a:ln/>
        </p:spPr>
        <p:txBody>
          <a:bodyPr wrap="square" lIns="0" tIns="0" rIns="0" bIns="0" rtlCol="0" anchor="ctr"/>
          <a:lstStyle/>
          <a:p>
            <a:pPr marL="0" indent="0">
              <a:buNone/>
            </a:pPr>
            <a:r>
              <a:rPr lang="en-US" sz="1400" b="1" dirty="0">
                <a:solidFill>
                  <a:srgbClr val="1E2A44"/>
                </a:solidFill>
                <a:latin typeface="Calibri" pitchFamily="34" charset="0"/>
                <a:ea typeface="Calibri" pitchFamily="34" charset="-122"/>
                <a:cs typeface="Calibri" pitchFamily="34" charset="-120"/>
              </a:rPr>
              <a:t>Es una función que devuelve un objeto de ggplot2: justo lo que aprendimos en la sesión 2.</a:t>
            </a:r>
            <a:endParaRPr lang="en-US" sz="14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1 · GGPLOT2 AVANZADO</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Chequeo: ¿qué harías aquí?</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17</a:t>
            </a:r>
            <a:endParaRPr lang="en-US" sz="800" dirty="0"/>
          </a:p>
        </p:txBody>
      </p:sp>
      <p:sp>
        <p:nvSpPr>
          <p:cNvPr id="7" name="Shape 4"/>
          <p:cNvSpPr/>
          <p:nvPr/>
        </p:nvSpPr>
        <p:spPr>
          <a:xfrm>
            <a:off x="548640" y="1463040"/>
            <a:ext cx="3584448" cy="4206240"/>
          </a:xfrm>
          <a:prstGeom prst="roundRect">
            <a:avLst>
              <a:gd name="adj" fmla="val 178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777240" y="1664208"/>
            <a:ext cx="365760" cy="365760"/>
          </a:xfrm>
          <a:prstGeom prst="ellipse">
            <a:avLst/>
          </a:prstGeom>
          <a:solidFill>
            <a:srgbClr val="065A82"/>
          </a:solidFill>
          <a:ln w="12700">
            <a:solidFill>
              <a:srgbClr val="065A82"/>
            </a:solidFill>
            <a:prstDash val="solid"/>
          </a:ln>
        </p:spPr>
        <p:txBody>
          <a:bodyPr/>
          <a:lstStyle/>
          <a:p>
            <a:endParaRPr lang="es-CL"/>
          </a:p>
        </p:txBody>
      </p:sp>
      <p:sp>
        <p:nvSpPr>
          <p:cNvPr id="9" name="Text 6"/>
          <p:cNvSpPr txBox="1"/>
          <p:nvPr/>
        </p:nvSpPr>
        <p:spPr>
          <a:xfrm>
            <a:off x="777240" y="16642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10" name="Text 7"/>
          <p:cNvSpPr txBox="1"/>
          <p:nvPr/>
        </p:nvSpPr>
        <p:spPr>
          <a:xfrm>
            <a:off x="1280160" y="1664208"/>
            <a:ext cx="274320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Orden</a:t>
            </a:r>
            <a:endParaRPr lang="en-US" sz="1500" dirty="0"/>
          </a:p>
        </p:txBody>
      </p:sp>
      <p:sp>
        <p:nvSpPr>
          <p:cNvPr id="11" name="Shape 8"/>
          <p:cNvSpPr/>
          <p:nvPr/>
        </p:nvSpPr>
        <p:spPr>
          <a:xfrm>
            <a:off x="731520" y="2286000"/>
            <a:ext cx="3218688" cy="689610"/>
          </a:xfrm>
          <a:prstGeom prst="roundRect">
            <a:avLst>
              <a:gd name="adj" fmla="val 7956"/>
            </a:avLst>
          </a:prstGeom>
          <a:solidFill>
            <a:srgbClr val="162044"/>
          </a:solidFill>
          <a:ln w="12700">
            <a:solidFill>
              <a:srgbClr val="162044"/>
            </a:solidFill>
            <a:prstDash val="solid"/>
          </a:ln>
        </p:spPr>
        <p:txBody>
          <a:bodyPr/>
          <a:lstStyle/>
          <a:p>
            <a:endParaRPr lang="es-CL"/>
          </a:p>
        </p:txBody>
      </p:sp>
      <p:sp>
        <p:nvSpPr>
          <p:cNvPr id="12" name="Text 9"/>
          <p:cNvSpPr txBox="1"/>
          <p:nvPr/>
        </p:nvSpPr>
        <p:spPr>
          <a:xfrm>
            <a:off x="914400" y="2414016"/>
            <a:ext cx="2852928" cy="378714"/>
          </a:xfrm>
          <a:prstGeom prst="rect">
            <a:avLst/>
          </a:prstGeom>
          <a:noFill/>
          <a:ln/>
        </p:spPr>
        <p:txBody>
          <a:bodyPr wrap="square" lIns="0" tIns="0" rIns="0" bIns="0" rtlCol="0" anchor="t"/>
          <a:lstStyle/>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ggplot</a:t>
            </a:r>
            <a:r>
              <a:rPr lang="en-US" sz="1050" dirty="0">
                <a:solidFill>
                  <a:srgbClr val="E6EDF7"/>
                </a:solidFill>
                <a:latin typeface="Courier New" pitchFamily="34" charset="0"/>
                <a:ea typeface="Courier New" pitchFamily="34" charset="-122"/>
                <a:cs typeface="Courier New" pitchFamily="34" charset="-120"/>
              </a:rPr>
              <a:t>(tot, </a:t>
            </a:r>
            <a:r>
              <a:rPr lang="en-US" sz="1050" dirty="0">
                <a:solidFill>
                  <a:srgbClr val="7DD3FC"/>
                </a:solidFill>
                <a:latin typeface="Courier New" pitchFamily="34" charset="0"/>
                <a:ea typeface="Courier New" pitchFamily="34" charset="-122"/>
                <a:cs typeface="Courier New" pitchFamily="34" charset="-120"/>
              </a:rPr>
              <a:t>aes</a:t>
            </a:r>
            <a:r>
              <a:rPr lang="en-US" sz="1050" dirty="0">
                <a:solidFill>
                  <a:srgbClr val="E6EDF7"/>
                </a:solidFill>
                <a:latin typeface="Courier New" pitchFamily="34" charset="0"/>
                <a:ea typeface="Courier New" pitchFamily="34" charset="-122"/>
                <a:cs typeface="Courier New" pitchFamily="34" charset="-120"/>
              </a:rPr>
              <a:t>(n, programa))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geom_col</a:t>
            </a: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13" name="Text 10"/>
          <p:cNvSpPr txBox="1"/>
          <p:nvPr/>
        </p:nvSpPr>
        <p:spPr>
          <a:xfrm>
            <a:off x="777240" y="4160520"/>
            <a:ext cx="3154680" cy="1371600"/>
          </a:xfrm>
          <a:prstGeom prst="rect">
            <a:avLst/>
          </a:prstGeom>
          <a:noFill/>
          <a:ln/>
        </p:spPr>
        <p:txBody>
          <a:bodyPr wrap="square" lIns="0" tIns="0" rIns="0" bIns="0" rtlCol="0" anchor="t"/>
          <a:lstStyle/>
          <a:p>
            <a:pPr marL="0" indent="0">
              <a:buNone/>
            </a:pPr>
            <a:r>
              <a:rPr lang="en-US" sz="1350" b="1" dirty="0">
                <a:solidFill>
                  <a:srgbClr val="1E2A44"/>
                </a:solidFill>
                <a:latin typeface="Calibri" pitchFamily="34" charset="0"/>
                <a:ea typeface="Calibri" pitchFamily="34" charset="-122"/>
                <a:cs typeface="Calibri" pitchFamily="34" charset="-120"/>
              </a:rPr>
              <a:t>Las barras salen en orden alfabético y los nombres son largos. ¿Qué función las ordena?</a:t>
            </a:r>
            <a:endParaRPr lang="en-US" sz="1350" dirty="0"/>
          </a:p>
        </p:txBody>
      </p:sp>
      <p:sp>
        <p:nvSpPr>
          <p:cNvPr id="14" name="Shape 11"/>
          <p:cNvSpPr/>
          <p:nvPr/>
        </p:nvSpPr>
        <p:spPr>
          <a:xfrm>
            <a:off x="4297680" y="1463040"/>
            <a:ext cx="3584448" cy="4206240"/>
          </a:xfrm>
          <a:prstGeom prst="roundRect">
            <a:avLst>
              <a:gd name="adj" fmla="val 178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5" name="Shape 12"/>
          <p:cNvSpPr/>
          <p:nvPr/>
        </p:nvSpPr>
        <p:spPr>
          <a:xfrm>
            <a:off x="4526280" y="1664208"/>
            <a:ext cx="365760" cy="365760"/>
          </a:xfrm>
          <a:prstGeom prst="ellipse">
            <a:avLst/>
          </a:prstGeom>
          <a:solidFill>
            <a:srgbClr val="065A82"/>
          </a:solidFill>
          <a:ln w="12700">
            <a:solidFill>
              <a:srgbClr val="065A82"/>
            </a:solidFill>
            <a:prstDash val="solid"/>
          </a:ln>
        </p:spPr>
        <p:txBody>
          <a:bodyPr/>
          <a:lstStyle/>
          <a:p>
            <a:endParaRPr lang="es-CL"/>
          </a:p>
        </p:txBody>
      </p:sp>
      <p:sp>
        <p:nvSpPr>
          <p:cNvPr id="16" name="Text 13"/>
          <p:cNvSpPr txBox="1"/>
          <p:nvPr/>
        </p:nvSpPr>
        <p:spPr>
          <a:xfrm>
            <a:off x="4526280" y="16642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7" name="Text 14"/>
          <p:cNvSpPr txBox="1"/>
          <p:nvPr/>
        </p:nvSpPr>
        <p:spPr>
          <a:xfrm>
            <a:off x="5029200" y="1664208"/>
            <a:ext cx="274320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¿Dónde está el error?</a:t>
            </a:r>
            <a:endParaRPr lang="en-US" sz="1500" dirty="0"/>
          </a:p>
        </p:txBody>
      </p:sp>
      <p:sp>
        <p:nvSpPr>
          <p:cNvPr id="18" name="Shape 15"/>
          <p:cNvSpPr/>
          <p:nvPr/>
        </p:nvSpPr>
        <p:spPr>
          <a:xfrm>
            <a:off x="4480560" y="2286000"/>
            <a:ext cx="3218688" cy="878967"/>
          </a:xfrm>
          <a:prstGeom prst="roundRect">
            <a:avLst>
              <a:gd name="adj" fmla="val 6242"/>
            </a:avLst>
          </a:prstGeom>
          <a:solidFill>
            <a:srgbClr val="162044"/>
          </a:solidFill>
          <a:ln w="12700">
            <a:solidFill>
              <a:srgbClr val="162044"/>
            </a:solidFill>
            <a:prstDash val="solid"/>
          </a:ln>
        </p:spPr>
        <p:txBody>
          <a:bodyPr/>
          <a:lstStyle/>
          <a:p>
            <a:endParaRPr lang="es-CL"/>
          </a:p>
        </p:txBody>
      </p:sp>
      <p:sp>
        <p:nvSpPr>
          <p:cNvPr id="19" name="Text 16"/>
          <p:cNvSpPr txBox="1"/>
          <p:nvPr/>
        </p:nvSpPr>
        <p:spPr>
          <a:xfrm>
            <a:off x="4663440" y="2414016"/>
            <a:ext cx="2852928" cy="568071"/>
          </a:xfrm>
          <a:prstGeom prst="rect">
            <a:avLst/>
          </a:prstGeom>
          <a:noFill/>
          <a:ln/>
        </p:spPr>
        <p:txBody>
          <a:bodyPr wrap="square" lIns="0" tIns="0" rIns="0" bIns="0" rtlCol="0" anchor="t"/>
          <a:lstStyle/>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ggplot</a:t>
            </a:r>
            <a:r>
              <a:rPr lang="en-US" sz="1050" dirty="0">
                <a:solidFill>
                  <a:srgbClr val="E6EDF7"/>
                </a:solidFill>
                <a:latin typeface="Courier New" pitchFamily="34" charset="0"/>
                <a:ea typeface="Courier New" pitchFamily="34" charset="-122"/>
                <a:cs typeface="Courier New" pitchFamily="34" charset="-120"/>
              </a:rPr>
              <a:t>(d, </a:t>
            </a:r>
            <a:r>
              <a:rPr lang="en-US" sz="1050" dirty="0">
                <a:solidFill>
                  <a:srgbClr val="7DD3FC"/>
                </a:solidFill>
                <a:latin typeface="Courier New" pitchFamily="34" charset="0"/>
                <a:ea typeface="Courier New" pitchFamily="34" charset="-122"/>
                <a:cs typeface="Courier New" pitchFamily="34" charset="-120"/>
              </a:rPr>
              <a:t>aes</a:t>
            </a:r>
            <a:r>
              <a:rPr lang="en-US" sz="1050" dirty="0">
                <a:solidFill>
                  <a:srgbClr val="E6EDF7"/>
                </a:solidFill>
                <a:latin typeface="Courier New" pitchFamily="34" charset="0"/>
                <a:ea typeface="Courier New" pitchFamily="34" charset="-122"/>
                <a:cs typeface="Courier New" pitchFamily="34" charset="-120"/>
              </a:rPr>
              <a:t>(x, y, color = g))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geom_point</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scale_fill_manual</a:t>
            </a:r>
            <a:r>
              <a:rPr lang="en-US" sz="1050" dirty="0">
                <a:solidFill>
                  <a:srgbClr val="E6EDF7"/>
                </a:solidFill>
                <a:latin typeface="Courier New" pitchFamily="34" charset="0"/>
                <a:ea typeface="Courier New" pitchFamily="34" charset="-122"/>
                <a:cs typeface="Courier New" pitchFamily="34" charset="-120"/>
              </a:rPr>
              <a:t>(values = pal)</a:t>
            </a:r>
            <a:endParaRPr lang="en-US" sz="1050" dirty="0"/>
          </a:p>
        </p:txBody>
      </p:sp>
      <p:sp>
        <p:nvSpPr>
          <p:cNvPr id="20" name="Text 17"/>
          <p:cNvSpPr txBox="1"/>
          <p:nvPr/>
        </p:nvSpPr>
        <p:spPr>
          <a:xfrm>
            <a:off x="4526280" y="4160520"/>
            <a:ext cx="3154680" cy="1371600"/>
          </a:xfrm>
          <a:prstGeom prst="rect">
            <a:avLst/>
          </a:prstGeom>
          <a:noFill/>
          <a:ln/>
        </p:spPr>
        <p:txBody>
          <a:bodyPr wrap="square" lIns="0" tIns="0" rIns="0" bIns="0" rtlCol="0" anchor="t"/>
          <a:lstStyle/>
          <a:p>
            <a:pPr marL="0" indent="0">
              <a:buNone/>
            </a:pPr>
            <a:r>
              <a:rPr lang="en-US" sz="1350" b="1" dirty="0">
                <a:solidFill>
                  <a:srgbClr val="1E2A44"/>
                </a:solidFill>
                <a:latin typeface="Calibri" pitchFamily="34" charset="0"/>
                <a:ea typeface="Calibri" pitchFamily="34" charset="-122"/>
                <a:cs typeface="Calibri" pitchFamily="34" charset="-120"/>
              </a:rPr>
              <a:t>Los colores no cambian. ¿Por qué?</a:t>
            </a:r>
            <a:endParaRPr lang="en-US" sz="1350" dirty="0"/>
          </a:p>
        </p:txBody>
      </p:sp>
      <p:sp>
        <p:nvSpPr>
          <p:cNvPr id="21" name="Shape 18"/>
          <p:cNvSpPr/>
          <p:nvPr/>
        </p:nvSpPr>
        <p:spPr>
          <a:xfrm>
            <a:off x="8046720" y="1463040"/>
            <a:ext cx="3584448" cy="4206240"/>
          </a:xfrm>
          <a:prstGeom prst="roundRect">
            <a:avLst>
              <a:gd name="adj" fmla="val 1786"/>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2" name="Shape 19"/>
          <p:cNvSpPr/>
          <p:nvPr/>
        </p:nvSpPr>
        <p:spPr>
          <a:xfrm>
            <a:off x="8275320" y="1664208"/>
            <a:ext cx="365760" cy="365760"/>
          </a:xfrm>
          <a:prstGeom prst="ellipse">
            <a:avLst/>
          </a:prstGeom>
          <a:solidFill>
            <a:srgbClr val="065A82"/>
          </a:solidFill>
          <a:ln w="12700">
            <a:solidFill>
              <a:srgbClr val="065A82"/>
            </a:solidFill>
            <a:prstDash val="solid"/>
          </a:ln>
        </p:spPr>
        <p:txBody>
          <a:bodyPr/>
          <a:lstStyle/>
          <a:p>
            <a:endParaRPr lang="es-CL"/>
          </a:p>
        </p:txBody>
      </p:sp>
      <p:sp>
        <p:nvSpPr>
          <p:cNvPr id="23" name="Text 20"/>
          <p:cNvSpPr txBox="1"/>
          <p:nvPr/>
        </p:nvSpPr>
        <p:spPr>
          <a:xfrm>
            <a:off x="8275320" y="1664208"/>
            <a:ext cx="365760" cy="365760"/>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24" name="Text 21"/>
          <p:cNvSpPr txBox="1"/>
          <p:nvPr/>
        </p:nvSpPr>
        <p:spPr>
          <a:xfrm>
            <a:off x="8778240" y="1664208"/>
            <a:ext cx="2743200" cy="365760"/>
          </a:xfrm>
          <a:prstGeom prst="rect">
            <a:avLst/>
          </a:prstGeom>
          <a:noFill/>
          <a:ln/>
        </p:spPr>
        <p:txBody>
          <a:bodyPr wrap="square" lIns="0" tIns="0" rIns="0" bIns="0" rtlCol="0" anchor="ctr"/>
          <a:lstStyle/>
          <a:p>
            <a:pPr marL="0" indent="0">
              <a:buNone/>
            </a:pPr>
            <a:r>
              <a:rPr lang="en-US" sz="1500" b="1" dirty="0">
                <a:solidFill>
                  <a:srgbClr val="21295C"/>
                </a:solidFill>
                <a:latin typeface="Cambria" pitchFamily="34" charset="0"/>
                <a:ea typeface="Cambria" pitchFamily="34" charset="-122"/>
                <a:cs typeface="Cambria" pitchFamily="34" charset="-120"/>
              </a:rPr>
              <a:t>Etiquetas</a:t>
            </a:r>
            <a:endParaRPr lang="en-US" sz="1500" dirty="0"/>
          </a:p>
        </p:txBody>
      </p:sp>
      <p:sp>
        <p:nvSpPr>
          <p:cNvPr id="25" name="Shape 22"/>
          <p:cNvSpPr/>
          <p:nvPr/>
        </p:nvSpPr>
        <p:spPr>
          <a:xfrm>
            <a:off x="8229600" y="2286000"/>
            <a:ext cx="3218688" cy="878967"/>
          </a:xfrm>
          <a:prstGeom prst="roundRect">
            <a:avLst>
              <a:gd name="adj" fmla="val 6242"/>
            </a:avLst>
          </a:prstGeom>
          <a:solidFill>
            <a:srgbClr val="162044"/>
          </a:solidFill>
          <a:ln w="12700">
            <a:solidFill>
              <a:srgbClr val="162044"/>
            </a:solidFill>
            <a:prstDash val="solid"/>
          </a:ln>
        </p:spPr>
        <p:txBody>
          <a:bodyPr/>
          <a:lstStyle/>
          <a:p>
            <a:endParaRPr lang="es-CL"/>
          </a:p>
        </p:txBody>
      </p:sp>
      <p:sp>
        <p:nvSpPr>
          <p:cNvPr id="26" name="Text 23"/>
          <p:cNvSpPr txBox="1"/>
          <p:nvPr/>
        </p:nvSpPr>
        <p:spPr>
          <a:xfrm>
            <a:off x="8412480" y="2414016"/>
            <a:ext cx="2852928" cy="568071"/>
          </a:xfrm>
          <a:prstGeom prst="rect">
            <a:avLst/>
          </a:prstGeom>
          <a:noFill/>
          <a:ln/>
        </p:spPr>
        <p:txBody>
          <a:bodyPr wrap="square" lIns="0" tIns="0" rIns="0" bIns="0" rtlCol="0" anchor="t"/>
          <a:lstStyle/>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ggplot</a:t>
            </a:r>
            <a:r>
              <a:rPr lang="en-US" sz="1050" dirty="0">
                <a:solidFill>
                  <a:srgbClr val="E6EDF7"/>
                </a:solidFill>
                <a:latin typeface="Courier New" pitchFamily="34" charset="0"/>
                <a:ea typeface="Courier New" pitchFamily="34" charset="-122"/>
                <a:cs typeface="Courier New" pitchFamily="34" charset="-120"/>
              </a:rPr>
              <a:t>(d, </a:t>
            </a:r>
            <a:r>
              <a:rPr lang="en-US" sz="1050" dirty="0">
                <a:solidFill>
                  <a:srgbClr val="7DD3FC"/>
                </a:solidFill>
                <a:latin typeface="Courier New" pitchFamily="34" charset="0"/>
                <a:ea typeface="Courier New" pitchFamily="34" charset="-122"/>
                <a:cs typeface="Courier New" pitchFamily="34" charset="-120"/>
              </a:rPr>
              <a:t>aes</a:t>
            </a:r>
            <a:r>
              <a:rPr lang="en-US" sz="1050" dirty="0">
                <a:solidFill>
                  <a:srgbClr val="E6EDF7"/>
                </a:solidFill>
                <a:latin typeface="Courier New" pitchFamily="34" charset="0"/>
                <a:ea typeface="Courier New" pitchFamily="34" charset="-122"/>
                <a:cs typeface="Courier New" pitchFamily="34" charset="-120"/>
              </a:rPr>
              <a:t>(x, y))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geom_point</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geom_text</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7DD3FC"/>
                </a:solidFill>
                <a:latin typeface="Courier New" pitchFamily="34" charset="0"/>
                <a:ea typeface="Courier New" pitchFamily="34" charset="-122"/>
                <a:cs typeface="Courier New" pitchFamily="34" charset="-120"/>
              </a:rPr>
              <a:t>aes</a:t>
            </a:r>
            <a:r>
              <a:rPr lang="en-US" sz="1050" dirty="0">
                <a:solidFill>
                  <a:srgbClr val="E6EDF7"/>
                </a:solidFill>
                <a:latin typeface="Courier New" pitchFamily="34" charset="0"/>
                <a:ea typeface="Courier New" pitchFamily="34" charset="-122"/>
                <a:cs typeface="Courier New" pitchFamily="34" charset="-120"/>
              </a:rPr>
              <a:t>(label = programa))</a:t>
            </a:r>
            <a:endParaRPr lang="en-US" sz="1050" dirty="0"/>
          </a:p>
        </p:txBody>
      </p:sp>
      <p:sp>
        <p:nvSpPr>
          <p:cNvPr id="27" name="Text 24"/>
          <p:cNvSpPr txBox="1"/>
          <p:nvPr/>
        </p:nvSpPr>
        <p:spPr>
          <a:xfrm>
            <a:off x="8275320" y="4160520"/>
            <a:ext cx="3154680" cy="1371600"/>
          </a:xfrm>
          <a:prstGeom prst="rect">
            <a:avLst/>
          </a:prstGeom>
          <a:noFill/>
          <a:ln/>
        </p:spPr>
        <p:txBody>
          <a:bodyPr wrap="square" lIns="0" tIns="0" rIns="0" bIns="0" rtlCol="0" anchor="t"/>
          <a:lstStyle/>
          <a:p>
            <a:pPr marL="0" indent="0">
              <a:buNone/>
            </a:pPr>
            <a:r>
              <a:rPr lang="en-US" sz="1350" b="1" dirty="0">
                <a:solidFill>
                  <a:srgbClr val="1E2A44"/>
                </a:solidFill>
                <a:latin typeface="Calibri" pitchFamily="34" charset="0"/>
                <a:ea typeface="Calibri" pitchFamily="34" charset="-122"/>
                <a:cs typeface="Calibri" pitchFamily="34" charset="-120"/>
              </a:rPr>
              <a:t>Las etiquetas se pisan. ¿Qué paquete y función ayudan?</a:t>
            </a:r>
            <a:endParaRPr lang="en-US" sz="1350" dirty="0"/>
          </a:p>
        </p:txBody>
      </p:sp>
      <p:sp>
        <p:nvSpPr>
          <p:cNvPr id="28" name="Text 25"/>
          <p:cNvSpPr txBox="1"/>
          <p:nvPr/>
        </p:nvSpPr>
        <p:spPr>
          <a:xfrm>
            <a:off x="548640" y="5897880"/>
            <a:ext cx="11091672" cy="320040"/>
          </a:xfrm>
          <a:prstGeom prst="rect">
            <a:avLst/>
          </a:prstGeom>
          <a:noFill/>
          <a:ln/>
        </p:spPr>
        <p:txBody>
          <a:bodyPr wrap="square" lIns="0" tIns="0" rIns="0" bIns="0" rtlCol="0" anchor="ctr"/>
          <a:lstStyle/>
          <a:p>
            <a:pPr marL="0" indent="0" algn="ctr">
              <a:buNone/>
            </a:pPr>
            <a:r>
              <a:rPr lang="en-US" sz="1200" i="1" dirty="0">
                <a:solidFill>
                  <a:srgbClr val="5B6B7F"/>
                </a:solidFill>
                <a:latin typeface="Calibri" pitchFamily="34" charset="0"/>
                <a:ea typeface="Calibri" pitchFamily="34" charset="-122"/>
                <a:cs typeface="Calibri" pitchFamily="34" charset="-120"/>
              </a:rPr>
              <a:t>Responde por el chat</a:t>
            </a:r>
            <a:endParaRPr lang="en-US" sz="12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2331720"/>
            <a:ext cx="73152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PARTE 2</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Combinar gráficos</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rgbClr val="C9DDEC"/>
                </a:solidFill>
                <a:latin typeface="Calibri" pitchFamily="34" charset="0"/>
                <a:ea typeface="Calibri" pitchFamily="34" charset="-122"/>
                <a:cs typeface="Calibri" pitchFamily="34" charset="-120"/>
              </a:rPr>
              <a:t>Varias figuras, una sola figura</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marL="0" indent="0">
              <a:buNone/>
            </a:pPr>
            <a:r>
              <a:rPr lang="en-US" sz="1300" dirty="0">
                <a:solidFill>
                  <a:srgbClr val="9DB8CE"/>
                </a:solidFill>
                <a:latin typeface="Calibri" pitchFamily="34" charset="0"/>
                <a:ea typeface="Calibri" pitchFamily="34" charset="-122"/>
                <a:cs typeface="Calibri" pitchFamily="34" charset="-120"/>
              </a:rPr>
              <a:t>10 minutos</a:t>
            </a:r>
            <a:endParaRPr lang="en-US" sz="13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COMBINAR GRÁFICOS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¿Facetas o patchwork?</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19</a:t>
            </a:r>
            <a:endParaRPr lang="en-US" sz="800" dirty="0"/>
          </a:p>
        </p:txBody>
      </p:sp>
      <p:graphicFrame>
        <p:nvGraphicFramePr>
          <p:cNvPr id="20"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91672" cy="914400"/>
        </p:xfrm>
        <a:graphic>
          <a:graphicData uri="http://schemas.openxmlformats.org/drawingml/2006/table">
            <a:tbl>
              <a:tblPr/>
              <a:tblGrid>
                <a:gridCol w="2103120">
                  <a:extLst>
                    <a:ext uri="{9D8B030D-6E8A-4147-A177-3AD203B41FA5}">
                      <a16:colId xmlns:a16="http://schemas.microsoft.com/office/drawing/2014/main" val="20000"/>
                    </a:ext>
                  </a:extLst>
                </a:gridCol>
                <a:gridCol w="4480560">
                  <a:extLst>
                    <a:ext uri="{9D8B030D-6E8A-4147-A177-3AD203B41FA5}">
                      <a16:colId xmlns:a16="http://schemas.microsoft.com/office/drawing/2014/main" val="20001"/>
                    </a:ext>
                  </a:extLst>
                </a:gridCol>
                <a:gridCol w="4507992">
                  <a:extLst>
                    <a:ext uri="{9D8B030D-6E8A-4147-A177-3AD203B41FA5}">
                      <a16:colId xmlns:a16="http://schemas.microsoft.com/office/drawing/2014/main" val="20002"/>
                    </a:ext>
                  </a:extLst>
                </a:gridCol>
              </a:tblGrid>
              <a:tr h="457200">
                <a:tc>
                  <a:txBody>
                    <a:bodyPr/>
                    <a:lstStyle/>
                    <a:p>
                      <a:pPr marL="0" indent="0" algn="l">
                        <a:buNone/>
                      </a:pP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facet_wrap() / facet_grid()</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300" b="1" dirty="0">
                          <a:solidFill>
                            <a:srgbClr val="FFFFFF"/>
                          </a:solidFill>
                          <a:latin typeface="Calibri" pitchFamily="34" charset="0"/>
                          <a:ea typeface="Calibri" pitchFamily="34" charset="-122"/>
                          <a:cs typeface="Calibri" pitchFamily="34" charset="-120"/>
                        </a:rPr>
                        <a:t>patchwork</a:t>
                      </a:r>
                      <a:endParaRPr lang="en-US" sz="13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57200">
                <a:tc>
                  <a:txBody>
                    <a:bodyPr/>
                    <a:lstStyle/>
                    <a:p>
                      <a:pPr marL="0" indent="0" algn="l">
                        <a:buNone/>
                      </a:pPr>
                      <a:r>
                        <a:rPr lang="en-US" sz="1250" b="1" dirty="0">
                          <a:solidFill>
                            <a:srgbClr val="065A82"/>
                          </a:solidFill>
                          <a:latin typeface="Calibri" pitchFamily="34" charset="0"/>
                          <a:ea typeface="Calibri" pitchFamily="34" charset="-122"/>
                          <a:cs typeface="Calibri" pitchFamily="34" charset="-120"/>
                        </a:rPr>
                        <a:t>Qué hace</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Divide UN gráfico según una variable</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Combina gráficos DISTINTOS en una figura</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57200">
                <a:tc>
                  <a:txBody>
                    <a:bodyPr/>
                    <a:lstStyle/>
                    <a:p>
                      <a:pPr marL="0" indent="0" algn="l">
                        <a:buNone/>
                      </a:pPr>
                      <a:r>
                        <a:rPr lang="en-US" sz="1250" b="1" dirty="0">
                          <a:solidFill>
                            <a:srgbClr val="065A82"/>
                          </a:solidFill>
                          <a:latin typeface="Calibri" pitchFamily="34" charset="0"/>
                          <a:ea typeface="Calibri" pitchFamily="34" charset="-122"/>
                          <a:cs typeface="Calibri" pitchFamily="34" charset="-120"/>
                        </a:rPr>
                        <a:t>Datos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La misma tabla</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Pueden ser tablas diferentes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457200">
                <a:tc>
                  <a:txBody>
                    <a:bodyPr/>
                    <a:lstStyle/>
                    <a:p>
                      <a:pPr marL="0" indent="0" algn="l">
                        <a:buNone/>
                      </a:pPr>
                      <a:r>
                        <a:rPr lang="en-US" sz="1250" b="1" dirty="0">
                          <a:solidFill>
                            <a:srgbClr val="065A82"/>
                          </a:solidFill>
                          <a:latin typeface="Calibri" pitchFamily="34" charset="0"/>
                          <a:ea typeface="Calibri" pitchFamily="34" charset="-122"/>
                          <a:cs typeface="Calibri" pitchFamily="34" charset="-120"/>
                        </a:rPr>
                        <a:t>Tipo de gráfico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El mismo geom en todos los paneles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Líneas, barras, puntos… mezclados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57200">
                <a:tc>
                  <a:txBody>
                    <a:bodyPr/>
                    <a:lstStyle/>
                    <a:p>
                      <a:pPr marL="0" indent="0" algn="l">
                        <a:buNone/>
                      </a:pPr>
                      <a:r>
                        <a:rPr lang="en-US" sz="1250" b="1" dirty="0">
                          <a:solidFill>
                            <a:srgbClr val="065A82"/>
                          </a:solidFill>
                          <a:latin typeface="Calibri" pitchFamily="34" charset="0"/>
                          <a:ea typeface="Calibri" pitchFamily="34" charset="-122"/>
                          <a:cs typeface="Calibri" pitchFamily="34" charset="-120"/>
                        </a:rPr>
                        <a:t>Escalas</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Compartidas (o libres con scales =)</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250" dirty="0">
                          <a:solidFill>
                            <a:srgbClr val="1E2A44"/>
                          </a:solidFill>
                          <a:latin typeface="Calibri" pitchFamily="34" charset="0"/>
                          <a:ea typeface="Calibri" pitchFamily="34" charset="-122"/>
                          <a:cs typeface="Calibri" pitchFamily="34" charset="-120"/>
                        </a:rPr>
                        <a:t>Independientes en cada gráfico</a:t>
                      </a:r>
                      <a:endParaRPr lang="en-US" sz="12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bl>
          </a:graphicData>
        </a:graphic>
      </p:graphicFrame>
      <p:sp>
        <p:nvSpPr>
          <p:cNvPr id="8" name="Shape 4"/>
          <p:cNvSpPr/>
          <p:nvPr/>
        </p:nvSpPr>
        <p:spPr>
          <a:xfrm>
            <a:off x="548640" y="3913632"/>
            <a:ext cx="7991856" cy="2272700"/>
          </a:xfrm>
          <a:prstGeom prst="roundRect">
            <a:avLst>
              <a:gd name="adj" fmla="val 201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9" name="Image 0" descr="/home/claude/s3/figs/f11_tres.png"/>
          <p:cNvPicPr>
            <a:picLocks noChangeAspect="1"/>
          </p:cNvPicPr>
          <p:nvPr/>
        </p:nvPicPr>
        <p:blipFill>
          <a:blip r:embed="rId3"/>
          <a:stretch>
            <a:fillRect/>
          </a:stretch>
        </p:blipFill>
        <p:spPr>
          <a:xfrm>
            <a:off x="612648" y="3977640"/>
            <a:ext cx="7863840" cy="2144684"/>
          </a:xfrm>
          <a:prstGeom prst="rect">
            <a:avLst/>
          </a:prstGeom>
        </p:spPr>
      </p:pic>
      <p:sp>
        <p:nvSpPr>
          <p:cNvPr id="10" name="Shape 5"/>
          <p:cNvSpPr/>
          <p:nvPr/>
        </p:nvSpPr>
        <p:spPr>
          <a:xfrm>
            <a:off x="8778240" y="3977640"/>
            <a:ext cx="2862072" cy="2144684"/>
          </a:xfrm>
          <a:prstGeom prst="rect">
            <a:avLst/>
          </a:prstGeom>
          <a:solidFill>
            <a:srgbClr val="E4EEF2"/>
          </a:solidFill>
          <a:ln w="12700">
            <a:solidFill>
              <a:srgbClr val="E4EEF2"/>
            </a:solidFill>
            <a:prstDash val="solid"/>
          </a:ln>
        </p:spPr>
        <p:txBody>
          <a:bodyPr/>
          <a:lstStyle/>
          <a:p>
            <a:endParaRPr lang="es-CL"/>
          </a:p>
        </p:txBody>
      </p:sp>
      <p:sp>
        <p:nvSpPr>
          <p:cNvPr id="11" name="Shape 6"/>
          <p:cNvSpPr/>
          <p:nvPr/>
        </p:nvSpPr>
        <p:spPr>
          <a:xfrm>
            <a:off x="8778240" y="3977640"/>
            <a:ext cx="64008" cy="2144684"/>
          </a:xfrm>
          <a:prstGeom prst="rect">
            <a:avLst/>
          </a:prstGeom>
          <a:solidFill>
            <a:srgbClr val="1C7293"/>
          </a:solidFill>
          <a:ln w="12700">
            <a:solidFill>
              <a:srgbClr val="1C7293"/>
            </a:solidFill>
            <a:prstDash val="solid"/>
          </a:ln>
        </p:spPr>
        <p:txBody>
          <a:bodyPr/>
          <a:lstStyle/>
          <a:p>
            <a:endParaRPr lang="es-CL"/>
          </a:p>
        </p:txBody>
      </p:sp>
      <p:sp>
        <p:nvSpPr>
          <p:cNvPr id="12" name="Text 7"/>
          <p:cNvSpPr txBox="1"/>
          <p:nvPr/>
        </p:nvSpPr>
        <p:spPr>
          <a:xfrm>
            <a:off x="8979408" y="3977640"/>
            <a:ext cx="2542032" cy="2144684"/>
          </a:xfrm>
          <a:prstGeom prst="rect">
            <a:avLst/>
          </a:prstGeom>
          <a:noFill/>
          <a:ln/>
        </p:spPr>
        <p:txBody>
          <a:bodyPr wrap="square" lIns="0" tIns="0" rIns="0" bIns="0" rtlCol="0" anchor="ctr"/>
          <a:lstStyle/>
          <a:p>
            <a:pPr marL="0" indent="0">
              <a:buNone/>
            </a:pPr>
            <a:r>
              <a:rPr lang="en-US" sz="1250" b="1" dirty="0">
                <a:solidFill>
                  <a:srgbClr val="1E2A44"/>
                </a:solidFill>
                <a:latin typeface="Calibri" pitchFamily="34" charset="0"/>
                <a:ea typeface="Calibri" pitchFamily="34" charset="-122"/>
                <a:cs typeface="Calibri" pitchFamily="34" charset="-120"/>
              </a:rPr>
              <a:t>¿Es el mismo gráfico repetido por grupos? Facetas.</a:t>
            </a:r>
            <a:endParaRPr lang="en-US" sz="1250" dirty="0"/>
          </a:p>
          <a:p>
            <a:pPr marL="0" indent="0">
              <a:buNone/>
            </a:pPr>
            <a:r>
              <a:rPr lang="en-US" sz="1250" b="1" dirty="0">
                <a:solidFill>
                  <a:srgbClr val="1E2A44"/>
                </a:solidFill>
                <a:latin typeface="Calibri" pitchFamily="34" charset="0"/>
                <a:ea typeface="Calibri" pitchFamily="34" charset="-122"/>
                <a:cs typeface="Calibri" pitchFamily="34" charset="-120"/>
              </a:rPr>
              <a:t>¿Son gráficos distintos que cuentan una historia? Patchwork.</a:t>
            </a:r>
            <a:endParaRPr lang="en-US" sz="12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COMBINAR GRÁFICOS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patchwork: sumar, juntar y apilar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20</a:t>
            </a:r>
            <a:endParaRPr lang="en-US" sz="800" dirty="0"/>
          </a:p>
        </p:txBody>
      </p:sp>
      <p:sp>
        <p:nvSpPr>
          <p:cNvPr id="7" name="Shape 4"/>
          <p:cNvSpPr/>
          <p:nvPr/>
        </p:nvSpPr>
        <p:spPr>
          <a:xfrm>
            <a:off x="548640" y="1463040"/>
            <a:ext cx="4937760" cy="1663446"/>
          </a:xfrm>
          <a:prstGeom prst="roundRect">
            <a:avLst>
              <a:gd name="adj" fmla="val 3298"/>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4572000" cy="1352550"/>
          </a:xfrm>
          <a:prstGeom prst="rect">
            <a:avLst/>
          </a:prstGeom>
          <a:noFill/>
          <a:ln/>
        </p:spPr>
        <p:txBody>
          <a:bodyPr wrap="square" lIns="0" tIns="0" rIns="0" bIns="0" rtlCol="0" anchor="t"/>
          <a:lstStyle/>
          <a:p>
            <a:pPr marL="0" indent="0">
              <a:lnSpc>
                <a:spcPts val="1775"/>
              </a:lnSpc>
              <a:buNone/>
            </a:pPr>
            <a:r>
              <a:rPr lang="en-US" sz="1250" dirty="0">
                <a:solidFill>
                  <a:srgbClr val="7DD3FC"/>
                </a:solidFill>
                <a:latin typeface="Courier New" pitchFamily="34" charset="0"/>
                <a:ea typeface="Courier New" pitchFamily="34" charset="-122"/>
                <a:cs typeface="Courier New" pitchFamily="34" charset="-120"/>
              </a:rPr>
              <a:t>library</a:t>
            </a:r>
            <a:r>
              <a:rPr lang="en-US" sz="1250" dirty="0">
                <a:solidFill>
                  <a:srgbClr val="E6EDF7"/>
                </a:solidFill>
                <a:latin typeface="Courier New" pitchFamily="34" charset="0"/>
                <a:ea typeface="Courier New" pitchFamily="34" charset="-122"/>
                <a:cs typeface="Courier New" pitchFamily="34" charset="-120"/>
              </a:rPr>
              <a:t>(patchwork)</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pa + pb            </a:t>
            </a:r>
            <a:r>
              <a:rPr lang="en-US" sz="1250" i="1" dirty="0">
                <a:solidFill>
                  <a:srgbClr val="8196BC"/>
                </a:solidFill>
                <a:latin typeface="Courier New" pitchFamily="34" charset="0"/>
                <a:ea typeface="Courier New" pitchFamily="34" charset="-122"/>
                <a:cs typeface="Courier New" pitchFamily="34" charset="-120"/>
              </a:rPr>
              <a:t># cuadrícula automática</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pa | pb            </a:t>
            </a:r>
            <a:r>
              <a:rPr lang="en-US" sz="1250" i="1" dirty="0">
                <a:solidFill>
                  <a:srgbClr val="8196BC"/>
                </a:solidFill>
                <a:latin typeface="Courier New" pitchFamily="34" charset="0"/>
                <a:ea typeface="Courier New" pitchFamily="34" charset="-122"/>
                <a:cs typeface="Courier New" pitchFamily="34" charset="-120"/>
              </a:rPr>
              <a:t># una al lado de otra</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pa / pb            </a:t>
            </a:r>
            <a:r>
              <a:rPr lang="en-US" sz="1250" i="1" dirty="0">
                <a:solidFill>
                  <a:srgbClr val="8196BC"/>
                </a:solidFill>
                <a:latin typeface="Courier New" pitchFamily="34" charset="0"/>
                <a:ea typeface="Courier New" pitchFamily="34" charset="-122"/>
                <a:cs typeface="Courier New" pitchFamily="34" charset="-120"/>
              </a:rPr>
              <a:t># una sobre otra</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(pa | pb) / pc     </a:t>
            </a:r>
            <a:r>
              <a:rPr lang="en-US" sz="1250" i="1" dirty="0">
                <a:solidFill>
                  <a:srgbClr val="8196BC"/>
                </a:solidFill>
                <a:latin typeface="Courier New" pitchFamily="34" charset="0"/>
                <a:ea typeface="Courier New" pitchFamily="34" charset="-122"/>
                <a:cs typeface="Courier New" pitchFamily="34" charset="-120"/>
              </a:rPr>
              <a:t># A y B arriba, C abajo</a:t>
            </a:r>
            <a:endParaRPr lang="en-US" sz="1250" dirty="0"/>
          </a:p>
        </p:txBody>
      </p:sp>
      <p:sp>
        <p:nvSpPr>
          <p:cNvPr id="9" name="Text 6"/>
          <p:cNvSpPr txBox="1"/>
          <p:nvPr/>
        </p:nvSpPr>
        <p:spPr>
          <a:xfrm>
            <a:off x="548640" y="3446526"/>
            <a:ext cx="4572000" cy="228600"/>
          </a:xfrm>
          <a:prstGeom prst="rect">
            <a:avLst/>
          </a:prstGeom>
          <a:noFill/>
          <a:ln/>
        </p:spPr>
        <p:txBody>
          <a:bodyPr wrap="square" lIns="0" tIns="0" rIns="0" bIns="0" rtlCol="0" anchor="t"/>
          <a:lstStyle/>
          <a:p>
            <a:pPr marL="0" indent="0">
              <a:buNone/>
            </a:pPr>
            <a:r>
              <a:rPr lang="en-US" sz="1100" b="1" dirty="0">
                <a:solidFill>
                  <a:srgbClr val="1C7293"/>
                </a:solidFill>
                <a:latin typeface="Courier New" pitchFamily="34" charset="0"/>
                <a:ea typeface="Courier New" pitchFamily="34" charset="-122"/>
                <a:cs typeface="Courier New" pitchFamily="34" charset="-120"/>
              </a:rPr>
              <a:t>(pa | pb) / pc</a:t>
            </a:r>
            <a:endParaRPr lang="en-US" sz="1100" dirty="0"/>
          </a:p>
        </p:txBody>
      </p:sp>
      <p:sp>
        <p:nvSpPr>
          <p:cNvPr id="10" name="Shape 7"/>
          <p:cNvSpPr/>
          <p:nvPr/>
        </p:nvSpPr>
        <p:spPr>
          <a:xfrm>
            <a:off x="548640" y="3766566"/>
            <a:ext cx="2377440" cy="914400"/>
          </a:xfrm>
          <a:prstGeom prst="roundRect">
            <a:avLst>
              <a:gd name="adj" fmla="val 5000"/>
            </a:avLst>
          </a:prstGeom>
          <a:solidFill>
            <a:srgbClr val="065A82"/>
          </a:solidFill>
          <a:ln w="12700">
            <a:solidFill>
              <a:srgbClr val="FFFFFF"/>
            </a:solidFill>
            <a:prstDash val="solid"/>
          </a:ln>
        </p:spPr>
        <p:txBody>
          <a:bodyPr/>
          <a:lstStyle/>
          <a:p>
            <a:endParaRPr lang="es-CL"/>
          </a:p>
        </p:txBody>
      </p:sp>
      <p:sp>
        <p:nvSpPr>
          <p:cNvPr id="11" name="Text 8"/>
          <p:cNvSpPr txBox="1"/>
          <p:nvPr/>
        </p:nvSpPr>
        <p:spPr>
          <a:xfrm>
            <a:off x="548640" y="3766566"/>
            <a:ext cx="237744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A</a:t>
            </a:r>
            <a:endParaRPr lang="en-US" sz="2600" dirty="0"/>
          </a:p>
        </p:txBody>
      </p:sp>
      <p:sp>
        <p:nvSpPr>
          <p:cNvPr id="12" name="Shape 9"/>
          <p:cNvSpPr/>
          <p:nvPr/>
        </p:nvSpPr>
        <p:spPr>
          <a:xfrm>
            <a:off x="3108960" y="3766566"/>
            <a:ext cx="2377440" cy="914400"/>
          </a:xfrm>
          <a:prstGeom prst="roundRect">
            <a:avLst>
              <a:gd name="adj" fmla="val 5000"/>
            </a:avLst>
          </a:prstGeom>
          <a:solidFill>
            <a:srgbClr val="065A82"/>
          </a:solidFill>
          <a:ln w="12700">
            <a:solidFill>
              <a:srgbClr val="FFFFFF"/>
            </a:solidFill>
            <a:prstDash val="solid"/>
          </a:ln>
        </p:spPr>
        <p:txBody>
          <a:bodyPr/>
          <a:lstStyle/>
          <a:p>
            <a:endParaRPr lang="es-CL"/>
          </a:p>
        </p:txBody>
      </p:sp>
      <p:sp>
        <p:nvSpPr>
          <p:cNvPr id="13" name="Text 10"/>
          <p:cNvSpPr txBox="1"/>
          <p:nvPr/>
        </p:nvSpPr>
        <p:spPr>
          <a:xfrm>
            <a:off x="3108960" y="3766566"/>
            <a:ext cx="237744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B</a:t>
            </a:r>
            <a:endParaRPr lang="en-US" sz="2600" dirty="0"/>
          </a:p>
        </p:txBody>
      </p:sp>
      <p:sp>
        <p:nvSpPr>
          <p:cNvPr id="14" name="Shape 11"/>
          <p:cNvSpPr/>
          <p:nvPr/>
        </p:nvSpPr>
        <p:spPr>
          <a:xfrm>
            <a:off x="548640" y="4772406"/>
            <a:ext cx="4937760" cy="914400"/>
          </a:xfrm>
          <a:prstGeom prst="roundRect">
            <a:avLst>
              <a:gd name="adj" fmla="val 5000"/>
            </a:avLst>
          </a:prstGeom>
          <a:solidFill>
            <a:srgbClr val="1C7293"/>
          </a:solidFill>
          <a:ln w="12700">
            <a:solidFill>
              <a:srgbClr val="FFFFFF"/>
            </a:solidFill>
            <a:prstDash val="solid"/>
          </a:ln>
        </p:spPr>
        <p:txBody>
          <a:bodyPr/>
          <a:lstStyle/>
          <a:p>
            <a:endParaRPr lang="es-CL"/>
          </a:p>
        </p:txBody>
      </p:sp>
      <p:sp>
        <p:nvSpPr>
          <p:cNvPr id="15" name="Text 12"/>
          <p:cNvSpPr txBox="1"/>
          <p:nvPr/>
        </p:nvSpPr>
        <p:spPr>
          <a:xfrm>
            <a:off x="548640" y="4772406"/>
            <a:ext cx="4937760" cy="914400"/>
          </a:xfrm>
          <a:prstGeom prst="rect">
            <a:avLst/>
          </a:prstGeom>
          <a:noFill/>
          <a:ln/>
        </p:spPr>
        <p:txBody>
          <a:bodyPr wrap="square" lIns="0" tIns="0" rIns="0" bIns="0" rtlCol="0" anchor="ctr"/>
          <a:lstStyle/>
          <a:p>
            <a:pPr marL="0" indent="0" algn="ctr">
              <a:buNone/>
            </a:pPr>
            <a:r>
              <a:rPr lang="en-US" sz="2600" b="1" dirty="0">
                <a:solidFill>
                  <a:srgbClr val="FFFFFF"/>
                </a:solidFill>
                <a:latin typeface="Cambria" pitchFamily="34" charset="0"/>
                <a:ea typeface="Cambria" pitchFamily="34" charset="-122"/>
                <a:cs typeface="Cambria" pitchFamily="34" charset="-120"/>
              </a:rPr>
              <a:t>C</a:t>
            </a:r>
            <a:endParaRPr lang="en-US" sz="2600" dirty="0"/>
          </a:p>
        </p:txBody>
      </p:sp>
      <p:sp>
        <p:nvSpPr>
          <p:cNvPr id="16" name="Shape 13"/>
          <p:cNvSpPr/>
          <p:nvPr/>
        </p:nvSpPr>
        <p:spPr>
          <a:xfrm>
            <a:off x="5879592" y="1399032"/>
            <a:ext cx="5751576" cy="3833595"/>
          </a:xfrm>
          <a:prstGeom prst="roundRect">
            <a:avLst>
              <a:gd name="adj" fmla="val 119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7" name="Image 0" descr="/home/claude/s3/figs/f11_patchwork.png"/>
          <p:cNvPicPr>
            <a:picLocks noChangeAspect="1"/>
          </p:cNvPicPr>
          <p:nvPr/>
        </p:nvPicPr>
        <p:blipFill>
          <a:blip r:embed="rId3"/>
          <a:stretch>
            <a:fillRect/>
          </a:stretch>
        </p:blipFill>
        <p:spPr>
          <a:xfrm>
            <a:off x="5943600" y="1463040"/>
            <a:ext cx="5623560" cy="3705579"/>
          </a:xfrm>
          <a:prstGeom prst="rect">
            <a:avLst/>
          </a:prstGeom>
        </p:spPr>
      </p:pic>
      <p:sp>
        <p:nvSpPr>
          <p:cNvPr id="18" name="Text 14"/>
          <p:cNvSpPr txBox="1"/>
          <p:nvPr/>
        </p:nvSpPr>
        <p:spPr>
          <a:xfrm>
            <a:off x="5943600" y="5440680"/>
            <a:ext cx="5669280" cy="365760"/>
          </a:xfrm>
          <a:prstGeom prst="rect">
            <a:avLst/>
          </a:prstGeom>
          <a:noFill/>
          <a:ln/>
        </p:spPr>
        <p:txBody>
          <a:bodyPr wrap="square" lIns="0" tIns="0" rIns="0" bIns="0" rtlCol="0" anchor="t"/>
          <a:lstStyle/>
          <a:p>
            <a:pPr marL="0" indent="0">
              <a:buNone/>
            </a:pPr>
            <a:r>
              <a:rPr lang="en-US" sz="1250" i="1" dirty="0">
                <a:solidFill>
                  <a:srgbClr val="5B6B7F"/>
                </a:solidFill>
                <a:latin typeface="Calibri" pitchFamily="34" charset="0"/>
                <a:ea typeface="Calibri" pitchFamily="34" charset="-122"/>
                <a:cs typeface="Calibri" pitchFamily="34" charset="-120"/>
              </a:rPr>
              <a:t>Los paréntesis controlan el orden, igual que en matemáticas.</a:t>
            </a:r>
            <a:endParaRPr lang="en-US" sz="12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COMBINAR GRÁFICOS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Control fino: layout, leyendas y etiquetas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21</a:t>
            </a:r>
            <a:endParaRPr lang="en-US" sz="800" dirty="0"/>
          </a:p>
        </p:txBody>
      </p:sp>
      <p:sp>
        <p:nvSpPr>
          <p:cNvPr id="7" name="Shape 4"/>
          <p:cNvSpPr/>
          <p:nvPr/>
        </p:nvSpPr>
        <p:spPr>
          <a:xfrm>
            <a:off x="548640" y="1463040"/>
            <a:ext cx="11091672" cy="1483106"/>
          </a:xfrm>
          <a:prstGeom prst="roundRect">
            <a:avLst>
              <a:gd name="adj" fmla="val 3699"/>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10725912" cy="1172210"/>
          </a:xfrm>
          <a:prstGeom prst="rect">
            <a:avLst/>
          </a:prstGeom>
          <a:noFill/>
          <a:ln/>
        </p:spPr>
        <p:txBody>
          <a:bodyPr wrap="square" lIns="0" tIns="0" rIns="0" bIns="0" rtlCol="0" anchor="t"/>
          <a:lstStyle/>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fig </a:t>
            </a:r>
            <a:r>
              <a:rPr lang="en-US" sz="1300" dirty="0">
                <a:solidFill>
                  <a:srgbClr val="A5D8FF"/>
                </a:solidFill>
                <a:latin typeface="Courier New" pitchFamily="34" charset="0"/>
                <a:ea typeface="Courier New" pitchFamily="34" charset="-122"/>
                <a:cs typeface="Courier New" pitchFamily="34" charset="-120"/>
              </a:rPr>
              <a:t>&lt;-</a:t>
            </a:r>
            <a:r>
              <a:rPr lang="en-US" sz="1300" dirty="0">
                <a:solidFill>
                  <a:srgbClr val="E6EDF7"/>
                </a:solidFill>
                <a:latin typeface="Courier New" pitchFamily="34" charset="0"/>
                <a:ea typeface="Courier New" pitchFamily="34" charset="-122"/>
                <a:cs typeface="Courier New" pitchFamily="34" charset="-120"/>
              </a:rPr>
              <a:t> (pa | pb) / pc +</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plot_layout</a:t>
            </a:r>
            <a:r>
              <a:rPr lang="en-US" sz="1300" dirty="0">
                <a:solidFill>
                  <a:srgbClr val="E6EDF7"/>
                </a:solidFill>
                <a:latin typeface="Courier New" pitchFamily="34" charset="0"/>
                <a:ea typeface="Courier New" pitchFamily="34" charset="-122"/>
                <a:cs typeface="Courier New" pitchFamily="34" charset="-120"/>
              </a:rPr>
              <a:t>(heights = </a:t>
            </a:r>
            <a:r>
              <a:rPr lang="en-US" sz="1300" dirty="0">
                <a:solidFill>
                  <a:srgbClr val="7DD3FC"/>
                </a:solidFill>
                <a:latin typeface="Courier New" pitchFamily="34" charset="0"/>
                <a:ea typeface="Courier New" pitchFamily="34" charset="-122"/>
                <a:cs typeface="Courier New" pitchFamily="34" charset="-120"/>
              </a:rPr>
              <a:t>c</a:t>
            </a:r>
            <a:r>
              <a:rPr lang="en-US" sz="1300" dirty="0">
                <a:solidFill>
                  <a:srgbClr val="E6EDF7"/>
                </a:solidFill>
                <a:latin typeface="Courier New" pitchFamily="34" charset="0"/>
                <a:ea typeface="Courier New" pitchFamily="34" charset="-122"/>
                <a:cs typeface="Courier New" pitchFamily="34" charset="-120"/>
              </a:rPr>
              <a:t>(</a:t>
            </a:r>
            <a:r>
              <a:rPr lang="en-US" sz="1300" dirty="0">
                <a:solidFill>
                  <a:srgbClr val="F2C97D"/>
                </a:solidFill>
                <a:latin typeface="Courier New" pitchFamily="34" charset="0"/>
                <a:ea typeface="Courier New" pitchFamily="34" charset="-122"/>
                <a:cs typeface="Courier New" pitchFamily="34" charset="-120"/>
              </a:rPr>
              <a:t>1.1</a:t>
            </a: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F2C97D"/>
                </a:solidFill>
                <a:latin typeface="Courier New" pitchFamily="34" charset="0"/>
                <a:ea typeface="Courier New" pitchFamily="34" charset="-122"/>
                <a:cs typeface="Courier New" pitchFamily="34" charset="-120"/>
              </a:rPr>
              <a:t>1</a:t>
            </a:r>
            <a:r>
              <a:rPr lang="en-US" sz="1300" dirty="0">
                <a:solidFill>
                  <a:srgbClr val="E6EDF7"/>
                </a:solidFill>
                <a:latin typeface="Courier New" pitchFamily="34" charset="0"/>
                <a:ea typeface="Courier New" pitchFamily="34" charset="-122"/>
                <a:cs typeface="Courier New" pitchFamily="34" charset="-120"/>
              </a:rPr>
              <a:t>), guides = </a:t>
            </a:r>
            <a:r>
              <a:rPr lang="en-US" sz="1300" dirty="0">
                <a:solidFill>
                  <a:srgbClr val="F2C97D"/>
                </a:solidFill>
                <a:latin typeface="Courier New" pitchFamily="34" charset="0"/>
                <a:ea typeface="Courier New" pitchFamily="34" charset="-122"/>
                <a:cs typeface="Courier New" pitchFamily="34" charset="-120"/>
              </a:rPr>
              <a:t>"collect"</a:t>
            </a:r>
            <a:r>
              <a:rPr lang="en-US" sz="1300" dirty="0">
                <a:solidFill>
                  <a:srgbClr val="E6EDF7"/>
                </a:solidFill>
                <a:latin typeface="Courier New" pitchFamily="34" charset="0"/>
                <a:ea typeface="Courier New" pitchFamily="34" charset="-122"/>
                <a:cs typeface="Courier New" pitchFamily="34" charset="-120"/>
              </a:rPr>
              <a:t>) +</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plot_annotation</a:t>
            </a:r>
            <a:r>
              <a:rPr lang="en-US" sz="1300" dirty="0">
                <a:solidFill>
                  <a:srgbClr val="E6EDF7"/>
                </a:solidFill>
                <a:latin typeface="Courier New" pitchFamily="34" charset="0"/>
                <a:ea typeface="Courier New" pitchFamily="34" charset="-122"/>
                <a:cs typeface="Courier New" pitchFamily="34" charset="-120"/>
              </a:rPr>
              <a:t>(tag_levels = </a:t>
            </a:r>
            <a:r>
              <a:rPr lang="en-US" sz="1300" dirty="0">
                <a:solidFill>
                  <a:srgbClr val="F2C97D"/>
                </a:solidFill>
                <a:latin typeface="Courier New" pitchFamily="34" charset="0"/>
                <a:ea typeface="Courier New" pitchFamily="34" charset="-122"/>
                <a:cs typeface="Courier New" pitchFamily="34" charset="-120"/>
              </a:rPr>
              <a:t>"A"</a:t>
            </a:r>
            <a:r>
              <a:rPr lang="en-US" sz="1300" dirty="0">
                <a:solidFill>
                  <a:srgbClr val="E6EDF7"/>
                </a:solidFill>
                <a:latin typeface="Courier New" pitchFamily="34" charset="0"/>
                <a:ea typeface="Courier New" pitchFamily="34" charset="-122"/>
                <a:cs typeface="Courier New" pitchFamily="34" charset="-120"/>
              </a:rPr>
              <a:t>,</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title = </a:t>
            </a:r>
            <a:r>
              <a:rPr lang="en-US" sz="1300" dirty="0">
                <a:solidFill>
                  <a:srgbClr val="F2C97D"/>
                </a:solidFill>
                <a:latin typeface="Courier New" pitchFamily="34" charset="0"/>
                <a:ea typeface="Courier New" pitchFamily="34" charset="-122"/>
                <a:cs typeface="Courier New" pitchFamily="34" charset="-120"/>
              </a:rPr>
              <a:t>"Producción científica del posgrado"</a:t>
            </a:r>
            <a:r>
              <a:rPr lang="en-US" sz="1300" dirty="0">
                <a:solidFill>
                  <a:srgbClr val="E6EDF7"/>
                </a:solidFill>
                <a:latin typeface="Courier New" pitchFamily="34" charset="0"/>
                <a:ea typeface="Courier New" pitchFamily="34" charset="-122"/>
                <a:cs typeface="Courier New" pitchFamily="34" charset="-120"/>
              </a:rPr>
              <a:t>) &amp;</a:t>
            </a:r>
            <a:endParaRPr lang="en-US" sz="1300" dirty="0"/>
          </a:p>
          <a:p>
            <a:pPr marL="0" indent="0">
              <a:lnSpc>
                <a:spcPts val="1846"/>
              </a:lnSpc>
              <a:buNone/>
            </a:pPr>
            <a:r>
              <a:rPr lang="en-US" sz="1300" dirty="0">
                <a:solidFill>
                  <a:srgbClr val="E6EDF7"/>
                </a:solidFill>
                <a:latin typeface="Courier New" pitchFamily="34" charset="0"/>
                <a:ea typeface="Courier New" pitchFamily="34" charset="-122"/>
                <a:cs typeface="Courier New" pitchFamily="34" charset="-120"/>
              </a:rPr>
              <a:t>  </a:t>
            </a:r>
            <a:r>
              <a:rPr lang="en-US" sz="1300" dirty="0">
                <a:solidFill>
                  <a:srgbClr val="7DD3FC"/>
                </a:solidFill>
                <a:latin typeface="Courier New" pitchFamily="34" charset="0"/>
                <a:ea typeface="Courier New" pitchFamily="34" charset="-122"/>
                <a:cs typeface="Courier New" pitchFamily="34" charset="-120"/>
              </a:rPr>
              <a:t>theme_posgrado</a:t>
            </a:r>
            <a:r>
              <a:rPr lang="en-US" sz="1300" dirty="0">
                <a:solidFill>
                  <a:srgbClr val="E6EDF7"/>
                </a:solidFill>
                <a:latin typeface="Courier New" pitchFamily="34" charset="0"/>
                <a:ea typeface="Courier New" pitchFamily="34" charset="-122"/>
                <a:cs typeface="Courier New" pitchFamily="34" charset="-120"/>
              </a:rPr>
              <a:t>()</a:t>
            </a:r>
            <a:endParaRPr lang="en-US" sz="1300" dirty="0"/>
          </a:p>
        </p:txBody>
      </p:sp>
      <p:graphicFrame>
        <p:nvGraphicFramePr>
          <p:cNvPr id="22" name="Table 0"/>
          <p:cNvGraphicFramePr>
            <a:graphicFrameLocks noGrp="1"/>
          </p:cNvGraphicFramePr>
          <p:nvPr>
            <p:extLst>
              <p:ext uri="{D42A27DB-BD31-4B8C-83A1-F6EECF244321}">
                <p14:modId xmlns:p14="http://schemas.microsoft.com/office/powerpoint/2010/main" val="1579011935"/>
              </p:ext>
            </p:extLst>
          </p:nvPr>
        </p:nvGraphicFramePr>
        <p:xfrm>
          <a:off x="548640" y="3266186"/>
          <a:ext cx="6400800" cy="914400"/>
        </p:xfrm>
        <a:graphic>
          <a:graphicData uri="http://schemas.openxmlformats.org/drawingml/2006/table">
            <a:tbl>
              <a:tblPr/>
              <a:tblGrid>
                <a:gridCol w="2743200">
                  <a:extLst>
                    <a:ext uri="{9D8B030D-6E8A-4147-A177-3AD203B41FA5}">
                      <a16:colId xmlns:a16="http://schemas.microsoft.com/office/drawing/2014/main" val="20000"/>
                    </a:ext>
                  </a:extLst>
                </a:gridCol>
                <a:gridCol w="3657600">
                  <a:extLst>
                    <a:ext uri="{9D8B030D-6E8A-4147-A177-3AD203B41FA5}">
                      <a16:colId xmlns:a16="http://schemas.microsoft.com/office/drawing/2014/main" val="20001"/>
                    </a:ext>
                  </a:extLst>
                </a:gridCol>
              </a:tblGrid>
              <a:tr h="384048">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Pieza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Qué controla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plot_layout(heights, widths)</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Proporciones de cada panel</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plot_layout(guides = "collect")</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Junta las leyendas repetidas</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plot_annotation(tag_levels = "A")</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Título general y etiquetas A, B, C</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384048">
                <a:tc>
                  <a:txBody>
                    <a:bodyPr/>
                    <a:lstStyle/>
                    <a:p>
                      <a:pPr marL="0" indent="0" algn="l">
                        <a:buNone/>
                      </a:pPr>
                      <a:r>
                        <a:rPr lang="en-US" sz="1050" dirty="0">
                          <a:solidFill>
                            <a:srgbClr val="065A82"/>
                          </a:solidFill>
                          <a:latin typeface="Courier New" pitchFamily="34" charset="0"/>
                          <a:ea typeface="Courier New" pitchFamily="34" charset="-122"/>
                          <a:cs typeface="Courier New" pitchFamily="34" charset="-120"/>
                        </a:rPr>
                        <a:t>&amp; theme_*()</a:t>
                      </a:r>
                      <a:endParaRPr lang="en-US" sz="105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Aplica el tema a TODOS los paneles</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bl>
          </a:graphicData>
        </a:graphic>
      </p:graphicFrame>
      <p:sp>
        <p:nvSpPr>
          <p:cNvPr id="10" name="Shape 6"/>
          <p:cNvSpPr/>
          <p:nvPr/>
        </p:nvSpPr>
        <p:spPr>
          <a:xfrm>
            <a:off x="7315200" y="3266186"/>
            <a:ext cx="4325112" cy="1920240"/>
          </a:xfrm>
          <a:prstGeom prst="roundRect">
            <a:avLst>
              <a:gd name="adj" fmla="val 3333"/>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1" name="Text 7"/>
          <p:cNvSpPr txBox="1"/>
          <p:nvPr/>
        </p:nvSpPr>
        <p:spPr>
          <a:xfrm>
            <a:off x="7543800" y="3403346"/>
            <a:ext cx="3931920" cy="274320"/>
          </a:xfrm>
          <a:prstGeom prst="rect">
            <a:avLst/>
          </a:prstGeom>
          <a:noFill/>
          <a:ln/>
        </p:spPr>
        <p:txBody>
          <a:bodyPr wrap="square" lIns="0" tIns="0" rIns="0" bIns="0" rtlCol="0" anchor="t"/>
          <a:lstStyle/>
          <a:p>
            <a:pPr marL="0" indent="0">
              <a:buNone/>
            </a:pPr>
            <a:r>
              <a:rPr lang="en-US" sz="1400" b="1" dirty="0">
                <a:solidFill>
                  <a:srgbClr val="B7791F"/>
                </a:solidFill>
                <a:latin typeface="Cambria" pitchFamily="34" charset="0"/>
                <a:ea typeface="Cambria" pitchFamily="34" charset="-122"/>
                <a:cs typeface="Cambria" pitchFamily="34" charset="-120"/>
              </a:rPr>
              <a:t>La diferencia que más confunde</a:t>
            </a:r>
            <a:endParaRPr lang="en-US" sz="1400" dirty="0"/>
          </a:p>
        </p:txBody>
      </p:sp>
      <p:sp>
        <p:nvSpPr>
          <p:cNvPr id="12" name="Text 8"/>
          <p:cNvSpPr txBox="1"/>
          <p:nvPr/>
        </p:nvSpPr>
        <p:spPr>
          <a:xfrm>
            <a:off x="7543800" y="3769106"/>
            <a:ext cx="3931920" cy="731520"/>
          </a:xfrm>
          <a:prstGeom prst="rect">
            <a:avLst/>
          </a:prstGeom>
          <a:noFill/>
          <a:ln/>
        </p:spPr>
        <p:txBody>
          <a:bodyPr wrap="square" lIns="0" tIns="0" rIns="0" bIns="0" rtlCol="0" anchor="t"/>
          <a:lstStyle/>
          <a:p>
            <a:pPr marL="0" indent="0">
              <a:buNone/>
            </a:pPr>
            <a:r>
              <a:rPr lang="en-US" sz="1150" b="1" dirty="0">
                <a:solidFill>
                  <a:srgbClr val="8A5A00"/>
                </a:solidFill>
                <a:latin typeface="Courier New" pitchFamily="34" charset="0"/>
                <a:ea typeface="Courier New" pitchFamily="34" charset="-122"/>
                <a:cs typeface="Courier New" pitchFamily="34" charset="-120"/>
              </a:rPr>
              <a:t>+ theme_bw()   →   solo el último gráfico</a:t>
            </a:r>
            <a:endParaRPr lang="en-US" sz="1150" dirty="0"/>
          </a:p>
          <a:p>
            <a:pPr marL="0" indent="0">
              <a:buNone/>
            </a:pPr>
            <a:r>
              <a:rPr lang="en-US" sz="1150" b="1" dirty="0">
                <a:solidFill>
                  <a:srgbClr val="8A5A00"/>
                </a:solidFill>
                <a:latin typeface="Courier New" pitchFamily="34" charset="0"/>
                <a:ea typeface="Courier New" pitchFamily="34" charset="-122"/>
                <a:cs typeface="Courier New" pitchFamily="34" charset="-120"/>
              </a:rPr>
              <a:t>&amp; theme_bw()   →   todos los gráficos</a:t>
            </a:r>
            <a:endParaRPr lang="en-US" sz="1150" dirty="0"/>
          </a:p>
        </p:txBody>
      </p:sp>
      <p:sp>
        <p:nvSpPr>
          <p:cNvPr id="13" name="Text 9"/>
          <p:cNvSpPr txBox="1"/>
          <p:nvPr/>
        </p:nvSpPr>
        <p:spPr>
          <a:xfrm>
            <a:off x="7543800" y="4363466"/>
            <a:ext cx="3931920" cy="457200"/>
          </a:xfrm>
          <a:prstGeom prst="rect">
            <a:avLst/>
          </a:prstGeom>
          <a:noFill/>
          <a:ln/>
        </p:spPr>
        <p:txBody>
          <a:bodyPr wrap="square" lIns="0" tIns="0" rIns="0" bIns="0" rtlCol="0" anchor="t"/>
          <a:lstStyle/>
          <a:p>
            <a:pPr marL="0" indent="0">
              <a:buNone/>
            </a:pPr>
            <a:r>
              <a:rPr lang="en-US" sz="1200" i="1" dirty="0">
                <a:solidFill>
                  <a:srgbClr val="1E2A44"/>
                </a:solidFill>
                <a:latin typeface="Calibri" pitchFamily="34" charset="0"/>
                <a:ea typeface="Calibri" pitchFamily="34" charset="-122"/>
                <a:cs typeface="Calibri" pitchFamily="34" charset="-120"/>
              </a:rPr>
              <a:t>Si tu figura quedó dispareja, revisa primero esto.</a:t>
            </a:r>
            <a:endParaRPr lang="en-US" sz="12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COMBINAR GRÁFICOS · OPCIONAL</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inset_element: un gráfico dentro de otro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22</a:t>
            </a:r>
            <a:endParaRPr lang="en-US" sz="800" dirty="0"/>
          </a:p>
        </p:txBody>
      </p:sp>
      <p:sp>
        <p:nvSpPr>
          <p:cNvPr id="7" name="Shape 4"/>
          <p:cNvSpPr/>
          <p:nvPr/>
        </p:nvSpPr>
        <p:spPr>
          <a:xfrm>
            <a:off x="548640" y="1399032"/>
            <a:ext cx="6437376" cy="3995043"/>
          </a:xfrm>
          <a:prstGeom prst="roundRect">
            <a:avLst>
              <a:gd name="adj" fmla="val 1144"/>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12_inset.png"/>
          <p:cNvPicPr>
            <a:picLocks noChangeAspect="1"/>
          </p:cNvPicPr>
          <p:nvPr/>
        </p:nvPicPr>
        <p:blipFill>
          <a:blip r:embed="rId3"/>
          <a:stretch>
            <a:fillRect/>
          </a:stretch>
        </p:blipFill>
        <p:spPr>
          <a:xfrm>
            <a:off x="612648" y="1463040"/>
            <a:ext cx="6309360" cy="3867027"/>
          </a:xfrm>
          <a:prstGeom prst="rect">
            <a:avLst/>
          </a:prstGeom>
        </p:spPr>
      </p:pic>
      <p:sp>
        <p:nvSpPr>
          <p:cNvPr id="9" name="Shape 5"/>
          <p:cNvSpPr/>
          <p:nvPr/>
        </p:nvSpPr>
        <p:spPr>
          <a:xfrm>
            <a:off x="7315200" y="1463040"/>
            <a:ext cx="4325112" cy="1212596"/>
          </a:xfrm>
          <a:prstGeom prst="roundRect">
            <a:avLst>
              <a:gd name="adj" fmla="val 4525"/>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498080" y="1591056"/>
            <a:ext cx="3959352" cy="901700"/>
          </a:xfrm>
          <a:prstGeom prst="rect">
            <a:avLst/>
          </a:prstGeom>
          <a:noFill/>
          <a:ln/>
        </p:spPr>
        <p:txBody>
          <a:bodyPr wrap="square" lIns="0" tIns="0" rIns="0" bIns="0" rtlCol="0" anchor="t"/>
          <a:lstStyle/>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pc + </a:t>
            </a:r>
            <a:r>
              <a:rPr lang="en-US" sz="1250" dirty="0">
                <a:solidFill>
                  <a:srgbClr val="7DD3FC"/>
                </a:solidFill>
                <a:latin typeface="Courier New" pitchFamily="34" charset="0"/>
                <a:ea typeface="Courier New" pitchFamily="34" charset="-122"/>
                <a:cs typeface="Courier New" pitchFamily="34" charset="-120"/>
              </a:rPr>
              <a:t>inset_element</a:t>
            </a: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inset,</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left = </a:t>
            </a:r>
            <a:r>
              <a:rPr lang="en-US" sz="1250" dirty="0">
                <a:solidFill>
                  <a:srgbClr val="F2C97D"/>
                </a:solidFill>
                <a:latin typeface="Courier New" pitchFamily="34" charset="0"/>
                <a:ea typeface="Courier New" pitchFamily="34" charset="-122"/>
                <a:cs typeface="Courier New" pitchFamily="34" charset="-120"/>
              </a:rPr>
              <a:t>0.02</a:t>
            </a:r>
            <a:r>
              <a:rPr lang="en-US" sz="1250" dirty="0">
                <a:solidFill>
                  <a:srgbClr val="E6EDF7"/>
                </a:solidFill>
                <a:latin typeface="Courier New" pitchFamily="34" charset="0"/>
                <a:ea typeface="Courier New" pitchFamily="34" charset="-122"/>
                <a:cs typeface="Courier New" pitchFamily="34" charset="-120"/>
              </a:rPr>
              <a:t>, bottom = </a:t>
            </a:r>
            <a:r>
              <a:rPr lang="en-US" sz="1250" dirty="0">
                <a:solidFill>
                  <a:srgbClr val="F2C97D"/>
                </a:solidFill>
                <a:latin typeface="Courier New" pitchFamily="34" charset="0"/>
                <a:ea typeface="Courier New" pitchFamily="34" charset="-122"/>
                <a:cs typeface="Courier New" pitchFamily="34" charset="-120"/>
              </a:rPr>
              <a:t>0.60</a:t>
            </a: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right = </a:t>
            </a:r>
            <a:r>
              <a:rPr lang="en-US" sz="1250" dirty="0">
                <a:solidFill>
                  <a:srgbClr val="F2C97D"/>
                </a:solidFill>
                <a:latin typeface="Courier New" pitchFamily="34" charset="0"/>
                <a:ea typeface="Courier New" pitchFamily="34" charset="-122"/>
                <a:cs typeface="Courier New" pitchFamily="34" charset="-120"/>
              </a:rPr>
              <a:t>0.36</a:t>
            </a:r>
            <a:r>
              <a:rPr lang="en-US" sz="1250" dirty="0">
                <a:solidFill>
                  <a:srgbClr val="E6EDF7"/>
                </a:solidFill>
                <a:latin typeface="Courier New" pitchFamily="34" charset="0"/>
                <a:ea typeface="Courier New" pitchFamily="34" charset="-122"/>
                <a:cs typeface="Courier New" pitchFamily="34" charset="-120"/>
              </a:rPr>
              <a:t>, top = </a:t>
            </a:r>
            <a:r>
              <a:rPr lang="en-US" sz="1250" dirty="0">
                <a:solidFill>
                  <a:srgbClr val="F2C97D"/>
                </a:solidFill>
                <a:latin typeface="Courier New" pitchFamily="34" charset="0"/>
                <a:ea typeface="Courier New" pitchFamily="34" charset="-122"/>
                <a:cs typeface="Courier New" pitchFamily="34" charset="-120"/>
              </a:rPr>
              <a:t>0.97</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1" name="Shape 7"/>
          <p:cNvSpPr/>
          <p:nvPr/>
        </p:nvSpPr>
        <p:spPr>
          <a:xfrm>
            <a:off x="7315200" y="2949956"/>
            <a:ext cx="4325112" cy="1097280"/>
          </a:xfrm>
          <a:prstGeom prst="rect">
            <a:avLst/>
          </a:prstGeom>
          <a:solidFill>
            <a:srgbClr val="E4EEF2"/>
          </a:solidFill>
          <a:ln w="12700">
            <a:solidFill>
              <a:srgbClr val="E4EEF2"/>
            </a:solidFill>
            <a:prstDash val="solid"/>
          </a:ln>
        </p:spPr>
        <p:txBody>
          <a:bodyPr/>
          <a:lstStyle/>
          <a:p>
            <a:endParaRPr lang="es-CL"/>
          </a:p>
        </p:txBody>
      </p:sp>
      <p:sp>
        <p:nvSpPr>
          <p:cNvPr id="12" name="Shape 8"/>
          <p:cNvSpPr/>
          <p:nvPr/>
        </p:nvSpPr>
        <p:spPr>
          <a:xfrm>
            <a:off x="7315200" y="2949956"/>
            <a:ext cx="64008" cy="1097280"/>
          </a:xfrm>
          <a:prstGeom prst="rect">
            <a:avLst/>
          </a:prstGeom>
          <a:solidFill>
            <a:srgbClr val="1C7293"/>
          </a:solidFill>
          <a:ln w="12700">
            <a:solidFill>
              <a:srgbClr val="1C7293"/>
            </a:solidFill>
            <a:prstDash val="solid"/>
          </a:ln>
        </p:spPr>
        <p:txBody>
          <a:bodyPr/>
          <a:lstStyle/>
          <a:p>
            <a:endParaRPr lang="es-CL"/>
          </a:p>
        </p:txBody>
      </p:sp>
      <p:sp>
        <p:nvSpPr>
          <p:cNvPr id="13" name="Text 9"/>
          <p:cNvSpPr txBox="1"/>
          <p:nvPr/>
        </p:nvSpPr>
        <p:spPr>
          <a:xfrm>
            <a:off x="7516368" y="2949956"/>
            <a:ext cx="4005072" cy="1097280"/>
          </a:xfrm>
          <a:prstGeom prst="rect">
            <a:avLst/>
          </a:prstGeom>
          <a:noFill/>
          <a:ln/>
        </p:spPr>
        <p:txBody>
          <a:bodyPr wrap="square" lIns="0" tIns="0" rIns="0" bIns="0" rtlCol="0" anchor="ctr"/>
          <a:lstStyle/>
          <a:p>
            <a:pPr marL="0" indent="0">
              <a:buNone/>
            </a:pPr>
            <a:r>
              <a:rPr lang="en-US" sz="1300" i="1" dirty="0">
                <a:solidFill>
                  <a:srgbClr val="1E2A44"/>
                </a:solidFill>
                <a:latin typeface="Calibri" pitchFamily="34" charset="0"/>
                <a:ea typeface="Calibri" pitchFamily="34" charset="-122"/>
                <a:cs typeface="Calibri" pitchFamily="34" charset="-120"/>
              </a:rPr>
              <a:t>Las coordenadas van de 0 a 1 dentro del panel. Úsalo con moderación.</a:t>
            </a:r>
            <a:endParaRPr lang="en-US" sz="13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2 · COMBINAR GRÁFICOS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Exportar: tamaño, resolución y formato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23</a:t>
            </a:r>
            <a:endParaRPr lang="en-US" sz="800" dirty="0"/>
          </a:p>
        </p:txBody>
      </p:sp>
      <p:sp>
        <p:nvSpPr>
          <p:cNvPr id="7" name="Shape 4"/>
          <p:cNvSpPr/>
          <p:nvPr/>
        </p:nvSpPr>
        <p:spPr>
          <a:xfrm>
            <a:off x="548640" y="1463040"/>
            <a:ext cx="6675120" cy="1609344"/>
          </a:xfrm>
          <a:prstGeom prst="roundRect">
            <a:avLst>
              <a:gd name="adj" fmla="val 3409"/>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309360" cy="1298448"/>
          </a:xfrm>
          <a:prstGeom prst="rect">
            <a:avLst/>
          </a:prstGeom>
          <a:noFill/>
          <a:ln/>
        </p:spPr>
        <p:txBody>
          <a:bodyPr wrap="square" lIns="0" tIns="0" rIns="0" bIns="0" rtlCol="0" anchor="t"/>
          <a:lstStyle/>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ggsave</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"outputs/figuras/fig1.png"</a:t>
            </a:r>
            <a:r>
              <a:rPr lang="en-US" sz="1200" dirty="0">
                <a:solidFill>
                  <a:srgbClr val="E6EDF7"/>
                </a:solidFill>
                <a:latin typeface="Courier New" pitchFamily="34" charset="0"/>
                <a:ea typeface="Courier New" pitchFamily="34" charset="-122"/>
                <a:cs typeface="Courier New" pitchFamily="34" charset="-120"/>
              </a:rPr>
              <a:t>, fig,</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width = </a:t>
            </a:r>
            <a:r>
              <a:rPr lang="en-US" sz="1200" dirty="0">
                <a:solidFill>
                  <a:srgbClr val="F2C97D"/>
                </a:solidFill>
                <a:latin typeface="Courier New" pitchFamily="34" charset="0"/>
                <a:ea typeface="Courier New" pitchFamily="34" charset="-122"/>
                <a:cs typeface="Courier New" pitchFamily="34" charset="-120"/>
              </a:rPr>
              <a:t>18</a:t>
            </a:r>
            <a:r>
              <a:rPr lang="en-US" sz="1200" dirty="0">
                <a:solidFill>
                  <a:srgbClr val="E6EDF7"/>
                </a:solidFill>
                <a:latin typeface="Courier New" pitchFamily="34" charset="0"/>
                <a:ea typeface="Courier New" pitchFamily="34" charset="-122"/>
                <a:cs typeface="Courier New" pitchFamily="34" charset="-120"/>
              </a:rPr>
              <a:t>, height = </a:t>
            </a:r>
            <a:r>
              <a:rPr lang="en-US" sz="1200" dirty="0">
                <a:solidFill>
                  <a:srgbClr val="F2C97D"/>
                </a:solidFill>
                <a:latin typeface="Courier New" pitchFamily="34" charset="0"/>
                <a:ea typeface="Courier New" pitchFamily="34" charset="-122"/>
                <a:cs typeface="Courier New" pitchFamily="34" charset="-120"/>
              </a:rPr>
              <a:t>12</a:t>
            </a:r>
            <a:r>
              <a:rPr lang="en-US" sz="1200" dirty="0">
                <a:solidFill>
                  <a:srgbClr val="E6EDF7"/>
                </a:solidFill>
                <a:latin typeface="Courier New" pitchFamily="34" charset="0"/>
                <a:ea typeface="Courier New" pitchFamily="34" charset="-122"/>
                <a:cs typeface="Courier New" pitchFamily="34" charset="-120"/>
              </a:rPr>
              <a:t>, units = </a:t>
            </a:r>
            <a:r>
              <a:rPr lang="en-US" sz="1200" dirty="0">
                <a:solidFill>
                  <a:srgbClr val="F2C97D"/>
                </a:solidFill>
                <a:latin typeface="Courier New" pitchFamily="34" charset="0"/>
                <a:ea typeface="Courier New" pitchFamily="34" charset="-122"/>
                <a:cs typeface="Courier New" pitchFamily="34" charset="-120"/>
              </a:rPr>
              <a:t>"cm"</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dpi = </a:t>
            </a:r>
            <a:r>
              <a:rPr lang="en-US" sz="1200" dirty="0">
                <a:solidFill>
                  <a:srgbClr val="F2C97D"/>
                </a:solidFill>
                <a:latin typeface="Courier New" pitchFamily="34" charset="0"/>
                <a:ea typeface="Courier New" pitchFamily="34" charset="-122"/>
                <a:cs typeface="Courier New" pitchFamily="34" charset="-120"/>
              </a:rPr>
              <a:t>300</a:t>
            </a:r>
            <a:r>
              <a:rPr lang="en-US" sz="1200" dirty="0">
                <a:solidFill>
                  <a:srgbClr val="E6EDF7"/>
                </a:solidFill>
                <a:latin typeface="Courier New" pitchFamily="34" charset="0"/>
                <a:ea typeface="Courier New" pitchFamily="34" charset="-122"/>
                <a:cs typeface="Courier New" pitchFamily="34" charset="-120"/>
              </a:rPr>
              <a:t>, device = ragg::agg_png)</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7DD3FC"/>
                </a:solidFill>
                <a:latin typeface="Courier New" pitchFamily="34" charset="0"/>
                <a:ea typeface="Courier New" pitchFamily="34" charset="-122"/>
                <a:cs typeface="Courier New" pitchFamily="34" charset="-120"/>
              </a:rPr>
              <a:t>ggsave</a:t>
            </a:r>
            <a:r>
              <a:rPr lang="en-US" sz="1200" dirty="0">
                <a:solidFill>
                  <a:srgbClr val="E6EDF7"/>
                </a:solidFill>
                <a:latin typeface="Courier New" pitchFamily="34" charset="0"/>
                <a:ea typeface="Courier New" pitchFamily="34" charset="-122"/>
                <a:cs typeface="Courier New" pitchFamily="34" charset="-120"/>
              </a:rPr>
              <a:t>(</a:t>
            </a:r>
            <a:r>
              <a:rPr lang="en-US" sz="1200" dirty="0">
                <a:solidFill>
                  <a:srgbClr val="F2C97D"/>
                </a:solidFill>
                <a:latin typeface="Courier New" pitchFamily="34" charset="0"/>
                <a:ea typeface="Courier New" pitchFamily="34" charset="-122"/>
                <a:cs typeface="Courier New" pitchFamily="34" charset="-120"/>
              </a:rPr>
              <a:t>"outputs/figuras/fig1.pdf"</a:t>
            </a:r>
            <a:r>
              <a:rPr lang="en-US" sz="1200" dirty="0">
                <a:solidFill>
                  <a:srgbClr val="E6EDF7"/>
                </a:solidFill>
                <a:latin typeface="Courier New" pitchFamily="34" charset="0"/>
                <a:ea typeface="Courier New" pitchFamily="34" charset="-122"/>
                <a:cs typeface="Courier New" pitchFamily="34" charset="-120"/>
              </a:rPr>
              <a:t>, fig,     </a:t>
            </a:r>
            <a:r>
              <a:rPr lang="en-US" sz="1200" i="1" dirty="0">
                <a:solidFill>
                  <a:srgbClr val="8196BC"/>
                </a:solidFill>
                <a:latin typeface="Courier New" pitchFamily="34" charset="0"/>
                <a:ea typeface="Courier New" pitchFamily="34" charset="-122"/>
                <a:cs typeface="Courier New" pitchFamily="34" charset="-120"/>
              </a:rPr>
              <a:t># vectorial</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width = </a:t>
            </a:r>
            <a:r>
              <a:rPr lang="en-US" sz="1200" dirty="0">
                <a:solidFill>
                  <a:srgbClr val="F2C97D"/>
                </a:solidFill>
                <a:latin typeface="Courier New" pitchFamily="34" charset="0"/>
                <a:ea typeface="Courier New" pitchFamily="34" charset="-122"/>
                <a:cs typeface="Courier New" pitchFamily="34" charset="-120"/>
              </a:rPr>
              <a:t>18</a:t>
            </a:r>
            <a:r>
              <a:rPr lang="en-US" sz="1200" dirty="0">
                <a:solidFill>
                  <a:srgbClr val="E6EDF7"/>
                </a:solidFill>
                <a:latin typeface="Courier New" pitchFamily="34" charset="0"/>
                <a:ea typeface="Courier New" pitchFamily="34" charset="-122"/>
                <a:cs typeface="Courier New" pitchFamily="34" charset="-120"/>
              </a:rPr>
              <a:t>, height = </a:t>
            </a:r>
            <a:r>
              <a:rPr lang="en-US" sz="1200" dirty="0">
                <a:solidFill>
                  <a:srgbClr val="F2C97D"/>
                </a:solidFill>
                <a:latin typeface="Courier New" pitchFamily="34" charset="0"/>
                <a:ea typeface="Courier New" pitchFamily="34" charset="-122"/>
                <a:cs typeface="Courier New" pitchFamily="34" charset="-120"/>
              </a:rPr>
              <a:t>12</a:t>
            </a:r>
            <a:r>
              <a:rPr lang="en-US" sz="1200" dirty="0">
                <a:solidFill>
                  <a:srgbClr val="E6EDF7"/>
                </a:solidFill>
                <a:latin typeface="Courier New" pitchFamily="34" charset="0"/>
                <a:ea typeface="Courier New" pitchFamily="34" charset="-122"/>
                <a:cs typeface="Courier New" pitchFamily="34" charset="-120"/>
              </a:rPr>
              <a:t>, units = </a:t>
            </a:r>
            <a:r>
              <a:rPr lang="en-US" sz="1200" dirty="0">
                <a:solidFill>
                  <a:srgbClr val="F2C97D"/>
                </a:solidFill>
                <a:latin typeface="Courier New" pitchFamily="34" charset="0"/>
                <a:ea typeface="Courier New" pitchFamily="34" charset="-122"/>
                <a:cs typeface="Courier New" pitchFamily="34" charset="-120"/>
              </a:rPr>
              <a:t>"cm"</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9" name="Shape 6"/>
          <p:cNvSpPr/>
          <p:nvPr/>
        </p:nvSpPr>
        <p:spPr>
          <a:xfrm>
            <a:off x="548640" y="3346704"/>
            <a:ext cx="6675120" cy="1005840"/>
          </a:xfrm>
          <a:prstGeom prst="rect">
            <a:avLst/>
          </a:prstGeom>
          <a:solidFill>
            <a:srgbClr val="E4EEF2"/>
          </a:solidFill>
          <a:ln w="12700">
            <a:solidFill>
              <a:srgbClr val="E4EEF2"/>
            </a:solidFill>
            <a:prstDash val="solid"/>
          </a:ln>
        </p:spPr>
        <p:txBody>
          <a:bodyPr/>
          <a:lstStyle/>
          <a:p>
            <a:endParaRPr lang="es-CL"/>
          </a:p>
        </p:txBody>
      </p:sp>
      <p:sp>
        <p:nvSpPr>
          <p:cNvPr id="10" name="Shape 7"/>
          <p:cNvSpPr/>
          <p:nvPr/>
        </p:nvSpPr>
        <p:spPr>
          <a:xfrm>
            <a:off x="548640" y="3346704"/>
            <a:ext cx="64008" cy="1005840"/>
          </a:xfrm>
          <a:prstGeom prst="rect">
            <a:avLst/>
          </a:prstGeom>
          <a:solidFill>
            <a:srgbClr val="1C7293"/>
          </a:solidFill>
          <a:ln w="12700">
            <a:solidFill>
              <a:srgbClr val="1C7293"/>
            </a:solidFill>
            <a:prstDash val="solid"/>
          </a:ln>
        </p:spPr>
        <p:txBody>
          <a:bodyPr/>
          <a:lstStyle/>
          <a:p>
            <a:endParaRPr lang="es-CL"/>
          </a:p>
        </p:txBody>
      </p:sp>
      <p:sp>
        <p:nvSpPr>
          <p:cNvPr id="11" name="Text 8"/>
          <p:cNvSpPr txBox="1"/>
          <p:nvPr/>
        </p:nvSpPr>
        <p:spPr>
          <a:xfrm>
            <a:off x="749808" y="3346704"/>
            <a:ext cx="6355080" cy="1005840"/>
          </a:xfrm>
          <a:prstGeom prst="rect">
            <a:avLst/>
          </a:prstGeom>
          <a:noFill/>
          <a:ln/>
        </p:spPr>
        <p:txBody>
          <a:bodyPr wrap="square" lIns="0" tIns="0" rIns="0" bIns="0" rtlCol="0" anchor="ctr"/>
          <a:lstStyle/>
          <a:p>
            <a:pPr marL="0" indent="0">
              <a:buNone/>
            </a:pPr>
            <a:r>
              <a:rPr lang="en-US" sz="1350" b="1" dirty="0">
                <a:solidFill>
                  <a:srgbClr val="1E2A44"/>
                </a:solidFill>
                <a:latin typeface="Calibri" pitchFamily="34" charset="0"/>
                <a:ea typeface="Calibri" pitchFamily="34" charset="-122"/>
                <a:cs typeface="Calibri" pitchFamily="34" charset="-120"/>
              </a:rPr>
              <a:t>Guarda siempre desde el código, no con el botón Export: así la figura es reproducible.</a:t>
            </a:r>
            <a:endParaRPr lang="en-US" sz="1350" dirty="0"/>
          </a:p>
        </p:txBody>
      </p:sp>
      <p:sp>
        <p:nvSpPr>
          <p:cNvPr id="12" name="Text 9"/>
          <p:cNvSpPr txBox="1"/>
          <p:nvPr/>
        </p:nvSpPr>
        <p:spPr>
          <a:xfrm>
            <a:off x="7589520" y="1371600"/>
            <a:ext cx="3657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FORMATOS</a:t>
            </a:r>
            <a:endParaRPr lang="en-US" sz="900" dirty="0"/>
          </a:p>
        </p:txBody>
      </p:sp>
      <p:graphicFrame>
        <p:nvGraphicFramePr>
          <p:cNvPr id="24" name="Table 0"/>
          <p:cNvGraphicFramePr>
            <a:graphicFrameLocks noGrp="1"/>
          </p:cNvGraphicFramePr>
          <p:nvPr>
            <p:extLst>
              <p:ext uri="{D42A27DB-BD31-4B8C-83A1-F6EECF244321}">
                <p14:modId xmlns:p14="http://schemas.microsoft.com/office/powerpoint/2010/main" val="1579011935"/>
              </p:ext>
            </p:extLst>
          </p:nvPr>
        </p:nvGraphicFramePr>
        <p:xfrm>
          <a:off x="7589520" y="1691640"/>
          <a:ext cx="4050792" cy="914400"/>
        </p:xfrm>
        <a:graphic>
          <a:graphicData uri="http://schemas.openxmlformats.org/drawingml/2006/table">
            <a:tbl>
              <a:tblPr/>
              <a:tblGrid>
                <a:gridCol w="1051560">
                  <a:extLst>
                    <a:ext uri="{9D8B030D-6E8A-4147-A177-3AD203B41FA5}">
                      <a16:colId xmlns:a16="http://schemas.microsoft.com/office/drawing/2014/main" val="20000"/>
                    </a:ext>
                  </a:extLst>
                </a:gridCol>
                <a:gridCol w="1463040">
                  <a:extLst>
                    <a:ext uri="{9D8B030D-6E8A-4147-A177-3AD203B41FA5}">
                      <a16:colId xmlns:a16="http://schemas.microsoft.com/office/drawing/2014/main" val="20001"/>
                    </a:ext>
                  </a:extLst>
                </a:gridCol>
                <a:gridCol w="1536192">
                  <a:extLst>
                    <a:ext uri="{9D8B030D-6E8A-4147-A177-3AD203B41FA5}">
                      <a16:colId xmlns:a16="http://schemas.microsoft.com/office/drawing/2014/main" val="20002"/>
                    </a:ext>
                  </a:extLst>
                </a:gridCol>
              </a:tblGrid>
              <a:tr h="411480">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Formato</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Uso</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100" b="1" dirty="0">
                          <a:solidFill>
                            <a:srgbClr val="FFFFFF"/>
                          </a:solidFill>
                          <a:latin typeface="Calibri" pitchFamily="34" charset="0"/>
                          <a:ea typeface="Calibri" pitchFamily="34" charset="-122"/>
                          <a:cs typeface="Calibri" pitchFamily="34" charset="-120"/>
                        </a:rPr>
                        <a:t>Nota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1148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PNG</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A44"/>
                          </a:solidFill>
                          <a:latin typeface="Calibri" pitchFamily="34" charset="0"/>
                          <a:ea typeface="Calibri" pitchFamily="34" charset="-122"/>
                          <a:cs typeface="Calibri" pitchFamily="34" charset="-120"/>
                        </a:rPr>
                        <a:t>Word, PPT, web</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A44"/>
                          </a:solidFill>
                          <a:latin typeface="Calibri" pitchFamily="34" charset="0"/>
                          <a:ea typeface="Calibri" pitchFamily="34" charset="-122"/>
                          <a:cs typeface="Calibri" pitchFamily="34" charset="-120"/>
                        </a:rPr>
                        <a:t>300 dpi</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PDF / SVG</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00" dirty="0">
                          <a:solidFill>
                            <a:srgbClr val="1E2A44"/>
                          </a:solidFill>
                          <a:latin typeface="Calibri" pitchFamily="34" charset="0"/>
                          <a:ea typeface="Calibri" pitchFamily="34" charset="-122"/>
                          <a:cs typeface="Calibri" pitchFamily="34" charset="-120"/>
                        </a:rPr>
                        <a:t>Revistas, pósters</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00" dirty="0">
                          <a:solidFill>
                            <a:srgbClr val="1E2A44"/>
                          </a:solidFill>
                          <a:latin typeface="Calibri" pitchFamily="34" charset="0"/>
                          <a:ea typeface="Calibri" pitchFamily="34" charset="-122"/>
                          <a:cs typeface="Calibri" pitchFamily="34" charset="-120"/>
                        </a:rPr>
                        <a:t>No se pixela</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411480">
                <a:tc>
                  <a:txBody>
                    <a:bodyPr/>
                    <a:lstStyle/>
                    <a:p>
                      <a:pPr marL="0" indent="0" algn="l">
                        <a:buNone/>
                      </a:pPr>
                      <a:r>
                        <a:rPr lang="en-US" sz="1000" dirty="0">
                          <a:solidFill>
                            <a:srgbClr val="065A82"/>
                          </a:solidFill>
                          <a:latin typeface="Courier New" pitchFamily="34" charset="0"/>
                          <a:ea typeface="Courier New" pitchFamily="34" charset="-122"/>
                          <a:cs typeface="Courier New" pitchFamily="34" charset="-120"/>
                        </a:rPr>
                        <a:t>TIFF</a:t>
                      </a:r>
                      <a:endParaRPr lang="en-US" sz="1000" dirty="0">
                        <a:latin typeface="Courier New" charset="0"/>
                        <a:ea typeface="Courier New" charset="0"/>
                        <a:cs typeface="Courier New"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A44"/>
                          </a:solidFill>
                          <a:latin typeface="Calibri" pitchFamily="34" charset="0"/>
                          <a:ea typeface="Calibri" pitchFamily="34" charset="-122"/>
                          <a:cs typeface="Calibri" pitchFamily="34" charset="-120"/>
                        </a:rPr>
                        <a:t>Algunas revistas</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00" dirty="0">
                          <a:solidFill>
                            <a:srgbClr val="1E2A44"/>
                          </a:solidFill>
                          <a:latin typeface="Calibri" pitchFamily="34" charset="0"/>
                          <a:ea typeface="Calibri" pitchFamily="34" charset="-122"/>
                          <a:cs typeface="Calibri" pitchFamily="34" charset="-120"/>
                        </a:rPr>
                        <a:t>Pesado</a:t>
                      </a:r>
                      <a:endParaRPr lang="en-US" sz="110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bl>
          </a:graphicData>
        </a:graphic>
      </p:graphicFrame>
      <p:sp>
        <p:nvSpPr>
          <p:cNvPr id="14" name="Shape 10"/>
          <p:cNvSpPr/>
          <p:nvPr/>
        </p:nvSpPr>
        <p:spPr>
          <a:xfrm>
            <a:off x="7589520" y="3520440"/>
            <a:ext cx="4050792" cy="1965960"/>
          </a:xfrm>
          <a:prstGeom prst="roundRect">
            <a:avLst>
              <a:gd name="adj" fmla="val 3256"/>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5" name="Text 11"/>
          <p:cNvSpPr txBox="1"/>
          <p:nvPr/>
        </p:nvSpPr>
        <p:spPr>
          <a:xfrm>
            <a:off x="7818120" y="3657600"/>
            <a:ext cx="3657600" cy="274320"/>
          </a:xfrm>
          <a:prstGeom prst="rect">
            <a:avLst/>
          </a:prstGeom>
          <a:noFill/>
          <a:ln/>
        </p:spPr>
        <p:txBody>
          <a:bodyPr wrap="square" lIns="0" tIns="0" rIns="0" bIns="0" rtlCol="0" anchor="t"/>
          <a:lstStyle/>
          <a:p>
            <a:pPr marL="0" indent="0">
              <a:buNone/>
            </a:pPr>
            <a:r>
              <a:rPr lang="en-US" sz="1400" b="1" dirty="0">
                <a:solidFill>
                  <a:srgbClr val="B7791F"/>
                </a:solidFill>
                <a:latin typeface="Cambria" pitchFamily="34" charset="0"/>
                <a:ea typeface="Cambria" pitchFamily="34" charset="-122"/>
                <a:cs typeface="Cambria" pitchFamily="34" charset="-120"/>
              </a:rPr>
              <a:t>Tamaño típico</a:t>
            </a:r>
            <a:endParaRPr lang="en-US" sz="1400" dirty="0"/>
          </a:p>
        </p:txBody>
      </p:sp>
      <p:sp>
        <p:nvSpPr>
          <p:cNvPr id="16" name="Text 12"/>
          <p:cNvSpPr txBox="1"/>
          <p:nvPr/>
        </p:nvSpPr>
        <p:spPr>
          <a:xfrm>
            <a:off x="7818120" y="4023360"/>
            <a:ext cx="3657600" cy="1371600"/>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1 columna ≈ 8–9 cm</a:t>
            </a:r>
            <a:endParaRPr lang="en-US" sz="1300" dirty="0"/>
          </a:p>
          <a:p>
            <a:pPr marL="0" indent="0">
              <a:buNone/>
            </a:pPr>
            <a:r>
              <a:rPr lang="en-US" sz="1300" dirty="0">
                <a:solidFill>
                  <a:srgbClr val="1E2A44"/>
                </a:solidFill>
                <a:latin typeface="Calibri" pitchFamily="34" charset="0"/>
                <a:ea typeface="Calibri" pitchFamily="34" charset="-122"/>
                <a:cs typeface="Calibri" pitchFamily="34" charset="-120"/>
              </a:rPr>
              <a:t>2 columnas ≈ 17–18 cm</a:t>
            </a:r>
            <a:endParaRPr lang="en-US" sz="1300" dirty="0"/>
          </a:p>
          <a:p>
            <a:pPr marL="0" indent="0">
              <a:buNone/>
            </a:pPr>
            <a:r>
              <a:rPr lang="en-US" sz="1300" dirty="0">
                <a:solidFill>
                  <a:srgbClr val="1E2A44"/>
                </a:solidFill>
                <a:latin typeface="Calibri" pitchFamily="34" charset="0"/>
                <a:ea typeface="Calibri" pitchFamily="34" charset="-122"/>
                <a:cs typeface="Calibri" pitchFamily="34" charset="-120"/>
              </a:rPr>
              <a:t>Revisa siempre la guía de la revista.</a:t>
            </a:r>
            <a:endParaRPr lang="en-US" sz="13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21295C"/>
        </a:solidFill>
        <a:effectLst/>
      </p:bgPr>
    </p:bg>
    <p:spTree>
      <p:nvGrpSpPr>
        <p:cNvPr id="1" name=""/>
        <p:cNvGrpSpPr/>
        <p:nvPr/>
      </p:nvGrpSpPr>
      <p:grpSpPr>
        <a:xfrm>
          <a:off x="0" y="0"/>
          <a:ext cx="0" cy="0"/>
          <a:chOff x="0" y="0"/>
          <a:chExt cx="0" cy="0"/>
        </a:xfrm>
      </p:grpSpPr>
      <p:sp>
        <p:nvSpPr>
          <p:cNvPr id="2" name="Shape 0"/>
          <p:cNvSpPr/>
          <p:nvPr/>
        </p:nvSpPr>
        <p:spPr>
          <a:xfrm>
            <a:off x="8778240" y="3200400"/>
            <a:ext cx="5852160" cy="5852160"/>
          </a:xfrm>
          <a:prstGeom prst="ellipse">
            <a:avLst/>
          </a:prstGeom>
          <a:solidFill>
            <a:srgbClr val="065A82">
              <a:alpha val="75000"/>
            </a:srgbClr>
          </a:solidFill>
          <a:ln w="12700">
            <a:solidFill>
              <a:srgbClr val="065A82">
                <a:alpha val="0"/>
              </a:srgbClr>
            </a:solidFill>
            <a:prstDash val="solid"/>
          </a:ln>
        </p:spPr>
        <p:txBody>
          <a:bodyPr/>
          <a:lstStyle/>
          <a:p>
            <a:endParaRPr lang="es-CL"/>
          </a:p>
        </p:txBody>
      </p:sp>
      <p:sp>
        <p:nvSpPr>
          <p:cNvPr id="3" name="Shape 1"/>
          <p:cNvSpPr/>
          <p:nvPr/>
        </p:nvSpPr>
        <p:spPr>
          <a:xfrm>
            <a:off x="10058400" y="4389120"/>
            <a:ext cx="3108960" cy="3108960"/>
          </a:xfrm>
          <a:prstGeom prst="ellipse">
            <a:avLst/>
          </a:prstGeom>
          <a:solidFill>
            <a:srgbClr val="1C7293">
              <a:alpha val="80000"/>
            </a:srgbClr>
          </a:solidFill>
          <a:ln w="12700">
            <a:solidFill>
              <a:srgbClr val="1C7293">
                <a:alpha val="0"/>
              </a:srgbClr>
            </a:solidFill>
            <a:prstDash val="solid"/>
          </a:ln>
        </p:spPr>
        <p:txBody>
          <a:bodyPr/>
          <a:lstStyle/>
          <a:p>
            <a:endParaRPr lang="es-CL"/>
          </a:p>
        </p:txBody>
      </p:sp>
      <p:sp>
        <p:nvSpPr>
          <p:cNvPr id="4" name="Text 2"/>
          <p:cNvSpPr txBox="1"/>
          <p:nvPr/>
        </p:nvSpPr>
        <p:spPr>
          <a:xfrm>
            <a:off x="731520" y="2331720"/>
            <a:ext cx="7315200" cy="274320"/>
          </a:xfrm>
          <a:prstGeom prst="rect">
            <a:avLst/>
          </a:prstGeom>
          <a:noFill/>
          <a:ln/>
        </p:spPr>
        <p:txBody>
          <a:bodyPr wrap="square" lIns="0" tIns="0" rIns="0" bIns="0" rtlCol="0" anchor="ctr"/>
          <a:lstStyle/>
          <a:p>
            <a:pPr marL="0" indent="0">
              <a:buNone/>
            </a:pPr>
            <a:r>
              <a:rPr lang="en-US" sz="1100" b="1" kern="0" spc="300" dirty="0">
                <a:solidFill>
                  <a:srgbClr val="8FB8D8"/>
                </a:solidFill>
                <a:latin typeface="Calibri" pitchFamily="34" charset="0"/>
                <a:ea typeface="Calibri" pitchFamily="34" charset="-122"/>
                <a:cs typeface="Calibri" pitchFamily="34" charset="-120"/>
              </a:rPr>
              <a:t>PARTE 3</a:t>
            </a:r>
            <a:endParaRPr lang="en-US" sz="1100" dirty="0"/>
          </a:p>
        </p:txBody>
      </p:sp>
      <p:sp>
        <p:nvSpPr>
          <p:cNvPr id="5" name="Text 3"/>
          <p:cNvSpPr txBox="1"/>
          <p:nvPr/>
        </p:nvSpPr>
        <p:spPr>
          <a:xfrm>
            <a:off x="731520" y="2697480"/>
            <a:ext cx="9144000" cy="822960"/>
          </a:xfrm>
          <a:prstGeom prst="rect">
            <a:avLst/>
          </a:prstGeom>
          <a:noFill/>
          <a:ln/>
        </p:spPr>
        <p:txBody>
          <a:bodyPr wrap="square" lIns="0" tIns="0" rIns="0" bIns="0" rtlCol="0" anchor="ctr"/>
          <a:lstStyle/>
          <a:p>
            <a:pPr marL="0" indent="0">
              <a:buNone/>
            </a:pPr>
            <a:r>
              <a:rPr lang="en-US" sz="4000" b="1" dirty="0">
                <a:solidFill>
                  <a:srgbClr val="FFFFFF"/>
                </a:solidFill>
                <a:latin typeface="Cambria" pitchFamily="34" charset="0"/>
                <a:ea typeface="Cambria" pitchFamily="34" charset="-122"/>
                <a:cs typeface="Cambria" pitchFamily="34" charset="-120"/>
              </a:rPr>
              <a:t>Visualizaciones interactivas</a:t>
            </a:r>
            <a:endParaRPr lang="en-US" sz="4000" dirty="0"/>
          </a:p>
        </p:txBody>
      </p:sp>
      <p:sp>
        <p:nvSpPr>
          <p:cNvPr id="6" name="Text 4"/>
          <p:cNvSpPr txBox="1"/>
          <p:nvPr/>
        </p:nvSpPr>
        <p:spPr>
          <a:xfrm>
            <a:off x="731520" y="3611880"/>
            <a:ext cx="7772400" cy="365760"/>
          </a:xfrm>
          <a:prstGeom prst="rect">
            <a:avLst/>
          </a:prstGeom>
          <a:noFill/>
          <a:ln/>
        </p:spPr>
        <p:txBody>
          <a:bodyPr wrap="square" lIns="0" tIns="0" rIns="0" bIns="0" rtlCol="0" anchor="ctr"/>
          <a:lstStyle/>
          <a:p>
            <a:pPr marL="0" indent="0">
              <a:buNone/>
            </a:pPr>
            <a:r>
              <a:rPr lang="en-US" sz="1800" dirty="0">
                <a:solidFill>
                  <a:srgbClr val="C9DDEC"/>
                </a:solidFill>
                <a:latin typeface="Calibri" pitchFamily="34" charset="0"/>
                <a:ea typeface="Calibri" pitchFamily="34" charset="-122"/>
                <a:cs typeface="Calibri" pitchFamily="34" charset="-120"/>
              </a:rPr>
              <a:t>plotly: explorar con el cursor</a:t>
            </a:r>
            <a:endParaRPr lang="en-US" sz="1800" dirty="0"/>
          </a:p>
        </p:txBody>
      </p:sp>
      <p:sp>
        <p:nvSpPr>
          <p:cNvPr id="7" name="Text 5"/>
          <p:cNvSpPr txBox="1"/>
          <p:nvPr/>
        </p:nvSpPr>
        <p:spPr>
          <a:xfrm>
            <a:off x="731520" y="4114800"/>
            <a:ext cx="7315200" cy="274320"/>
          </a:xfrm>
          <a:prstGeom prst="rect">
            <a:avLst/>
          </a:prstGeom>
          <a:noFill/>
          <a:ln/>
        </p:spPr>
        <p:txBody>
          <a:bodyPr wrap="square" lIns="0" tIns="0" rIns="0" bIns="0" rtlCol="0" anchor="ctr"/>
          <a:lstStyle/>
          <a:p>
            <a:pPr marL="0" indent="0">
              <a:buNone/>
            </a:pPr>
            <a:r>
              <a:rPr lang="en-US" sz="1300" dirty="0">
                <a:solidFill>
                  <a:srgbClr val="9DB8CE"/>
                </a:solidFill>
                <a:latin typeface="Calibri" pitchFamily="34" charset="0"/>
                <a:ea typeface="Calibri" pitchFamily="34" charset="-122"/>
                <a:cs typeface="Calibri" pitchFamily="34" charset="-120"/>
              </a:rPr>
              <a:t>10 minutos</a:t>
            </a:r>
            <a:endParaRPr lang="en-US" sz="13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VISUALIZACIONES INTERACTIVAS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ggplotly(): de estático a interactivo en una línea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25</a:t>
            </a:r>
            <a:endParaRPr lang="en-US" sz="800" dirty="0"/>
          </a:p>
        </p:txBody>
      </p:sp>
      <p:sp>
        <p:nvSpPr>
          <p:cNvPr id="7" name="Shape 4"/>
          <p:cNvSpPr/>
          <p:nvPr/>
        </p:nvSpPr>
        <p:spPr>
          <a:xfrm>
            <a:off x="548640" y="1463040"/>
            <a:ext cx="4754880" cy="1555242"/>
          </a:xfrm>
          <a:prstGeom prst="roundRect">
            <a:avLst>
              <a:gd name="adj" fmla="val 3528"/>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4389120" cy="1244346"/>
          </a:xfrm>
          <a:prstGeom prst="rect">
            <a:avLst/>
          </a:prstGeom>
          <a:noFill/>
          <a:ln/>
        </p:spPr>
        <p:txBody>
          <a:bodyPr wrap="square" lIns="0" tIns="0" rIns="0" bIns="0" rtlCol="0" anchor="t"/>
          <a:lstStyle/>
          <a:p>
            <a:pPr marL="0" indent="0">
              <a:lnSpc>
                <a:spcPts val="1633"/>
              </a:lnSpc>
              <a:buNone/>
            </a:pPr>
            <a:r>
              <a:rPr lang="en-US" sz="1150" dirty="0">
                <a:solidFill>
                  <a:srgbClr val="7DD3FC"/>
                </a:solidFill>
                <a:latin typeface="Courier New" pitchFamily="34" charset="0"/>
                <a:ea typeface="Courier New" pitchFamily="34" charset="-122"/>
                <a:cs typeface="Courier New" pitchFamily="34" charset="-120"/>
              </a:rPr>
              <a:t>library</a:t>
            </a:r>
            <a:r>
              <a:rPr lang="en-US" sz="1150" dirty="0">
                <a:solidFill>
                  <a:srgbClr val="E6EDF7"/>
                </a:solidFill>
                <a:latin typeface="Courier New" pitchFamily="34" charset="0"/>
                <a:ea typeface="Courier New" pitchFamily="34" charset="-122"/>
                <a:cs typeface="Courier New" pitchFamily="34" charset="-120"/>
              </a:rPr>
              <a:t>(plotly)</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p </a:t>
            </a:r>
            <a:r>
              <a:rPr lang="en-US" sz="1150" dirty="0">
                <a:solidFill>
                  <a:srgbClr val="A5D8FF"/>
                </a:solidFill>
                <a:latin typeface="Courier New" pitchFamily="34" charset="0"/>
                <a:ea typeface="Courier New" pitchFamily="34" charset="-122"/>
                <a:cs typeface="Courier New" pitchFamily="34" charset="-120"/>
              </a:rPr>
              <a:t>&lt;-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ggplot</a:t>
            </a:r>
            <a:r>
              <a:rPr lang="en-US" sz="1150" dirty="0">
                <a:solidFill>
                  <a:srgbClr val="E6EDF7"/>
                </a:solidFill>
                <a:latin typeface="Courier New" pitchFamily="34" charset="0"/>
                <a:ea typeface="Courier New" pitchFamily="34" charset="-122"/>
                <a:cs typeface="Courier New" pitchFamily="34" charset="-120"/>
              </a:rPr>
              <a:t>(d, </a:t>
            </a:r>
            <a:r>
              <a:rPr lang="en-US" sz="1150" dirty="0">
                <a:solidFill>
                  <a:srgbClr val="7DD3FC"/>
                </a:solidFill>
                <a:latin typeface="Courier New" pitchFamily="34" charset="0"/>
                <a:ea typeface="Courier New" pitchFamily="34" charset="-122"/>
                <a:cs typeface="Courier New" pitchFamily="34" charset="-120"/>
              </a:rPr>
              <a:t>aes</a:t>
            </a:r>
            <a:r>
              <a:rPr lang="en-US" sz="1150" dirty="0">
                <a:solidFill>
                  <a:srgbClr val="E6EDF7"/>
                </a:solidFill>
                <a:latin typeface="Courier New" pitchFamily="34" charset="0"/>
                <a:ea typeface="Courier New" pitchFamily="34" charset="-122"/>
                <a:cs typeface="Courier New" pitchFamily="34" charset="-120"/>
              </a:rPr>
              <a:t>(horas, pubs, color = nivel))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geom_jitter</a:t>
            </a:r>
            <a:r>
              <a:rPr lang="en-US" sz="1150" dirty="0">
                <a:solidFill>
                  <a:srgbClr val="E6EDF7"/>
                </a:solidFill>
                <a:latin typeface="Courier New" pitchFamily="34" charset="0"/>
                <a:ea typeface="Courier New" pitchFamily="34" charset="-122"/>
                <a:cs typeface="Courier New" pitchFamily="34" charset="-120"/>
              </a:rPr>
              <a:t>(width = </a:t>
            </a:r>
            <a:r>
              <a:rPr lang="en-US" sz="1150" dirty="0">
                <a:solidFill>
                  <a:srgbClr val="F2C97D"/>
                </a:solidFill>
                <a:latin typeface="Courier New" pitchFamily="34" charset="0"/>
                <a:ea typeface="Courier New" pitchFamily="34" charset="-122"/>
                <a:cs typeface="Courier New" pitchFamily="34" charset="-120"/>
              </a:rPr>
              <a:t>0</a:t>
            </a:r>
            <a:r>
              <a:rPr lang="en-US" sz="1150" dirty="0">
                <a:solidFill>
                  <a:srgbClr val="E6EDF7"/>
                </a:solidFill>
                <a:latin typeface="Courier New" pitchFamily="34" charset="0"/>
                <a:ea typeface="Courier New" pitchFamily="34" charset="-122"/>
                <a:cs typeface="Courier New" pitchFamily="34" charset="-120"/>
              </a:rPr>
              <a:t>, height = </a:t>
            </a:r>
            <a:r>
              <a:rPr lang="en-US" sz="1150" dirty="0">
                <a:solidFill>
                  <a:srgbClr val="F2C97D"/>
                </a:solidFill>
                <a:latin typeface="Courier New" pitchFamily="34" charset="0"/>
                <a:ea typeface="Courier New" pitchFamily="34" charset="-122"/>
                <a:cs typeface="Courier New" pitchFamily="34" charset="-120"/>
              </a:rPr>
              <a:t>0.15</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7DD3FC"/>
                </a:solidFill>
                <a:latin typeface="Courier New" pitchFamily="34" charset="0"/>
                <a:ea typeface="Courier New" pitchFamily="34" charset="-122"/>
                <a:cs typeface="Courier New" pitchFamily="34" charset="-120"/>
              </a:rPr>
              <a:t>ggplotly</a:t>
            </a:r>
            <a:r>
              <a:rPr lang="en-US" sz="1150" dirty="0">
                <a:solidFill>
                  <a:srgbClr val="E6EDF7"/>
                </a:solidFill>
                <a:latin typeface="Courier New" pitchFamily="34" charset="0"/>
                <a:ea typeface="Courier New" pitchFamily="34" charset="-122"/>
                <a:cs typeface="Courier New" pitchFamily="34" charset="-120"/>
              </a:rPr>
              <a:t>(p)</a:t>
            </a:r>
            <a:endParaRPr lang="en-US" sz="1150" dirty="0"/>
          </a:p>
        </p:txBody>
      </p:sp>
      <p:sp>
        <p:nvSpPr>
          <p:cNvPr id="9" name="Text 6"/>
          <p:cNvSpPr txBox="1"/>
          <p:nvPr/>
        </p:nvSpPr>
        <p:spPr>
          <a:xfrm>
            <a:off x="548640" y="3292602"/>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QUÉ OBTIENES SIN ESCRIBIR MÁS</a:t>
            </a:r>
            <a:endParaRPr lang="en-US" sz="900" dirty="0"/>
          </a:p>
        </p:txBody>
      </p:sp>
      <p:sp>
        <p:nvSpPr>
          <p:cNvPr id="10" name="Shape 7"/>
          <p:cNvSpPr/>
          <p:nvPr/>
        </p:nvSpPr>
        <p:spPr>
          <a:xfrm>
            <a:off x="594360" y="3676650"/>
            <a:ext cx="128016" cy="128016"/>
          </a:xfrm>
          <a:prstGeom prst="ellipse">
            <a:avLst/>
          </a:prstGeom>
          <a:solidFill>
            <a:srgbClr val="1C7293"/>
          </a:solidFill>
          <a:ln w="12700">
            <a:solidFill>
              <a:srgbClr val="1C7293"/>
            </a:solidFill>
            <a:prstDash val="solid"/>
          </a:ln>
        </p:spPr>
        <p:txBody>
          <a:bodyPr/>
          <a:lstStyle/>
          <a:p>
            <a:endParaRPr lang="es-CL"/>
          </a:p>
        </p:txBody>
      </p:sp>
      <p:sp>
        <p:nvSpPr>
          <p:cNvPr id="11" name="Text 8"/>
          <p:cNvSpPr txBox="1"/>
          <p:nvPr/>
        </p:nvSpPr>
        <p:spPr>
          <a:xfrm>
            <a:off x="868680" y="3585210"/>
            <a:ext cx="4206240" cy="310896"/>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Zoom y desplazamiento</a:t>
            </a:r>
            <a:endParaRPr lang="en-US" sz="1300" dirty="0"/>
          </a:p>
        </p:txBody>
      </p:sp>
      <p:sp>
        <p:nvSpPr>
          <p:cNvPr id="12" name="Shape 9"/>
          <p:cNvSpPr/>
          <p:nvPr/>
        </p:nvSpPr>
        <p:spPr>
          <a:xfrm>
            <a:off x="594360" y="4042410"/>
            <a:ext cx="128016" cy="128016"/>
          </a:xfrm>
          <a:prstGeom prst="ellipse">
            <a:avLst/>
          </a:prstGeom>
          <a:solidFill>
            <a:srgbClr val="1C7293"/>
          </a:solidFill>
          <a:ln w="12700">
            <a:solidFill>
              <a:srgbClr val="1C7293"/>
            </a:solidFill>
            <a:prstDash val="solid"/>
          </a:ln>
        </p:spPr>
        <p:txBody>
          <a:bodyPr/>
          <a:lstStyle/>
          <a:p>
            <a:endParaRPr lang="es-CL"/>
          </a:p>
        </p:txBody>
      </p:sp>
      <p:sp>
        <p:nvSpPr>
          <p:cNvPr id="13" name="Text 10"/>
          <p:cNvSpPr txBox="1"/>
          <p:nvPr/>
        </p:nvSpPr>
        <p:spPr>
          <a:xfrm>
            <a:off x="868680" y="3950970"/>
            <a:ext cx="4206240" cy="310896"/>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Tooltip al pasar el cursor</a:t>
            </a:r>
            <a:endParaRPr lang="en-US" sz="1300" dirty="0"/>
          </a:p>
        </p:txBody>
      </p:sp>
      <p:sp>
        <p:nvSpPr>
          <p:cNvPr id="14" name="Shape 11"/>
          <p:cNvSpPr/>
          <p:nvPr/>
        </p:nvSpPr>
        <p:spPr>
          <a:xfrm>
            <a:off x="594360" y="4408170"/>
            <a:ext cx="128016" cy="128016"/>
          </a:xfrm>
          <a:prstGeom prst="ellipse">
            <a:avLst/>
          </a:prstGeom>
          <a:solidFill>
            <a:srgbClr val="1C7293"/>
          </a:solidFill>
          <a:ln w="12700">
            <a:solidFill>
              <a:srgbClr val="1C7293"/>
            </a:solidFill>
            <a:prstDash val="solid"/>
          </a:ln>
        </p:spPr>
        <p:txBody>
          <a:bodyPr/>
          <a:lstStyle/>
          <a:p>
            <a:endParaRPr lang="es-CL"/>
          </a:p>
        </p:txBody>
      </p:sp>
      <p:sp>
        <p:nvSpPr>
          <p:cNvPr id="15" name="Text 12"/>
          <p:cNvSpPr txBox="1"/>
          <p:nvPr/>
        </p:nvSpPr>
        <p:spPr>
          <a:xfrm>
            <a:off x="868680" y="4316730"/>
            <a:ext cx="4206240" cy="310896"/>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Ocultar series con la leyenda</a:t>
            </a:r>
            <a:endParaRPr lang="en-US" sz="1300" dirty="0"/>
          </a:p>
        </p:txBody>
      </p:sp>
      <p:sp>
        <p:nvSpPr>
          <p:cNvPr id="16" name="Shape 13"/>
          <p:cNvSpPr/>
          <p:nvPr/>
        </p:nvSpPr>
        <p:spPr>
          <a:xfrm>
            <a:off x="594360" y="4773930"/>
            <a:ext cx="128016" cy="128016"/>
          </a:xfrm>
          <a:prstGeom prst="ellipse">
            <a:avLst/>
          </a:prstGeom>
          <a:solidFill>
            <a:srgbClr val="1C7293"/>
          </a:solidFill>
          <a:ln w="12700">
            <a:solidFill>
              <a:srgbClr val="1C7293"/>
            </a:solidFill>
            <a:prstDash val="solid"/>
          </a:ln>
        </p:spPr>
        <p:txBody>
          <a:bodyPr/>
          <a:lstStyle/>
          <a:p>
            <a:endParaRPr lang="es-CL"/>
          </a:p>
        </p:txBody>
      </p:sp>
      <p:sp>
        <p:nvSpPr>
          <p:cNvPr id="17" name="Text 14"/>
          <p:cNvSpPr txBox="1"/>
          <p:nvPr/>
        </p:nvSpPr>
        <p:spPr>
          <a:xfrm>
            <a:off x="868680" y="4682490"/>
            <a:ext cx="4206240" cy="310896"/>
          </a:xfrm>
          <a:prstGeom prst="rect">
            <a:avLst/>
          </a:prstGeom>
          <a:noFill/>
          <a:ln/>
        </p:spPr>
        <p:txBody>
          <a:bodyPr wrap="square" lIns="0" tIns="0" rIns="0" bIns="0" rtlCol="0" anchor="t"/>
          <a:lstStyle/>
          <a:p>
            <a:pPr marL="0" indent="0">
              <a:buNone/>
            </a:pPr>
            <a:r>
              <a:rPr lang="en-US" sz="1300" dirty="0">
                <a:solidFill>
                  <a:srgbClr val="1E2A44"/>
                </a:solidFill>
                <a:latin typeface="Calibri" pitchFamily="34" charset="0"/>
                <a:ea typeface="Calibri" pitchFamily="34" charset="-122"/>
                <a:cs typeface="Calibri" pitchFamily="34" charset="-120"/>
              </a:rPr>
              <a:t>Botón para descargar PNG</a:t>
            </a:r>
            <a:endParaRPr lang="en-US" sz="1300" dirty="0"/>
          </a:p>
        </p:txBody>
      </p:sp>
      <p:sp>
        <p:nvSpPr>
          <p:cNvPr id="18" name="Shape 15"/>
          <p:cNvSpPr/>
          <p:nvPr/>
        </p:nvSpPr>
        <p:spPr>
          <a:xfrm>
            <a:off x="5605272" y="1399032"/>
            <a:ext cx="6025896" cy="3535680"/>
          </a:xfrm>
          <a:prstGeom prst="roundRect">
            <a:avLst>
              <a:gd name="adj" fmla="val 129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9" name="Image 0" descr="/home/claude/s3/figs/f13_plotly.png"/>
          <p:cNvPicPr>
            <a:picLocks noChangeAspect="1"/>
          </p:cNvPicPr>
          <p:nvPr/>
        </p:nvPicPr>
        <p:blipFill>
          <a:blip r:embed="rId3"/>
          <a:stretch>
            <a:fillRect/>
          </a:stretch>
        </p:blipFill>
        <p:spPr>
          <a:xfrm>
            <a:off x="5669280" y="1463040"/>
            <a:ext cx="5897880" cy="3407664"/>
          </a:xfrm>
          <a:prstGeom prst="rect">
            <a:avLst/>
          </a:prstGeom>
        </p:spPr>
      </p:pic>
      <p:sp>
        <p:nvSpPr>
          <p:cNvPr id="20" name="Shape 16"/>
          <p:cNvSpPr/>
          <p:nvPr/>
        </p:nvSpPr>
        <p:spPr>
          <a:xfrm>
            <a:off x="5669280" y="5394960"/>
            <a:ext cx="5897880" cy="640080"/>
          </a:xfrm>
          <a:prstGeom prst="rect">
            <a:avLst/>
          </a:prstGeom>
          <a:solidFill>
            <a:srgbClr val="E4EEF2"/>
          </a:solidFill>
          <a:ln w="12700">
            <a:solidFill>
              <a:srgbClr val="E4EEF2"/>
            </a:solidFill>
            <a:prstDash val="solid"/>
          </a:ln>
        </p:spPr>
        <p:txBody>
          <a:bodyPr/>
          <a:lstStyle/>
          <a:p>
            <a:endParaRPr lang="es-CL"/>
          </a:p>
        </p:txBody>
      </p:sp>
      <p:sp>
        <p:nvSpPr>
          <p:cNvPr id="21" name="Shape 17"/>
          <p:cNvSpPr/>
          <p:nvPr/>
        </p:nvSpPr>
        <p:spPr>
          <a:xfrm>
            <a:off x="5669280" y="5394960"/>
            <a:ext cx="64008" cy="640080"/>
          </a:xfrm>
          <a:prstGeom prst="rect">
            <a:avLst/>
          </a:prstGeom>
          <a:solidFill>
            <a:srgbClr val="1C7293"/>
          </a:solidFill>
          <a:ln w="12700">
            <a:solidFill>
              <a:srgbClr val="1C7293"/>
            </a:solidFill>
            <a:prstDash val="solid"/>
          </a:ln>
        </p:spPr>
        <p:txBody>
          <a:bodyPr/>
          <a:lstStyle/>
          <a:p>
            <a:endParaRPr lang="es-CL"/>
          </a:p>
        </p:txBody>
      </p:sp>
      <p:sp>
        <p:nvSpPr>
          <p:cNvPr id="22" name="Text 18"/>
          <p:cNvSpPr txBox="1"/>
          <p:nvPr/>
        </p:nvSpPr>
        <p:spPr>
          <a:xfrm>
            <a:off x="5870448" y="5394960"/>
            <a:ext cx="5577840" cy="640080"/>
          </a:xfrm>
          <a:prstGeom prst="rect">
            <a:avLst/>
          </a:prstGeom>
          <a:noFill/>
          <a:ln/>
        </p:spPr>
        <p:txBody>
          <a:bodyPr wrap="square" lIns="0" tIns="0" rIns="0" bIns="0" rtlCol="0" anchor="ctr"/>
          <a:lstStyle/>
          <a:p>
            <a:pPr marL="0" indent="0">
              <a:buNone/>
            </a:pPr>
            <a:r>
              <a:rPr lang="en-US" sz="1200" i="1" dirty="0">
                <a:solidFill>
                  <a:srgbClr val="1E2A44"/>
                </a:solidFill>
                <a:latin typeface="Calibri" pitchFamily="34" charset="0"/>
                <a:ea typeface="Calibri" pitchFamily="34" charset="-122"/>
                <a:cs typeface="Calibri" pitchFamily="34" charset="-120"/>
              </a:rPr>
              <a:t>ggplotly traduce casi todo, no todo: ggrepel, por ejemplo, no está implementado.</a:t>
            </a:r>
            <a:endParaRPr lang="en-US" sz="12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VISUALIZACIONES INTERACTIVAS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Tooltips a medida</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26</a:t>
            </a:r>
            <a:endParaRPr lang="en-US" sz="800" dirty="0"/>
          </a:p>
        </p:txBody>
      </p:sp>
      <p:sp>
        <p:nvSpPr>
          <p:cNvPr id="7" name="Shape 4"/>
          <p:cNvSpPr/>
          <p:nvPr/>
        </p:nvSpPr>
        <p:spPr>
          <a:xfrm>
            <a:off x="548640" y="1463040"/>
            <a:ext cx="6583680" cy="1970024"/>
          </a:xfrm>
          <a:prstGeom prst="roundRect">
            <a:avLst>
              <a:gd name="adj" fmla="val 2785"/>
            </a:avLst>
          </a:prstGeom>
          <a:solidFill>
            <a:srgbClr val="162044"/>
          </a:solidFill>
          <a:ln w="12700">
            <a:solidFill>
              <a:srgbClr val="162044"/>
            </a:solidFill>
            <a:prstDash val="solid"/>
          </a:ln>
        </p:spPr>
        <p:txBody>
          <a:bodyPr/>
          <a:lstStyle/>
          <a:p>
            <a:endParaRPr lang="es-CL"/>
          </a:p>
        </p:txBody>
      </p:sp>
      <p:sp>
        <p:nvSpPr>
          <p:cNvPr id="8" name="Shape 5"/>
          <p:cNvSpPr/>
          <p:nvPr/>
        </p:nvSpPr>
        <p:spPr>
          <a:xfrm>
            <a:off x="621792" y="1798447"/>
            <a:ext cx="6437376" cy="207391"/>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9" name="Shape 6"/>
          <p:cNvSpPr/>
          <p:nvPr/>
        </p:nvSpPr>
        <p:spPr>
          <a:xfrm>
            <a:off x="621792" y="2005838"/>
            <a:ext cx="6437376" cy="207391"/>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10" name="Shape 7"/>
          <p:cNvSpPr/>
          <p:nvPr/>
        </p:nvSpPr>
        <p:spPr>
          <a:xfrm>
            <a:off x="621792" y="2213229"/>
            <a:ext cx="6437376" cy="207391"/>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11" name="Shape 8"/>
          <p:cNvSpPr/>
          <p:nvPr/>
        </p:nvSpPr>
        <p:spPr>
          <a:xfrm>
            <a:off x="621792" y="2835402"/>
            <a:ext cx="6437376" cy="207391"/>
          </a:xfrm>
          <a:prstGeom prst="rect">
            <a:avLst/>
          </a:prstGeom>
          <a:solidFill>
            <a:srgbClr val="D69E2E">
              <a:alpha val="28000"/>
            </a:srgbClr>
          </a:solidFill>
          <a:ln w="12700">
            <a:solidFill>
              <a:srgbClr val="D69E2E">
                <a:alpha val="0"/>
              </a:srgbClr>
            </a:solidFill>
            <a:prstDash val="solid"/>
          </a:ln>
        </p:spPr>
        <p:txBody>
          <a:bodyPr/>
          <a:lstStyle/>
          <a:p>
            <a:endParaRPr lang="es-CL"/>
          </a:p>
        </p:txBody>
      </p:sp>
      <p:sp>
        <p:nvSpPr>
          <p:cNvPr id="12" name="Text 9"/>
          <p:cNvSpPr txBox="1"/>
          <p:nvPr/>
        </p:nvSpPr>
        <p:spPr>
          <a:xfrm>
            <a:off x="731520" y="1591056"/>
            <a:ext cx="6217920" cy="1659128"/>
          </a:xfrm>
          <a:prstGeom prst="rect">
            <a:avLst/>
          </a:prstGeom>
          <a:noFill/>
          <a:ln/>
        </p:spPr>
        <p:txBody>
          <a:bodyPr wrap="square" lIns="0" tIns="0" rIns="0" bIns="0" rtlCol="0" anchor="t"/>
          <a:lstStyle/>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p </a:t>
            </a:r>
            <a:r>
              <a:rPr lang="en-US" sz="1150" dirty="0">
                <a:solidFill>
                  <a:srgbClr val="A5D8FF"/>
                </a:solidFill>
                <a:latin typeface="Courier New" pitchFamily="34" charset="0"/>
                <a:ea typeface="Courier New" pitchFamily="34" charset="-122"/>
                <a:cs typeface="Courier New" pitchFamily="34" charset="-120"/>
              </a:rPr>
              <a:t>&lt;-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ggplot</a:t>
            </a:r>
            <a:r>
              <a:rPr lang="en-US" sz="1150" dirty="0">
                <a:solidFill>
                  <a:srgbClr val="E6EDF7"/>
                </a:solidFill>
                <a:latin typeface="Courier New" pitchFamily="34" charset="0"/>
                <a:ea typeface="Courier New" pitchFamily="34" charset="-122"/>
                <a:cs typeface="Courier New" pitchFamily="34" charset="-120"/>
              </a:rPr>
              <a:t>(d, </a:t>
            </a:r>
            <a:r>
              <a:rPr lang="en-US" sz="1150" dirty="0">
                <a:solidFill>
                  <a:srgbClr val="7DD3FC"/>
                </a:solidFill>
                <a:latin typeface="Courier New" pitchFamily="34" charset="0"/>
                <a:ea typeface="Courier New" pitchFamily="34" charset="-122"/>
                <a:cs typeface="Courier New" pitchFamily="34" charset="-120"/>
              </a:rPr>
              <a:t>aes</a:t>
            </a:r>
            <a:r>
              <a:rPr lang="en-US" sz="1150" dirty="0">
                <a:solidFill>
                  <a:srgbClr val="E6EDF7"/>
                </a:solidFill>
                <a:latin typeface="Courier New" pitchFamily="34" charset="0"/>
                <a:ea typeface="Courier New" pitchFamily="34" charset="-122"/>
                <a:cs typeface="Courier New" pitchFamily="34" charset="-120"/>
              </a:rPr>
              <a:t>(horas, pubs, color = nivel,</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text = </a:t>
            </a:r>
            <a:r>
              <a:rPr lang="en-US" sz="1150" dirty="0">
                <a:solidFill>
                  <a:srgbClr val="7DD3FC"/>
                </a:solidFill>
                <a:latin typeface="Courier New" pitchFamily="34" charset="0"/>
                <a:ea typeface="Courier New" pitchFamily="34" charset="-122"/>
                <a:cs typeface="Courier New" pitchFamily="34" charset="-120"/>
              </a:rPr>
              <a:t>paste0</a:t>
            </a:r>
            <a:r>
              <a:rPr lang="en-US" sz="1150" dirty="0">
                <a:solidFill>
                  <a:srgbClr val="E6EDF7"/>
                </a:solidFill>
                <a:latin typeface="Courier New" pitchFamily="34" charset="0"/>
                <a:ea typeface="Courier New" pitchFamily="34" charset="-122"/>
                <a:cs typeface="Courier New" pitchFamily="34" charset="-120"/>
              </a:rPr>
              <a:t>(</a:t>
            </a:r>
            <a:r>
              <a:rPr lang="en-US" sz="1150" dirty="0">
                <a:solidFill>
                  <a:srgbClr val="F2C97D"/>
                </a:solidFill>
                <a:latin typeface="Courier New" pitchFamily="34" charset="0"/>
                <a:ea typeface="Courier New" pitchFamily="34" charset="-122"/>
                <a:cs typeface="Courier New" pitchFamily="34" charset="-120"/>
              </a:rPr>
              <a:t>"Programa: "</a:t>
            </a:r>
            <a:r>
              <a:rPr lang="en-US" sz="1150" dirty="0">
                <a:solidFill>
                  <a:srgbClr val="E6EDF7"/>
                </a:solidFill>
                <a:latin typeface="Courier New" pitchFamily="34" charset="0"/>
                <a:ea typeface="Courier New" pitchFamily="34" charset="-122"/>
                <a:cs typeface="Courier New" pitchFamily="34" charset="-120"/>
              </a:rPr>
              <a:t>, programa,</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"&lt;br&gt;Horas/sem: "</a:t>
            </a:r>
            <a:r>
              <a:rPr lang="en-US" sz="1150" dirty="0">
                <a:solidFill>
                  <a:srgbClr val="E6EDF7"/>
                </a:solidFill>
                <a:latin typeface="Courier New" pitchFamily="34" charset="0"/>
                <a:ea typeface="Courier New" pitchFamily="34" charset="-122"/>
                <a:cs typeface="Courier New" pitchFamily="34" charset="-120"/>
              </a:rPr>
              <a:t>, horas,</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F2C97D"/>
                </a:solidFill>
                <a:latin typeface="Courier New" pitchFamily="34" charset="0"/>
                <a:ea typeface="Courier New" pitchFamily="34" charset="-122"/>
                <a:cs typeface="Courier New" pitchFamily="34" charset="-120"/>
              </a:rPr>
              <a:t>"&lt;br&gt;Publicaciones: "</a:t>
            </a:r>
            <a:r>
              <a:rPr lang="en-US" sz="1150" dirty="0">
                <a:solidFill>
                  <a:srgbClr val="E6EDF7"/>
                </a:solidFill>
                <a:latin typeface="Courier New" pitchFamily="34" charset="0"/>
                <a:ea typeface="Courier New" pitchFamily="34" charset="-122"/>
                <a:cs typeface="Courier New" pitchFamily="34" charset="-120"/>
              </a:rPr>
              <a:t>, pubs))) +</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geom_jitter</a:t>
            </a:r>
            <a:r>
              <a:rPr lang="en-US" sz="1150" dirty="0">
                <a:solidFill>
                  <a:srgbClr val="E6EDF7"/>
                </a:solidFill>
                <a:latin typeface="Courier New" pitchFamily="34" charset="0"/>
                <a:ea typeface="Courier New" pitchFamily="34" charset="-122"/>
                <a:cs typeface="Courier New" pitchFamily="34" charset="-120"/>
              </a:rPr>
              <a:t>(width = </a:t>
            </a:r>
            <a:r>
              <a:rPr lang="en-US" sz="1150" dirty="0">
                <a:solidFill>
                  <a:srgbClr val="F2C97D"/>
                </a:solidFill>
                <a:latin typeface="Courier New" pitchFamily="34" charset="0"/>
                <a:ea typeface="Courier New" pitchFamily="34" charset="-122"/>
                <a:cs typeface="Courier New" pitchFamily="34" charset="-120"/>
              </a:rPr>
              <a:t>0</a:t>
            </a:r>
            <a:r>
              <a:rPr lang="en-US" sz="1150" dirty="0">
                <a:solidFill>
                  <a:srgbClr val="E6EDF7"/>
                </a:solidFill>
                <a:latin typeface="Courier New" pitchFamily="34" charset="0"/>
                <a:ea typeface="Courier New" pitchFamily="34" charset="-122"/>
                <a:cs typeface="Courier New" pitchFamily="34" charset="-120"/>
              </a:rPr>
              <a:t>, height = </a:t>
            </a:r>
            <a:r>
              <a:rPr lang="en-US" sz="1150" dirty="0">
                <a:solidFill>
                  <a:srgbClr val="F2C97D"/>
                </a:solidFill>
                <a:latin typeface="Courier New" pitchFamily="34" charset="0"/>
                <a:ea typeface="Courier New" pitchFamily="34" charset="-122"/>
                <a:cs typeface="Courier New" pitchFamily="34" charset="-120"/>
              </a:rPr>
              <a:t>0.15</a:t>
            </a:r>
            <a:r>
              <a:rPr lang="en-US" sz="1150" dirty="0">
                <a:solidFill>
                  <a:srgbClr val="E6EDF7"/>
                </a:solidFill>
                <a:latin typeface="Courier New" pitchFamily="34" charset="0"/>
                <a:ea typeface="Courier New" pitchFamily="34" charset="-122"/>
                <a:cs typeface="Courier New" pitchFamily="34" charset="-120"/>
              </a:rPr>
              <a: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endParaRPr lang="en-US" sz="1150" dirty="0"/>
          </a:p>
          <a:p>
            <a:pPr marL="0" indent="0">
              <a:lnSpc>
                <a:spcPts val="1633"/>
              </a:lnSpc>
              <a:buNone/>
            </a:pPr>
            <a:r>
              <a:rPr lang="en-US" sz="1150" dirty="0">
                <a:solidFill>
                  <a:srgbClr val="7DD3FC"/>
                </a:solidFill>
                <a:latin typeface="Courier New" pitchFamily="34" charset="0"/>
                <a:ea typeface="Courier New" pitchFamily="34" charset="-122"/>
                <a:cs typeface="Courier New" pitchFamily="34" charset="-120"/>
              </a:rPr>
              <a:t>ggplotly</a:t>
            </a:r>
            <a:r>
              <a:rPr lang="en-US" sz="1150" dirty="0">
                <a:solidFill>
                  <a:srgbClr val="E6EDF7"/>
                </a:solidFill>
                <a:latin typeface="Courier New" pitchFamily="34" charset="0"/>
                <a:ea typeface="Courier New" pitchFamily="34" charset="-122"/>
                <a:cs typeface="Courier New" pitchFamily="34" charset="-120"/>
              </a:rPr>
              <a:t>(p, tooltip = </a:t>
            </a:r>
            <a:r>
              <a:rPr lang="en-US" sz="1150" dirty="0">
                <a:solidFill>
                  <a:srgbClr val="F2C97D"/>
                </a:solidFill>
                <a:latin typeface="Courier New" pitchFamily="34" charset="0"/>
                <a:ea typeface="Courier New" pitchFamily="34" charset="-122"/>
                <a:cs typeface="Courier New" pitchFamily="34" charset="-120"/>
              </a:rPr>
              <a:t>"text"</a:t>
            </a: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A5D8FF"/>
                </a:solidFill>
                <a:latin typeface="Courier New" pitchFamily="34" charset="0"/>
                <a:ea typeface="Courier New" pitchFamily="34" charset="-122"/>
                <a:cs typeface="Courier New" pitchFamily="34" charset="-120"/>
              </a:rPr>
              <a:t>|&gt;</a:t>
            </a:r>
            <a:endParaRPr lang="en-US" sz="1150" dirty="0"/>
          </a:p>
          <a:p>
            <a:pPr marL="0" indent="0">
              <a:lnSpc>
                <a:spcPts val="1633"/>
              </a:lnSpc>
              <a:buNone/>
            </a:pPr>
            <a:r>
              <a:rPr lang="en-US" sz="1150" dirty="0">
                <a:solidFill>
                  <a:srgbClr val="E6EDF7"/>
                </a:solidFill>
                <a:latin typeface="Courier New" pitchFamily="34" charset="0"/>
                <a:ea typeface="Courier New" pitchFamily="34" charset="-122"/>
                <a:cs typeface="Courier New" pitchFamily="34" charset="-120"/>
              </a:rPr>
              <a:t>  </a:t>
            </a:r>
            <a:r>
              <a:rPr lang="en-US" sz="1150" dirty="0">
                <a:solidFill>
                  <a:srgbClr val="7DD3FC"/>
                </a:solidFill>
                <a:latin typeface="Courier New" pitchFamily="34" charset="0"/>
                <a:ea typeface="Courier New" pitchFamily="34" charset="-122"/>
                <a:cs typeface="Courier New" pitchFamily="34" charset="-120"/>
              </a:rPr>
              <a:t>config</a:t>
            </a:r>
            <a:r>
              <a:rPr lang="en-US" sz="1150" dirty="0">
                <a:solidFill>
                  <a:srgbClr val="E6EDF7"/>
                </a:solidFill>
                <a:latin typeface="Courier New" pitchFamily="34" charset="0"/>
                <a:ea typeface="Courier New" pitchFamily="34" charset="-122"/>
                <a:cs typeface="Courier New" pitchFamily="34" charset="-120"/>
              </a:rPr>
              <a:t>(displayModeBar = </a:t>
            </a:r>
            <a:r>
              <a:rPr lang="en-US" sz="1150" dirty="0">
                <a:solidFill>
                  <a:srgbClr val="C9B8FF"/>
                </a:solidFill>
                <a:latin typeface="Courier New" pitchFamily="34" charset="0"/>
                <a:ea typeface="Courier New" pitchFamily="34" charset="-122"/>
                <a:cs typeface="Courier New" pitchFamily="34" charset="-120"/>
              </a:rPr>
              <a:t>FALSE</a:t>
            </a:r>
            <a:r>
              <a:rPr lang="en-US" sz="1150" dirty="0">
                <a:solidFill>
                  <a:srgbClr val="E6EDF7"/>
                </a:solidFill>
                <a:latin typeface="Courier New" pitchFamily="34" charset="0"/>
                <a:ea typeface="Courier New" pitchFamily="34" charset="-122"/>
                <a:cs typeface="Courier New" pitchFamily="34" charset="-120"/>
              </a:rPr>
              <a:t>)</a:t>
            </a:r>
            <a:endParaRPr lang="en-US" sz="1150" dirty="0"/>
          </a:p>
        </p:txBody>
      </p:sp>
      <p:sp>
        <p:nvSpPr>
          <p:cNvPr id="13" name="Text 10"/>
          <p:cNvSpPr txBox="1"/>
          <p:nvPr/>
        </p:nvSpPr>
        <p:spPr>
          <a:xfrm>
            <a:off x="7589520" y="1371600"/>
            <a:ext cx="402336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LO QUE VE EL LECTOR</a:t>
            </a:r>
            <a:endParaRPr lang="en-US" sz="900" dirty="0"/>
          </a:p>
        </p:txBody>
      </p:sp>
      <p:sp>
        <p:nvSpPr>
          <p:cNvPr id="14" name="Shape 11"/>
          <p:cNvSpPr/>
          <p:nvPr/>
        </p:nvSpPr>
        <p:spPr>
          <a:xfrm>
            <a:off x="7589520" y="1737360"/>
            <a:ext cx="4050792" cy="1234440"/>
          </a:xfrm>
          <a:prstGeom prst="roundRect">
            <a:avLst>
              <a:gd name="adj" fmla="val 2222"/>
            </a:avLst>
          </a:prstGeom>
          <a:solidFill>
            <a:srgbClr val="E69F00"/>
          </a:solidFill>
          <a:ln w="9525">
            <a:solidFill>
              <a:srgbClr val="333333"/>
            </a:solidFill>
            <a:prstDash val="solid"/>
          </a:ln>
          <a:effectLst>
            <a:outerShdw blurRad="76200" dist="25400" dir="5400000" algn="bl" rotWithShape="0">
              <a:srgbClr val="000000">
                <a:alpha val="10000"/>
              </a:srgbClr>
            </a:outerShdw>
          </a:effectLst>
        </p:spPr>
        <p:txBody>
          <a:bodyPr/>
          <a:lstStyle/>
          <a:p>
            <a:endParaRPr lang="es-CL"/>
          </a:p>
        </p:txBody>
      </p:sp>
      <p:sp>
        <p:nvSpPr>
          <p:cNvPr id="15" name="Text 12"/>
          <p:cNvSpPr txBox="1"/>
          <p:nvPr/>
        </p:nvSpPr>
        <p:spPr>
          <a:xfrm>
            <a:off x="7726680" y="1737360"/>
            <a:ext cx="3794760" cy="1234440"/>
          </a:xfrm>
          <a:prstGeom prst="rect">
            <a:avLst/>
          </a:prstGeom>
          <a:noFill/>
          <a:ln/>
        </p:spPr>
        <p:txBody>
          <a:bodyPr wrap="square" lIns="0" tIns="0" rIns="0" bIns="0" rtlCol="0" anchor="ctr"/>
          <a:lstStyle/>
          <a:p>
            <a:pPr marL="0" indent="0">
              <a:buNone/>
            </a:pPr>
            <a:r>
              <a:rPr lang="en-US" sz="1250" dirty="0">
                <a:solidFill>
                  <a:srgbClr val="2B2B2B"/>
                </a:solidFill>
                <a:latin typeface="Calibri" pitchFamily="34" charset="0"/>
                <a:ea typeface="Calibri" pitchFamily="34" charset="-122"/>
                <a:cs typeface="Calibri" pitchFamily="34" charset="-120"/>
              </a:rPr>
              <a:t>Programa: Magíster en Ingeniería Ambiental</a:t>
            </a:r>
            <a:endParaRPr lang="en-US" sz="1250" dirty="0"/>
          </a:p>
          <a:p>
            <a:pPr marL="0" indent="0">
              <a:buNone/>
            </a:pPr>
            <a:r>
              <a:rPr lang="en-US" sz="1250" dirty="0">
                <a:solidFill>
                  <a:srgbClr val="2B2B2B"/>
                </a:solidFill>
                <a:latin typeface="Calibri" pitchFamily="34" charset="0"/>
                <a:ea typeface="Calibri" pitchFamily="34" charset="-122"/>
                <a:cs typeface="Calibri" pitchFamily="34" charset="-120"/>
              </a:rPr>
              <a:t>Horas/sem: 15</a:t>
            </a:r>
            <a:endParaRPr lang="en-US" sz="1250" dirty="0"/>
          </a:p>
          <a:p>
            <a:pPr marL="0" indent="0">
              <a:buNone/>
            </a:pPr>
            <a:r>
              <a:rPr lang="en-US" sz="1250" dirty="0">
                <a:solidFill>
                  <a:srgbClr val="2B2B2B"/>
                </a:solidFill>
                <a:latin typeface="Calibri" pitchFamily="34" charset="0"/>
                <a:ea typeface="Calibri" pitchFamily="34" charset="-122"/>
                <a:cs typeface="Calibri" pitchFamily="34" charset="-120"/>
              </a:rPr>
              <a:t>Publicaciones: 1</a:t>
            </a:r>
            <a:endParaRPr lang="en-US" sz="1250" dirty="0"/>
          </a:p>
        </p:txBody>
      </p:sp>
      <p:sp>
        <p:nvSpPr>
          <p:cNvPr id="16" name="Text 13"/>
          <p:cNvSpPr txBox="1"/>
          <p:nvPr/>
        </p:nvSpPr>
        <p:spPr>
          <a:xfrm>
            <a:off x="7589520" y="3337560"/>
            <a:ext cx="1737360" cy="274320"/>
          </a:xfrm>
          <a:prstGeom prst="rect">
            <a:avLst/>
          </a:prstGeom>
          <a:noFill/>
          <a:ln/>
        </p:spPr>
        <p:txBody>
          <a:bodyPr wrap="square" lIns="0" tIns="0" rIns="0" bIns="0" rtlCol="0" anchor="t"/>
          <a:lstStyle/>
          <a:p>
            <a:pPr marL="0" indent="0">
              <a:buNone/>
            </a:pPr>
            <a:r>
              <a:rPr lang="en-US" sz="1150" b="1" dirty="0">
                <a:solidFill>
                  <a:srgbClr val="065A82"/>
                </a:solidFill>
                <a:latin typeface="Courier New" pitchFamily="34" charset="0"/>
                <a:ea typeface="Courier New" pitchFamily="34" charset="-122"/>
                <a:cs typeface="Courier New" pitchFamily="34" charset="-120"/>
              </a:rPr>
              <a:t>text =</a:t>
            </a:r>
            <a:endParaRPr lang="en-US" sz="1150" dirty="0"/>
          </a:p>
        </p:txBody>
      </p:sp>
      <p:sp>
        <p:nvSpPr>
          <p:cNvPr id="17" name="Text 14"/>
          <p:cNvSpPr txBox="1"/>
          <p:nvPr/>
        </p:nvSpPr>
        <p:spPr>
          <a:xfrm>
            <a:off x="9372600" y="3337560"/>
            <a:ext cx="2240280" cy="594360"/>
          </a:xfrm>
          <a:prstGeom prst="rect">
            <a:avLst/>
          </a:prstGeom>
          <a:noFill/>
          <a:ln/>
        </p:spPr>
        <p:txBody>
          <a:bodyPr wrap="square" lIns="0" tIns="0" rIns="0" bIns="0" rtlCol="0" anchor="t"/>
          <a:lstStyle/>
          <a:p>
            <a:pPr marL="0" indent="0">
              <a:buNone/>
            </a:pPr>
            <a:r>
              <a:rPr lang="en-US" sz="1150" dirty="0">
                <a:solidFill>
                  <a:srgbClr val="1E2A44"/>
                </a:solidFill>
                <a:latin typeface="Calibri" pitchFamily="34" charset="0"/>
                <a:ea typeface="Calibri" pitchFamily="34" charset="-122"/>
                <a:cs typeface="Calibri" pitchFamily="34" charset="-120"/>
              </a:rPr>
              <a:t>estética que ggplot2 ignora y plotly usa como mensaje</a:t>
            </a:r>
            <a:endParaRPr lang="en-US" sz="1150" dirty="0"/>
          </a:p>
        </p:txBody>
      </p:sp>
      <p:sp>
        <p:nvSpPr>
          <p:cNvPr id="18" name="Text 15"/>
          <p:cNvSpPr txBox="1"/>
          <p:nvPr/>
        </p:nvSpPr>
        <p:spPr>
          <a:xfrm>
            <a:off x="7589520" y="4023360"/>
            <a:ext cx="1737360" cy="274320"/>
          </a:xfrm>
          <a:prstGeom prst="rect">
            <a:avLst/>
          </a:prstGeom>
          <a:noFill/>
          <a:ln/>
        </p:spPr>
        <p:txBody>
          <a:bodyPr wrap="square" lIns="0" tIns="0" rIns="0" bIns="0" rtlCol="0" anchor="t"/>
          <a:lstStyle/>
          <a:p>
            <a:pPr marL="0" indent="0">
              <a:buNone/>
            </a:pPr>
            <a:r>
              <a:rPr lang="en-US" sz="1150" b="1" dirty="0">
                <a:solidFill>
                  <a:srgbClr val="065A82"/>
                </a:solidFill>
                <a:latin typeface="Courier New" pitchFamily="34" charset="0"/>
                <a:ea typeface="Courier New" pitchFamily="34" charset="-122"/>
                <a:cs typeface="Courier New" pitchFamily="34" charset="-120"/>
              </a:rPr>
              <a:t>&lt;br&gt;</a:t>
            </a:r>
            <a:endParaRPr lang="en-US" sz="1150" dirty="0"/>
          </a:p>
        </p:txBody>
      </p:sp>
      <p:sp>
        <p:nvSpPr>
          <p:cNvPr id="19" name="Text 16"/>
          <p:cNvSpPr txBox="1"/>
          <p:nvPr/>
        </p:nvSpPr>
        <p:spPr>
          <a:xfrm>
            <a:off x="9372600" y="4023360"/>
            <a:ext cx="2240280" cy="594360"/>
          </a:xfrm>
          <a:prstGeom prst="rect">
            <a:avLst/>
          </a:prstGeom>
          <a:noFill/>
          <a:ln/>
        </p:spPr>
        <p:txBody>
          <a:bodyPr wrap="square" lIns="0" tIns="0" rIns="0" bIns="0" rtlCol="0" anchor="t"/>
          <a:lstStyle/>
          <a:p>
            <a:pPr marL="0" indent="0">
              <a:buNone/>
            </a:pPr>
            <a:r>
              <a:rPr lang="en-US" sz="1150" dirty="0">
                <a:solidFill>
                  <a:srgbClr val="1E2A44"/>
                </a:solidFill>
                <a:latin typeface="Calibri" pitchFamily="34" charset="0"/>
                <a:ea typeface="Calibri" pitchFamily="34" charset="-122"/>
                <a:cs typeface="Calibri" pitchFamily="34" charset="-120"/>
              </a:rPr>
              <a:t>salto de línea dentro del tooltip</a:t>
            </a:r>
            <a:endParaRPr lang="en-US" sz="1150" dirty="0"/>
          </a:p>
        </p:txBody>
      </p:sp>
      <p:sp>
        <p:nvSpPr>
          <p:cNvPr id="20" name="Text 17"/>
          <p:cNvSpPr txBox="1"/>
          <p:nvPr/>
        </p:nvSpPr>
        <p:spPr>
          <a:xfrm>
            <a:off x="7589520" y="4709160"/>
            <a:ext cx="1737360" cy="274320"/>
          </a:xfrm>
          <a:prstGeom prst="rect">
            <a:avLst/>
          </a:prstGeom>
          <a:noFill/>
          <a:ln/>
        </p:spPr>
        <p:txBody>
          <a:bodyPr wrap="square" lIns="0" tIns="0" rIns="0" bIns="0" rtlCol="0" anchor="t"/>
          <a:lstStyle/>
          <a:p>
            <a:pPr marL="0" indent="0">
              <a:buNone/>
            </a:pPr>
            <a:r>
              <a:rPr lang="en-US" sz="1150" b="1" dirty="0">
                <a:solidFill>
                  <a:srgbClr val="065A82"/>
                </a:solidFill>
                <a:latin typeface="Courier New" pitchFamily="34" charset="0"/>
                <a:ea typeface="Courier New" pitchFamily="34" charset="-122"/>
                <a:cs typeface="Courier New" pitchFamily="34" charset="-120"/>
              </a:rPr>
              <a:t>tooltip = "text"</a:t>
            </a:r>
            <a:endParaRPr lang="en-US" sz="1150" dirty="0"/>
          </a:p>
        </p:txBody>
      </p:sp>
      <p:sp>
        <p:nvSpPr>
          <p:cNvPr id="21" name="Text 18"/>
          <p:cNvSpPr txBox="1"/>
          <p:nvPr/>
        </p:nvSpPr>
        <p:spPr>
          <a:xfrm>
            <a:off x="9372600" y="4709160"/>
            <a:ext cx="2240280" cy="594360"/>
          </a:xfrm>
          <a:prstGeom prst="rect">
            <a:avLst/>
          </a:prstGeom>
          <a:noFill/>
          <a:ln/>
        </p:spPr>
        <p:txBody>
          <a:bodyPr wrap="square" lIns="0" tIns="0" rIns="0" bIns="0" rtlCol="0" anchor="t"/>
          <a:lstStyle/>
          <a:p>
            <a:pPr marL="0" indent="0">
              <a:buNone/>
            </a:pPr>
            <a:r>
              <a:rPr lang="en-US" sz="1150" dirty="0">
                <a:solidFill>
                  <a:srgbClr val="1E2A44"/>
                </a:solidFill>
                <a:latin typeface="Calibri" pitchFamily="34" charset="0"/>
                <a:ea typeface="Calibri" pitchFamily="34" charset="-122"/>
                <a:cs typeface="Calibri" pitchFamily="34" charset="-120"/>
              </a:rPr>
              <a:t>muestra solo ese mensaje</a:t>
            </a:r>
            <a:endParaRPr lang="en-US" sz="1150" dirty="0"/>
          </a:p>
        </p:txBody>
      </p:sp>
      <p:sp>
        <p:nvSpPr>
          <p:cNvPr id="22" name="Shape 19"/>
          <p:cNvSpPr/>
          <p:nvPr/>
        </p:nvSpPr>
        <p:spPr>
          <a:xfrm>
            <a:off x="548640" y="5029200"/>
            <a:ext cx="6583680" cy="777240"/>
          </a:xfrm>
          <a:prstGeom prst="rect">
            <a:avLst/>
          </a:prstGeom>
          <a:solidFill>
            <a:srgbClr val="E4EEF2"/>
          </a:solidFill>
          <a:ln w="12700">
            <a:solidFill>
              <a:srgbClr val="E4EEF2"/>
            </a:solidFill>
            <a:prstDash val="solid"/>
          </a:ln>
        </p:spPr>
        <p:txBody>
          <a:bodyPr/>
          <a:lstStyle/>
          <a:p>
            <a:endParaRPr lang="es-CL"/>
          </a:p>
        </p:txBody>
      </p:sp>
      <p:sp>
        <p:nvSpPr>
          <p:cNvPr id="23" name="Shape 20"/>
          <p:cNvSpPr/>
          <p:nvPr/>
        </p:nvSpPr>
        <p:spPr>
          <a:xfrm>
            <a:off x="548640" y="5029200"/>
            <a:ext cx="64008" cy="777240"/>
          </a:xfrm>
          <a:prstGeom prst="rect">
            <a:avLst/>
          </a:prstGeom>
          <a:solidFill>
            <a:srgbClr val="1C7293"/>
          </a:solidFill>
          <a:ln w="12700">
            <a:solidFill>
              <a:srgbClr val="1C7293"/>
            </a:solidFill>
            <a:prstDash val="solid"/>
          </a:ln>
        </p:spPr>
        <p:txBody>
          <a:bodyPr/>
          <a:lstStyle/>
          <a:p>
            <a:endParaRPr lang="es-CL"/>
          </a:p>
        </p:txBody>
      </p:sp>
      <p:sp>
        <p:nvSpPr>
          <p:cNvPr id="24" name="Text 21"/>
          <p:cNvSpPr txBox="1"/>
          <p:nvPr/>
        </p:nvSpPr>
        <p:spPr>
          <a:xfrm>
            <a:off x="749808" y="5029200"/>
            <a:ext cx="6263640" cy="777240"/>
          </a:xfrm>
          <a:prstGeom prst="rect">
            <a:avLst/>
          </a:prstGeom>
          <a:noFill/>
          <a:ln/>
        </p:spPr>
        <p:txBody>
          <a:bodyPr wrap="square" lIns="0" tIns="0" rIns="0" bIns="0" rtlCol="0" anchor="ctr"/>
          <a:lstStyle/>
          <a:p>
            <a:pPr marL="0" indent="0">
              <a:buNone/>
            </a:pPr>
            <a:r>
              <a:rPr lang="en-US" sz="1250" i="1" dirty="0">
                <a:solidFill>
                  <a:srgbClr val="1E2A44"/>
                </a:solidFill>
                <a:latin typeface="Calibri" pitchFamily="34" charset="0"/>
                <a:ea typeface="Calibri" pitchFamily="34" charset="-122"/>
                <a:cs typeface="Calibri" pitchFamily="34" charset="-120"/>
              </a:rPr>
              <a:t>Piensa el tooltip como la nota explicativa de cada punto: nombres y unidades, no columnas internas.</a:t>
            </a:r>
            <a:endParaRPr lang="en-US" sz="12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VISUALIZACIONES INTERACTIVAS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Guardar y compartir un gráfico interactivo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27</a:t>
            </a:r>
            <a:endParaRPr lang="en-US" sz="800" dirty="0"/>
          </a:p>
        </p:txBody>
      </p:sp>
      <p:sp>
        <p:nvSpPr>
          <p:cNvPr id="7" name="Shape 4"/>
          <p:cNvSpPr/>
          <p:nvPr/>
        </p:nvSpPr>
        <p:spPr>
          <a:xfrm>
            <a:off x="548640" y="1508760"/>
            <a:ext cx="2377440" cy="731520"/>
          </a:xfrm>
          <a:prstGeom prst="roundRect">
            <a:avLst>
              <a:gd name="adj" fmla="val 8750"/>
            </a:avLst>
          </a:prstGeom>
          <a:solidFill>
            <a:srgbClr val="065A82"/>
          </a:solidFill>
          <a:ln w="12700">
            <a:solidFill>
              <a:srgbClr val="065A82"/>
            </a:solidFill>
            <a:prstDash val="solid"/>
          </a:ln>
        </p:spPr>
        <p:txBody>
          <a:bodyPr/>
          <a:lstStyle/>
          <a:p>
            <a:endParaRPr lang="es-CL"/>
          </a:p>
        </p:txBody>
      </p:sp>
      <p:sp>
        <p:nvSpPr>
          <p:cNvPr id="8" name="Text 5"/>
          <p:cNvSpPr txBox="1"/>
          <p:nvPr/>
        </p:nvSpPr>
        <p:spPr>
          <a:xfrm>
            <a:off x="548640" y="1508760"/>
            <a:ext cx="237744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ggplot()</a:t>
            </a:r>
            <a:endParaRPr lang="en-US" sz="1400" dirty="0"/>
          </a:p>
        </p:txBody>
      </p:sp>
      <p:sp>
        <p:nvSpPr>
          <p:cNvPr id="9" name="Text 6"/>
          <p:cNvSpPr txBox="1"/>
          <p:nvPr/>
        </p:nvSpPr>
        <p:spPr>
          <a:xfrm>
            <a:off x="2944368" y="1508760"/>
            <a:ext cx="420624" cy="731520"/>
          </a:xfrm>
          <a:prstGeom prst="rect">
            <a:avLst/>
          </a:prstGeom>
          <a:noFill/>
          <a:ln/>
        </p:spPr>
        <p:txBody>
          <a:bodyPr wrap="square" lIns="0" tIns="0" rIns="0" bIns="0" rtlCol="0" anchor="ctr"/>
          <a:lstStyle/>
          <a:p>
            <a:pPr marL="0" indent="0" algn="ctr">
              <a:buNone/>
            </a:pPr>
            <a:r>
              <a:rPr lang="en-US" sz="2400" dirty="0">
                <a:solidFill>
                  <a:srgbClr val="5B6B7F"/>
                </a:solidFill>
                <a:latin typeface="Cambria" pitchFamily="34" charset="0"/>
                <a:ea typeface="Cambria" pitchFamily="34" charset="-122"/>
                <a:cs typeface="Cambria" pitchFamily="34" charset="-120"/>
              </a:rPr>
              <a:t>→</a:t>
            </a:r>
            <a:endParaRPr lang="en-US" sz="2400" dirty="0"/>
          </a:p>
        </p:txBody>
      </p:sp>
      <p:sp>
        <p:nvSpPr>
          <p:cNvPr id="10" name="Shape 7"/>
          <p:cNvSpPr/>
          <p:nvPr/>
        </p:nvSpPr>
        <p:spPr>
          <a:xfrm>
            <a:off x="3383280" y="1508760"/>
            <a:ext cx="2377440" cy="731520"/>
          </a:xfrm>
          <a:prstGeom prst="roundRect">
            <a:avLst>
              <a:gd name="adj" fmla="val 8750"/>
            </a:avLst>
          </a:prstGeom>
          <a:solidFill>
            <a:srgbClr val="065A82"/>
          </a:solidFill>
          <a:ln w="12700">
            <a:solidFill>
              <a:srgbClr val="065A82"/>
            </a:solidFill>
            <a:prstDash val="solid"/>
          </a:ln>
        </p:spPr>
        <p:txBody>
          <a:bodyPr/>
          <a:lstStyle/>
          <a:p>
            <a:endParaRPr lang="es-CL"/>
          </a:p>
        </p:txBody>
      </p:sp>
      <p:sp>
        <p:nvSpPr>
          <p:cNvPr id="11" name="Text 8"/>
          <p:cNvSpPr txBox="1"/>
          <p:nvPr/>
        </p:nvSpPr>
        <p:spPr>
          <a:xfrm>
            <a:off x="3383280" y="1508760"/>
            <a:ext cx="237744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ggplotly()</a:t>
            </a:r>
            <a:endParaRPr lang="en-US" sz="1400" dirty="0"/>
          </a:p>
        </p:txBody>
      </p:sp>
      <p:sp>
        <p:nvSpPr>
          <p:cNvPr id="12" name="Text 9"/>
          <p:cNvSpPr txBox="1"/>
          <p:nvPr/>
        </p:nvSpPr>
        <p:spPr>
          <a:xfrm>
            <a:off x="5779008" y="1508760"/>
            <a:ext cx="420624" cy="731520"/>
          </a:xfrm>
          <a:prstGeom prst="rect">
            <a:avLst/>
          </a:prstGeom>
          <a:noFill/>
          <a:ln/>
        </p:spPr>
        <p:txBody>
          <a:bodyPr wrap="square" lIns="0" tIns="0" rIns="0" bIns="0" rtlCol="0" anchor="ctr"/>
          <a:lstStyle/>
          <a:p>
            <a:pPr marL="0" indent="0" algn="ctr">
              <a:buNone/>
            </a:pPr>
            <a:r>
              <a:rPr lang="en-US" sz="2400" dirty="0">
                <a:solidFill>
                  <a:srgbClr val="5B6B7F"/>
                </a:solidFill>
                <a:latin typeface="Cambria" pitchFamily="34" charset="0"/>
                <a:ea typeface="Cambria" pitchFamily="34" charset="-122"/>
                <a:cs typeface="Cambria" pitchFamily="34" charset="-120"/>
              </a:rPr>
              <a:t>→</a:t>
            </a:r>
            <a:endParaRPr lang="en-US" sz="2400" dirty="0"/>
          </a:p>
        </p:txBody>
      </p:sp>
      <p:sp>
        <p:nvSpPr>
          <p:cNvPr id="13" name="Shape 10"/>
          <p:cNvSpPr/>
          <p:nvPr/>
        </p:nvSpPr>
        <p:spPr>
          <a:xfrm>
            <a:off x="6217920" y="1508760"/>
            <a:ext cx="2377440" cy="731520"/>
          </a:xfrm>
          <a:prstGeom prst="roundRect">
            <a:avLst>
              <a:gd name="adj" fmla="val 8750"/>
            </a:avLst>
          </a:prstGeom>
          <a:solidFill>
            <a:srgbClr val="065A82"/>
          </a:solidFill>
          <a:ln w="12700">
            <a:solidFill>
              <a:srgbClr val="065A82"/>
            </a:solidFill>
            <a:prstDash val="solid"/>
          </a:ln>
        </p:spPr>
        <p:txBody>
          <a:bodyPr/>
          <a:lstStyle/>
          <a:p>
            <a:endParaRPr lang="es-CL"/>
          </a:p>
        </p:txBody>
      </p:sp>
      <p:sp>
        <p:nvSpPr>
          <p:cNvPr id="14" name="Text 11"/>
          <p:cNvSpPr txBox="1"/>
          <p:nvPr/>
        </p:nvSpPr>
        <p:spPr>
          <a:xfrm>
            <a:off x="6217920" y="1508760"/>
            <a:ext cx="237744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saveWidget()</a:t>
            </a:r>
            <a:endParaRPr lang="en-US" sz="1400" dirty="0"/>
          </a:p>
        </p:txBody>
      </p:sp>
      <p:sp>
        <p:nvSpPr>
          <p:cNvPr id="15" name="Text 12"/>
          <p:cNvSpPr txBox="1"/>
          <p:nvPr/>
        </p:nvSpPr>
        <p:spPr>
          <a:xfrm>
            <a:off x="8613648" y="1508760"/>
            <a:ext cx="420624" cy="731520"/>
          </a:xfrm>
          <a:prstGeom prst="rect">
            <a:avLst/>
          </a:prstGeom>
          <a:noFill/>
          <a:ln/>
        </p:spPr>
        <p:txBody>
          <a:bodyPr wrap="square" lIns="0" tIns="0" rIns="0" bIns="0" rtlCol="0" anchor="ctr"/>
          <a:lstStyle/>
          <a:p>
            <a:pPr marL="0" indent="0" algn="ctr">
              <a:buNone/>
            </a:pPr>
            <a:r>
              <a:rPr lang="en-US" sz="2400" dirty="0">
                <a:solidFill>
                  <a:srgbClr val="5B6B7F"/>
                </a:solidFill>
                <a:latin typeface="Cambria" pitchFamily="34" charset="0"/>
                <a:ea typeface="Cambria" pitchFamily="34" charset="-122"/>
                <a:cs typeface="Cambria" pitchFamily="34" charset="-120"/>
              </a:rPr>
              <a:t>→</a:t>
            </a:r>
            <a:endParaRPr lang="en-US" sz="2400" dirty="0"/>
          </a:p>
        </p:txBody>
      </p:sp>
      <p:sp>
        <p:nvSpPr>
          <p:cNvPr id="16" name="Shape 13"/>
          <p:cNvSpPr/>
          <p:nvPr/>
        </p:nvSpPr>
        <p:spPr>
          <a:xfrm>
            <a:off x="9052560" y="1508760"/>
            <a:ext cx="2377440" cy="731520"/>
          </a:xfrm>
          <a:prstGeom prst="roundRect">
            <a:avLst>
              <a:gd name="adj" fmla="val 8750"/>
            </a:avLst>
          </a:prstGeom>
          <a:solidFill>
            <a:srgbClr val="1C7293"/>
          </a:solidFill>
          <a:ln w="12700">
            <a:solidFill>
              <a:srgbClr val="1C7293"/>
            </a:solidFill>
            <a:prstDash val="solid"/>
          </a:ln>
        </p:spPr>
        <p:txBody>
          <a:bodyPr/>
          <a:lstStyle/>
          <a:p>
            <a:endParaRPr lang="es-CL"/>
          </a:p>
        </p:txBody>
      </p:sp>
      <p:sp>
        <p:nvSpPr>
          <p:cNvPr id="17" name="Text 14"/>
          <p:cNvSpPr txBox="1"/>
          <p:nvPr/>
        </p:nvSpPr>
        <p:spPr>
          <a:xfrm>
            <a:off x="9052560" y="1508760"/>
            <a:ext cx="2377440" cy="731520"/>
          </a:xfrm>
          <a:prstGeom prst="rect">
            <a:avLst/>
          </a:prstGeom>
          <a:noFill/>
          <a:ln/>
        </p:spPr>
        <p:txBody>
          <a:bodyPr wrap="square" lIns="0" tIns="0" rIns="0" bIns="0" rtlCol="0" anchor="ctr"/>
          <a:lstStyle/>
          <a:p>
            <a:pPr marL="0" indent="0" algn="ctr">
              <a:buNone/>
            </a:pPr>
            <a:r>
              <a:rPr lang="en-US" sz="1400" b="1" dirty="0">
                <a:solidFill>
                  <a:srgbClr val="FFFFFF"/>
                </a:solidFill>
                <a:latin typeface="Courier New" pitchFamily="34" charset="0"/>
                <a:ea typeface="Courier New" pitchFamily="34" charset="-122"/>
                <a:cs typeface="Courier New" pitchFamily="34" charset="-120"/>
              </a:rPr>
              <a:t>archivo .html</a:t>
            </a:r>
            <a:endParaRPr lang="en-US" sz="1400" dirty="0"/>
          </a:p>
        </p:txBody>
      </p:sp>
      <p:sp>
        <p:nvSpPr>
          <p:cNvPr id="18" name="Shape 15"/>
          <p:cNvSpPr/>
          <p:nvPr/>
        </p:nvSpPr>
        <p:spPr>
          <a:xfrm>
            <a:off x="548640" y="2697480"/>
            <a:ext cx="6035040" cy="1176528"/>
          </a:xfrm>
          <a:prstGeom prst="roundRect">
            <a:avLst>
              <a:gd name="adj" fmla="val 4663"/>
            </a:avLst>
          </a:prstGeom>
          <a:solidFill>
            <a:srgbClr val="162044"/>
          </a:solidFill>
          <a:ln w="12700">
            <a:solidFill>
              <a:srgbClr val="162044"/>
            </a:solidFill>
            <a:prstDash val="solid"/>
          </a:ln>
        </p:spPr>
        <p:txBody>
          <a:bodyPr/>
          <a:lstStyle/>
          <a:p>
            <a:endParaRPr lang="es-CL"/>
          </a:p>
        </p:txBody>
      </p:sp>
      <p:sp>
        <p:nvSpPr>
          <p:cNvPr id="19" name="Text 16"/>
          <p:cNvSpPr txBox="1"/>
          <p:nvPr/>
        </p:nvSpPr>
        <p:spPr>
          <a:xfrm>
            <a:off x="731520" y="2825496"/>
            <a:ext cx="5669280" cy="865632"/>
          </a:xfrm>
          <a:prstGeom prst="rect">
            <a:avLst/>
          </a:prstGeom>
          <a:noFill/>
          <a:ln/>
        </p:spPr>
        <p:txBody>
          <a:bodyPr wrap="square" lIns="0" tIns="0" rIns="0" bIns="0" rtlCol="0" anchor="t"/>
          <a:lstStyle/>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w </a:t>
            </a:r>
            <a:r>
              <a:rPr lang="en-US" sz="1200" dirty="0">
                <a:solidFill>
                  <a:srgbClr val="A5D8FF"/>
                </a:solidFill>
                <a:latin typeface="Courier New" pitchFamily="34" charset="0"/>
                <a:ea typeface="Courier New" pitchFamily="34" charset="-122"/>
                <a:cs typeface="Courier New" pitchFamily="34" charset="-120"/>
              </a:rPr>
              <a:t>&lt;-</a:t>
            </a:r>
            <a:r>
              <a:rPr lang="en-US" sz="1200" dirty="0">
                <a:solidFill>
                  <a:srgbClr val="E6EDF7"/>
                </a:solidFill>
                <a:latin typeface="Courier New" pitchFamily="34" charset="0"/>
                <a:ea typeface="Courier New" pitchFamily="34" charset="-122"/>
                <a:cs typeface="Courier New" pitchFamily="34" charset="-120"/>
              </a:rPr>
              <a:t> </a:t>
            </a:r>
            <a:r>
              <a:rPr lang="en-US" sz="1200" dirty="0">
                <a:solidFill>
                  <a:srgbClr val="7DD3FC"/>
                </a:solidFill>
                <a:latin typeface="Courier New" pitchFamily="34" charset="0"/>
                <a:ea typeface="Courier New" pitchFamily="34" charset="-122"/>
                <a:cs typeface="Courier New" pitchFamily="34" charset="-120"/>
              </a:rPr>
              <a:t>ggplotly</a:t>
            </a:r>
            <a:r>
              <a:rPr lang="en-US" sz="1200" dirty="0">
                <a:solidFill>
                  <a:srgbClr val="E6EDF7"/>
                </a:solidFill>
                <a:latin typeface="Courier New" pitchFamily="34" charset="0"/>
                <a:ea typeface="Courier New" pitchFamily="34" charset="-122"/>
                <a:cs typeface="Courier New" pitchFamily="34" charset="-120"/>
              </a:rPr>
              <a:t>(p, tooltip = </a:t>
            </a:r>
            <a:r>
              <a:rPr lang="en-US" sz="1200" dirty="0">
                <a:solidFill>
                  <a:srgbClr val="F2C97D"/>
                </a:solidFill>
                <a:latin typeface="Courier New" pitchFamily="34" charset="0"/>
                <a:ea typeface="Courier New" pitchFamily="34" charset="-122"/>
                <a:cs typeface="Courier New" pitchFamily="34" charset="-120"/>
              </a:rPr>
              <a:t>"text"</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htmlwidgets::</a:t>
            </a:r>
            <a:r>
              <a:rPr lang="en-US" sz="1200" dirty="0">
                <a:solidFill>
                  <a:srgbClr val="7DD3FC"/>
                </a:solidFill>
                <a:latin typeface="Courier New" pitchFamily="34" charset="0"/>
                <a:ea typeface="Courier New" pitchFamily="34" charset="-122"/>
                <a:cs typeface="Courier New" pitchFamily="34" charset="-120"/>
              </a:rPr>
              <a:t>saveWidget</a:t>
            </a:r>
            <a:r>
              <a:rPr lang="en-US" sz="1200" dirty="0">
                <a:solidFill>
                  <a:srgbClr val="E6EDF7"/>
                </a:solidFill>
                <a:latin typeface="Courier New" pitchFamily="34" charset="0"/>
                <a:ea typeface="Courier New" pitchFamily="34" charset="-122"/>
                <a:cs typeface="Courier New" pitchFamily="34" charset="-120"/>
              </a:rPr>
              <a:t>(w, </a:t>
            </a:r>
            <a:r>
              <a:rPr lang="en-US" sz="1200" dirty="0">
                <a:solidFill>
                  <a:srgbClr val="F2C97D"/>
                </a:solidFill>
                <a:latin typeface="Courier New" pitchFamily="34" charset="0"/>
                <a:ea typeface="Courier New" pitchFamily="34" charset="-122"/>
                <a:cs typeface="Courier New" pitchFamily="34" charset="-120"/>
              </a:rPr>
              <a:t>"outputs/grafico.html"</a:t>
            </a:r>
            <a:r>
              <a:rPr lang="en-US" sz="1200" dirty="0">
                <a:solidFill>
                  <a:srgbClr val="E6EDF7"/>
                </a:solidFill>
                <a:latin typeface="Courier New" pitchFamily="34" charset="0"/>
                <a:ea typeface="Courier New" pitchFamily="34" charset="-122"/>
                <a:cs typeface="Courier New" pitchFamily="34" charset="-120"/>
              </a:rPr>
              <a:t>,</a:t>
            </a:r>
            <a:endParaRPr lang="en-US" sz="1200" dirty="0"/>
          </a:p>
          <a:p>
            <a:pPr marL="0" indent="0">
              <a:lnSpc>
                <a:spcPts val="1704"/>
              </a:lnSpc>
              <a:buNone/>
            </a:pPr>
            <a:r>
              <a:rPr lang="en-US" sz="1200" dirty="0">
                <a:solidFill>
                  <a:srgbClr val="E6EDF7"/>
                </a:solidFill>
                <a:latin typeface="Courier New" pitchFamily="34" charset="0"/>
                <a:ea typeface="Courier New" pitchFamily="34" charset="-122"/>
                <a:cs typeface="Courier New" pitchFamily="34" charset="-120"/>
              </a:rPr>
              <a:t>                        selfcontained = </a:t>
            </a:r>
            <a:r>
              <a:rPr lang="en-US" sz="1200" dirty="0">
                <a:solidFill>
                  <a:srgbClr val="C9B8FF"/>
                </a:solidFill>
                <a:latin typeface="Courier New" pitchFamily="34" charset="0"/>
                <a:ea typeface="Courier New" pitchFamily="34" charset="-122"/>
                <a:cs typeface="Courier New" pitchFamily="34" charset="-120"/>
              </a:rPr>
              <a:t>TRUE</a:t>
            </a:r>
            <a:r>
              <a:rPr lang="en-US" sz="1200" dirty="0">
                <a:solidFill>
                  <a:srgbClr val="E6EDF7"/>
                </a:solidFill>
                <a:latin typeface="Courier New" pitchFamily="34" charset="0"/>
                <a:ea typeface="Courier New" pitchFamily="34" charset="-122"/>
                <a:cs typeface="Courier New" pitchFamily="34" charset="-120"/>
              </a:rPr>
              <a:t>)</a:t>
            </a:r>
            <a:endParaRPr lang="en-US" sz="1200" dirty="0"/>
          </a:p>
        </p:txBody>
      </p:sp>
      <p:sp>
        <p:nvSpPr>
          <p:cNvPr id="20" name="Text 17"/>
          <p:cNvSpPr txBox="1"/>
          <p:nvPr/>
        </p:nvSpPr>
        <p:spPr>
          <a:xfrm>
            <a:off x="548640" y="4056888"/>
            <a:ext cx="6035040" cy="640080"/>
          </a:xfrm>
          <a:prstGeom prst="rect">
            <a:avLst/>
          </a:prstGeom>
          <a:noFill/>
          <a:ln/>
        </p:spPr>
        <p:txBody>
          <a:bodyPr wrap="square" lIns="0" tIns="0" rIns="0" bIns="0" rtlCol="0" anchor="t"/>
          <a:lstStyle/>
          <a:p>
            <a:pPr marL="0" indent="0">
              <a:buNone/>
            </a:pPr>
            <a:r>
              <a:rPr lang="en-US" sz="1250" dirty="0">
                <a:solidFill>
                  <a:srgbClr val="5B6B7F"/>
                </a:solidFill>
                <a:latin typeface="Calibri" pitchFamily="34" charset="0"/>
                <a:ea typeface="Calibri" pitchFamily="34" charset="-122"/>
                <a:cs typeface="Calibri" pitchFamily="34" charset="-120"/>
              </a:rPr>
              <a:t>selfcontained = TRUE: un único archivo que se abre en cualquier navegador, sin R.</a:t>
            </a:r>
            <a:endParaRPr lang="en-US" sz="1250" dirty="0"/>
          </a:p>
        </p:txBody>
      </p:sp>
      <p:sp>
        <p:nvSpPr>
          <p:cNvPr id="21" name="Text 18"/>
          <p:cNvSpPr txBox="1"/>
          <p:nvPr/>
        </p:nvSpPr>
        <p:spPr>
          <a:xfrm>
            <a:off x="6949440" y="2651760"/>
            <a:ext cx="45720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DÓNDE FUNCIONA</a:t>
            </a:r>
            <a:endParaRPr lang="en-US" sz="900" dirty="0"/>
          </a:p>
        </p:txBody>
      </p:sp>
      <p:graphicFrame>
        <p:nvGraphicFramePr>
          <p:cNvPr id="28" name="Table 0"/>
          <p:cNvGraphicFramePr>
            <a:graphicFrameLocks noGrp="1"/>
          </p:cNvGraphicFramePr>
          <p:nvPr>
            <p:extLst>
              <p:ext uri="{D42A27DB-BD31-4B8C-83A1-F6EECF244321}">
                <p14:modId xmlns:p14="http://schemas.microsoft.com/office/powerpoint/2010/main" val="1579011935"/>
              </p:ext>
            </p:extLst>
          </p:nvPr>
        </p:nvGraphicFramePr>
        <p:xfrm>
          <a:off x="6949440" y="2971800"/>
          <a:ext cx="4690872" cy="914400"/>
        </p:xfrm>
        <a:graphic>
          <a:graphicData uri="http://schemas.openxmlformats.org/drawingml/2006/table">
            <a:tbl>
              <a:tblPr/>
              <a:tblGrid>
                <a:gridCol w="2834640">
                  <a:extLst>
                    <a:ext uri="{9D8B030D-6E8A-4147-A177-3AD203B41FA5}">
                      <a16:colId xmlns:a16="http://schemas.microsoft.com/office/drawing/2014/main" val="20000"/>
                    </a:ext>
                  </a:extLst>
                </a:gridCol>
                <a:gridCol w="1856232">
                  <a:extLst>
                    <a:ext uri="{9D8B030D-6E8A-4147-A177-3AD203B41FA5}">
                      <a16:colId xmlns:a16="http://schemas.microsoft.com/office/drawing/2014/main" val="20001"/>
                    </a:ext>
                  </a:extLst>
                </a:gridCol>
              </a:tblGrid>
              <a:tr h="411480">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Medio</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tc>
                  <a:txBody>
                    <a:bodyPr/>
                    <a:lstStyle/>
                    <a:p>
                      <a:pPr marL="0" indent="0" algn="l">
                        <a:buNone/>
                      </a:pPr>
                      <a:r>
                        <a:rPr lang="en-US" sz="1150" b="1" dirty="0">
                          <a:solidFill>
                            <a:srgbClr val="FFFFFF"/>
                          </a:solidFill>
                          <a:latin typeface="Calibri" pitchFamily="34" charset="0"/>
                          <a:ea typeface="Calibri" pitchFamily="34" charset="-122"/>
                          <a:cs typeface="Calibri" pitchFamily="34" charset="-120"/>
                        </a:rPr>
                        <a:t>Interactivo</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0" cap="flat" cmpd="sng" algn="ctr">
                      <a:noFill/>
                    </a:lnT>
                    <a:lnB w="6350" cap="flat" cmpd="sng" algn="ctr">
                      <a:solidFill>
                        <a:srgbClr val="D5E3EA"/>
                      </a:solidFill>
                      <a:prstDash val="solid"/>
                      <a:round/>
                      <a:headEnd type="none" w="med" len="med"/>
                      <a:tailEnd type="none" w="med" len="med"/>
                    </a:lnB>
                    <a:solidFill>
                      <a:srgbClr val="065A82"/>
                    </a:solidFill>
                  </a:tcPr>
                </a:tc>
                <a:extLst>
                  <a:ext uri="{0D108BD9-81ED-4DB2-BD59-A6C34878D82A}">
                    <a16:rowId xmlns:a16="http://schemas.microsoft.com/office/drawing/2014/main" val="10000"/>
                  </a:ext>
                </a:extLst>
              </a:tr>
              <a:tr h="411480">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Archivo .html / intranet</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411480">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Quarto con salida HTML</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Sí</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2"/>
                  </a:ext>
                </a:extLst>
              </a:tr>
              <a:tr h="411480">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Quarto con PDF o Word</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No: usa la versión estática</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411480">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Artículo, póster, PowerPoint</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tc>
                  <a:txBody>
                    <a:bodyPr/>
                    <a:lstStyle/>
                    <a:p>
                      <a:pPr marL="0" indent="0" algn="l">
                        <a:buNone/>
                      </a:pPr>
                      <a:r>
                        <a:rPr lang="en-US" sz="1150" dirty="0">
                          <a:solidFill>
                            <a:srgbClr val="1E2A44"/>
                          </a:solidFill>
                          <a:latin typeface="Calibri" pitchFamily="34" charset="0"/>
                          <a:ea typeface="Calibri" pitchFamily="34" charset="-122"/>
                          <a:cs typeface="Calibri" pitchFamily="34" charset="-120"/>
                        </a:rPr>
                        <a:t>No: usa PNG o PDF</a:t>
                      </a:r>
                      <a:endParaRPr lang="en-US" sz="1150" dirty="0">
                        <a:latin typeface="Calibri" charset="0"/>
                        <a:ea typeface="Calibri" charset="0"/>
                        <a:cs typeface="Calibri" charset="0"/>
                      </a:endParaRPr>
                    </a:p>
                  </a:txBody>
                  <a:tcPr marL="73152" marR="73152" marT="0" marB="0" anchor="ctr">
                    <a:lnL w="0" cap="flat" cmpd="sng" algn="ctr">
                      <a:noFill/>
                    </a:lnL>
                    <a:lnR w="0" cap="flat" cmpd="sng" algn="ctr">
                      <a:noFill/>
                    </a:lnR>
                    <a:lnT w="6350" cap="flat" cmpd="sng" algn="ctr">
                      <a:solidFill>
                        <a:srgbClr val="D5E3EA"/>
                      </a:solidFill>
                      <a:prstDash val="solid"/>
                      <a:round/>
                      <a:headEnd type="none" w="med" len="med"/>
                      <a:tailEnd type="none" w="med" len="med"/>
                    </a:lnT>
                    <a:lnB w="6350" cap="flat" cmpd="sng" algn="ctr">
                      <a:solidFill>
                        <a:srgbClr val="D5E3EA"/>
                      </a:solidFill>
                      <a:prstDash val="solid"/>
                      <a:round/>
                      <a:headEnd type="none" w="med" len="med"/>
                      <a:tailEnd type="none" w="med" len="med"/>
                    </a:lnB>
                    <a:solidFill>
                      <a:srgbClr val="EFF5F8"/>
                    </a:solidFill>
                  </a:tcPr>
                </a:tc>
                <a:extLst>
                  <a:ext uri="{0D108BD9-81ED-4DB2-BD59-A6C34878D82A}">
                    <a16:rowId xmlns:a16="http://schemas.microsoft.com/office/drawing/2014/main" val="10004"/>
                  </a:ext>
                </a:extLst>
              </a:tr>
            </a:tbl>
          </a:graphicData>
        </a:graphic>
      </p:graphicFrame>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VISUALIZACIONES INTERACTIVAS · OPCIONAL</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Tablas interactivas con DT</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28</a:t>
            </a:r>
            <a:endParaRPr lang="en-US" sz="800" dirty="0"/>
          </a:p>
        </p:txBody>
      </p:sp>
      <p:sp>
        <p:nvSpPr>
          <p:cNvPr id="7" name="Shape 4"/>
          <p:cNvSpPr/>
          <p:nvPr/>
        </p:nvSpPr>
        <p:spPr>
          <a:xfrm>
            <a:off x="548640" y="1399032"/>
            <a:ext cx="6528816" cy="3916245"/>
          </a:xfrm>
          <a:prstGeom prst="roundRect">
            <a:avLst>
              <a:gd name="adj" fmla="val 116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8" name="Image 0" descr="/home/claude/s3/figs/f14_dt.png"/>
          <p:cNvPicPr>
            <a:picLocks noChangeAspect="1"/>
          </p:cNvPicPr>
          <p:nvPr/>
        </p:nvPicPr>
        <p:blipFill>
          <a:blip r:embed="rId3"/>
          <a:stretch>
            <a:fillRect/>
          </a:stretch>
        </p:blipFill>
        <p:spPr>
          <a:xfrm>
            <a:off x="612648" y="1463040"/>
            <a:ext cx="6400800" cy="3788229"/>
          </a:xfrm>
          <a:prstGeom prst="rect">
            <a:avLst/>
          </a:prstGeom>
        </p:spPr>
      </p:pic>
      <p:sp>
        <p:nvSpPr>
          <p:cNvPr id="9" name="Shape 5"/>
          <p:cNvSpPr/>
          <p:nvPr/>
        </p:nvSpPr>
        <p:spPr>
          <a:xfrm>
            <a:off x="7406640" y="1463040"/>
            <a:ext cx="4233672" cy="1438021"/>
          </a:xfrm>
          <a:prstGeom prst="roundRect">
            <a:avLst>
              <a:gd name="adj" fmla="val 3815"/>
            </a:avLst>
          </a:prstGeom>
          <a:solidFill>
            <a:srgbClr val="162044"/>
          </a:solidFill>
          <a:ln w="12700">
            <a:solidFill>
              <a:srgbClr val="162044"/>
            </a:solidFill>
            <a:prstDash val="solid"/>
          </a:ln>
        </p:spPr>
        <p:txBody>
          <a:bodyPr/>
          <a:lstStyle/>
          <a:p>
            <a:endParaRPr lang="es-CL"/>
          </a:p>
        </p:txBody>
      </p:sp>
      <p:sp>
        <p:nvSpPr>
          <p:cNvPr id="10" name="Text 6"/>
          <p:cNvSpPr txBox="1"/>
          <p:nvPr/>
        </p:nvSpPr>
        <p:spPr>
          <a:xfrm>
            <a:off x="7589520" y="1591056"/>
            <a:ext cx="3867912" cy="1127125"/>
          </a:xfrm>
          <a:prstGeom prst="rect">
            <a:avLst/>
          </a:prstGeom>
          <a:noFill/>
          <a:ln/>
        </p:spPr>
        <p:txBody>
          <a:bodyPr wrap="square" lIns="0" tIns="0" rIns="0" bIns="0" rtlCol="0" anchor="t"/>
          <a:lstStyle/>
          <a:p>
            <a:pPr marL="0" indent="0">
              <a:lnSpc>
                <a:spcPts val="1775"/>
              </a:lnSpc>
              <a:buNone/>
            </a:pPr>
            <a:r>
              <a:rPr lang="en-US" sz="1250" dirty="0">
                <a:solidFill>
                  <a:srgbClr val="7DD3FC"/>
                </a:solidFill>
                <a:latin typeface="Courier New" pitchFamily="34" charset="0"/>
                <a:ea typeface="Courier New" pitchFamily="34" charset="-122"/>
                <a:cs typeface="Courier New" pitchFamily="34" charset="-120"/>
              </a:rPr>
              <a:t>library</a:t>
            </a:r>
            <a:r>
              <a:rPr lang="en-US" sz="1250" dirty="0">
                <a:solidFill>
                  <a:srgbClr val="E6EDF7"/>
                </a:solidFill>
                <a:latin typeface="Courier New" pitchFamily="34" charset="0"/>
                <a:ea typeface="Courier New" pitchFamily="34" charset="-122"/>
                <a:cs typeface="Courier New" pitchFamily="34" charset="-120"/>
              </a:rPr>
              <a:t>(DT)</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a:t>
            </a:r>
            <a:endParaRPr lang="en-US" sz="1250" dirty="0"/>
          </a:p>
          <a:p>
            <a:pPr marL="0" indent="0">
              <a:lnSpc>
                <a:spcPts val="1775"/>
              </a:lnSpc>
              <a:buNone/>
            </a:pPr>
            <a:r>
              <a:rPr lang="en-US" sz="1250" dirty="0">
                <a:solidFill>
                  <a:srgbClr val="7DD3FC"/>
                </a:solidFill>
                <a:latin typeface="Courier New" pitchFamily="34" charset="0"/>
                <a:ea typeface="Courier New" pitchFamily="34" charset="-122"/>
                <a:cs typeface="Courier New" pitchFamily="34" charset="-120"/>
              </a:rPr>
              <a:t>datatable</a:t>
            </a:r>
            <a:r>
              <a:rPr lang="en-US" sz="1250" dirty="0">
                <a:solidFill>
                  <a:srgbClr val="E6EDF7"/>
                </a:solidFill>
                <a:latin typeface="Courier New" pitchFamily="34" charset="0"/>
                <a:ea typeface="Courier New" pitchFamily="34" charset="-122"/>
                <a:cs typeface="Courier New" pitchFamily="34" charset="-120"/>
              </a:rPr>
              <a:t>(prod,</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filter = </a:t>
            </a:r>
            <a:r>
              <a:rPr lang="en-US" sz="1250" dirty="0">
                <a:solidFill>
                  <a:srgbClr val="F2C97D"/>
                </a:solidFill>
                <a:latin typeface="Courier New" pitchFamily="34" charset="0"/>
                <a:ea typeface="Courier New" pitchFamily="34" charset="-122"/>
                <a:cs typeface="Courier New" pitchFamily="34" charset="-120"/>
              </a:rPr>
              <a:t>"top"</a:t>
            </a:r>
            <a:r>
              <a:rPr lang="en-US" sz="1250" dirty="0">
                <a:solidFill>
                  <a:srgbClr val="E6EDF7"/>
                </a:solidFill>
                <a:latin typeface="Courier New" pitchFamily="34" charset="0"/>
                <a:ea typeface="Courier New" pitchFamily="34" charset="-122"/>
                <a:cs typeface="Courier New" pitchFamily="34" charset="-120"/>
              </a:rPr>
              <a:t>,</a:t>
            </a:r>
            <a:endParaRPr lang="en-US" sz="1250" dirty="0"/>
          </a:p>
          <a:p>
            <a:pPr marL="0" indent="0">
              <a:lnSpc>
                <a:spcPts val="1775"/>
              </a:lnSpc>
              <a:buNone/>
            </a:pPr>
            <a:r>
              <a:rPr lang="en-US" sz="1250" dirty="0">
                <a:solidFill>
                  <a:srgbClr val="E6EDF7"/>
                </a:solidFill>
                <a:latin typeface="Courier New" pitchFamily="34" charset="0"/>
                <a:ea typeface="Courier New" pitchFamily="34" charset="-122"/>
                <a:cs typeface="Courier New" pitchFamily="34" charset="-120"/>
              </a:rPr>
              <a:t>          rownames = </a:t>
            </a:r>
            <a:r>
              <a:rPr lang="en-US" sz="1250" dirty="0">
                <a:solidFill>
                  <a:srgbClr val="C9B8FF"/>
                </a:solidFill>
                <a:latin typeface="Courier New" pitchFamily="34" charset="0"/>
                <a:ea typeface="Courier New" pitchFamily="34" charset="-122"/>
                <a:cs typeface="Courier New" pitchFamily="34" charset="-120"/>
              </a:rPr>
              <a:t>FALSE</a:t>
            </a:r>
            <a:r>
              <a:rPr lang="en-US" sz="1250" dirty="0">
                <a:solidFill>
                  <a:srgbClr val="E6EDF7"/>
                </a:solidFill>
                <a:latin typeface="Courier New" pitchFamily="34" charset="0"/>
                <a:ea typeface="Courier New" pitchFamily="34" charset="-122"/>
                <a:cs typeface="Courier New" pitchFamily="34" charset="-120"/>
              </a:rPr>
              <a:t>)</a:t>
            </a:r>
            <a:endParaRPr lang="en-US" sz="1250" dirty="0"/>
          </a:p>
        </p:txBody>
      </p:sp>
      <p:sp>
        <p:nvSpPr>
          <p:cNvPr id="11" name="Shape 7"/>
          <p:cNvSpPr/>
          <p:nvPr/>
        </p:nvSpPr>
        <p:spPr>
          <a:xfrm>
            <a:off x="7406640" y="3175381"/>
            <a:ext cx="4233672" cy="1280160"/>
          </a:xfrm>
          <a:prstGeom prst="rect">
            <a:avLst/>
          </a:prstGeom>
          <a:solidFill>
            <a:srgbClr val="E4EEF2"/>
          </a:solidFill>
          <a:ln w="12700">
            <a:solidFill>
              <a:srgbClr val="E4EEF2"/>
            </a:solidFill>
            <a:prstDash val="solid"/>
          </a:ln>
        </p:spPr>
        <p:txBody>
          <a:bodyPr/>
          <a:lstStyle/>
          <a:p>
            <a:endParaRPr lang="es-CL"/>
          </a:p>
        </p:txBody>
      </p:sp>
      <p:sp>
        <p:nvSpPr>
          <p:cNvPr id="12" name="Shape 8"/>
          <p:cNvSpPr/>
          <p:nvPr/>
        </p:nvSpPr>
        <p:spPr>
          <a:xfrm>
            <a:off x="7406640" y="3175381"/>
            <a:ext cx="64008" cy="1280160"/>
          </a:xfrm>
          <a:prstGeom prst="rect">
            <a:avLst/>
          </a:prstGeom>
          <a:solidFill>
            <a:srgbClr val="1C7293"/>
          </a:solidFill>
          <a:ln w="12700">
            <a:solidFill>
              <a:srgbClr val="1C7293"/>
            </a:solidFill>
            <a:prstDash val="solid"/>
          </a:ln>
        </p:spPr>
        <p:txBody>
          <a:bodyPr/>
          <a:lstStyle/>
          <a:p>
            <a:endParaRPr lang="es-CL"/>
          </a:p>
        </p:txBody>
      </p:sp>
      <p:sp>
        <p:nvSpPr>
          <p:cNvPr id="13" name="Text 9"/>
          <p:cNvSpPr txBox="1"/>
          <p:nvPr/>
        </p:nvSpPr>
        <p:spPr>
          <a:xfrm>
            <a:off x="7607808" y="3175381"/>
            <a:ext cx="3913632" cy="1280160"/>
          </a:xfrm>
          <a:prstGeom prst="rect">
            <a:avLst/>
          </a:prstGeom>
          <a:noFill/>
          <a:ln/>
        </p:spPr>
        <p:txBody>
          <a:bodyPr wrap="square" lIns="0" tIns="0" rIns="0" bIns="0" rtlCol="0" anchor="ctr"/>
          <a:lstStyle/>
          <a:p>
            <a:pPr marL="0" indent="0">
              <a:buNone/>
            </a:pPr>
            <a:r>
              <a:rPr lang="en-US" sz="1250" i="1" dirty="0">
                <a:solidFill>
                  <a:srgbClr val="1E2A44"/>
                </a:solidFill>
                <a:latin typeface="Calibri" pitchFamily="34" charset="0"/>
                <a:ea typeface="Calibri" pitchFamily="34" charset="-122"/>
                <a:cs typeface="Calibri" pitchFamily="34" charset="-120"/>
              </a:rPr>
              <a:t>Búsqueda, orden y filtros por columna. Para explorar; para el informe final, una tabla estática.</a:t>
            </a:r>
            <a:endParaRPr lang="en-US" sz="12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PARTE 3 · VISUALIZACIONES INTERACTIVAS</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¿Cuándo interactivo y cuándo estático?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29</a:t>
            </a:r>
            <a:endParaRPr lang="en-US" sz="800" dirty="0"/>
          </a:p>
        </p:txBody>
      </p:sp>
      <p:sp>
        <p:nvSpPr>
          <p:cNvPr id="7" name="Shape 4"/>
          <p:cNvSpPr/>
          <p:nvPr/>
        </p:nvSpPr>
        <p:spPr>
          <a:xfrm>
            <a:off x="548640" y="1463040"/>
            <a:ext cx="5422392" cy="3429000"/>
          </a:xfrm>
          <a:prstGeom prst="roundRect">
            <a:avLst>
              <a:gd name="adj" fmla="val 186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548640" y="1463040"/>
            <a:ext cx="5422392" cy="73152"/>
          </a:xfrm>
          <a:prstGeom prst="rect">
            <a:avLst/>
          </a:prstGeom>
          <a:solidFill>
            <a:srgbClr val="065A82"/>
          </a:solidFill>
          <a:ln w="12700">
            <a:solidFill>
              <a:srgbClr val="065A82"/>
            </a:solidFill>
            <a:prstDash val="solid"/>
          </a:ln>
        </p:spPr>
        <p:txBody>
          <a:bodyPr/>
          <a:lstStyle/>
          <a:p>
            <a:endParaRPr lang="es-CL"/>
          </a:p>
        </p:txBody>
      </p:sp>
      <p:sp>
        <p:nvSpPr>
          <p:cNvPr id="9" name="Text 6"/>
          <p:cNvSpPr txBox="1"/>
          <p:nvPr/>
        </p:nvSpPr>
        <p:spPr>
          <a:xfrm>
            <a:off x="822960" y="1691640"/>
            <a:ext cx="4572000" cy="411480"/>
          </a:xfrm>
          <a:prstGeom prst="rect">
            <a:avLst/>
          </a:prstGeom>
          <a:noFill/>
          <a:ln/>
        </p:spPr>
        <p:txBody>
          <a:bodyPr wrap="square" lIns="0" tIns="0" rIns="0" bIns="0" rtlCol="0" anchor="t"/>
          <a:lstStyle/>
          <a:p>
            <a:pPr marL="0" indent="0">
              <a:buNone/>
            </a:pPr>
            <a:r>
              <a:rPr lang="en-US" sz="2200" b="1" dirty="0">
                <a:solidFill>
                  <a:srgbClr val="21295C"/>
                </a:solidFill>
                <a:latin typeface="Cambria" pitchFamily="34" charset="0"/>
                <a:ea typeface="Cambria" pitchFamily="34" charset="-122"/>
                <a:cs typeface="Cambria" pitchFamily="34" charset="-120"/>
              </a:rPr>
              <a:t>Estático</a:t>
            </a:r>
            <a:endParaRPr lang="en-US" sz="2200" dirty="0"/>
          </a:p>
        </p:txBody>
      </p:sp>
      <p:sp>
        <p:nvSpPr>
          <p:cNvPr id="10" name="Shape 7"/>
          <p:cNvSpPr/>
          <p:nvPr/>
        </p:nvSpPr>
        <p:spPr>
          <a:xfrm>
            <a:off x="841248" y="2450592"/>
            <a:ext cx="128016" cy="128016"/>
          </a:xfrm>
          <a:prstGeom prst="ellipse">
            <a:avLst/>
          </a:prstGeom>
          <a:solidFill>
            <a:srgbClr val="065A82"/>
          </a:solidFill>
          <a:ln w="12700">
            <a:solidFill>
              <a:srgbClr val="065A82"/>
            </a:solidFill>
            <a:prstDash val="solid"/>
          </a:ln>
        </p:spPr>
        <p:txBody>
          <a:bodyPr/>
          <a:lstStyle/>
          <a:p>
            <a:endParaRPr lang="es-CL"/>
          </a:p>
        </p:txBody>
      </p:sp>
      <p:sp>
        <p:nvSpPr>
          <p:cNvPr id="11" name="Text 8"/>
          <p:cNvSpPr txBox="1"/>
          <p:nvPr/>
        </p:nvSpPr>
        <p:spPr>
          <a:xfrm>
            <a:off x="1115568" y="23317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Artículo, póster, tesis</a:t>
            </a:r>
            <a:endParaRPr lang="en-US" sz="1450" dirty="0"/>
          </a:p>
        </p:txBody>
      </p:sp>
      <p:sp>
        <p:nvSpPr>
          <p:cNvPr id="12" name="Shape 9"/>
          <p:cNvSpPr/>
          <p:nvPr/>
        </p:nvSpPr>
        <p:spPr>
          <a:xfrm>
            <a:off x="841248" y="2907792"/>
            <a:ext cx="128016" cy="128016"/>
          </a:xfrm>
          <a:prstGeom prst="ellipse">
            <a:avLst/>
          </a:prstGeom>
          <a:solidFill>
            <a:srgbClr val="065A82"/>
          </a:solidFill>
          <a:ln w="12700">
            <a:solidFill>
              <a:srgbClr val="065A82"/>
            </a:solidFill>
            <a:prstDash val="solid"/>
          </a:ln>
        </p:spPr>
        <p:txBody>
          <a:bodyPr/>
          <a:lstStyle/>
          <a:p>
            <a:endParaRPr lang="es-CL"/>
          </a:p>
        </p:txBody>
      </p:sp>
      <p:sp>
        <p:nvSpPr>
          <p:cNvPr id="13" name="Text 10"/>
          <p:cNvSpPr txBox="1"/>
          <p:nvPr/>
        </p:nvSpPr>
        <p:spPr>
          <a:xfrm>
            <a:off x="1115568" y="27889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Informe en PDF o Word</a:t>
            </a:r>
            <a:endParaRPr lang="en-US" sz="1450" dirty="0"/>
          </a:p>
        </p:txBody>
      </p:sp>
      <p:sp>
        <p:nvSpPr>
          <p:cNvPr id="14" name="Shape 11"/>
          <p:cNvSpPr/>
          <p:nvPr/>
        </p:nvSpPr>
        <p:spPr>
          <a:xfrm>
            <a:off x="841248" y="3364992"/>
            <a:ext cx="128016" cy="128016"/>
          </a:xfrm>
          <a:prstGeom prst="ellipse">
            <a:avLst/>
          </a:prstGeom>
          <a:solidFill>
            <a:srgbClr val="065A82"/>
          </a:solidFill>
          <a:ln w="12700">
            <a:solidFill>
              <a:srgbClr val="065A82"/>
            </a:solidFill>
            <a:prstDash val="solid"/>
          </a:ln>
        </p:spPr>
        <p:txBody>
          <a:bodyPr/>
          <a:lstStyle/>
          <a:p>
            <a:endParaRPr lang="es-CL"/>
          </a:p>
        </p:txBody>
      </p:sp>
      <p:sp>
        <p:nvSpPr>
          <p:cNvPr id="15" name="Text 12"/>
          <p:cNvSpPr txBox="1"/>
          <p:nvPr/>
        </p:nvSpPr>
        <p:spPr>
          <a:xfrm>
            <a:off x="1115568" y="32461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Presentación</a:t>
            </a:r>
            <a:endParaRPr lang="en-US" sz="1450" dirty="0"/>
          </a:p>
        </p:txBody>
      </p:sp>
      <p:sp>
        <p:nvSpPr>
          <p:cNvPr id="16" name="Shape 13"/>
          <p:cNvSpPr/>
          <p:nvPr/>
        </p:nvSpPr>
        <p:spPr>
          <a:xfrm>
            <a:off x="841248" y="3822192"/>
            <a:ext cx="128016" cy="128016"/>
          </a:xfrm>
          <a:prstGeom prst="ellipse">
            <a:avLst/>
          </a:prstGeom>
          <a:solidFill>
            <a:srgbClr val="065A82"/>
          </a:solidFill>
          <a:ln w="12700">
            <a:solidFill>
              <a:srgbClr val="065A82"/>
            </a:solidFill>
            <a:prstDash val="solid"/>
          </a:ln>
        </p:spPr>
        <p:txBody>
          <a:bodyPr/>
          <a:lstStyle/>
          <a:p>
            <a:endParaRPr lang="es-CL"/>
          </a:p>
        </p:txBody>
      </p:sp>
      <p:sp>
        <p:nvSpPr>
          <p:cNvPr id="17" name="Text 14"/>
          <p:cNvSpPr txBox="1"/>
          <p:nvPr/>
        </p:nvSpPr>
        <p:spPr>
          <a:xfrm>
            <a:off x="1115568" y="37033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Pocas cifras que contar</a:t>
            </a:r>
            <a:endParaRPr lang="en-US" sz="1450" dirty="0"/>
          </a:p>
        </p:txBody>
      </p:sp>
      <p:sp>
        <p:nvSpPr>
          <p:cNvPr id="18" name="Text 15"/>
          <p:cNvSpPr txBox="1"/>
          <p:nvPr/>
        </p:nvSpPr>
        <p:spPr>
          <a:xfrm>
            <a:off x="822960" y="4343400"/>
            <a:ext cx="4846320" cy="365760"/>
          </a:xfrm>
          <a:prstGeom prst="rect">
            <a:avLst/>
          </a:prstGeom>
          <a:noFill/>
          <a:ln/>
        </p:spPr>
        <p:txBody>
          <a:bodyPr wrap="square" lIns="0" tIns="0" rIns="0" bIns="0" rtlCol="0" anchor="t"/>
          <a:lstStyle/>
          <a:p>
            <a:pPr marL="0" indent="0">
              <a:buNone/>
            </a:pPr>
            <a:r>
              <a:rPr lang="en-US" sz="1250" b="1" dirty="0">
                <a:solidFill>
                  <a:srgbClr val="065A82"/>
                </a:solidFill>
                <a:latin typeface="Courier New" pitchFamily="34" charset="0"/>
                <a:ea typeface="Courier New" pitchFamily="34" charset="-122"/>
                <a:cs typeface="Courier New" pitchFamily="34" charset="-120"/>
              </a:rPr>
              <a:t>ggplot2 + ggsave()</a:t>
            </a:r>
            <a:endParaRPr lang="en-US" sz="1250" dirty="0"/>
          </a:p>
        </p:txBody>
      </p:sp>
      <p:sp>
        <p:nvSpPr>
          <p:cNvPr id="19" name="Shape 16"/>
          <p:cNvSpPr/>
          <p:nvPr/>
        </p:nvSpPr>
        <p:spPr>
          <a:xfrm>
            <a:off x="6217920" y="1463040"/>
            <a:ext cx="5422392" cy="3429000"/>
          </a:xfrm>
          <a:prstGeom prst="roundRect">
            <a:avLst>
              <a:gd name="adj" fmla="val 1867"/>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6217920" y="1463040"/>
            <a:ext cx="5422392" cy="73152"/>
          </a:xfrm>
          <a:prstGeom prst="rect">
            <a:avLst/>
          </a:prstGeom>
          <a:solidFill>
            <a:srgbClr val="1C7293"/>
          </a:solidFill>
          <a:ln w="12700">
            <a:solidFill>
              <a:srgbClr val="1C7293"/>
            </a:solidFill>
            <a:prstDash val="solid"/>
          </a:ln>
        </p:spPr>
        <p:txBody>
          <a:bodyPr/>
          <a:lstStyle/>
          <a:p>
            <a:endParaRPr lang="es-CL"/>
          </a:p>
        </p:txBody>
      </p:sp>
      <p:sp>
        <p:nvSpPr>
          <p:cNvPr id="21" name="Text 18"/>
          <p:cNvSpPr txBox="1"/>
          <p:nvPr/>
        </p:nvSpPr>
        <p:spPr>
          <a:xfrm>
            <a:off x="6492240" y="1691640"/>
            <a:ext cx="4572000" cy="411480"/>
          </a:xfrm>
          <a:prstGeom prst="rect">
            <a:avLst/>
          </a:prstGeom>
          <a:noFill/>
          <a:ln/>
        </p:spPr>
        <p:txBody>
          <a:bodyPr wrap="square" lIns="0" tIns="0" rIns="0" bIns="0" rtlCol="0" anchor="t"/>
          <a:lstStyle/>
          <a:p>
            <a:pPr marL="0" indent="0">
              <a:buNone/>
            </a:pPr>
            <a:r>
              <a:rPr lang="en-US" sz="2200" b="1" dirty="0">
                <a:solidFill>
                  <a:srgbClr val="21295C"/>
                </a:solidFill>
                <a:latin typeface="Cambria" pitchFamily="34" charset="0"/>
                <a:ea typeface="Cambria" pitchFamily="34" charset="-122"/>
                <a:cs typeface="Cambria" pitchFamily="34" charset="-120"/>
              </a:rPr>
              <a:t>Interactivo</a:t>
            </a:r>
            <a:endParaRPr lang="en-US" sz="2200" dirty="0"/>
          </a:p>
        </p:txBody>
      </p:sp>
      <p:sp>
        <p:nvSpPr>
          <p:cNvPr id="22" name="Shape 19"/>
          <p:cNvSpPr/>
          <p:nvPr/>
        </p:nvSpPr>
        <p:spPr>
          <a:xfrm>
            <a:off x="6510528" y="2450592"/>
            <a:ext cx="128016" cy="128016"/>
          </a:xfrm>
          <a:prstGeom prst="ellipse">
            <a:avLst/>
          </a:prstGeom>
          <a:solidFill>
            <a:srgbClr val="1C7293"/>
          </a:solidFill>
          <a:ln w="12700">
            <a:solidFill>
              <a:srgbClr val="1C7293"/>
            </a:solidFill>
            <a:prstDash val="solid"/>
          </a:ln>
        </p:spPr>
        <p:txBody>
          <a:bodyPr/>
          <a:lstStyle/>
          <a:p>
            <a:endParaRPr lang="es-CL"/>
          </a:p>
        </p:txBody>
      </p:sp>
      <p:sp>
        <p:nvSpPr>
          <p:cNvPr id="23" name="Text 20"/>
          <p:cNvSpPr txBox="1"/>
          <p:nvPr/>
        </p:nvSpPr>
        <p:spPr>
          <a:xfrm>
            <a:off x="6784848" y="23317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Informe web o intranet</a:t>
            </a:r>
            <a:endParaRPr lang="en-US" sz="1450" dirty="0"/>
          </a:p>
        </p:txBody>
      </p:sp>
      <p:sp>
        <p:nvSpPr>
          <p:cNvPr id="24" name="Shape 21"/>
          <p:cNvSpPr/>
          <p:nvPr/>
        </p:nvSpPr>
        <p:spPr>
          <a:xfrm>
            <a:off x="6510528" y="2907792"/>
            <a:ext cx="128016" cy="128016"/>
          </a:xfrm>
          <a:prstGeom prst="ellipse">
            <a:avLst/>
          </a:prstGeom>
          <a:solidFill>
            <a:srgbClr val="1C7293"/>
          </a:solidFill>
          <a:ln w="12700">
            <a:solidFill>
              <a:srgbClr val="1C7293"/>
            </a:solidFill>
            <a:prstDash val="solid"/>
          </a:ln>
        </p:spPr>
        <p:txBody>
          <a:bodyPr/>
          <a:lstStyle/>
          <a:p>
            <a:endParaRPr lang="es-CL"/>
          </a:p>
        </p:txBody>
      </p:sp>
      <p:sp>
        <p:nvSpPr>
          <p:cNvPr id="25" name="Text 22"/>
          <p:cNvSpPr txBox="1"/>
          <p:nvPr/>
        </p:nvSpPr>
        <p:spPr>
          <a:xfrm>
            <a:off x="6784848" y="27889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Exploración de muchos puntos</a:t>
            </a:r>
            <a:endParaRPr lang="en-US" sz="1450" dirty="0"/>
          </a:p>
        </p:txBody>
      </p:sp>
      <p:sp>
        <p:nvSpPr>
          <p:cNvPr id="26" name="Shape 23"/>
          <p:cNvSpPr/>
          <p:nvPr/>
        </p:nvSpPr>
        <p:spPr>
          <a:xfrm>
            <a:off x="6510528" y="3364992"/>
            <a:ext cx="128016" cy="128016"/>
          </a:xfrm>
          <a:prstGeom prst="ellipse">
            <a:avLst/>
          </a:prstGeom>
          <a:solidFill>
            <a:srgbClr val="1C7293"/>
          </a:solidFill>
          <a:ln w="12700">
            <a:solidFill>
              <a:srgbClr val="1C7293"/>
            </a:solidFill>
            <a:prstDash val="solid"/>
          </a:ln>
        </p:spPr>
        <p:txBody>
          <a:bodyPr/>
          <a:lstStyle/>
          <a:p>
            <a:endParaRPr lang="es-CL"/>
          </a:p>
        </p:txBody>
      </p:sp>
      <p:sp>
        <p:nvSpPr>
          <p:cNvPr id="27" name="Text 24"/>
          <p:cNvSpPr txBox="1"/>
          <p:nvPr/>
        </p:nvSpPr>
        <p:spPr>
          <a:xfrm>
            <a:off x="6784848" y="32461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Detalle que no cabe en el gráfico</a:t>
            </a:r>
            <a:endParaRPr lang="en-US" sz="1450" dirty="0"/>
          </a:p>
        </p:txBody>
      </p:sp>
      <p:sp>
        <p:nvSpPr>
          <p:cNvPr id="28" name="Shape 25"/>
          <p:cNvSpPr/>
          <p:nvPr/>
        </p:nvSpPr>
        <p:spPr>
          <a:xfrm>
            <a:off x="6510528" y="3822192"/>
            <a:ext cx="128016" cy="128016"/>
          </a:xfrm>
          <a:prstGeom prst="ellipse">
            <a:avLst/>
          </a:prstGeom>
          <a:solidFill>
            <a:srgbClr val="1C7293"/>
          </a:solidFill>
          <a:ln w="12700">
            <a:solidFill>
              <a:srgbClr val="1C7293"/>
            </a:solidFill>
            <a:prstDash val="solid"/>
          </a:ln>
        </p:spPr>
        <p:txBody>
          <a:bodyPr/>
          <a:lstStyle/>
          <a:p>
            <a:endParaRPr lang="es-CL"/>
          </a:p>
        </p:txBody>
      </p:sp>
      <p:sp>
        <p:nvSpPr>
          <p:cNvPr id="29" name="Text 26"/>
          <p:cNvSpPr txBox="1"/>
          <p:nvPr/>
        </p:nvSpPr>
        <p:spPr>
          <a:xfrm>
            <a:off x="6784848" y="3703320"/>
            <a:ext cx="4572000" cy="365760"/>
          </a:xfrm>
          <a:prstGeom prst="rect">
            <a:avLst/>
          </a:prstGeom>
          <a:noFill/>
          <a:ln/>
        </p:spPr>
        <p:txBody>
          <a:bodyPr wrap="square" lIns="0" tIns="0" rIns="0" bIns="0" rtlCol="0" anchor="t"/>
          <a:lstStyle/>
          <a:p>
            <a:pPr marL="0" indent="0">
              <a:buNone/>
            </a:pPr>
            <a:r>
              <a:rPr lang="en-US" sz="1450" dirty="0">
                <a:solidFill>
                  <a:srgbClr val="1E2A44"/>
                </a:solidFill>
                <a:latin typeface="Calibri" pitchFamily="34" charset="0"/>
                <a:ea typeface="Calibri" pitchFamily="34" charset="-122"/>
                <a:cs typeface="Calibri" pitchFamily="34" charset="-120"/>
              </a:rPr>
              <a:t>Audiencia que navega sola</a:t>
            </a:r>
            <a:endParaRPr lang="en-US" sz="1450" dirty="0"/>
          </a:p>
        </p:txBody>
      </p:sp>
      <p:sp>
        <p:nvSpPr>
          <p:cNvPr id="30" name="Text 27"/>
          <p:cNvSpPr txBox="1"/>
          <p:nvPr/>
        </p:nvSpPr>
        <p:spPr>
          <a:xfrm>
            <a:off x="6492240" y="4343400"/>
            <a:ext cx="4846320" cy="365760"/>
          </a:xfrm>
          <a:prstGeom prst="rect">
            <a:avLst/>
          </a:prstGeom>
          <a:noFill/>
          <a:ln/>
        </p:spPr>
        <p:txBody>
          <a:bodyPr wrap="square" lIns="0" tIns="0" rIns="0" bIns="0" rtlCol="0" anchor="t"/>
          <a:lstStyle/>
          <a:p>
            <a:pPr marL="0" indent="0">
              <a:buNone/>
            </a:pPr>
            <a:r>
              <a:rPr lang="en-US" sz="1250" b="1" dirty="0">
                <a:solidFill>
                  <a:srgbClr val="1C7293"/>
                </a:solidFill>
                <a:latin typeface="Courier New" pitchFamily="34" charset="0"/>
                <a:ea typeface="Courier New" pitchFamily="34" charset="-122"/>
                <a:cs typeface="Courier New" pitchFamily="34" charset="-120"/>
              </a:rPr>
              <a:t>ggplotly() + saveWidget()</a:t>
            </a:r>
            <a:endParaRPr lang="en-US" sz="1250" dirty="0"/>
          </a:p>
        </p:txBody>
      </p:sp>
      <p:sp>
        <p:nvSpPr>
          <p:cNvPr id="31" name="Shape 28"/>
          <p:cNvSpPr/>
          <p:nvPr/>
        </p:nvSpPr>
        <p:spPr>
          <a:xfrm>
            <a:off x="548640" y="5166360"/>
            <a:ext cx="11091672" cy="731520"/>
          </a:xfrm>
          <a:prstGeom prst="rect">
            <a:avLst/>
          </a:prstGeom>
          <a:solidFill>
            <a:srgbClr val="E4EEF2"/>
          </a:solidFill>
          <a:ln w="12700">
            <a:solidFill>
              <a:srgbClr val="E4EEF2"/>
            </a:solidFill>
            <a:prstDash val="solid"/>
          </a:ln>
        </p:spPr>
        <p:txBody>
          <a:bodyPr/>
          <a:lstStyle/>
          <a:p>
            <a:endParaRPr lang="es-CL"/>
          </a:p>
        </p:txBody>
      </p:sp>
      <p:sp>
        <p:nvSpPr>
          <p:cNvPr id="32" name="Shape 29"/>
          <p:cNvSpPr/>
          <p:nvPr/>
        </p:nvSpPr>
        <p:spPr>
          <a:xfrm>
            <a:off x="548640" y="5166360"/>
            <a:ext cx="64008" cy="731520"/>
          </a:xfrm>
          <a:prstGeom prst="rect">
            <a:avLst/>
          </a:prstGeom>
          <a:solidFill>
            <a:srgbClr val="1C7293"/>
          </a:solidFill>
          <a:ln w="12700">
            <a:solidFill>
              <a:srgbClr val="1C7293"/>
            </a:solidFill>
            <a:prstDash val="solid"/>
          </a:ln>
        </p:spPr>
        <p:txBody>
          <a:bodyPr/>
          <a:lstStyle/>
          <a:p>
            <a:endParaRPr lang="es-CL"/>
          </a:p>
        </p:txBody>
      </p:sp>
      <p:sp>
        <p:nvSpPr>
          <p:cNvPr id="33" name="Text 30"/>
          <p:cNvSpPr txBox="1"/>
          <p:nvPr/>
        </p:nvSpPr>
        <p:spPr>
          <a:xfrm>
            <a:off x="749808" y="5166360"/>
            <a:ext cx="10771632" cy="731520"/>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Regla práctica: primero el gráfico estático correcto; después, si el medio lo permite, la versión interactiva.</a:t>
            </a:r>
            <a:endParaRPr lang="en-US" sz="15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La receta: del dato al gráfico</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30</a:t>
            </a:r>
            <a:endParaRPr lang="en-US" sz="800" dirty="0"/>
          </a:p>
        </p:txBody>
      </p:sp>
      <p:sp>
        <p:nvSpPr>
          <p:cNvPr id="7" name="Shape 4"/>
          <p:cNvSpPr/>
          <p:nvPr/>
        </p:nvSpPr>
        <p:spPr>
          <a:xfrm>
            <a:off x="548640" y="1554480"/>
            <a:ext cx="2103120" cy="3291840"/>
          </a:xfrm>
          <a:prstGeom prst="roundRect">
            <a:avLst>
              <a:gd name="adj" fmla="val 304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731520" y="1737360"/>
            <a:ext cx="457200" cy="457200"/>
          </a:xfrm>
          <a:prstGeom prst="ellipse">
            <a:avLst/>
          </a:prstGeom>
          <a:solidFill>
            <a:srgbClr val="065A82"/>
          </a:solidFill>
          <a:ln w="12700">
            <a:solidFill>
              <a:srgbClr val="065A82"/>
            </a:solidFill>
            <a:prstDash val="solid"/>
          </a:ln>
        </p:spPr>
        <p:txBody>
          <a:bodyPr/>
          <a:lstStyle/>
          <a:p>
            <a:endParaRPr lang="es-CL"/>
          </a:p>
        </p:txBody>
      </p:sp>
      <p:sp>
        <p:nvSpPr>
          <p:cNvPr id="9" name="Text 6"/>
          <p:cNvSpPr txBox="1"/>
          <p:nvPr/>
        </p:nvSpPr>
        <p:spPr>
          <a:xfrm>
            <a:off x="731520" y="1737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10" name="Text 7"/>
          <p:cNvSpPr txBox="1"/>
          <p:nvPr/>
        </p:nvSpPr>
        <p:spPr>
          <a:xfrm>
            <a:off x="731520" y="2377440"/>
            <a:ext cx="1783080" cy="365760"/>
          </a:xfrm>
          <a:prstGeom prst="rect">
            <a:avLst/>
          </a:prstGeom>
          <a:noFill/>
          <a:ln/>
        </p:spPr>
        <p:txBody>
          <a:bodyPr wrap="square" lIns="0" tIns="0" rIns="0" bIns="0" rtlCol="0" anchor="t"/>
          <a:lstStyle/>
          <a:p>
            <a:pPr marL="0" indent="0">
              <a:buNone/>
            </a:pPr>
            <a:r>
              <a:rPr lang="en-US" sz="1800" b="1" dirty="0">
                <a:solidFill>
                  <a:srgbClr val="21295C"/>
                </a:solidFill>
                <a:latin typeface="Cambria" pitchFamily="34" charset="0"/>
                <a:ea typeface="Cambria" pitchFamily="34" charset="-122"/>
                <a:cs typeface="Cambria" pitchFamily="34" charset="-120"/>
              </a:rPr>
              <a:t>Mensaje</a:t>
            </a:r>
            <a:endParaRPr lang="en-US" sz="1800" dirty="0"/>
          </a:p>
        </p:txBody>
      </p:sp>
      <p:sp>
        <p:nvSpPr>
          <p:cNvPr id="11" name="Text 8"/>
          <p:cNvSpPr txBox="1"/>
          <p:nvPr/>
        </p:nvSpPr>
        <p:spPr>
          <a:xfrm>
            <a:off x="731520" y="2834640"/>
            <a:ext cx="1783080" cy="10058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Qué quiero que el lector concluya</a:t>
            </a:r>
            <a:endParaRPr lang="en-US" sz="1250" dirty="0"/>
          </a:p>
        </p:txBody>
      </p:sp>
      <p:sp>
        <p:nvSpPr>
          <p:cNvPr id="12" name="Text 9"/>
          <p:cNvSpPr txBox="1"/>
          <p:nvPr/>
        </p:nvSpPr>
        <p:spPr>
          <a:xfrm>
            <a:off x="731520" y="4023360"/>
            <a:ext cx="1783080" cy="731520"/>
          </a:xfrm>
          <a:prstGeom prst="rect">
            <a:avLst/>
          </a:prstGeom>
          <a:noFill/>
          <a:ln/>
        </p:spPr>
        <p:txBody>
          <a:bodyPr wrap="square" lIns="0" tIns="0" rIns="0" bIns="0" rtlCol="0" anchor="t"/>
          <a:lstStyle/>
          <a:p>
            <a:pPr marL="0" indent="0">
              <a:buNone/>
            </a:pPr>
            <a:r>
              <a:rPr lang="en-US" sz="1000" b="1" dirty="0">
                <a:solidFill>
                  <a:srgbClr val="065A82"/>
                </a:solidFill>
                <a:latin typeface="Courier New" pitchFamily="34" charset="0"/>
                <a:ea typeface="Courier New" pitchFamily="34" charset="-122"/>
                <a:cs typeface="Courier New" pitchFamily="34" charset="-120"/>
              </a:rPr>
              <a:t>título con el hallazgo</a:t>
            </a:r>
            <a:endParaRPr lang="en-US" sz="1000" dirty="0"/>
          </a:p>
        </p:txBody>
      </p:sp>
      <p:sp>
        <p:nvSpPr>
          <p:cNvPr id="13" name="Shape 10"/>
          <p:cNvSpPr/>
          <p:nvPr/>
        </p:nvSpPr>
        <p:spPr>
          <a:xfrm>
            <a:off x="2788920" y="1554480"/>
            <a:ext cx="2103120" cy="3291840"/>
          </a:xfrm>
          <a:prstGeom prst="roundRect">
            <a:avLst>
              <a:gd name="adj" fmla="val 304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4" name="Shape 11"/>
          <p:cNvSpPr/>
          <p:nvPr/>
        </p:nvSpPr>
        <p:spPr>
          <a:xfrm>
            <a:off x="2971800" y="1737360"/>
            <a:ext cx="457200" cy="457200"/>
          </a:xfrm>
          <a:prstGeom prst="ellipse">
            <a:avLst/>
          </a:prstGeom>
          <a:solidFill>
            <a:srgbClr val="065A82"/>
          </a:solidFill>
          <a:ln w="12700">
            <a:solidFill>
              <a:srgbClr val="065A82"/>
            </a:solidFill>
            <a:prstDash val="solid"/>
          </a:ln>
        </p:spPr>
        <p:txBody>
          <a:bodyPr/>
          <a:lstStyle/>
          <a:p>
            <a:endParaRPr lang="es-CL"/>
          </a:p>
        </p:txBody>
      </p:sp>
      <p:sp>
        <p:nvSpPr>
          <p:cNvPr id="15" name="Text 12"/>
          <p:cNvSpPr txBox="1"/>
          <p:nvPr/>
        </p:nvSpPr>
        <p:spPr>
          <a:xfrm>
            <a:off x="2971800" y="1737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6" name="Text 13"/>
          <p:cNvSpPr txBox="1"/>
          <p:nvPr/>
        </p:nvSpPr>
        <p:spPr>
          <a:xfrm>
            <a:off x="2971800" y="2377440"/>
            <a:ext cx="1783080" cy="365760"/>
          </a:xfrm>
          <a:prstGeom prst="rect">
            <a:avLst/>
          </a:prstGeom>
          <a:noFill/>
          <a:ln/>
        </p:spPr>
        <p:txBody>
          <a:bodyPr wrap="square" lIns="0" tIns="0" rIns="0" bIns="0" rtlCol="0" anchor="t"/>
          <a:lstStyle/>
          <a:p>
            <a:pPr marL="0" indent="0">
              <a:buNone/>
            </a:pPr>
            <a:r>
              <a:rPr lang="en-US" sz="1800" b="1" dirty="0">
                <a:solidFill>
                  <a:srgbClr val="21295C"/>
                </a:solidFill>
                <a:latin typeface="Cambria" pitchFamily="34" charset="0"/>
                <a:ea typeface="Cambria" pitchFamily="34" charset="-122"/>
                <a:cs typeface="Cambria" pitchFamily="34" charset="-120"/>
              </a:rPr>
              <a:t>Geom</a:t>
            </a:r>
            <a:endParaRPr lang="en-US" sz="1800" dirty="0"/>
          </a:p>
        </p:txBody>
      </p:sp>
      <p:sp>
        <p:nvSpPr>
          <p:cNvPr id="17" name="Text 14"/>
          <p:cNvSpPr txBox="1"/>
          <p:nvPr/>
        </p:nvSpPr>
        <p:spPr>
          <a:xfrm>
            <a:off x="2971800" y="2834640"/>
            <a:ext cx="1783080" cy="10058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La forma correcta para esa pregunta</a:t>
            </a:r>
            <a:endParaRPr lang="en-US" sz="1250" dirty="0"/>
          </a:p>
        </p:txBody>
      </p:sp>
      <p:sp>
        <p:nvSpPr>
          <p:cNvPr id="18" name="Text 15"/>
          <p:cNvSpPr txBox="1"/>
          <p:nvPr/>
        </p:nvSpPr>
        <p:spPr>
          <a:xfrm>
            <a:off x="2971800" y="4023360"/>
            <a:ext cx="1783080" cy="731520"/>
          </a:xfrm>
          <a:prstGeom prst="rect">
            <a:avLst/>
          </a:prstGeom>
          <a:noFill/>
          <a:ln/>
        </p:spPr>
        <p:txBody>
          <a:bodyPr wrap="square" lIns="0" tIns="0" rIns="0" bIns="0" rtlCol="0" anchor="t"/>
          <a:lstStyle/>
          <a:p>
            <a:pPr marL="0" indent="0">
              <a:buNone/>
            </a:pPr>
            <a:r>
              <a:rPr lang="en-US" sz="1000" b="1" dirty="0">
                <a:solidFill>
                  <a:srgbClr val="065A82"/>
                </a:solidFill>
                <a:latin typeface="Courier New" pitchFamily="34" charset="0"/>
                <a:ea typeface="Courier New" pitchFamily="34" charset="-122"/>
                <a:cs typeface="Courier New" pitchFamily="34" charset="-120"/>
              </a:rPr>
              <a:t>línea, barra, punto…</a:t>
            </a:r>
            <a:endParaRPr lang="en-US" sz="1000" dirty="0"/>
          </a:p>
        </p:txBody>
      </p:sp>
      <p:sp>
        <p:nvSpPr>
          <p:cNvPr id="19" name="Shape 16"/>
          <p:cNvSpPr/>
          <p:nvPr/>
        </p:nvSpPr>
        <p:spPr>
          <a:xfrm>
            <a:off x="5029200" y="1554480"/>
            <a:ext cx="2103120" cy="3291840"/>
          </a:xfrm>
          <a:prstGeom prst="roundRect">
            <a:avLst>
              <a:gd name="adj" fmla="val 304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0" name="Shape 17"/>
          <p:cNvSpPr/>
          <p:nvPr/>
        </p:nvSpPr>
        <p:spPr>
          <a:xfrm>
            <a:off x="5212080" y="1737360"/>
            <a:ext cx="457200" cy="457200"/>
          </a:xfrm>
          <a:prstGeom prst="ellipse">
            <a:avLst/>
          </a:prstGeom>
          <a:solidFill>
            <a:srgbClr val="065A82"/>
          </a:solidFill>
          <a:ln w="12700">
            <a:solidFill>
              <a:srgbClr val="065A82"/>
            </a:solidFill>
            <a:prstDash val="solid"/>
          </a:ln>
        </p:spPr>
        <p:txBody>
          <a:bodyPr/>
          <a:lstStyle/>
          <a:p>
            <a:endParaRPr lang="es-CL"/>
          </a:p>
        </p:txBody>
      </p:sp>
      <p:sp>
        <p:nvSpPr>
          <p:cNvPr id="21" name="Text 18"/>
          <p:cNvSpPr txBox="1"/>
          <p:nvPr/>
        </p:nvSpPr>
        <p:spPr>
          <a:xfrm>
            <a:off x="5212080" y="1737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22" name="Text 19"/>
          <p:cNvSpPr txBox="1"/>
          <p:nvPr/>
        </p:nvSpPr>
        <p:spPr>
          <a:xfrm>
            <a:off x="5212080" y="2377440"/>
            <a:ext cx="1783080" cy="365760"/>
          </a:xfrm>
          <a:prstGeom prst="rect">
            <a:avLst/>
          </a:prstGeom>
          <a:noFill/>
          <a:ln/>
        </p:spPr>
        <p:txBody>
          <a:bodyPr wrap="square" lIns="0" tIns="0" rIns="0" bIns="0" rtlCol="0" anchor="t"/>
          <a:lstStyle/>
          <a:p>
            <a:pPr marL="0" indent="0">
              <a:buNone/>
            </a:pPr>
            <a:r>
              <a:rPr lang="en-US" sz="1800" b="1" dirty="0">
                <a:solidFill>
                  <a:srgbClr val="21295C"/>
                </a:solidFill>
                <a:latin typeface="Cambria" pitchFamily="34" charset="0"/>
                <a:ea typeface="Cambria" pitchFamily="34" charset="-122"/>
                <a:cs typeface="Cambria" pitchFamily="34" charset="-120"/>
              </a:rPr>
              <a:t>Datos</a:t>
            </a:r>
            <a:endParaRPr lang="en-US" sz="1800" dirty="0"/>
          </a:p>
        </p:txBody>
      </p:sp>
      <p:sp>
        <p:nvSpPr>
          <p:cNvPr id="23" name="Text 20"/>
          <p:cNvSpPr txBox="1"/>
          <p:nvPr/>
        </p:nvSpPr>
        <p:spPr>
          <a:xfrm>
            <a:off x="5212080" y="2834640"/>
            <a:ext cx="1783080" cy="10058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Tabla lista y categorías ordenadas</a:t>
            </a:r>
            <a:endParaRPr lang="en-US" sz="1250" dirty="0"/>
          </a:p>
        </p:txBody>
      </p:sp>
      <p:sp>
        <p:nvSpPr>
          <p:cNvPr id="24" name="Text 21"/>
          <p:cNvSpPr txBox="1"/>
          <p:nvPr/>
        </p:nvSpPr>
        <p:spPr>
          <a:xfrm>
            <a:off x="5212080" y="4023360"/>
            <a:ext cx="1783080" cy="731520"/>
          </a:xfrm>
          <a:prstGeom prst="rect">
            <a:avLst/>
          </a:prstGeom>
          <a:noFill/>
          <a:ln/>
        </p:spPr>
        <p:txBody>
          <a:bodyPr wrap="square" lIns="0" tIns="0" rIns="0" bIns="0" rtlCol="0" anchor="t"/>
          <a:lstStyle/>
          <a:p>
            <a:pPr marL="0" indent="0">
              <a:buNone/>
            </a:pPr>
            <a:r>
              <a:rPr lang="en-US" sz="1000" b="1" dirty="0">
                <a:solidFill>
                  <a:srgbClr val="065A82"/>
                </a:solidFill>
                <a:latin typeface="Courier New" pitchFamily="34" charset="0"/>
                <a:ea typeface="Courier New" pitchFamily="34" charset="-122"/>
                <a:cs typeface="Courier New" pitchFamily="34" charset="-120"/>
              </a:rPr>
              <a:t>fct_reorder()</a:t>
            </a:r>
            <a:endParaRPr lang="en-US" sz="1000" dirty="0"/>
          </a:p>
        </p:txBody>
      </p:sp>
      <p:sp>
        <p:nvSpPr>
          <p:cNvPr id="25" name="Shape 22"/>
          <p:cNvSpPr/>
          <p:nvPr/>
        </p:nvSpPr>
        <p:spPr>
          <a:xfrm>
            <a:off x="7269480" y="1554480"/>
            <a:ext cx="2103120" cy="3291840"/>
          </a:xfrm>
          <a:prstGeom prst="roundRect">
            <a:avLst>
              <a:gd name="adj" fmla="val 3043"/>
            </a:avLst>
          </a:prstGeom>
          <a:solidFill>
            <a:srgbClr val="FBF1DC"/>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6" name="Shape 23"/>
          <p:cNvSpPr/>
          <p:nvPr/>
        </p:nvSpPr>
        <p:spPr>
          <a:xfrm>
            <a:off x="7452360" y="1737360"/>
            <a:ext cx="457200" cy="457200"/>
          </a:xfrm>
          <a:prstGeom prst="ellipse">
            <a:avLst/>
          </a:prstGeom>
          <a:solidFill>
            <a:srgbClr val="B7791F"/>
          </a:solidFill>
          <a:ln w="12700">
            <a:solidFill>
              <a:srgbClr val="B7791F"/>
            </a:solidFill>
            <a:prstDash val="solid"/>
          </a:ln>
        </p:spPr>
        <p:txBody>
          <a:bodyPr/>
          <a:lstStyle/>
          <a:p>
            <a:endParaRPr lang="es-CL"/>
          </a:p>
        </p:txBody>
      </p:sp>
      <p:sp>
        <p:nvSpPr>
          <p:cNvPr id="27" name="Text 24"/>
          <p:cNvSpPr txBox="1"/>
          <p:nvPr/>
        </p:nvSpPr>
        <p:spPr>
          <a:xfrm>
            <a:off x="7452360" y="1737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28" name="Text 25"/>
          <p:cNvSpPr txBox="1"/>
          <p:nvPr/>
        </p:nvSpPr>
        <p:spPr>
          <a:xfrm>
            <a:off x="7452360" y="2377440"/>
            <a:ext cx="1783080" cy="365760"/>
          </a:xfrm>
          <a:prstGeom prst="rect">
            <a:avLst/>
          </a:prstGeom>
          <a:noFill/>
          <a:ln/>
        </p:spPr>
        <p:txBody>
          <a:bodyPr wrap="square" lIns="0" tIns="0" rIns="0" bIns="0" rtlCol="0" anchor="t"/>
          <a:lstStyle/>
          <a:p>
            <a:pPr marL="0" indent="0">
              <a:buNone/>
            </a:pPr>
            <a:r>
              <a:rPr lang="en-US" sz="1800" b="1" dirty="0">
                <a:solidFill>
                  <a:srgbClr val="21295C"/>
                </a:solidFill>
                <a:latin typeface="Cambria" pitchFamily="34" charset="0"/>
                <a:ea typeface="Cambria" pitchFamily="34" charset="-122"/>
                <a:cs typeface="Cambria" pitchFamily="34" charset="-120"/>
              </a:rPr>
              <a:t>Pulir</a:t>
            </a:r>
            <a:endParaRPr lang="en-US" sz="1800" dirty="0"/>
          </a:p>
        </p:txBody>
      </p:sp>
      <p:sp>
        <p:nvSpPr>
          <p:cNvPr id="29" name="Text 26"/>
          <p:cNvSpPr txBox="1"/>
          <p:nvPr/>
        </p:nvSpPr>
        <p:spPr>
          <a:xfrm>
            <a:off x="7452360" y="2834640"/>
            <a:ext cx="1783080" cy="10058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Escala, color, anotación y tema</a:t>
            </a:r>
            <a:endParaRPr lang="en-US" sz="1250" dirty="0"/>
          </a:p>
        </p:txBody>
      </p:sp>
      <p:sp>
        <p:nvSpPr>
          <p:cNvPr id="30" name="Text 27"/>
          <p:cNvSpPr txBox="1"/>
          <p:nvPr/>
        </p:nvSpPr>
        <p:spPr>
          <a:xfrm>
            <a:off x="7452360" y="4023360"/>
            <a:ext cx="1783080" cy="731520"/>
          </a:xfrm>
          <a:prstGeom prst="rect">
            <a:avLst/>
          </a:prstGeom>
          <a:noFill/>
          <a:ln/>
        </p:spPr>
        <p:txBody>
          <a:bodyPr wrap="square" lIns="0" tIns="0" rIns="0" bIns="0" rtlCol="0" anchor="t"/>
          <a:lstStyle/>
          <a:p>
            <a:pPr marL="0" indent="0">
              <a:buNone/>
            </a:pPr>
            <a:r>
              <a:rPr lang="en-US" sz="1000" b="1" dirty="0">
                <a:solidFill>
                  <a:srgbClr val="065A82"/>
                </a:solidFill>
                <a:latin typeface="Courier New" pitchFamily="34" charset="0"/>
                <a:ea typeface="Courier New" pitchFamily="34" charset="-122"/>
                <a:cs typeface="Courier New" pitchFamily="34" charset="-120"/>
              </a:rPr>
              <a:t>scale_*  annotate()  theme_*</a:t>
            </a:r>
            <a:endParaRPr lang="en-US" sz="1000" dirty="0"/>
          </a:p>
        </p:txBody>
      </p:sp>
      <p:sp>
        <p:nvSpPr>
          <p:cNvPr id="31" name="Shape 28"/>
          <p:cNvSpPr/>
          <p:nvPr/>
        </p:nvSpPr>
        <p:spPr>
          <a:xfrm>
            <a:off x="9509760" y="1554480"/>
            <a:ext cx="2103120" cy="3291840"/>
          </a:xfrm>
          <a:prstGeom prst="roundRect">
            <a:avLst>
              <a:gd name="adj" fmla="val 304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32" name="Shape 29"/>
          <p:cNvSpPr/>
          <p:nvPr/>
        </p:nvSpPr>
        <p:spPr>
          <a:xfrm>
            <a:off x="9692640" y="1737360"/>
            <a:ext cx="457200" cy="457200"/>
          </a:xfrm>
          <a:prstGeom prst="ellipse">
            <a:avLst/>
          </a:prstGeom>
          <a:solidFill>
            <a:srgbClr val="065A82"/>
          </a:solidFill>
          <a:ln w="12700">
            <a:solidFill>
              <a:srgbClr val="065A82"/>
            </a:solidFill>
            <a:prstDash val="solid"/>
          </a:ln>
        </p:spPr>
        <p:txBody>
          <a:bodyPr/>
          <a:lstStyle/>
          <a:p>
            <a:endParaRPr lang="es-CL"/>
          </a:p>
        </p:txBody>
      </p:sp>
      <p:sp>
        <p:nvSpPr>
          <p:cNvPr id="33" name="Text 30"/>
          <p:cNvSpPr txBox="1"/>
          <p:nvPr/>
        </p:nvSpPr>
        <p:spPr>
          <a:xfrm>
            <a:off x="9692640" y="1737360"/>
            <a:ext cx="457200" cy="457200"/>
          </a:xfrm>
          <a:prstGeom prst="rect">
            <a:avLst/>
          </a:prstGeom>
          <a:noFill/>
          <a:ln/>
        </p:spPr>
        <p:txBody>
          <a:bodyPr wrap="square" lIns="0" tIns="0" rIns="0" bIns="0" rtlCol="0" anchor="ctr"/>
          <a:lstStyle/>
          <a:p>
            <a:pPr marL="0" indent="0" algn="ctr">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34" name="Text 31"/>
          <p:cNvSpPr txBox="1"/>
          <p:nvPr/>
        </p:nvSpPr>
        <p:spPr>
          <a:xfrm>
            <a:off x="9692640" y="2377440"/>
            <a:ext cx="1783080" cy="365760"/>
          </a:xfrm>
          <a:prstGeom prst="rect">
            <a:avLst/>
          </a:prstGeom>
          <a:noFill/>
          <a:ln/>
        </p:spPr>
        <p:txBody>
          <a:bodyPr wrap="square" lIns="0" tIns="0" rIns="0" bIns="0" rtlCol="0" anchor="t"/>
          <a:lstStyle/>
          <a:p>
            <a:pPr marL="0" indent="0">
              <a:buNone/>
            </a:pPr>
            <a:r>
              <a:rPr lang="en-US" sz="1800" b="1" dirty="0">
                <a:solidFill>
                  <a:srgbClr val="21295C"/>
                </a:solidFill>
                <a:latin typeface="Cambria" pitchFamily="34" charset="0"/>
                <a:ea typeface="Cambria" pitchFamily="34" charset="-122"/>
                <a:cs typeface="Cambria" pitchFamily="34" charset="-120"/>
              </a:rPr>
              <a:t>Salida</a:t>
            </a:r>
            <a:endParaRPr lang="en-US" sz="1800" dirty="0"/>
          </a:p>
        </p:txBody>
      </p:sp>
      <p:sp>
        <p:nvSpPr>
          <p:cNvPr id="35" name="Text 32"/>
          <p:cNvSpPr txBox="1"/>
          <p:nvPr/>
        </p:nvSpPr>
        <p:spPr>
          <a:xfrm>
            <a:off x="9692640" y="2834640"/>
            <a:ext cx="1783080" cy="10058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Figura, archivo o versión interactiva</a:t>
            </a:r>
            <a:endParaRPr lang="en-US" sz="1250" dirty="0"/>
          </a:p>
        </p:txBody>
      </p:sp>
      <p:sp>
        <p:nvSpPr>
          <p:cNvPr id="36" name="Text 33"/>
          <p:cNvSpPr txBox="1"/>
          <p:nvPr/>
        </p:nvSpPr>
        <p:spPr>
          <a:xfrm>
            <a:off x="9692640" y="4023360"/>
            <a:ext cx="1783080" cy="731520"/>
          </a:xfrm>
          <a:prstGeom prst="rect">
            <a:avLst/>
          </a:prstGeom>
          <a:noFill/>
          <a:ln/>
        </p:spPr>
        <p:txBody>
          <a:bodyPr wrap="square" lIns="0" tIns="0" rIns="0" bIns="0" rtlCol="0" anchor="t"/>
          <a:lstStyle/>
          <a:p>
            <a:pPr marL="0" indent="0">
              <a:buNone/>
            </a:pPr>
            <a:r>
              <a:rPr lang="en-US" sz="1000" b="1" dirty="0">
                <a:solidFill>
                  <a:srgbClr val="065A82"/>
                </a:solidFill>
                <a:latin typeface="Courier New" pitchFamily="34" charset="0"/>
                <a:ea typeface="Courier New" pitchFamily="34" charset="-122"/>
                <a:cs typeface="Courier New" pitchFamily="34" charset="-120"/>
              </a:rPr>
              <a:t>patchwork  ggsave  ggplotly</a:t>
            </a:r>
            <a:endParaRPr lang="en-US" sz="1000" dirty="0"/>
          </a:p>
        </p:txBody>
      </p:sp>
      <p:sp>
        <p:nvSpPr>
          <p:cNvPr id="37" name="Shape 34"/>
          <p:cNvSpPr/>
          <p:nvPr/>
        </p:nvSpPr>
        <p:spPr>
          <a:xfrm>
            <a:off x="548640" y="5166360"/>
            <a:ext cx="11091672" cy="685800"/>
          </a:xfrm>
          <a:prstGeom prst="rect">
            <a:avLst/>
          </a:prstGeom>
          <a:solidFill>
            <a:srgbClr val="E4EEF2"/>
          </a:solidFill>
          <a:ln w="12700">
            <a:solidFill>
              <a:srgbClr val="E4EEF2"/>
            </a:solidFill>
            <a:prstDash val="solid"/>
          </a:ln>
        </p:spPr>
        <p:txBody>
          <a:bodyPr/>
          <a:lstStyle/>
          <a:p>
            <a:endParaRPr lang="es-CL"/>
          </a:p>
        </p:txBody>
      </p:sp>
      <p:sp>
        <p:nvSpPr>
          <p:cNvPr id="38" name="Shape 35"/>
          <p:cNvSpPr/>
          <p:nvPr/>
        </p:nvSpPr>
        <p:spPr>
          <a:xfrm>
            <a:off x="548640" y="5166360"/>
            <a:ext cx="64008" cy="685800"/>
          </a:xfrm>
          <a:prstGeom prst="rect">
            <a:avLst/>
          </a:prstGeom>
          <a:solidFill>
            <a:srgbClr val="1C7293"/>
          </a:solidFill>
          <a:ln w="12700">
            <a:solidFill>
              <a:srgbClr val="1C7293"/>
            </a:solidFill>
            <a:prstDash val="solid"/>
          </a:ln>
        </p:spPr>
        <p:txBody>
          <a:bodyPr/>
          <a:lstStyle/>
          <a:p>
            <a:endParaRPr lang="es-CL"/>
          </a:p>
        </p:txBody>
      </p:sp>
      <p:sp>
        <p:nvSpPr>
          <p:cNvPr id="39" name="Text 36"/>
          <p:cNvSpPr txBox="1"/>
          <p:nvPr/>
        </p:nvSpPr>
        <p:spPr>
          <a:xfrm>
            <a:off x="749808" y="5166360"/>
            <a:ext cx="10771632" cy="685800"/>
          </a:xfrm>
          <a:prstGeom prst="rect">
            <a:avLst/>
          </a:prstGeom>
          <a:noFill/>
          <a:ln/>
        </p:spPr>
        <p:txBody>
          <a:bodyPr wrap="square" lIns="0" tIns="0" rIns="0" bIns="0" rtlCol="0" anchor="ctr"/>
          <a:lstStyle/>
          <a:p>
            <a:pPr marL="0" indent="0">
              <a:buNone/>
            </a:pPr>
            <a:r>
              <a:rPr lang="en-US" sz="1500" b="1" dirty="0">
                <a:solidFill>
                  <a:srgbClr val="1E2A44"/>
                </a:solidFill>
                <a:latin typeface="Calibri" pitchFamily="34" charset="0"/>
                <a:ea typeface="Calibri" pitchFamily="34" charset="-122"/>
                <a:cs typeface="Calibri" pitchFamily="34" charset="-120"/>
              </a:rPr>
              <a:t>Primero el mensaje, después el maquillaje: un gráfico sin mensaje no se arregla con colores.</a:t>
            </a:r>
            <a:endParaRPr lang="en-US" sz="15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Caso integrado: función + purrr + patchwork</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31</a:t>
            </a:r>
            <a:endParaRPr lang="en-US" sz="800" dirty="0"/>
          </a:p>
        </p:txBody>
      </p:sp>
      <p:sp>
        <p:nvSpPr>
          <p:cNvPr id="7" name="Shape 4"/>
          <p:cNvSpPr/>
          <p:nvPr/>
        </p:nvSpPr>
        <p:spPr>
          <a:xfrm>
            <a:off x="548640" y="1463040"/>
            <a:ext cx="6400800" cy="3529965"/>
          </a:xfrm>
          <a:prstGeom prst="roundRect">
            <a:avLst>
              <a:gd name="adj" fmla="val 1554"/>
            </a:avLst>
          </a:prstGeom>
          <a:solidFill>
            <a:srgbClr val="162044"/>
          </a:solidFill>
          <a:ln w="12700">
            <a:solidFill>
              <a:srgbClr val="162044"/>
            </a:solidFill>
            <a:prstDash val="solid"/>
          </a:ln>
        </p:spPr>
        <p:txBody>
          <a:bodyPr/>
          <a:lstStyle/>
          <a:p>
            <a:endParaRPr lang="es-CL"/>
          </a:p>
        </p:txBody>
      </p:sp>
      <p:sp>
        <p:nvSpPr>
          <p:cNvPr id="8" name="Text 5"/>
          <p:cNvSpPr txBox="1"/>
          <p:nvPr/>
        </p:nvSpPr>
        <p:spPr>
          <a:xfrm>
            <a:off x="731520" y="1591056"/>
            <a:ext cx="6035040" cy="3219069"/>
          </a:xfrm>
          <a:prstGeom prst="rect">
            <a:avLst/>
          </a:prstGeom>
          <a:noFill/>
          <a:ln/>
        </p:spPr>
        <p:txBody>
          <a:bodyPr wrap="square" lIns="0" tIns="0" rIns="0" bIns="0" rtlCol="0" anchor="t"/>
          <a:lstStyle/>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panel </a:t>
            </a:r>
            <a:r>
              <a:rPr lang="en-US" sz="1050" dirty="0">
                <a:solidFill>
                  <a:srgbClr val="A5D8FF"/>
                </a:solidFill>
                <a:latin typeface="Courier New" pitchFamily="34" charset="0"/>
                <a:ea typeface="Courier New" pitchFamily="34" charset="-122"/>
                <a:cs typeface="Courier New" pitchFamily="34" charset="-120"/>
              </a:rPr>
              <a:t>&lt;-</a:t>
            </a: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C9B8FF"/>
                </a:solidFill>
                <a:latin typeface="Courier New" pitchFamily="34" charset="0"/>
                <a:ea typeface="Courier New" pitchFamily="34" charset="-122"/>
                <a:cs typeface="Courier New" pitchFamily="34" charset="-120"/>
              </a:rPr>
              <a:t>function</a:t>
            </a:r>
            <a:r>
              <a:rPr lang="en-US" sz="1050" dirty="0">
                <a:solidFill>
                  <a:srgbClr val="E6EDF7"/>
                </a:solidFill>
                <a:latin typeface="Courier New" pitchFamily="34" charset="0"/>
                <a:ea typeface="Courier New" pitchFamily="34" charset="-122"/>
                <a:cs typeface="Courier New" pitchFamily="34" charset="-120"/>
              </a:rPr>
              <a:t>(datos, var, titulo)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datos </a:t>
            </a:r>
            <a:r>
              <a:rPr lang="en-US" sz="1050" dirty="0">
                <a:solidFill>
                  <a:srgbClr val="A5D8FF"/>
                </a:solidFill>
                <a:latin typeface="Courier New" pitchFamily="34" charset="0"/>
                <a:ea typeface="Courier New" pitchFamily="34" charset="-122"/>
                <a:cs typeface="Courier New" pitchFamily="34" charset="-120"/>
              </a:rPr>
              <a:t>|&gt;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summarise</a:t>
            </a:r>
            <a:r>
              <a:rPr lang="en-US" sz="1050" dirty="0">
                <a:solidFill>
                  <a:srgbClr val="E6EDF7"/>
                </a:solidFill>
                <a:latin typeface="Courier New" pitchFamily="34" charset="0"/>
                <a:ea typeface="Courier New" pitchFamily="34" charset="-122"/>
                <a:cs typeface="Courier New" pitchFamily="34" charset="-120"/>
              </a:rPr>
              <a:t>(valor = </a:t>
            </a:r>
            <a:r>
              <a:rPr lang="en-US" sz="1050" dirty="0">
                <a:solidFill>
                  <a:srgbClr val="7DD3FC"/>
                </a:solidFill>
                <a:latin typeface="Courier New" pitchFamily="34" charset="0"/>
                <a:ea typeface="Courier New" pitchFamily="34" charset="-122"/>
                <a:cs typeface="Courier New" pitchFamily="34" charset="-120"/>
              </a:rPr>
              <a:t>sum</a:t>
            </a:r>
            <a:r>
              <a:rPr lang="en-US" sz="1050" dirty="0">
                <a:solidFill>
                  <a:srgbClr val="E6EDF7"/>
                </a:solidFill>
                <a:latin typeface="Courier New" pitchFamily="34" charset="0"/>
                <a:ea typeface="Courier New" pitchFamily="34" charset="-122"/>
                <a:cs typeface="Courier New" pitchFamily="34" charset="-120"/>
              </a:rPr>
              <a:t>(.data[[var]]), .by = </a:t>
            </a:r>
            <a:r>
              <a:rPr lang="en-US" sz="1050" dirty="0">
                <a:solidFill>
                  <a:srgbClr val="7DD3FC"/>
                </a:solidFill>
                <a:latin typeface="Courier New" pitchFamily="34" charset="0"/>
                <a:ea typeface="Courier New" pitchFamily="34" charset="-122"/>
                <a:cs typeface="Courier New" pitchFamily="34" charset="-120"/>
              </a:rPr>
              <a:t>c</a:t>
            </a:r>
            <a:r>
              <a:rPr lang="en-US" sz="1050" dirty="0">
                <a:solidFill>
                  <a:srgbClr val="E6EDF7"/>
                </a:solidFill>
                <a:latin typeface="Courier New" pitchFamily="34" charset="0"/>
                <a:ea typeface="Courier New" pitchFamily="34" charset="-122"/>
                <a:cs typeface="Courier New" pitchFamily="34" charset="-120"/>
              </a:rPr>
              <a:t>(anio, area)) </a:t>
            </a:r>
            <a:r>
              <a:rPr lang="en-US" sz="1050" dirty="0">
                <a:solidFill>
                  <a:srgbClr val="A5D8FF"/>
                </a:solidFill>
                <a:latin typeface="Courier New" pitchFamily="34" charset="0"/>
                <a:ea typeface="Courier New" pitchFamily="34" charset="-122"/>
                <a:cs typeface="Courier New" pitchFamily="34" charset="-120"/>
              </a:rPr>
              <a:t>|&gt;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ggplot</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7DD3FC"/>
                </a:solidFill>
                <a:latin typeface="Courier New" pitchFamily="34" charset="0"/>
                <a:ea typeface="Courier New" pitchFamily="34" charset="-122"/>
                <a:cs typeface="Courier New" pitchFamily="34" charset="-120"/>
              </a:rPr>
              <a:t>aes</a:t>
            </a:r>
            <a:r>
              <a:rPr lang="en-US" sz="1050" dirty="0">
                <a:solidFill>
                  <a:srgbClr val="E6EDF7"/>
                </a:solidFill>
                <a:latin typeface="Courier New" pitchFamily="34" charset="0"/>
                <a:ea typeface="Courier New" pitchFamily="34" charset="-122"/>
                <a:cs typeface="Courier New" pitchFamily="34" charset="-120"/>
              </a:rPr>
              <a:t>(anio, valor, color = area))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geom_line</a:t>
            </a:r>
            <a:r>
              <a:rPr lang="en-US" sz="1050" dirty="0">
                <a:solidFill>
                  <a:srgbClr val="E6EDF7"/>
                </a:solidFill>
                <a:latin typeface="Courier New" pitchFamily="34" charset="0"/>
                <a:ea typeface="Courier New" pitchFamily="34" charset="-122"/>
                <a:cs typeface="Courier New" pitchFamily="34" charset="-120"/>
              </a:rPr>
              <a:t>(linewidth = </a:t>
            </a:r>
            <a:r>
              <a:rPr lang="en-US" sz="1050" dirty="0">
                <a:solidFill>
                  <a:srgbClr val="F2C97D"/>
                </a:solidFill>
                <a:latin typeface="Courier New" pitchFamily="34" charset="0"/>
                <a:ea typeface="Courier New" pitchFamily="34" charset="-122"/>
                <a:cs typeface="Courier New" pitchFamily="34" charset="-120"/>
              </a:rPr>
              <a:t>1</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scale_color_manual</a:t>
            </a:r>
            <a:r>
              <a:rPr lang="en-US" sz="1050" dirty="0">
                <a:solidFill>
                  <a:srgbClr val="E6EDF7"/>
                </a:solidFill>
                <a:latin typeface="Courier New" pitchFamily="34" charset="0"/>
                <a:ea typeface="Courier New" pitchFamily="34" charset="-122"/>
                <a:cs typeface="Courier New" pitchFamily="34" charset="-120"/>
              </a:rPr>
              <a:t>(values = pal_area)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labs</a:t>
            </a:r>
            <a:r>
              <a:rPr lang="en-US" sz="1050" dirty="0">
                <a:solidFill>
                  <a:srgbClr val="E6EDF7"/>
                </a:solidFill>
                <a:latin typeface="Courier New" pitchFamily="34" charset="0"/>
                <a:ea typeface="Courier New" pitchFamily="34" charset="-122"/>
                <a:cs typeface="Courier New" pitchFamily="34" charset="-120"/>
              </a:rPr>
              <a:t>(title = titulo, x = </a:t>
            </a:r>
            <a:r>
              <a:rPr lang="en-US" sz="1050" dirty="0">
                <a:solidFill>
                  <a:srgbClr val="C9B8FF"/>
                </a:solidFill>
                <a:latin typeface="Courier New" pitchFamily="34" charset="0"/>
                <a:ea typeface="Courier New" pitchFamily="34" charset="-122"/>
                <a:cs typeface="Courier New" pitchFamily="34" charset="-120"/>
              </a:rPr>
              <a:t>NULL</a:t>
            </a:r>
            <a:r>
              <a:rPr lang="en-US" sz="1050" dirty="0">
                <a:solidFill>
                  <a:srgbClr val="E6EDF7"/>
                </a:solidFill>
                <a:latin typeface="Courier New" pitchFamily="34" charset="0"/>
                <a:ea typeface="Courier New" pitchFamily="34" charset="-122"/>
                <a:cs typeface="Courier New" pitchFamily="34" charset="-120"/>
              </a:rPr>
              <a:t>, y = </a:t>
            </a:r>
            <a:r>
              <a:rPr lang="en-US" sz="1050" dirty="0">
                <a:solidFill>
                  <a:srgbClr val="C9B8FF"/>
                </a:solidFill>
                <a:latin typeface="Courier New" pitchFamily="34" charset="0"/>
                <a:ea typeface="Courier New" pitchFamily="34" charset="-122"/>
                <a:cs typeface="Courier New" pitchFamily="34" charset="-120"/>
              </a:rPr>
              <a:t>NULL</a:t>
            </a:r>
            <a:r>
              <a:rPr lang="en-US" sz="1050" dirty="0">
                <a:solidFill>
                  <a:srgbClr val="E6EDF7"/>
                </a:solidFill>
                <a:latin typeface="Courier New" pitchFamily="34" charset="0"/>
                <a:ea typeface="Courier New" pitchFamily="34" charset="-122"/>
                <a:cs typeface="Courier New" pitchFamily="34" charset="-120"/>
              </a:rPr>
              <a:t>, color = </a:t>
            </a:r>
            <a:r>
              <a:rPr lang="en-US" sz="1050" dirty="0">
                <a:solidFill>
                  <a:srgbClr val="C9B8FF"/>
                </a:solidFill>
                <a:latin typeface="Courier New" pitchFamily="34" charset="0"/>
                <a:ea typeface="Courier New" pitchFamily="34" charset="-122"/>
                <a:cs typeface="Courier New" pitchFamily="34" charset="-120"/>
              </a:rPr>
              <a:t>NULL</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paneles </a:t>
            </a:r>
            <a:r>
              <a:rPr lang="en-US" sz="1050" dirty="0">
                <a:solidFill>
                  <a:srgbClr val="A5D8FF"/>
                </a:solidFill>
                <a:latin typeface="Courier New" pitchFamily="34" charset="0"/>
                <a:ea typeface="Courier New" pitchFamily="34" charset="-122"/>
                <a:cs typeface="Courier New" pitchFamily="34" charset="-120"/>
              </a:rPr>
              <a:t>&lt;-</a:t>
            </a: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map2</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c</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F2C97D"/>
                </a:solidFill>
                <a:latin typeface="Courier New" pitchFamily="34" charset="0"/>
                <a:ea typeface="Courier New" pitchFamily="34" charset="-122"/>
                <a:cs typeface="Courier New" pitchFamily="34" charset="-120"/>
              </a:rPr>
              <a:t>"n_articulos"</a:t>
            </a: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F2C97D"/>
                </a:solidFill>
                <a:latin typeface="Courier New" pitchFamily="34" charset="0"/>
                <a:ea typeface="Courier New" pitchFamily="34" charset="-122"/>
                <a:cs typeface="Courier New" pitchFamily="34" charset="-120"/>
              </a:rPr>
              <a:t>"n_citas"</a:t>
            </a: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F2C97D"/>
                </a:solidFill>
                <a:latin typeface="Courier New" pitchFamily="34" charset="0"/>
                <a:ea typeface="Courier New" pitchFamily="34" charset="-122"/>
                <a:cs typeface="Courier New" pitchFamily="34" charset="-120"/>
              </a:rPr>
              <a:t>"financiamiento_mm"</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c</a:t>
            </a:r>
            <a:r>
              <a:rPr lang="en-US" sz="1050" dirty="0">
                <a:solidFill>
                  <a:srgbClr val="E6EDF7"/>
                </a:solidFill>
                <a:latin typeface="Courier New" pitchFamily="34" charset="0"/>
                <a:ea typeface="Courier New" pitchFamily="34" charset="-122"/>
                <a:cs typeface="Courier New" pitchFamily="34" charset="-120"/>
              </a:rPr>
              <a:t>(</a:t>
            </a:r>
            <a:r>
              <a:rPr lang="en-US" sz="1050" dirty="0">
                <a:solidFill>
                  <a:srgbClr val="F2C97D"/>
                </a:solidFill>
                <a:latin typeface="Courier New" pitchFamily="34" charset="0"/>
                <a:ea typeface="Courier New" pitchFamily="34" charset="-122"/>
                <a:cs typeface="Courier New" pitchFamily="34" charset="-120"/>
              </a:rPr>
              <a:t>"Artículos"</a:t>
            </a: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F2C97D"/>
                </a:solidFill>
                <a:latin typeface="Courier New" pitchFamily="34" charset="0"/>
                <a:ea typeface="Courier New" pitchFamily="34" charset="-122"/>
                <a:cs typeface="Courier New" pitchFamily="34" charset="-120"/>
              </a:rPr>
              <a:t>"Citas"</a:t>
            </a: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F2C97D"/>
                </a:solidFill>
                <a:latin typeface="Courier New" pitchFamily="34" charset="0"/>
                <a:ea typeface="Courier New" pitchFamily="34" charset="-122"/>
                <a:cs typeface="Courier New" pitchFamily="34" charset="-120"/>
              </a:rPr>
              <a:t>"Financiamiento"</a:t>
            </a:r>
            <a:r>
              <a:rPr lang="en-US" sz="1050" dirty="0">
                <a:solidFill>
                  <a:srgbClr val="E6EDF7"/>
                </a:solidFill>
                <a:latin typeface="Courier New" pitchFamily="34" charset="0"/>
                <a:ea typeface="Courier New" pitchFamily="34" charset="-122"/>
                <a:cs typeface="Courier New" pitchFamily="34" charset="-120"/>
              </a:rPr>
              <a: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A5D8FF"/>
                </a:solidFill>
                <a:latin typeface="Courier New" pitchFamily="34" charset="0"/>
                <a:ea typeface="Courier New" pitchFamily="34" charset="-122"/>
                <a:cs typeface="Courier New" pitchFamily="34" charset="-120"/>
              </a:rPr>
              <a:t>\(</a:t>
            </a:r>
            <a:r>
              <a:rPr lang="en-US" sz="1050" dirty="0">
                <a:solidFill>
                  <a:srgbClr val="E6EDF7"/>
                </a:solidFill>
                <a:latin typeface="Courier New" pitchFamily="34" charset="0"/>
                <a:ea typeface="Courier New" pitchFamily="34" charset="-122"/>
                <a:cs typeface="Courier New" pitchFamily="34" charset="-120"/>
              </a:rPr>
              <a:t>v, t) </a:t>
            </a:r>
            <a:r>
              <a:rPr lang="en-US" sz="1050" dirty="0">
                <a:solidFill>
                  <a:srgbClr val="7DD3FC"/>
                </a:solidFill>
                <a:latin typeface="Courier New" pitchFamily="34" charset="0"/>
                <a:ea typeface="Courier New" pitchFamily="34" charset="-122"/>
                <a:cs typeface="Courier New" pitchFamily="34" charset="-120"/>
              </a:rPr>
              <a:t>panel</a:t>
            </a:r>
            <a:r>
              <a:rPr lang="en-US" sz="1050" dirty="0">
                <a:solidFill>
                  <a:srgbClr val="E6EDF7"/>
                </a:solidFill>
                <a:latin typeface="Courier New" pitchFamily="34" charset="0"/>
                <a:ea typeface="Courier New" pitchFamily="34" charset="-122"/>
                <a:cs typeface="Courier New" pitchFamily="34" charset="-120"/>
              </a:rPr>
              <a:t>(prod, v, t))</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7DD3FC"/>
                </a:solidFill>
                <a:latin typeface="Courier New" pitchFamily="34" charset="0"/>
                <a:ea typeface="Courier New" pitchFamily="34" charset="-122"/>
                <a:cs typeface="Courier New" pitchFamily="34" charset="-120"/>
              </a:rPr>
              <a:t>wrap_plots</a:t>
            </a:r>
            <a:r>
              <a:rPr lang="en-US" sz="1050" dirty="0">
                <a:solidFill>
                  <a:srgbClr val="E6EDF7"/>
                </a:solidFill>
                <a:latin typeface="Courier New" pitchFamily="34" charset="0"/>
                <a:ea typeface="Courier New" pitchFamily="34" charset="-122"/>
                <a:cs typeface="Courier New" pitchFamily="34" charset="-120"/>
              </a:rPr>
              <a:t>(paneles, nrow = </a:t>
            </a:r>
            <a:r>
              <a:rPr lang="en-US" sz="1050" dirty="0">
                <a:solidFill>
                  <a:srgbClr val="F2C97D"/>
                </a:solidFill>
                <a:latin typeface="Courier New" pitchFamily="34" charset="0"/>
                <a:ea typeface="Courier New" pitchFamily="34" charset="-122"/>
                <a:cs typeface="Courier New" pitchFamily="34" charset="-120"/>
              </a:rPr>
              <a:t>1</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plot_layout</a:t>
            </a:r>
            <a:r>
              <a:rPr lang="en-US" sz="1050" dirty="0">
                <a:solidFill>
                  <a:srgbClr val="E6EDF7"/>
                </a:solidFill>
                <a:latin typeface="Courier New" pitchFamily="34" charset="0"/>
                <a:ea typeface="Courier New" pitchFamily="34" charset="-122"/>
                <a:cs typeface="Courier New" pitchFamily="34" charset="-120"/>
              </a:rPr>
              <a:t>(guides = </a:t>
            </a:r>
            <a:r>
              <a:rPr lang="en-US" sz="1050" dirty="0">
                <a:solidFill>
                  <a:srgbClr val="F2C97D"/>
                </a:solidFill>
                <a:latin typeface="Courier New" pitchFamily="34" charset="0"/>
                <a:ea typeface="Courier New" pitchFamily="34" charset="-122"/>
                <a:cs typeface="Courier New" pitchFamily="34" charset="-120"/>
              </a:rPr>
              <a:t>"collect"</a:t>
            </a:r>
            <a:r>
              <a:rPr lang="en-US" sz="1050" dirty="0">
                <a:solidFill>
                  <a:srgbClr val="E6EDF7"/>
                </a:solidFill>
                <a:latin typeface="Courier New" pitchFamily="34" charset="0"/>
                <a:ea typeface="Courier New" pitchFamily="34" charset="-122"/>
                <a:cs typeface="Courier New" pitchFamily="34" charset="-120"/>
              </a:rPr>
              <a:t>) +</a:t>
            </a:r>
            <a:endParaRPr lang="en-US" sz="1050" dirty="0"/>
          </a:p>
          <a:p>
            <a:pPr marL="0" indent="0">
              <a:lnSpc>
                <a:spcPts val="1491"/>
              </a:lnSpc>
              <a:buNone/>
            </a:pPr>
            <a:r>
              <a:rPr lang="en-US" sz="1050" dirty="0">
                <a:solidFill>
                  <a:srgbClr val="E6EDF7"/>
                </a:solidFill>
                <a:latin typeface="Courier New" pitchFamily="34" charset="0"/>
                <a:ea typeface="Courier New" pitchFamily="34" charset="-122"/>
                <a:cs typeface="Courier New" pitchFamily="34" charset="-120"/>
              </a:rPr>
              <a:t>  </a:t>
            </a:r>
            <a:r>
              <a:rPr lang="en-US" sz="1050" dirty="0">
                <a:solidFill>
                  <a:srgbClr val="7DD3FC"/>
                </a:solidFill>
                <a:latin typeface="Courier New" pitchFamily="34" charset="0"/>
                <a:ea typeface="Courier New" pitchFamily="34" charset="-122"/>
                <a:cs typeface="Courier New" pitchFamily="34" charset="-120"/>
              </a:rPr>
              <a:t>plot_annotation</a:t>
            </a:r>
            <a:r>
              <a:rPr lang="en-US" sz="1050" dirty="0">
                <a:solidFill>
                  <a:srgbClr val="E6EDF7"/>
                </a:solidFill>
                <a:latin typeface="Courier New" pitchFamily="34" charset="0"/>
                <a:ea typeface="Courier New" pitchFamily="34" charset="-122"/>
                <a:cs typeface="Courier New" pitchFamily="34" charset="-120"/>
              </a:rPr>
              <a:t>(tag_levels = </a:t>
            </a:r>
            <a:r>
              <a:rPr lang="en-US" sz="1050" dirty="0">
                <a:solidFill>
                  <a:srgbClr val="F2C97D"/>
                </a:solidFill>
                <a:latin typeface="Courier New" pitchFamily="34" charset="0"/>
                <a:ea typeface="Courier New" pitchFamily="34" charset="-122"/>
                <a:cs typeface="Courier New" pitchFamily="34" charset="-120"/>
              </a:rPr>
              <a:t>"A"</a:t>
            </a:r>
            <a:r>
              <a:rPr lang="en-US" sz="1050" dirty="0">
                <a:solidFill>
                  <a:srgbClr val="E6EDF7"/>
                </a:solidFill>
                <a:latin typeface="Courier New" pitchFamily="34" charset="0"/>
                <a:ea typeface="Courier New" pitchFamily="34" charset="-122"/>
                <a:cs typeface="Courier New" pitchFamily="34" charset="-120"/>
              </a:rPr>
              <a:t>) &amp; </a:t>
            </a:r>
            <a:r>
              <a:rPr lang="en-US" sz="1050" dirty="0">
                <a:solidFill>
                  <a:srgbClr val="7DD3FC"/>
                </a:solidFill>
                <a:latin typeface="Courier New" pitchFamily="34" charset="0"/>
                <a:ea typeface="Courier New" pitchFamily="34" charset="-122"/>
                <a:cs typeface="Courier New" pitchFamily="34" charset="-120"/>
              </a:rPr>
              <a:t>theme_posgrado</a:t>
            </a:r>
            <a:r>
              <a:rPr lang="en-US" sz="1050" dirty="0">
                <a:solidFill>
                  <a:srgbClr val="E6EDF7"/>
                </a:solidFill>
                <a:latin typeface="Courier New" pitchFamily="34" charset="0"/>
                <a:ea typeface="Courier New" pitchFamily="34" charset="-122"/>
                <a:cs typeface="Courier New" pitchFamily="34" charset="-120"/>
              </a:rPr>
              <a:t>()</a:t>
            </a:r>
            <a:endParaRPr lang="en-US" sz="1050" dirty="0"/>
          </a:p>
        </p:txBody>
      </p:sp>
      <p:sp>
        <p:nvSpPr>
          <p:cNvPr id="9" name="Shape 6"/>
          <p:cNvSpPr/>
          <p:nvPr/>
        </p:nvSpPr>
        <p:spPr>
          <a:xfrm>
            <a:off x="548640" y="5267325"/>
            <a:ext cx="6400800" cy="731520"/>
          </a:xfrm>
          <a:prstGeom prst="rect">
            <a:avLst/>
          </a:prstGeom>
          <a:solidFill>
            <a:srgbClr val="E4EEF2"/>
          </a:solidFill>
          <a:ln w="12700">
            <a:solidFill>
              <a:srgbClr val="E4EEF2"/>
            </a:solidFill>
            <a:prstDash val="solid"/>
          </a:ln>
        </p:spPr>
        <p:txBody>
          <a:bodyPr/>
          <a:lstStyle/>
          <a:p>
            <a:endParaRPr lang="es-CL"/>
          </a:p>
        </p:txBody>
      </p:sp>
      <p:sp>
        <p:nvSpPr>
          <p:cNvPr id="10" name="Shape 7"/>
          <p:cNvSpPr/>
          <p:nvPr/>
        </p:nvSpPr>
        <p:spPr>
          <a:xfrm>
            <a:off x="548640" y="5267325"/>
            <a:ext cx="64008" cy="731520"/>
          </a:xfrm>
          <a:prstGeom prst="rect">
            <a:avLst/>
          </a:prstGeom>
          <a:solidFill>
            <a:srgbClr val="1C7293"/>
          </a:solidFill>
          <a:ln w="12700">
            <a:solidFill>
              <a:srgbClr val="1C7293"/>
            </a:solidFill>
            <a:prstDash val="solid"/>
          </a:ln>
        </p:spPr>
        <p:txBody>
          <a:bodyPr/>
          <a:lstStyle/>
          <a:p>
            <a:endParaRPr lang="es-CL"/>
          </a:p>
        </p:txBody>
      </p:sp>
      <p:sp>
        <p:nvSpPr>
          <p:cNvPr id="11" name="Text 8"/>
          <p:cNvSpPr txBox="1"/>
          <p:nvPr/>
        </p:nvSpPr>
        <p:spPr>
          <a:xfrm>
            <a:off x="749808" y="5267325"/>
            <a:ext cx="6080760" cy="731520"/>
          </a:xfrm>
          <a:prstGeom prst="rect">
            <a:avLst/>
          </a:prstGeom>
          <a:noFill/>
          <a:ln/>
        </p:spPr>
        <p:txBody>
          <a:bodyPr wrap="square" lIns="0" tIns="0" rIns="0" bIns="0" rtlCol="0" anchor="ctr"/>
          <a:lstStyle/>
          <a:p>
            <a:pPr marL="0" indent="0">
              <a:buNone/>
            </a:pPr>
            <a:r>
              <a:rPr lang="en-US" sz="1300" b="1" dirty="0">
                <a:solidFill>
                  <a:srgbClr val="1E2A44"/>
                </a:solidFill>
                <a:latin typeface="Calibri" pitchFamily="34" charset="0"/>
                <a:ea typeface="Calibri" pitchFamily="34" charset="-122"/>
                <a:cs typeface="Calibri" pitchFamily="34" charset="-120"/>
              </a:rPr>
              <a:t>Una función + una iteración + una figura: lo de las sesiones 2 y 3 trabajando juntas.</a:t>
            </a:r>
            <a:endParaRPr lang="en-US" sz="1300" dirty="0"/>
          </a:p>
        </p:txBody>
      </p:sp>
      <p:sp>
        <p:nvSpPr>
          <p:cNvPr id="12" name="Shape 9"/>
          <p:cNvSpPr/>
          <p:nvPr/>
        </p:nvSpPr>
        <p:spPr>
          <a:xfrm>
            <a:off x="7205472" y="1444752"/>
            <a:ext cx="4425696" cy="1675181"/>
          </a:xfrm>
          <a:prstGeom prst="roundRect">
            <a:avLst>
              <a:gd name="adj" fmla="val 2729"/>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pic>
        <p:nvPicPr>
          <p:cNvPr id="13" name="Image 0" descr="/home/claude/s3/figs/f15_caso.png"/>
          <p:cNvPicPr>
            <a:picLocks noChangeAspect="1"/>
          </p:cNvPicPr>
          <p:nvPr/>
        </p:nvPicPr>
        <p:blipFill>
          <a:blip r:embed="rId3"/>
          <a:stretch>
            <a:fillRect/>
          </a:stretch>
        </p:blipFill>
        <p:spPr>
          <a:xfrm>
            <a:off x="7269480" y="1508760"/>
            <a:ext cx="4297680" cy="1547165"/>
          </a:xfrm>
          <a:prstGeom prst="rect">
            <a:avLst/>
          </a:prstGeom>
        </p:spPr>
      </p:pic>
      <p:sp>
        <p:nvSpPr>
          <p:cNvPr id="14" name="Shape 10"/>
          <p:cNvSpPr/>
          <p:nvPr/>
        </p:nvSpPr>
        <p:spPr>
          <a:xfrm>
            <a:off x="7269480" y="3383280"/>
            <a:ext cx="4370832" cy="731520"/>
          </a:xfrm>
          <a:prstGeom prst="roundRect">
            <a:avLst>
              <a:gd name="adj" fmla="val 875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5" name="Text 11"/>
          <p:cNvSpPr txBox="1"/>
          <p:nvPr/>
        </p:nvSpPr>
        <p:spPr>
          <a:xfrm>
            <a:off x="7452360" y="3456432"/>
            <a:ext cx="4023360" cy="274320"/>
          </a:xfrm>
          <a:prstGeom prst="rect">
            <a:avLst/>
          </a:prstGeom>
          <a:noFill/>
          <a:ln/>
        </p:spPr>
        <p:txBody>
          <a:bodyPr wrap="square" lIns="0" tIns="0" rIns="0" bIns="0" rtlCol="0" anchor="t"/>
          <a:lstStyle/>
          <a:p>
            <a:pPr marL="0" indent="0">
              <a:buNone/>
            </a:pPr>
            <a:r>
              <a:rPr lang="en-US" sz="1200" b="1" dirty="0">
                <a:solidFill>
                  <a:srgbClr val="065A82"/>
                </a:solidFill>
                <a:latin typeface="Courier New" pitchFamily="34" charset="0"/>
                <a:ea typeface="Courier New" pitchFamily="34" charset="-122"/>
                <a:cs typeface="Courier New" pitchFamily="34" charset="-120"/>
              </a:rPr>
              <a:t>.data[[var]]</a:t>
            </a:r>
            <a:endParaRPr lang="en-US" sz="1200" dirty="0"/>
          </a:p>
        </p:txBody>
      </p:sp>
      <p:sp>
        <p:nvSpPr>
          <p:cNvPr id="16" name="Text 12"/>
          <p:cNvSpPr txBox="1"/>
          <p:nvPr/>
        </p:nvSpPr>
        <p:spPr>
          <a:xfrm>
            <a:off x="7452360" y="3749040"/>
            <a:ext cx="4023360" cy="32004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sesión 2: el nombre llega como texto</a:t>
            </a:r>
            <a:endParaRPr lang="en-US" sz="1200" dirty="0"/>
          </a:p>
        </p:txBody>
      </p:sp>
      <p:sp>
        <p:nvSpPr>
          <p:cNvPr id="17" name="Shape 13"/>
          <p:cNvSpPr/>
          <p:nvPr/>
        </p:nvSpPr>
        <p:spPr>
          <a:xfrm>
            <a:off x="7269480" y="4251960"/>
            <a:ext cx="4370832" cy="731520"/>
          </a:xfrm>
          <a:prstGeom prst="roundRect">
            <a:avLst>
              <a:gd name="adj" fmla="val 875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8" name="Text 14"/>
          <p:cNvSpPr txBox="1"/>
          <p:nvPr/>
        </p:nvSpPr>
        <p:spPr>
          <a:xfrm>
            <a:off x="7452360" y="4325112"/>
            <a:ext cx="4023360" cy="274320"/>
          </a:xfrm>
          <a:prstGeom prst="rect">
            <a:avLst/>
          </a:prstGeom>
          <a:noFill/>
          <a:ln/>
        </p:spPr>
        <p:txBody>
          <a:bodyPr wrap="square" lIns="0" tIns="0" rIns="0" bIns="0" rtlCol="0" anchor="t"/>
          <a:lstStyle/>
          <a:p>
            <a:pPr marL="0" indent="0">
              <a:buNone/>
            </a:pPr>
            <a:r>
              <a:rPr lang="en-US" sz="1200" b="1" dirty="0">
                <a:solidFill>
                  <a:srgbClr val="065A82"/>
                </a:solidFill>
                <a:latin typeface="Courier New" pitchFamily="34" charset="0"/>
                <a:ea typeface="Courier New" pitchFamily="34" charset="-122"/>
                <a:cs typeface="Courier New" pitchFamily="34" charset="-120"/>
              </a:rPr>
              <a:t>map2() + wrap_plots()</a:t>
            </a:r>
            <a:endParaRPr lang="en-US" sz="1200" dirty="0"/>
          </a:p>
        </p:txBody>
      </p:sp>
      <p:sp>
        <p:nvSpPr>
          <p:cNvPr id="19" name="Text 15"/>
          <p:cNvSpPr txBox="1"/>
          <p:nvPr/>
        </p:nvSpPr>
        <p:spPr>
          <a:xfrm>
            <a:off x="7452360" y="4617720"/>
            <a:ext cx="4023360" cy="32004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una lista de gráficos, no tres copias</a:t>
            </a:r>
            <a:endParaRPr lang="en-US" sz="1200" dirty="0"/>
          </a:p>
        </p:txBody>
      </p:sp>
      <p:sp>
        <p:nvSpPr>
          <p:cNvPr id="20" name="Shape 16"/>
          <p:cNvSpPr/>
          <p:nvPr/>
        </p:nvSpPr>
        <p:spPr>
          <a:xfrm>
            <a:off x="7269480" y="5120640"/>
            <a:ext cx="4370832" cy="731520"/>
          </a:xfrm>
          <a:prstGeom prst="roundRect">
            <a:avLst>
              <a:gd name="adj" fmla="val 875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1" name="Text 17"/>
          <p:cNvSpPr txBox="1"/>
          <p:nvPr/>
        </p:nvSpPr>
        <p:spPr>
          <a:xfrm>
            <a:off x="7452360" y="5193792"/>
            <a:ext cx="4023360" cy="274320"/>
          </a:xfrm>
          <a:prstGeom prst="rect">
            <a:avLst/>
          </a:prstGeom>
          <a:noFill/>
          <a:ln/>
        </p:spPr>
        <p:txBody>
          <a:bodyPr wrap="square" lIns="0" tIns="0" rIns="0" bIns="0" rtlCol="0" anchor="t"/>
          <a:lstStyle/>
          <a:p>
            <a:pPr marL="0" indent="0">
              <a:buNone/>
            </a:pPr>
            <a:r>
              <a:rPr lang="en-US" sz="1200" b="1" dirty="0">
                <a:solidFill>
                  <a:srgbClr val="065A82"/>
                </a:solidFill>
                <a:latin typeface="Courier New" pitchFamily="34" charset="0"/>
                <a:ea typeface="Courier New" pitchFamily="34" charset="-122"/>
                <a:cs typeface="Courier New" pitchFamily="34" charset="-120"/>
              </a:rPr>
              <a:t>&amp; theme_posgrado()</a:t>
            </a:r>
            <a:endParaRPr lang="en-US" sz="1200" dirty="0"/>
          </a:p>
        </p:txBody>
      </p:sp>
      <p:sp>
        <p:nvSpPr>
          <p:cNvPr id="22" name="Text 18"/>
          <p:cNvSpPr txBox="1"/>
          <p:nvPr/>
        </p:nvSpPr>
        <p:spPr>
          <a:xfrm>
            <a:off x="7452360" y="5486400"/>
            <a:ext cx="4023360" cy="32004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el estilo propio en toda la figura</a:t>
            </a:r>
            <a:endParaRPr lang="en-US" sz="12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INTEGRACIÓN Y 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Errores frecuentes y buenas prácticas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32</a:t>
            </a:r>
            <a:endParaRPr lang="en-US" sz="800" dirty="0"/>
          </a:p>
        </p:txBody>
      </p:sp>
      <p:sp>
        <p:nvSpPr>
          <p:cNvPr id="7" name="Shape 4"/>
          <p:cNvSpPr/>
          <p:nvPr/>
        </p:nvSpPr>
        <p:spPr>
          <a:xfrm>
            <a:off x="548640" y="1417320"/>
            <a:ext cx="5422392" cy="2286000"/>
          </a:xfrm>
          <a:prstGeom prst="roundRect">
            <a:avLst>
              <a:gd name="adj" fmla="val 28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8" name="Shape 5"/>
          <p:cNvSpPr/>
          <p:nvPr/>
        </p:nvSpPr>
        <p:spPr>
          <a:xfrm>
            <a:off x="548640" y="1417320"/>
            <a:ext cx="73152" cy="2286000"/>
          </a:xfrm>
          <a:prstGeom prst="rect">
            <a:avLst/>
          </a:prstGeom>
          <a:solidFill>
            <a:srgbClr val="B7791F"/>
          </a:solidFill>
          <a:ln w="12700">
            <a:solidFill>
              <a:srgbClr val="B7791F"/>
            </a:solidFill>
            <a:prstDash val="solid"/>
          </a:ln>
        </p:spPr>
        <p:txBody>
          <a:bodyPr/>
          <a:lstStyle/>
          <a:p>
            <a:endParaRPr lang="es-CL"/>
          </a:p>
        </p:txBody>
      </p:sp>
      <p:sp>
        <p:nvSpPr>
          <p:cNvPr id="9" name="Text 6"/>
          <p:cNvSpPr txBox="1"/>
          <p:nvPr/>
        </p:nvSpPr>
        <p:spPr>
          <a:xfrm>
            <a:off x="822960" y="1554480"/>
            <a:ext cx="4937760" cy="32004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Un valor fijo dentro de aes()</a:t>
            </a:r>
            <a:endParaRPr lang="en-US" sz="1500" dirty="0"/>
          </a:p>
        </p:txBody>
      </p:sp>
      <p:sp>
        <p:nvSpPr>
          <p:cNvPr id="10" name="Text 7"/>
          <p:cNvSpPr txBox="1"/>
          <p:nvPr/>
        </p:nvSpPr>
        <p:spPr>
          <a:xfrm>
            <a:off x="822960" y="1984248"/>
            <a:ext cx="4937760" cy="274320"/>
          </a:xfrm>
          <a:prstGeom prst="rect">
            <a:avLst/>
          </a:prstGeom>
          <a:noFill/>
          <a:ln/>
        </p:spPr>
        <p:txBody>
          <a:bodyPr wrap="square" lIns="0" tIns="0" rIns="0" bIns="0" rtlCol="0" anchor="t"/>
          <a:lstStyle/>
          <a:p>
            <a:pPr marL="0" indent="0">
              <a:buNone/>
            </a:pPr>
            <a:r>
              <a:rPr lang="en-US" sz="1100" b="1" dirty="0">
                <a:solidFill>
                  <a:srgbClr val="A14A12"/>
                </a:solidFill>
                <a:latin typeface="Courier New" pitchFamily="34" charset="0"/>
                <a:ea typeface="Courier New" pitchFamily="34" charset="-122"/>
                <a:cs typeface="Courier New" pitchFamily="34" charset="-120"/>
              </a:rPr>
              <a:t>aes(color = "blue")</a:t>
            </a:r>
            <a:endParaRPr lang="en-US" sz="1100" dirty="0"/>
          </a:p>
        </p:txBody>
      </p:sp>
      <p:sp>
        <p:nvSpPr>
          <p:cNvPr id="11" name="Text 8"/>
          <p:cNvSpPr txBox="1"/>
          <p:nvPr/>
        </p:nvSpPr>
        <p:spPr>
          <a:xfrm>
            <a:off x="822960" y="2350008"/>
            <a:ext cx="4937760" cy="5486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Crea una leyenda "blue" y usa el color por defecto.</a:t>
            </a:r>
            <a:endParaRPr lang="en-US" sz="1250" dirty="0"/>
          </a:p>
        </p:txBody>
      </p:sp>
      <p:sp>
        <p:nvSpPr>
          <p:cNvPr id="12" name="Text 9"/>
          <p:cNvSpPr txBox="1"/>
          <p:nvPr/>
        </p:nvSpPr>
        <p:spPr>
          <a:xfrm>
            <a:off x="822960" y="2926080"/>
            <a:ext cx="731520" cy="274320"/>
          </a:xfrm>
          <a:prstGeom prst="rect">
            <a:avLst/>
          </a:prstGeom>
          <a:noFill/>
          <a:ln/>
        </p:spPr>
        <p:txBody>
          <a:bodyPr wrap="square" lIns="0" tIns="0" rIns="0" bIns="0" rtlCol="0" anchor="t"/>
          <a:lstStyle/>
          <a:p>
            <a:pPr marL="0" indent="0">
              <a:buNone/>
            </a:pPr>
            <a:r>
              <a:rPr lang="en-US" sz="1100" b="1" dirty="0">
                <a:solidFill>
                  <a:srgbClr val="2F8F6B"/>
                </a:solidFill>
                <a:latin typeface="Calibri" pitchFamily="34" charset="0"/>
                <a:ea typeface="Calibri" pitchFamily="34" charset="-122"/>
                <a:cs typeface="Calibri" pitchFamily="34" charset="-120"/>
              </a:rPr>
              <a:t>Mejor:</a:t>
            </a:r>
            <a:endParaRPr lang="en-US" sz="1100" dirty="0"/>
          </a:p>
        </p:txBody>
      </p:sp>
      <p:sp>
        <p:nvSpPr>
          <p:cNvPr id="13" name="Text 10"/>
          <p:cNvSpPr txBox="1"/>
          <p:nvPr/>
        </p:nvSpPr>
        <p:spPr>
          <a:xfrm>
            <a:off x="1463040" y="2926080"/>
            <a:ext cx="4389120" cy="502920"/>
          </a:xfrm>
          <a:prstGeom prst="rect">
            <a:avLst/>
          </a:prstGeom>
          <a:noFill/>
          <a:ln/>
        </p:spPr>
        <p:txBody>
          <a:bodyPr wrap="square" lIns="0" tIns="0" rIns="0" bIns="0" rtlCol="0" anchor="t"/>
          <a:lstStyle/>
          <a:p>
            <a:pPr marL="0" indent="0">
              <a:buNone/>
            </a:pPr>
            <a:r>
              <a:rPr lang="en-US" sz="1100" b="1" dirty="0">
                <a:solidFill>
                  <a:srgbClr val="2F8F6B"/>
                </a:solidFill>
                <a:latin typeface="Courier New" pitchFamily="34" charset="0"/>
                <a:ea typeface="Courier New" pitchFamily="34" charset="-122"/>
                <a:cs typeface="Courier New" pitchFamily="34" charset="-120"/>
              </a:rPr>
              <a:t>geom_point(color = "blue")   # fuera de aes()</a:t>
            </a:r>
            <a:endParaRPr lang="en-US" sz="1100" dirty="0"/>
          </a:p>
        </p:txBody>
      </p:sp>
      <p:sp>
        <p:nvSpPr>
          <p:cNvPr id="14" name="Shape 11"/>
          <p:cNvSpPr/>
          <p:nvPr/>
        </p:nvSpPr>
        <p:spPr>
          <a:xfrm>
            <a:off x="6217920" y="1417320"/>
            <a:ext cx="5422392" cy="2286000"/>
          </a:xfrm>
          <a:prstGeom prst="roundRect">
            <a:avLst>
              <a:gd name="adj" fmla="val 28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5" name="Shape 12"/>
          <p:cNvSpPr/>
          <p:nvPr/>
        </p:nvSpPr>
        <p:spPr>
          <a:xfrm>
            <a:off x="6217920" y="1417320"/>
            <a:ext cx="73152" cy="2286000"/>
          </a:xfrm>
          <a:prstGeom prst="rect">
            <a:avLst/>
          </a:prstGeom>
          <a:solidFill>
            <a:srgbClr val="B7791F"/>
          </a:solidFill>
          <a:ln w="12700">
            <a:solidFill>
              <a:srgbClr val="B7791F"/>
            </a:solidFill>
            <a:prstDash val="solid"/>
          </a:ln>
        </p:spPr>
        <p:txBody>
          <a:bodyPr/>
          <a:lstStyle/>
          <a:p>
            <a:endParaRPr lang="es-CL"/>
          </a:p>
        </p:txBody>
      </p:sp>
      <p:sp>
        <p:nvSpPr>
          <p:cNvPr id="16" name="Text 13"/>
          <p:cNvSpPr txBox="1"/>
          <p:nvPr/>
        </p:nvSpPr>
        <p:spPr>
          <a:xfrm>
            <a:off x="6492240" y="1554480"/>
            <a:ext cx="4937760" cy="32004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scale_fill_* con color</a:t>
            </a:r>
            <a:endParaRPr lang="en-US" sz="1500" dirty="0"/>
          </a:p>
        </p:txBody>
      </p:sp>
      <p:sp>
        <p:nvSpPr>
          <p:cNvPr id="17" name="Text 14"/>
          <p:cNvSpPr txBox="1"/>
          <p:nvPr/>
        </p:nvSpPr>
        <p:spPr>
          <a:xfrm>
            <a:off x="6492240" y="1984248"/>
            <a:ext cx="4937760" cy="274320"/>
          </a:xfrm>
          <a:prstGeom prst="rect">
            <a:avLst/>
          </a:prstGeom>
          <a:noFill/>
          <a:ln/>
        </p:spPr>
        <p:txBody>
          <a:bodyPr wrap="square" lIns="0" tIns="0" rIns="0" bIns="0" rtlCol="0" anchor="t"/>
          <a:lstStyle/>
          <a:p>
            <a:pPr marL="0" indent="0">
              <a:buNone/>
            </a:pPr>
            <a:r>
              <a:rPr lang="en-US" sz="1100" b="1" dirty="0">
                <a:solidFill>
                  <a:srgbClr val="A14A12"/>
                </a:solidFill>
                <a:latin typeface="Courier New" pitchFamily="34" charset="0"/>
                <a:ea typeface="Courier New" pitchFamily="34" charset="-122"/>
                <a:cs typeface="Courier New" pitchFamily="34" charset="-120"/>
              </a:rPr>
              <a:t>aes(color = area) + scale_fill_manual()</a:t>
            </a:r>
            <a:endParaRPr lang="en-US" sz="1100" dirty="0"/>
          </a:p>
        </p:txBody>
      </p:sp>
      <p:sp>
        <p:nvSpPr>
          <p:cNvPr id="18" name="Text 15"/>
          <p:cNvSpPr txBox="1"/>
          <p:nvPr/>
        </p:nvSpPr>
        <p:spPr>
          <a:xfrm>
            <a:off x="6492240" y="2350008"/>
            <a:ext cx="4937760" cy="5486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La escala no corresponde a la estética: se ignora.</a:t>
            </a:r>
            <a:endParaRPr lang="en-US" sz="1250" dirty="0"/>
          </a:p>
        </p:txBody>
      </p:sp>
      <p:sp>
        <p:nvSpPr>
          <p:cNvPr id="19" name="Text 16"/>
          <p:cNvSpPr txBox="1"/>
          <p:nvPr/>
        </p:nvSpPr>
        <p:spPr>
          <a:xfrm>
            <a:off x="6492240" y="2926080"/>
            <a:ext cx="731520" cy="274320"/>
          </a:xfrm>
          <a:prstGeom prst="rect">
            <a:avLst/>
          </a:prstGeom>
          <a:noFill/>
          <a:ln/>
        </p:spPr>
        <p:txBody>
          <a:bodyPr wrap="square" lIns="0" tIns="0" rIns="0" bIns="0" rtlCol="0" anchor="t"/>
          <a:lstStyle/>
          <a:p>
            <a:pPr marL="0" indent="0">
              <a:buNone/>
            </a:pPr>
            <a:r>
              <a:rPr lang="en-US" sz="1100" b="1" dirty="0">
                <a:solidFill>
                  <a:srgbClr val="2F8F6B"/>
                </a:solidFill>
                <a:latin typeface="Calibri" pitchFamily="34" charset="0"/>
                <a:ea typeface="Calibri" pitchFamily="34" charset="-122"/>
                <a:cs typeface="Calibri" pitchFamily="34" charset="-120"/>
              </a:rPr>
              <a:t>Mejor:</a:t>
            </a:r>
            <a:endParaRPr lang="en-US" sz="1100" dirty="0"/>
          </a:p>
        </p:txBody>
      </p:sp>
      <p:sp>
        <p:nvSpPr>
          <p:cNvPr id="20" name="Text 17"/>
          <p:cNvSpPr txBox="1"/>
          <p:nvPr/>
        </p:nvSpPr>
        <p:spPr>
          <a:xfrm>
            <a:off x="7132320" y="2926080"/>
            <a:ext cx="4389120" cy="502920"/>
          </a:xfrm>
          <a:prstGeom prst="rect">
            <a:avLst/>
          </a:prstGeom>
          <a:noFill/>
          <a:ln/>
        </p:spPr>
        <p:txBody>
          <a:bodyPr wrap="square" lIns="0" tIns="0" rIns="0" bIns="0" rtlCol="0" anchor="t"/>
          <a:lstStyle/>
          <a:p>
            <a:pPr marL="0" indent="0">
              <a:buNone/>
            </a:pPr>
            <a:r>
              <a:rPr lang="en-US" sz="1100" b="1" dirty="0">
                <a:solidFill>
                  <a:srgbClr val="2F8F6B"/>
                </a:solidFill>
                <a:latin typeface="Courier New" pitchFamily="34" charset="0"/>
                <a:ea typeface="Courier New" pitchFamily="34" charset="-122"/>
                <a:cs typeface="Courier New" pitchFamily="34" charset="-120"/>
              </a:rPr>
              <a:t>scale_color_manual()</a:t>
            </a:r>
            <a:endParaRPr lang="en-US" sz="1100" dirty="0"/>
          </a:p>
        </p:txBody>
      </p:sp>
      <p:sp>
        <p:nvSpPr>
          <p:cNvPr id="21" name="Shape 18"/>
          <p:cNvSpPr/>
          <p:nvPr/>
        </p:nvSpPr>
        <p:spPr>
          <a:xfrm>
            <a:off x="548640" y="3886200"/>
            <a:ext cx="5422392" cy="2286000"/>
          </a:xfrm>
          <a:prstGeom prst="roundRect">
            <a:avLst>
              <a:gd name="adj" fmla="val 28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2" name="Shape 19"/>
          <p:cNvSpPr/>
          <p:nvPr/>
        </p:nvSpPr>
        <p:spPr>
          <a:xfrm>
            <a:off x="548640" y="3886200"/>
            <a:ext cx="73152" cy="2286000"/>
          </a:xfrm>
          <a:prstGeom prst="rect">
            <a:avLst/>
          </a:prstGeom>
          <a:solidFill>
            <a:srgbClr val="B7791F"/>
          </a:solidFill>
          <a:ln w="12700">
            <a:solidFill>
              <a:srgbClr val="B7791F"/>
            </a:solidFill>
            <a:prstDash val="solid"/>
          </a:ln>
        </p:spPr>
        <p:txBody>
          <a:bodyPr/>
          <a:lstStyle/>
          <a:p>
            <a:endParaRPr lang="es-CL"/>
          </a:p>
        </p:txBody>
      </p:sp>
      <p:sp>
        <p:nvSpPr>
          <p:cNvPr id="23" name="Text 20"/>
          <p:cNvSpPr txBox="1"/>
          <p:nvPr/>
        </p:nvSpPr>
        <p:spPr>
          <a:xfrm>
            <a:off x="822960" y="4023360"/>
            <a:ext cx="4937760" cy="32004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 en lugar de &amp; con patchwork</a:t>
            </a:r>
            <a:endParaRPr lang="en-US" sz="1500" dirty="0"/>
          </a:p>
        </p:txBody>
      </p:sp>
      <p:sp>
        <p:nvSpPr>
          <p:cNvPr id="24" name="Text 21"/>
          <p:cNvSpPr txBox="1"/>
          <p:nvPr/>
        </p:nvSpPr>
        <p:spPr>
          <a:xfrm>
            <a:off x="822960" y="4453128"/>
            <a:ext cx="4937760" cy="274320"/>
          </a:xfrm>
          <a:prstGeom prst="rect">
            <a:avLst/>
          </a:prstGeom>
          <a:noFill/>
          <a:ln/>
        </p:spPr>
        <p:txBody>
          <a:bodyPr wrap="square" lIns="0" tIns="0" rIns="0" bIns="0" rtlCol="0" anchor="t"/>
          <a:lstStyle/>
          <a:p>
            <a:pPr marL="0" indent="0">
              <a:buNone/>
            </a:pPr>
            <a:r>
              <a:rPr lang="en-US" sz="1100" b="1" dirty="0">
                <a:solidFill>
                  <a:srgbClr val="A14A12"/>
                </a:solidFill>
                <a:latin typeface="Courier New" pitchFamily="34" charset="0"/>
                <a:ea typeface="Courier New" pitchFamily="34" charset="-122"/>
                <a:cs typeface="Courier New" pitchFamily="34" charset="-120"/>
              </a:rPr>
              <a:t>(pa | pb) + theme_bw()</a:t>
            </a:r>
            <a:endParaRPr lang="en-US" sz="1100" dirty="0"/>
          </a:p>
        </p:txBody>
      </p:sp>
      <p:sp>
        <p:nvSpPr>
          <p:cNvPr id="25" name="Text 22"/>
          <p:cNvSpPr txBox="1"/>
          <p:nvPr/>
        </p:nvSpPr>
        <p:spPr>
          <a:xfrm>
            <a:off x="822960" y="4818888"/>
            <a:ext cx="4937760" cy="5486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El tema solo llega al último gráfico.</a:t>
            </a:r>
            <a:endParaRPr lang="en-US" sz="1250" dirty="0"/>
          </a:p>
        </p:txBody>
      </p:sp>
      <p:sp>
        <p:nvSpPr>
          <p:cNvPr id="26" name="Text 23"/>
          <p:cNvSpPr txBox="1"/>
          <p:nvPr/>
        </p:nvSpPr>
        <p:spPr>
          <a:xfrm>
            <a:off x="822960" y="5394960"/>
            <a:ext cx="731520" cy="274320"/>
          </a:xfrm>
          <a:prstGeom prst="rect">
            <a:avLst/>
          </a:prstGeom>
          <a:noFill/>
          <a:ln/>
        </p:spPr>
        <p:txBody>
          <a:bodyPr wrap="square" lIns="0" tIns="0" rIns="0" bIns="0" rtlCol="0" anchor="t"/>
          <a:lstStyle/>
          <a:p>
            <a:pPr marL="0" indent="0">
              <a:buNone/>
            </a:pPr>
            <a:r>
              <a:rPr lang="en-US" sz="1100" b="1" dirty="0">
                <a:solidFill>
                  <a:srgbClr val="2F8F6B"/>
                </a:solidFill>
                <a:latin typeface="Calibri" pitchFamily="34" charset="0"/>
                <a:ea typeface="Calibri" pitchFamily="34" charset="-122"/>
                <a:cs typeface="Calibri" pitchFamily="34" charset="-120"/>
              </a:rPr>
              <a:t>Mejor:</a:t>
            </a:r>
            <a:endParaRPr lang="en-US" sz="1100" dirty="0"/>
          </a:p>
        </p:txBody>
      </p:sp>
      <p:sp>
        <p:nvSpPr>
          <p:cNvPr id="27" name="Text 24"/>
          <p:cNvSpPr txBox="1"/>
          <p:nvPr/>
        </p:nvSpPr>
        <p:spPr>
          <a:xfrm>
            <a:off x="1463040" y="5394960"/>
            <a:ext cx="4389120" cy="502920"/>
          </a:xfrm>
          <a:prstGeom prst="rect">
            <a:avLst/>
          </a:prstGeom>
          <a:noFill/>
          <a:ln/>
        </p:spPr>
        <p:txBody>
          <a:bodyPr wrap="square" lIns="0" tIns="0" rIns="0" bIns="0" rtlCol="0" anchor="t"/>
          <a:lstStyle/>
          <a:p>
            <a:pPr marL="0" indent="0">
              <a:buNone/>
            </a:pPr>
            <a:r>
              <a:rPr lang="en-US" sz="1100" b="1" dirty="0">
                <a:solidFill>
                  <a:srgbClr val="2F8F6B"/>
                </a:solidFill>
                <a:latin typeface="Courier New" pitchFamily="34" charset="0"/>
                <a:ea typeface="Courier New" pitchFamily="34" charset="-122"/>
                <a:cs typeface="Courier New" pitchFamily="34" charset="-120"/>
              </a:rPr>
              <a:t>(pa | pb) &amp; theme_bw()</a:t>
            </a:r>
            <a:endParaRPr lang="en-US" sz="1100" dirty="0"/>
          </a:p>
        </p:txBody>
      </p:sp>
      <p:sp>
        <p:nvSpPr>
          <p:cNvPr id="28" name="Shape 25"/>
          <p:cNvSpPr/>
          <p:nvPr/>
        </p:nvSpPr>
        <p:spPr>
          <a:xfrm>
            <a:off x="6217920" y="3886200"/>
            <a:ext cx="5422392" cy="2286000"/>
          </a:xfrm>
          <a:prstGeom prst="roundRect">
            <a:avLst>
              <a:gd name="adj" fmla="val 2800"/>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9" name="Shape 26"/>
          <p:cNvSpPr/>
          <p:nvPr/>
        </p:nvSpPr>
        <p:spPr>
          <a:xfrm>
            <a:off x="6217920" y="3886200"/>
            <a:ext cx="73152" cy="2286000"/>
          </a:xfrm>
          <a:prstGeom prst="rect">
            <a:avLst/>
          </a:prstGeom>
          <a:solidFill>
            <a:srgbClr val="B7791F"/>
          </a:solidFill>
          <a:ln w="12700">
            <a:solidFill>
              <a:srgbClr val="B7791F"/>
            </a:solidFill>
            <a:prstDash val="solid"/>
          </a:ln>
        </p:spPr>
        <p:txBody>
          <a:bodyPr/>
          <a:lstStyle/>
          <a:p>
            <a:endParaRPr lang="es-CL"/>
          </a:p>
        </p:txBody>
      </p:sp>
      <p:sp>
        <p:nvSpPr>
          <p:cNvPr id="30" name="Text 27"/>
          <p:cNvSpPr txBox="1"/>
          <p:nvPr/>
        </p:nvSpPr>
        <p:spPr>
          <a:xfrm>
            <a:off x="6492240" y="4023360"/>
            <a:ext cx="4937760" cy="320040"/>
          </a:xfrm>
          <a:prstGeom prst="rect">
            <a:avLst/>
          </a:prstGeom>
          <a:noFill/>
          <a:ln/>
        </p:spPr>
        <p:txBody>
          <a:bodyPr wrap="square" lIns="0" tIns="0" rIns="0" bIns="0" rtlCol="0" anchor="t"/>
          <a:lstStyle/>
          <a:p>
            <a:pPr marL="0" indent="0">
              <a:buNone/>
            </a:pPr>
            <a:r>
              <a:rPr lang="en-US" sz="1500" b="1" dirty="0">
                <a:solidFill>
                  <a:srgbClr val="21295C"/>
                </a:solidFill>
                <a:latin typeface="Cambria" pitchFamily="34" charset="0"/>
                <a:ea typeface="Cambria" pitchFamily="34" charset="-122"/>
                <a:cs typeface="Cambria" pitchFamily="34" charset="-120"/>
              </a:rPr>
              <a:t>ggplotly() sobre patchwork</a:t>
            </a:r>
            <a:endParaRPr lang="en-US" sz="1500" dirty="0"/>
          </a:p>
        </p:txBody>
      </p:sp>
      <p:sp>
        <p:nvSpPr>
          <p:cNvPr id="31" name="Text 28"/>
          <p:cNvSpPr txBox="1"/>
          <p:nvPr/>
        </p:nvSpPr>
        <p:spPr>
          <a:xfrm>
            <a:off x="6492240" y="4453128"/>
            <a:ext cx="4937760" cy="274320"/>
          </a:xfrm>
          <a:prstGeom prst="rect">
            <a:avLst/>
          </a:prstGeom>
          <a:noFill/>
          <a:ln/>
        </p:spPr>
        <p:txBody>
          <a:bodyPr wrap="square" lIns="0" tIns="0" rIns="0" bIns="0" rtlCol="0" anchor="t"/>
          <a:lstStyle/>
          <a:p>
            <a:pPr marL="0" indent="0">
              <a:buNone/>
            </a:pPr>
            <a:r>
              <a:rPr lang="en-US" sz="1100" b="1" dirty="0">
                <a:solidFill>
                  <a:srgbClr val="A14A12"/>
                </a:solidFill>
                <a:latin typeface="Courier New" pitchFamily="34" charset="0"/>
                <a:ea typeface="Courier New" pitchFamily="34" charset="-122"/>
                <a:cs typeface="Courier New" pitchFamily="34" charset="-120"/>
              </a:rPr>
              <a:t>ggplotly(pa + pb)</a:t>
            </a:r>
            <a:endParaRPr lang="en-US" sz="1100" dirty="0"/>
          </a:p>
        </p:txBody>
      </p:sp>
      <p:sp>
        <p:nvSpPr>
          <p:cNvPr id="32" name="Text 29"/>
          <p:cNvSpPr txBox="1"/>
          <p:nvPr/>
        </p:nvSpPr>
        <p:spPr>
          <a:xfrm>
            <a:off x="6492240" y="4818888"/>
            <a:ext cx="4937760" cy="548640"/>
          </a:xfrm>
          <a:prstGeom prst="rect">
            <a:avLst/>
          </a:prstGeom>
          <a:noFill/>
          <a:ln/>
        </p:spPr>
        <p:txBody>
          <a:bodyPr wrap="square" lIns="0" tIns="0" rIns="0" bIns="0" rtlCol="0" anchor="t"/>
          <a:lstStyle/>
          <a:p>
            <a:pPr marL="0" indent="0">
              <a:buNone/>
            </a:pPr>
            <a:r>
              <a:rPr lang="en-US" sz="1250" dirty="0">
                <a:solidFill>
                  <a:srgbClr val="1E2A44"/>
                </a:solidFill>
                <a:latin typeface="Calibri" pitchFamily="34" charset="0"/>
                <a:ea typeface="Calibri" pitchFamily="34" charset="-122"/>
                <a:cs typeface="Calibri" pitchFamily="34" charset="-120"/>
              </a:rPr>
              <a:t>No convierte la figura combinada: queda un solo trazo.</a:t>
            </a:r>
            <a:endParaRPr lang="en-US" sz="1250" dirty="0"/>
          </a:p>
        </p:txBody>
      </p:sp>
      <p:sp>
        <p:nvSpPr>
          <p:cNvPr id="33" name="Text 30"/>
          <p:cNvSpPr txBox="1"/>
          <p:nvPr/>
        </p:nvSpPr>
        <p:spPr>
          <a:xfrm>
            <a:off x="6492240" y="5394960"/>
            <a:ext cx="731520" cy="274320"/>
          </a:xfrm>
          <a:prstGeom prst="rect">
            <a:avLst/>
          </a:prstGeom>
          <a:noFill/>
          <a:ln/>
        </p:spPr>
        <p:txBody>
          <a:bodyPr wrap="square" lIns="0" tIns="0" rIns="0" bIns="0" rtlCol="0" anchor="t"/>
          <a:lstStyle/>
          <a:p>
            <a:pPr marL="0" indent="0">
              <a:buNone/>
            </a:pPr>
            <a:r>
              <a:rPr lang="en-US" sz="1100" b="1" dirty="0">
                <a:solidFill>
                  <a:srgbClr val="2F8F6B"/>
                </a:solidFill>
                <a:latin typeface="Calibri" pitchFamily="34" charset="0"/>
                <a:ea typeface="Calibri" pitchFamily="34" charset="-122"/>
                <a:cs typeface="Calibri" pitchFamily="34" charset="-120"/>
              </a:rPr>
              <a:t>Mejor:</a:t>
            </a:r>
            <a:endParaRPr lang="en-US" sz="1100" dirty="0"/>
          </a:p>
        </p:txBody>
      </p:sp>
      <p:sp>
        <p:nvSpPr>
          <p:cNvPr id="34" name="Text 31"/>
          <p:cNvSpPr txBox="1"/>
          <p:nvPr/>
        </p:nvSpPr>
        <p:spPr>
          <a:xfrm>
            <a:off x="7132320" y="5394960"/>
            <a:ext cx="4389120" cy="502920"/>
          </a:xfrm>
          <a:prstGeom prst="rect">
            <a:avLst/>
          </a:prstGeom>
          <a:noFill/>
          <a:ln/>
        </p:spPr>
        <p:txBody>
          <a:bodyPr wrap="square" lIns="0" tIns="0" rIns="0" bIns="0" rtlCol="0" anchor="t"/>
          <a:lstStyle/>
          <a:p>
            <a:pPr marL="0" indent="0">
              <a:buNone/>
            </a:pPr>
            <a:r>
              <a:rPr lang="en-US" sz="1100" b="1" dirty="0">
                <a:solidFill>
                  <a:srgbClr val="2F8F6B"/>
                </a:solidFill>
                <a:latin typeface="Courier New" pitchFamily="34" charset="0"/>
                <a:ea typeface="Courier New" pitchFamily="34" charset="-122"/>
                <a:cs typeface="Courier New" pitchFamily="34" charset="-120"/>
              </a:rPr>
              <a:t>subplot(ggplotly(pa), ggplotly(pb))</a:t>
            </a:r>
            <a:endParaRPr lang="en-US" sz="11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PRÁCTICA</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Ahora, a practicar (60 minutos)</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33</a:t>
            </a:r>
            <a:endParaRPr lang="en-US" sz="800" dirty="0"/>
          </a:p>
        </p:txBody>
      </p:sp>
      <p:sp>
        <p:nvSpPr>
          <p:cNvPr id="7" name="Shape 4"/>
          <p:cNvSpPr/>
          <p:nvPr/>
        </p:nvSpPr>
        <p:spPr>
          <a:xfrm>
            <a:off x="548640" y="1508760"/>
            <a:ext cx="887730" cy="274320"/>
          </a:xfrm>
          <a:prstGeom prst="rect">
            <a:avLst/>
          </a:prstGeom>
          <a:solidFill>
            <a:srgbClr val="065A82"/>
          </a:solidFill>
          <a:ln w="12700">
            <a:solidFill>
              <a:srgbClr val="065A82"/>
            </a:solidFill>
            <a:prstDash val="solid"/>
          </a:ln>
        </p:spPr>
        <p:txBody>
          <a:bodyPr/>
          <a:lstStyle/>
          <a:p>
            <a:endParaRPr lang="es-CL"/>
          </a:p>
        </p:txBody>
      </p:sp>
      <p:sp>
        <p:nvSpPr>
          <p:cNvPr id="8" name="Shape 5"/>
          <p:cNvSpPr/>
          <p:nvPr/>
        </p:nvSpPr>
        <p:spPr>
          <a:xfrm>
            <a:off x="1472946" y="1508760"/>
            <a:ext cx="3660648" cy="274320"/>
          </a:xfrm>
          <a:prstGeom prst="rect">
            <a:avLst/>
          </a:prstGeom>
          <a:solidFill>
            <a:srgbClr val="1C7293"/>
          </a:solidFill>
          <a:ln w="12700">
            <a:solidFill>
              <a:srgbClr val="1C7293"/>
            </a:solidFill>
            <a:prstDash val="solid"/>
          </a:ln>
        </p:spPr>
        <p:txBody>
          <a:bodyPr/>
          <a:lstStyle/>
          <a:p>
            <a:endParaRPr lang="es-CL"/>
          </a:p>
        </p:txBody>
      </p:sp>
      <p:sp>
        <p:nvSpPr>
          <p:cNvPr id="9" name="Shape 6"/>
          <p:cNvSpPr/>
          <p:nvPr/>
        </p:nvSpPr>
        <p:spPr>
          <a:xfrm>
            <a:off x="5170170" y="1508760"/>
            <a:ext cx="2736342" cy="274320"/>
          </a:xfrm>
          <a:prstGeom prst="rect">
            <a:avLst/>
          </a:prstGeom>
          <a:solidFill>
            <a:srgbClr val="065A82"/>
          </a:solidFill>
          <a:ln w="12700">
            <a:solidFill>
              <a:srgbClr val="065A82"/>
            </a:solidFill>
            <a:prstDash val="solid"/>
          </a:ln>
        </p:spPr>
        <p:txBody>
          <a:bodyPr/>
          <a:lstStyle/>
          <a:p>
            <a:endParaRPr lang="es-CL"/>
          </a:p>
        </p:txBody>
      </p:sp>
      <p:sp>
        <p:nvSpPr>
          <p:cNvPr id="10" name="Shape 7"/>
          <p:cNvSpPr/>
          <p:nvPr/>
        </p:nvSpPr>
        <p:spPr>
          <a:xfrm>
            <a:off x="7943088" y="1508760"/>
            <a:ext cx="2736342" cy="274320"/>
          </a:xfrm>
          <a:prstGeom prst="rect">
            <a:avLst/>
          </a:prstGeom>
          <a:solidFill>
            <a:srgbClr val="1C7293"/>
          </a:solidFill>
          <a:ln w="12700">
            <a:solidFill>
              <a:srgbClr val="1C7293"/>
            </a:solidFill>
            <a:prstDash val="solid"/>
          </a:ln>
        </p:spPr>
        <p:txBody>
          <a:bodyPr/>
          <a:lstStyle/>
          <a:p>
            <a:endParaRPr lang="es-CL"/>
          </a:p>
        </p:txBody>
      </p:sp>
      <p:sp>
        <p:nvSpPr>
          <p:cNvPr id="11" name="Shape 8"/>
          <p:cNvSpPr/>
          <p:nvPr/>
        </p:nvSpPr>
        <p:spPr>
          <a:xfrm>
            <a:off x="10716006" y="1508760"/>
            <a:ext cx="887730" cy="274320"/>
          </a:xfrm>
          <a:prstGeom prst="rect">
            <a:avLst/>
          </a:prstGeom>
          <a:solidFill>
            <a:srgbClr val="065A82"/>
          </a:solidFill>
          <a:ln w="12700">
            <a:solidFill>
              <a:srgbClr val="065A82"/>
            </a:solidFill>
            <a:prstDash val="solid"/>
          </a:ln>
        </p:spPr>
        <p:txBody>
          <a:bodyPr/>
          <a:lstStyle/>
          <a:p>
            <a:endParaRPr lang="es-CL"/>
          </a:p>
        </p:txBody>
      </p:sp>
      <p:sp>
        <p:nvSpPr>
          <p:cNvPr id="12" name="Shape 9"/>
          <p:cNvSpPr/>
          <p:nvPr/>
        </p:nvSpPr>
        <p:spPr>
          <a:xfrm>
            <a:off x="548640" y="2103120"/>
            <a:ext cx="6949440" cy="475488"/>
          </a:xfrm>
          <a:prstGeom prst="roundRect">
            <a:avLst>
              <a:gd name="adj" fmla="val 1346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3" name="Text 10"/>
          <p:cNvSpPr txBox="1"/>
          <p:nvPr/>
        </p:nvSpPr>
        <p:spPr>
          <a:xfrm>
            <a:off x="777240" y="2103120"/>
            <a:ext cx="3200400" cy="475488"/>
          </a:xfrm>
          <a:prstGeom prst="rect">
            <a:avLst/>
          </a:prstGeom>
          <a:noFill/>
          <a:ln/>
        </p:spPr>
        <p:txBody>
          <a:bodyPr wrap="square" lIns="0" tIns="0" rIns="0" bIns="0"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Bloque 0 · Preparación</a:t>
            </a:r>
            <a:endParaRPr lang="en-US" sz="1350" dirty="0"/>
          </a:p>
        </p:txBody>
      </p:sp>
      <p:sp>
        <p:nvSpPr>
          <p:cNvPr id="14" name="Text 11"/>
          <p:cNvSpPr txBox="1"/>
          <p:nvPr/>
        </p:nvSpPr>
        <p:spPr>
          <a:xfrm>
            <a:off x="3840480" y="2103120"/>
            <a:ext cx="2834640" cy="475488"/>
          </a:xfrm>
          <a:prstGeom prst="rect">
            <a:avLst/>
          </a:prstGeom>
          <a:noFill/>
          <a:ln/>
        </p:spPr>
        <p:txBody>
          <a:bodyPr wrap="square" lIns="0" tIns="0" rIns="0" bIns="0" rtlCol="0" anchor="ctr"/>
          <a:lstStyle/>
          <a:p>
            <a:pPr marL="0" indent="0">
              <a:buNone/>
            </a:pPr>
            <a:r>
              <a:rPr lang="en-US" sz="1100" dirty="0">
                <a:solidFill>
                  <a:srgbClr val="5B6B7F"/>
                </a:solidFill>
                <a:latin typeface="Calibri" pitchFamily="34" charset="0"/>
                <a:ea typeface="Calibri" pitchFamily="34" charset="-122"/>
                <a:cs typeface="Calibri" pitchFamily="34" charset="-120"/>
              </a:rPr>
              <a:t>R/sesion3.R, datos nuevos y paquetes</a:t>
            </a:r>
            <a:endParaRPr lang="en-US" sz="1100" dirty="0"/>
          </a:p>
        </p:txBody>
      </p:sp>
      <p:sp>
        <p:nvSpPr>
          <p:cNvPr id="15" name="Text 12"/>
          <p:cNvSpPr txBox="1"/>
          <p:nvPr/>
        </p:nvSpPr>
        <p:spPr>
          <a:xfrm>
            <a:off x="6583680" y="2103120"/>
            <a:ext cx="822960" cy="475488"/>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16" name="Shape 13"/>
          <p:cNvSpPr/>
          <p:nvPr/>
        </p:nvSpPr>
        <p:spPr>
          <a:xfrm>
            <a:off x="548640" y="2670048"/>
            <a:ext cx="6949440" cy="475488"/>
          </a:xfrm>
          <a:prstGeom prst="roundRect">
            <a:avLst>
              <a:gd name="adj" fmla="val 1346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17" name="Text 14"/>
          <p:cNvSpPr txBox="1"/>
          <p:nvPr/>
        </p:nvSpPr>
        <p:spPr>
          <a:xfrm>
            <a:off x="777240" y="2670048"/>
            <a:ext cx="3200400" cy="475488"/>
          </a:xfrm>
          <a:prstGeom prst="rect">
            <a:avLst/>
          </a:prstGeom>
          <a:noFill/>
          <a:ln/>
        </p:spPr>
        <p:txBody>
          <a:bodyPr wrap="square" lIns="0" tIns="0" rIns="0" bIns="0"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Bloque 1 · ggplot2 avanzado</a:t>
            </a:r>
            <a:endParaRPr lang="en-US" sz="1350" dirty="0"/>
          </a:p>
        </p:txBody>
      </p:sp>
      <p:sp>
        <p:nvSpPr>
          <p:cNvPr id="18" name="Text 15"/>
          <p:cNvSpPr txBox="1"/>
          <p:nvPr/>
        </p:nvSpPr>
        <p:spPr>
          <a:xfrm>
            <a:off x="3840480" y="2670048"/>
            <a:ext cx="2834640" cy="475488"/>
          </a:xfrm>
          <a:prstGeom prst="rect">
            <a:avLst/>
          </a:prstGeom>
          <a:noFill/>
          <a:ln/>
        </p:spPr>
        <p:txBody>
          <a:bodyPr wrap="square" lIns="0" tIns="0" rIns="0" bIns="0" rtlCol="0" anchor="ctr"/>
          <a:lstStyle/>
          <a:p>
            <a:pPr marL="0" indent="0">
              <a:buNone/>
            </a:pPr>
            <a:r>
              <a:rPr lang="en-US" sz="1100" dirty="0">
                <a:solidFill>
                  <a:srgbClr val="5B6B7F"/>
                </a:solidFill>
                <a:latin typeface="Calibri" pitchFamily="34" charset="0"/>
                <a:ea typeface="Calibri" pitchFamily="34" charset="-122"/>
                <a:cs typeface="Calibri" pitchFamily="34" charset="-120"/>
              </a:rPr>
              <a:t>Escalas, color, orden, anotaciones, facetas y tema</a:t>
            </a:r>
            <a:endParaRPr lang="en-US" sz="1100" dirty="0"/>
          </a:p>
        </p:txBody>
      </p:sp>
      <p:sp>
        <p:nvSpPr>
          <p:cNvPr id="19" name="Text 16"/>
          <p:cNvSpPr txBox="1"/>
          <p:nvPr/>
        </p:nvSpPr>
        <p:spPr>
          <a:xfrm>
            <a:off x="6583680" y="2670048"/>
            <a:ext cx="822960" cy="475488"/>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20 min</a:t>
            </a:r>
            <a:endParaRPr lang="en-US" sz="1300" dirty="0"/>
          </a:p>
        </p:txBody>
      </p:sp>
      <p:sp>
        <p:nvSpPr>
          <p:cNvPr id="20" name="Shape 17"/>
          <p:cNvSpPr/>
          <p:nvPr/>
        </p:nvSpPr>
        <p:spPr>
          <a:xfrm>
            <a:off x="548640" y="3236976"/>
            <a:ext cx="6949440" cy="475488"/>
          </a:xfrm>
          <a:prstGeom prst="roundRect">
            <a:avLst>
              <a:gd name="adj" fmla="val 1346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1" name="Text 18"/>
          <p:cNvSpPr txBox="1"/>
          <p:nvPr/>
        </p:nvSpPr>
        <p:spPr>
          <a:xfrm>
            <a:off x="777240" y="3236976"/>
            <a:ext cx="3200400" cy="475488"/>
          </a:xfrm>
          <a:prstGeom prst="rect">
            <a:avLst/>
          </a:prstGeom>
          <a:noFill/>
          <a:ln/>
        </p:spPr>
        <p:txBody>
          <a:bodyPr wrap="square" lIns="0" tIns="0" rIns="0" bIns="0"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Bloque 2 · Combinar y exportar</a:t>
            </a:r>
            <a:endParaRPr lang="en-US" sz="1350" dirty="0"/>
          </a:p>
        </p:txBody>
      </p:sp>
      <p:sp>
        <p:nvSpPr>
          <p:cNvPr id="22" name="Text 19"/>
          <p:cNvSpPr txBox="1"/>
          <p:nvPr/>
        </p:nvSpPr>
        <p:spPr>
          <a:xfrm>
            <a:off x="3840480" y="3236976"/>
            <a:ext cx="2834640" cy="475488"/>
          </a:xfrm>
          <a:prstGeom prst="rect">
            <a:avLst/>
          </a:prstGeom>
          <a:noFill/>
          <a:ln/>
        </p:spPr>
        <p:txBody>
          <a:bodyPr wrap="square" lIns="0" tIns="0" rIns="0" bIns="0" rtlCol="0" anchor="ctr"/>
          <a:lstStyle/>
          <a:p>
            <a:pPr marL="0" indent="0">
              <a:buNone/>
            </a:pPr>
            <a:r>
              <a:rPr lang="en-US" sz="1100" dirty="0">
                <a:solidFill>
                  <a:srgbClr val="5B6B7F"/>
                </a:solidFill>
                <a:latin typeface="Calibri" pitchFamily="34" charset="0"/>
                <a:ea typeface="Calibri" pitchFamily="34" charset="-122"/>
                <a:cs typeface="Calibri" pitchFamily="34" charset="-120"/>
              </a:rPr>
              <a:t>patchwork y ggsave</a:t>
            </a:r>
            <a:endParaRPr lang="en-US" sz="1100" dirty="0"/>
          </a:p>
        </p:txBody>
      </p:sp>
      <p:sp>
        <p:nvSpPr>
          <p:cNvPr id="23" name="Text 20"/>
          <p:cNvSpPr txBox="1"/>
          <p:nvPr/>
        </p:nvSpPr>
        <p:spPr>
          <a:xfrm>
            <a:off x="6583680" y="3236976"/>
            <a:ext cx="822960" cy="475488"/>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15 min</a:t>
            </a:r>
            <a:endParaRPr lang="en-US" sz="1300" dirty="0"/>
          </a:p>
        </p:txBody>
      </p:sp>
      <p:sp>
        <p:nvSpPr>
          <p:cNvPr id="24" name="Shape 21"/>
          <p:cNvSpPr/>
          <p:nvPr/>
        </p:nvSpPr>
        <p:spPr>
          <a:xfrm>
            <a:off x="548640" y="3803904"/>
            <a:ext cx="6949440" cy="475488"/>
          </a:xfrm>
          <a:prstGeom prst="roundRect">
            <a:avLst>
              <a:gd name="adj" fmla="val 1346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5" name="Text 22"/>
          <p:cNvSpPr txBox="1"/>
          <p:nvPr/>
        </p:nvSpPr>
        <p:spPr>
          <a:xfrm>
            <a:off x="777240" y="3803904"/>
            <a:ext cx="3200400" cy="475488"/>
          </a:xfrm>
          <a:prstGeom prst="rect">
            <a:avLst/>
          </a:prstGeom>
          <a:noFill/>
          <a:ln/>
        </p:spPr>
        <p:txBody>
          <a:bodyPr wrap="square" lIns="0" tIns="0" rIns="0" bIns="0"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Bloque 3 · Interactivos</a:t>
            </a:r>
            <a:endParaRPr lang="en-US" sz="1350" dirty="0"/>
          </a:p>
        </p:txBody>
      </p:sp>
      <p:sp>
        <p:nvSpPr>
          <p:cNvPr id="26" name="Text 23"/>
          <p:cNvSpPr txBox="1"/>
          <p:nvPr/>
        </p:nvSpPr>
        <p:spPr>
          <a:xfrm>
            <a:off x="3840480" y="3803904"/>
            <a:ext cx="2834640" cy="475488"/>
          </a:xfrm>
          <a:prstGeom prst="rect">
            <a:avLst/>
          </a:prstGeom>
          <a:noFill/>
          <a:ln/>
        </p:spPr>
        <p:txBody>
          <a:bodyPr wrap="square" lIns="0" tIns="0" rIns="0" bIns="0" rtlCol="0" anchor="ctr"/>
          <a:lstStyle/>
          <a:p>
            <a:pPr marL="0" indent="0">
              <a:buNone/>
            </a:pPr>
            <a:r>
              <a:rPr lang="en-US" sz="1100" dirty="0">
                <a:solidFill>
                  <a:srgbClr val="5B6B7F"/>
                </a:solidFill>
                <a:latin typeface="Calibri" pitchFamily="34" charset="0"/>
                <a:ea typeface="Calibri" pitchFamily="34" charset="-122"/>
                <a:cs typeface="Calibri" pitchFamily="34" charset="-120"/>
              </a:rPr>
              <a:t>ggplotly, tooltips, saveWidget y DT</a:t>
            </a:r>
            <a:endParaRPr lang="en-US" sz="1100" dirty="0"/>
          </a:p>
        </p:txBody>
      </p:sp>
      <p:sp>
        <p:nvSpPr>
          <p:cNvPr id="27" name="Text 24"/>
          <p:cNvSpPr txBox="1"/>
          <p:nvPr/>
        </p:nvSpPr>
        <p:spPr>
          <a:xfrm>
            <a:off x="6583680" y="3803904"/>
            <a:ext cx="822960" cy="475488"/>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15 min</a:t>
            </a:r>
            <a:endParaRPr lang="en-US" sz="1300" dirty="0"/>
          </a:p>
        </p:txBody>
      </p:sp>
      <p:sp>
        <p:nvSpPr>
          <p:cNvPr id="28" name="Shape 25"/>
          <p:cNvSpPr/>
          <p:nvPr/>
        </p:nvSpPr>
        <p:spPr>
          <a:xfrm>
            <a:off x="548640" y="4370832"/>
            <a:ext cx="6949440" cy="475488"/>
          </a:xfrm>
          <a:prstGeom prst="roundRect">
            <a:avLst>
              <a:gd name="adj" fmla="val 13462"/>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29" name="Text 26"/>
          <p:cNvSpPr txBox="1"/>
          <p:nvPr/>
        </p:nvSpPr>
        <p:spPr>
          <a:xfrm>
            <a:off x="777240" y="4370832"/>
            <a:ext cx="3200400" cy="475488"/>
          </a:xfrm>
          <a:prstGeom prst="rect">
            <a:avLst/>
          </a:prstGeom>
          <a:noFill/>
          <a:ln/>
        </p:spPr>
        <p:txBody>
          <a:bodyPr wrap="square" lIns="0" tIns="0" rIns="0" bIns="0" rtlCol="0" anchor="ctr"/>
          <a:lstStyle/>
          <a:p>
            <a:pPr marL="0" indent="0">
              <a:buNone/>
            </a:pPr>
            <a:r>
              <a:rPr lang="en-US" sz="1350" b="1" dirty="0">
                <a:solidFill>
                  <a:srgbClr val="21295C"/>
                </a:solidFill>
                <a:latin typeface="Cambria" pitchFamily="34" charset="0"/>
                <a:ea typeface="Cambria" pitchFamily="34" charset="-122"/>
                <a:cs typeface="Cambria" pitchFamily="34" charset="-120"/>
              </a:rPr>
              <a:t>Cierre y dudas</a:t>
            </a:r>
            <a:endParaRPr lang="en-US" sz="1350" dirty="0"/>
          </a:p>
        </p:txBody>
      </p:sp>
      <p:sp>
        <p:nvSpPr>
          <p:cNvPr id="30" name="Text 27"/>
          <p:cNvSpPr txBox="1"/>
          <p:nvPr/>
        </p:nvSpPr>
        <p:spPr>
          <a:xfrm>
            <a:off x="3840480" y="4370832"/>
            <a:ext cx="2834640" cy="475488"/>
          </a:xfrm>
          <a:prstGeom prst="rect">
            <a:avLst/>
          </a:prstGeom>
          <a:noFill/>
          <a:ln/>
        </p:spPr>
        <p:txBody>
          <a:bodyPr wrap="square" lIns="0" tIns="0" rIns="0" bIns="0" rtlCol="0" anchor="ctr"/>
          <a:lstStyle/>
          <a:p>
            <a:pPr marL="0" indent="0">
              <a:buNone/>
            </a:pPr>
            <a:r>
              <a:rPr lang="en-US" sz="1100" dirty="0">
                <a:solidFill>
                  <a:srgbClr val="5B6B7F"/>
                </a:solidFill>
                <a:latin typeface="Calibri" pitchFamily="34" charset="0"/>
                <a:ea typeface="Calibri" pitchFamily="34" charset="-122"/>
                <a:cs typeface="Calibri" pitchFamily="34" charset="-120"/>
              </a:rPr>
              <a:t>Retos y tarea</a:t>
            </a:r>
            <a:endParaRPr lang="en-US" sz="1100" dirty="0"/>
          </a:p>
        </p:txBody>
      </p:sp>
      <p:sp>
        <p:nvSpPr>
          <p:cNvPr id="31" name="Text 28"/>
          <p:cNvSpPr txBox="1"/>
          <p:nvPr/>
        </p:nvSpPr>
        <p:spPr>
          <a:xfrm>
            <a:off x="6583680" y="4370832"/>
            <a:ext cx="822960" cy="475488"/>
          </a:xfrm>
          <a:prstGeom prst="rect">
            <a:avLst/>
          </a:prstGeom>
          <a:noFill/>
          <a:ln/>
        </p:spPr>
        <p:txBody>
          <a:bodyPr wrap="square" lIns="0" tIns="0" rIns="0" bIns="0" rtlCol="0" anchor="ctr"/>
          <a:lstStyle/>
          <a:p>
            <a:pPr marL="0" indent="0" algn="r">
              <a:buNone/>
            </a:pPr>
            <a:r>
              <a:rPr lang="en-US" sz="1300" b="1" dirty="0">
                <a:solidFill>
                  <a:srgbClr val="065A82"/>
                </a:solidFill>
                <a:latin typeface="Calibri" pitchFamily="34" charset="0"/>
                <a:ea typeface="Calibri" pitchFamily="34" charset="-122"/>
                <a:cs typeface="Calibri" pitchFamily="34" charset="-120"/>
              </a:rPr>
              <a:t>5 min</a:t>
            </a:r>
            <a:endParaRPr lang="en-US" sz="1300" dirty="0"/>
          </a:p>
        </p:txBody>
      </p:sp>
      <p:sp>
        <p:nvSpPr>
          <p:cNvPr id="32" name="Shape 29"/>
          <p:cNvSpPr/>
          <p:nvPr/>
        </p:nvSpPr>
        <p:spPr>
          <a:xfrm>
            <a:off x="7772400" y="2103120"/>
            <a:ext cx="3867912" cy="2743200"/>
          </a:xfrm>
          <a:prstGeom prst="roundRect">
            <a:avLst>
              <a:gd name="adj" fmla="val 2333"/>
            </a:avLst>
          </a:prstGeom>
          <a:solidFill>
            <a:srgbClr val="FFFFFF"/>
          </a:solidFill>
          <a:ln w="9525">
            <a:solidFill>
              <a:srgbClr val="E4EEF2"/>
            </a:solidFill>
            <a:prstDash val="solid"/>
          </a:ln>
          <a:effectLst>
            <a:outerShdw blurRad="76200" dist="25400" dir="5400000" algn="bl" rotWithShape="0">
              <a:srgbClr val="000000">
                <a:alpha val="10000"/>
              </a:srgbClr>
            </a:outerShdw>
          </a:effectLst>
        </p:spPr>
        <p:txBody>
          <a:bodyPr/>
          <a:lstStyle/>
          <a:p>
            <a:endParaRPr lang="es-CL"/>
          </a:p>
        </p:txBody>
      </p:sp>
      <p:sp>
        <p:nvSpPr>
          <p:cNvPr id="33" name="Text 30"/>
          <p:cNvSpPr txBox="1"/>
          <p:nvPr/>
        </p:nvSpPr>
        <p:spPr>
          <a:xfrm>
            <a:off x="8001000" y="2286000"/>
            <a:ext cx="329184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CÓMO TRABAJAR</a:t>
            </a:r>
            <a:endParaRPr lang="en-US" sz="900" dirty="0"/>
          </a:p>
        </p:txBody>
      </p:sp>
      <p:sp>
        <p:nvSpPr>
          <p:cNvPr id="34" name="Shape 31"/>
          <p:cNvSpPr/>
          <p:nvPr/>
        </p:nvSpPr>
        <p:spPr>
          <a:xfrm>
            <a:off x="8028432" y="2761488"/>
            <a:ext cx="118872" cy="118872"/>
          </a:xfrm>
          <a:prstGeom prst="ellipse">
            <a:avLst/>
          </a:prstGeom>
          <a:solidFill>
            <a:srgbClr val="1C7293"/>
          </a:solidFill>
          <a:ln w="12700">
            <a:solidFill>
              <a:srgbClr val="1C7293"/>
            </a:solidFill>
            <a:prstDash val="solid"/>
          </a:ln>
        </p:spPr>
        <p:txBody>
          <a:bodyPr/>
          <a:lstStyle/>
          <a:p>
            <a:endParaRPr lang="es-CL"/>
          </a:p>
        </p:txBody>
      </p:sp>
      <p:sp>
        <p:nvSpPr>
          <p:cNvPr id="35" name="Text 32"/>
          <p:cNvSpPr txBox="1"/>
          <p:nvPr/>
        </p:nvSpPr>
        <p:spPr>
          <a:xfrm>
            <a:off x="8275320" y="2633472"/>
            <a:ext cx="3200400" cy="50292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Escribe en tu propio script (R/sesion3.R).</a:t>
            </a:r>
            <a:endParaRPr lang="en-US" sz="1200" dirty="0"/>
          </a:p>
        </p:txBody>
      </p:sp>
      <p:sp>
        <p:nvSpPr>
          <p:cNvPr id="36" name="Shape 33"/>
          <p:cNvSpPr/>
          <p:nvPr/>
        </p:nvSpPr>
        <p:spPr>
          <a:xfrm>
            <a:off x="8028432" y="3291840"/>
            <a:ext cx="118872" cy="118872"/>
          </a:xfrm>
          <a:prstGeom prst="ellipse">
            <a:avLst/>
          </a:prstGeom>
          <a:solidFill>
            <a:srgbClr val="1C7293"/>
          </a:solidFill>
          <a:ln w="12700">
            <a:solidFill>
              <a:srgbClr val="1C7293"/>
            </a:solidFill>
            <a:prstDash val="solid"/>
          </a:ln>
        </p:spPr>
        <p:txBody>
          <a:bodyPr/>
          <a:lstStyle/>
          <a:p>
            <a:endParaRPr lang="es-CL"/>
          </a:p>
        </p:txBody>
      </p:sp>
      <p:sp>
        <p:nvSpPr>
          <p:cNvPr id="37" name="Text 34"/>
          <p:cNvSpPr txBox="1"/>
          <p:nvPr/>
        </p:nvSpPr>
        <p:spPr>
          <a:xfrm>
            <a:off x="8275320" y="3163824"/>
            <a:ext cx="3200400" cy="50292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La guía es una hoja de ruta.</a:t>
            </a:r>
            <a:endParaRPr lang="en-US" sz="1200" dirty="0"/>
          </a:p>
        </p:txBody>
      </p:sp>
      <p:sp>
        <p:nvSpPr>
          <p:cNvPr id="38" name="Shape 35"/>
          <p:cNvSpPr/>
          <p:nvPr/>
        </p:nvSpPr>
        <p:spPr>
          <a:xfrm>
            <a:off x="8028432" y="3822192"/>
            <a:ext cx="118872" cy="118872"/>
          </a:xfrm>
          <a:prstGeom prst="ellipse">
            <a:avLst/>
          </a:prstGeom>
          <a:solidFill>
            <a:srgbClr val="1C7293"/>
          </a:solidFill>
          <a:ln w="12700">
            <a:solidFill>
              <a:srgbClr val="1C7293"/>
            </a:solidFill>
            <a:prstDash val="solid"/>
          </a:ln>
        </p:spPr>
        <p:txBody>
          <a:bodyPr/>
          <a:lstStyle/>
          <a:p>
            <a:endParaRPr lang="es-CL"/>
          </a:p>
        </p:txBody>
      </p:sp>
      <p:sp>
        <p:nvSpPr>
          <p:cNvPr id="39" name="Text 36"/>
          <p:cNvSpPr txBox="1"/>
          <p:nvPr/>
        </p:nvSpPr>
        <p:spPr>
          <a:xfrm>
            <a:off x="8275320" y="3694176"/>
            <a:ext cx="3200400" cy="50292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Si te trabas más de 3 minutos, avanza y pregunta por el chat.</a:t>
            </a:r>
            <a:endParaRPr lang="en-US" sz="1200" dirty="0"/>
          </a:p>
        </p:txBody>
      </p:sp>
      <p:sp>
        <p:nvSpPr>
          <p:cNvPr id="40" name="Shape 37"/>
          <p:cNvSpPr/>
          <p:nvPr/>
        </p:nvSpPr>
        <p:spPr>
          <a:xfrm>
            <a:off x="8028432" y="4352544"/>
            <a:ext cx="118872" cy="118872"/>
          </a:xfrm>
          <a:prstGeom prst="ellipse">
            <a:avLst/>
          </a:prstGeom>
          <a:solidFill>
            <a:srgbClr val="1C7293"/>
          </a:solidFill>
          <a:ln w="12700">
            <a:solidFill>
              <a:srgbClr val="1C7293"/>
            </a:solidFill>
            <a:prstDash val="solid"/>
          </a:ln>
        </p:spPr>
        <p:txBody>
          <a:bodyPr/>
          <a:lstStyle/>
          <a:p>
            <a:endParaRPr lang="es-CL"/>
          </a:p>
        </p:txBody>
      </p:sp>
      <p:sp>
        <p:nvSpPr>
          <p:cNvPr id="41" name="Text 38"/>
          <p:cNvSpPr txBox="1"/>
          <p:nvPr/>
        </p:nvSpPr>
        <p:spPr>
          <a:xfrm>
            <a:off x="8275320" y="4224528"/>
            <a:ext cx="3200400" cy="502920"/>
          </a:xfrm>
          <a:prstGeom prst="rect">
            <a:avLst/>
          </a:prstGeom>
          <a:noFill/>
          <a:ln/>
        </p:spPr>
        <p:txBody>
          <a:bodyPr wrap="square" lIns="0" tIns="0" rIns="0" bIns="0" rtlCol="0" anchor="t"/>
          <a:lstStyle/>
          <a:p>
            <a:pPr marL="0" indent="0">
              <a:buNone/>
            </a:pPr>
            <a:r>
              <a:rPr lang="en-US" sz="1200" dirty="0">
                <a:solidFill>
                  <a:srgbClr val="1E2A44"/>
                </a:solidFill>
                <a:latin typeface="Calibri" pitchFamily="34" charset="0"/>
                <a:ea typeface="Calibri" pitchFamily="34" charset="-122"/>
                <a:cs typeface="Calibri" pitchFamily="34" charset="-120"/>
              </a:rPr>
              <a:t>Antes: install.packages("plotly").</a:t>
            </a:r>
            <a:endParaRPr lang="en-US" sz="1200" dirty="0"/>
          </a:p>
        </p:txBody>
      </p:sp>
      <p:sp>
        <p:nvSpPr>
          <p:cNvPr id="42" name="Shape 39"/>
          <p:cNvSpPr/>
          <p:nvPr/>
        </p:nvSpPr>
        <p:spPr>
          <a:xfrm>
            <a:off x="548640" y="5166360"/>
            <a:ext cx="11091672" cy="640080"/>
          </a:xfrm>
          <a:prstGeom prst="rect">
            <a:avLst/>
          </a:prstGeom>
          <a:solidFill>
            <a:srgbClr val="E4EEF2"/>
          </a:solidFill>
          <a:ln w="12700">
            <a:solidFill>
              <a:srgbClr val="E4EEF2"/>
            </a:solidFill>
            <a:prstDash val="solid"/>
          </a:ln>
        </p:spPr>
        <p:txBody>
          <a:bodyPr/>
          <a:lstStyle/>
          <a:p>
            <a:endParaRPr lang="es-CL"/>
          </a:p>
        </p:txBody>
      </p:sp>
      <p:sp>
        <p:nvSpPr>
          <p:cNvPr id="43" name="Shape 40"/>
          <p:cNvSpPr/>
          <p:nvPr/>
        </p:nvSpPr>
        <p:spPr>
          <a:xfrm>
            <a:off x="548640" y="5166360"/>
            <a:ext cx="64008" cy="640080"/>
          </a:xfrm>
          <a:prstGeom prst="rect">
            <a:avLst/>
          </a:prstGeom>
          <a:solidFill>
            <a:srgbClr val="1C7293"/>
          </a:solidFill>
          <a:ln w="12700">
            <a:solidFill>
              <a:srgbClr val="1C7293"/>
            </a:solidFill>
            <a:prstDash val="solid"/>
          </a:ln>
        </p:spPr>
        <p:txBody>
          <a:bodyPr/>
          <a:lstStyle/>
          <a:p>
            <a:endParaRPr lang="es-CL"/>
          </a:p>
        </p:txBody>
      </p:sp>
      <p:sp>
        <p:nvSpPr>
          <p:cNvPr id="44" name="Text 41"/>
          <p:cNvSpPr txBox="1"/>
          <p:nvPr/>
        </p:nvSpPr>
        <p:spPr>
          <a:xfrm>
            <a:off x="749808" y="5166360"/>
            <a:ext cx="10771632" cy="640080"/>
          </a:xfrm>
          <a:prstGeom prst="rect">
            <a:avLst/>
          </a:prstGeom>
          <a:noFill/>
          <a:ln/>
        </p:spPr>
        <p:txBody>
          <a:bodyPr wrap="square" lIns="0" tIns="0" rIns="0" bIns="0" rtlCol="0" anchor="ctr"/>
          <a:lstStyle/>
          <a:p>
            <a:pPr marL="0" indent="0">
              <a:buNone/>
            </a:pPr>
            <a:r>
              <a:rPr lang="en-US" sz="1350" i="1" dirty="0">
                <a:solidFill>
                  <a:srgbClr val="1E2A44"/>
                </a:solidFill>
                <a:latin typeface="Calibri" pitchFamily="34" charset="0"/>
                <a:ea typeface="Calibri" pitchFamily="34" charset="-122"/>
                <a:cs typeface="Calibri" pitchFamily="34" charset="-120"/>
              </a:rPr>
              <a:t>Tienes: guía de práctica (.qmd y .R), datos y estas diapositivas.</a:t>
            </a:r>
            <a:endParaRPr lang="en-US" sz="1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7FAFB"/>
        </a:solidFill>
        <a:effectLst/>
      </p:bgPr>
    </p:bg>
    <p:spTree>
      <p:nvGrpSpPr>
        <p:cNvPr id="1" name=""/>
        <p:cNvGrpSpPr/>
        <p:nvPr/>
      </p:nvGrpSpPr>
      <p:grpSpPr>
        <a:xfrm>
          <a:off x="0" y="0"/>
          <a:ext cx="0" cy="0"/>
          <a:chOff x="0" y="0"/>
          <a:chExt cx="0" cy="0"/>
        </a:xfrm>
      </p:grpSpPr>
      <p:sp>
        <p:nvSpPr>
          <p:cNvPr id="2" name="Text 0"/>
          <p:cNvSpPr txBox="1"/>
          <p:nvPr/>
        </p:nvSpPr>
        <p:spPr>
          <a:xfrm>
            <a:off x="548640" y="347472"/>
            <a:ext cx="82296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CIERRE</a:t>
            </a:r>
            <a:endParaRPr lang="en-US" sz="900" dirty="0"/>
          </a:p>
        </p:txBody>
      </p:sp>
      <p:sp>
        <p:nvSpPr>
          <p:cNvPr id="3" name="Text 1"/>
          <p:cNvSpPr txBox="1"/>
          <p:nvPr/>
        </p:nvSpPr>
        <p:spPr>
          <a:xfrm>
            <a:off x="548640" y="594360"/>
            <a:ext cx="11064240" cy="548640"/>
          </a:xfrm>
          <a:prstGeom prst="rect">
            <a:avLst/>
          </a:prstGeom>
          <a:noFill/>
          <a:ln/>
        </p:spPr>
        <p:txBody>
          <a:bodyPr wrap="square" lIns="0" tIns="0" rIns="0" bIns="0" rtlCol="0" anchor="t">
            <a:normAutofit/>
          </a:bodyPr>
          <a:lstStyle/>
          <a:p>
            <a:pPr marL="0" indent="0">
              <a:buNone/>
            </a:pPr>
            <a:r>
              <a:rPr lang="en-US" sz="2600" b="1" dirty="0">
                <a:solidFill>
                  <a:srgbClr val="21295C"/>
                </a:solidFill>
                <a:latin typeface="Cambria" pitchFamily="34" charset="0"/>
                <a:ea typeface="Cambria" pitchFamily="34" charset="-122"/>
                <a:cs typeface="Cambria" pitchFamily="34" charset="-120"/>
              </a:rPr>
              <a:t>Lo esencial y dónde seguir</a:t>
            </a:r>
            <a:endParaRPr lang="en-US" sz="2600" dirty="0"/>
          </a:p>
        </p:txBody>
      </p:sp>
      <p:sp>
        <p:nvSpPr>
          <p:cNvPr id="4" name="Text 2"/>
          <p:cNvSpPr txBox="1"/>
          <p:nvPr/>
        </p:nvSpPr>
        <p:spPr>
          <a:xfrm>
            <a:off x="548640" y="6492240"/>
            <a:ext cx="7315200" cy="201168"/>
          </a:xfrm>
          <a:prstGeom prst="rect">
            <a:avLst/>
          </a:prstGeom>
          <a:noFill/>
          <a:ln/>
        </p:spPr>
        <p:txBody>
          <a:bodyPr wrap="square" lIns="0" tIns="0" rIns="0" bIns="0" rtlCol="0" anchor="ctr"/>
          <a:lstStyle/>
          <a:p>
            <a:pPr marL="0" indent="0">
              <a:buNone/>
            </a:pPr>
            <a:r>
              <a:rPr lang="en-US" sz="800" dirty="0">
                <a:solidFill>
                  <a:srgbClr val="8A97A6"/>
                </a:solidFill>
                <a:latin typeface="Calibri" pitchFamily="34" charset="0"/>
                <a:ea typeface="Calibri" pitchFamily="34" charset="-122"/>
                <a:cs typeface="Calibri" pitchFamily="34" charset="-120"/>
              </a:rPr>
              <a:t>Análisis de Datos en R · Nivel Básico-Intermedio · Sesión 3</a:t>
            </a:r>
            <a:endParaRPr lang="en-US" sz="800" dirty="0"/>
          </a:p>
        </p:txBody>
      </p:sp>
      <p:sp>
        <p:nvSpPr>
          <p:cNvPr id="5" name="Text 3"/>
          <p:cNvSpPr txBox="1"/>
          <p:nvPr/>
        </p:nvSpPr>
        <p:spPr>
          <a:xfrm>
            <a:off x="11155680" y="6492240"/>
            <a:ext cx="484632" cy="201168"/>
          </a:xfrm>
          <a:prstGeom prst="rect">
            <a:avLst/>
          </a:prstGeom>
          <a:noFill/>
          <a:ln/>
        </p:spPr>
        <p:txBody>
          <a:bodyPr wrap="square" lIns="0" tIns="0" rIns="0" bIns="0" rtlCol="0" anchor="ctr"/>
          <a:lstStyle/>
          <a:p>
            <a:pPr marL="0" indent="0" algn="r">
              <a:buNone/>
            </a:pPr>
            <a:r>
              <a:rPr lang="en-US" sz="800" dirty="0">
                <a:solidFill>
                  <a:srgbClr val="8A97A6"/>
                </a:solidFill>
                <a:latin typeface="Calibri" pitchFamily="34" charset="0"/>
                <a:ea typeface="Calibri" pitchFamily="34" charset="-122"/>
                <a:cs typeface="Calibri" pitchFamily="34" charset="-120"/>
              </a:rPr>
              <a:t>34</a:t>
            </a:r>
            <a:endParaRPr lang="en-US" sz="800" dirty="0"/>
          </a:p>
        </p:txBody>
      </p:sp>
      <p:sp>
        <p:nvSpPr>
          <p:cNvPr id="7" name="Shape 4"/>
          <p:cNvSpPr/>
          <p:nvPr/>
        </p:nvSpPr>
        <p:spPr>
          <a:xfrm>
            <a:off x="548640" y="1508760"/>
            <a:ext cx="384048" cy="384048"/>
          </a:xfrm>
          <a:prstGeom prst="ellipse">
            <a:avLst/>
          </a:prstGeom>
          <a:solidFill>
            <a:srgbClr val="065A82"/>
          </a:solidFill>
          <a:ln w="12700">
            <a:solidFill>
              <a:srgbClr val="065A82"/>
            </a:solidFill>
            <a:prstDash val="solid"/>
          </a:ln>
        </p:spPr>
        <p:txBody>
          <a:bodyPr/>
          <a:lstStyle/>
          <a:p>
            <a:endParaRPr lang="es-CL"/>
          </a:p>
        </p:txBody>
      </p:sp>
      <p:sp>
        <p:nvSpPr>
          <p:cNvPr id="8" name="Text 5"/>
          <p:cNvSpPr txBox="1"/>
          <p:nvPr/>
        </p:nvSpPr>
        <p:spPr>
          <a:xfrm>
            <a:off x="548640" y="1508760"/>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1</a:t>
            </a:r>
            <a:endParaRPr lang="en-US" sz="1400" dirty="0"/>
          </a:p>
        </p:txBody>
      </p:sp>
      <p:sp>
        <p:nvSpPr>
          <p:cNvPr id="9" name="Text 6"/>
          <p:cNvSpPr txBox="1"/>
          <p:nvPr/>
        </p:nvSpPr>
        <p:spPr>
          <a:xfrm>
            <a:off x="1143000" y="1481328"/>
            <a:ext cx="5852160" cy="50292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Lo que ves por defecto es una escala o un tema que puedes cambiar.</a:t>
            </a:r>
            <a:endParaRPr lang="en-US" sz="1400" dirty="0"/>
          </a:p>
        </p:txBody>
      </p:sp>
      <p:sp>
        <p:nvSpPr>
          <p:cNvPr id="10" name="Shape 7"/>
          <p:cNvSpPr/>
          <p:nvPr/>
        </p:nvSpPr>
        <p:spPr>
          <a:xfrm>
            <a:off x="548640" y="2295144"/>
            <a:ext cx="384048" cy="384048"/>
          </a:xfrm>
          <a:prstGeom prst="ellipse">
            <a:avLst/>
          </a:prstGeom>
          <a:solidFill>
            <a:srgbClr val="065A82"/>
          </a:solidFill>
          <a:ln w="12700">
            <a:solidFill>
              <a:srgbClr val="065A82"/>
            </a:solidFill>
            <a:prstDash val="solid"/>
          </a:ln>
        </p:spPr>
        <p:txBody>
          <a:bodyPr/>
          <a:lstStyle/>
          <a:p>
            <a:endParaRPr lang="es-CL"/>
          </a:p>
        </p:txBody>
      </p:sp>
      <p:sp>
        <p:nvSpPr>
          <p:cNvPr id="11" name="Text 8"/>
          <p:cNvSpPr txBox="1"/>
          <p:nvPr/>
        </p:nvSpPr>
        <p:spPr>
          <a:xfrm>
            <a:off x="548640" y="2295144"/>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2</a:t>
            </a:r>
            <a:endParaRPr lang="en-US" sz="1400" dirty="0"/>
          </a:p>
        </p:txBody>
      </p:sp>
      <p:sp>
        <p:nvSpPr>
          <p:cNvPr id="12" name="Text 9"/>
          <p:cNvSpPr txBox="1"/>
          <p:nvPr/>
        </p:nvSpPr>
        <p:spPr>
          <a:xfrm>
            <a:off x="1143000" y="2267712"/>
            <a:ext cx="5852160" cy="50292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El color debe tener propósito y ser accesible.</a:t>
            </a:r>
            <a:endParaRPr lang="en-US" sz="1400" dirty="0"/>
          </a:p>
        </p:txBody>
      </p:sp>
      <p:sp>
        <p:nvSpPr>
          <p:cNvPr id="13" name="Shape 10"/>
          <p:cNvSpPr/>
          <p:nvPr/>
        </p:nvSpPr>
        <p:spPr>
          <a:xfrm>
            <a:off x="548640" y="3081528"/>
            <a:ext cx="384048" cy="384048"/>
          </a:xfrm>
          <a:prstGeom prst="ellipse">
            <a:avLst/>
          </a:prstGeom>
          <a:solidFill>
            <a:srgbClr val="065A82"/>
          </a:solidFill>
          <a:ln w="12700">
            <a:solidFill>
              <a:srgbClr val="065A82"/>
            </a:solidFill>
            <a:prstDash val="solid"/>
          </a:ln>
        </p:spPr>
        <p:txBody>
          <a:bodyPr/>
          <a:lstStyle/>
          <a:p>
            <a:endParaRPr lang="es-CL"/>
          </a:p>
        </p:txBody>
      </p:sp>
      <p:sp>
        <p:nvSpPr>
          <p:cNvPr id="14" name="Text 11"/>
          <p:cNvSpPr txBox="1"/>
          <p:nvPr/>
        </p:nvSpPr>
        <p:spPr>
          <a:xfrm>
            <a:off x="548640" y="3081528"/>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3</a:t>
            </a:r>
            <a:endParaRPr lang="en-US" sz="1400" dirty="0"/>
          </a:p>
        </p:txBody>
      </p:sp>
      <p:sp>
        <p:nvSpPr>
          <p:cNvPr id="15" name="Text 12"/>
          <p:cNvSpPr txBox="1"/>
          <p:nvPr/>
        </p:nvSpPr>
        <p:spPr>
          <a:xfrm>
            <a:off x="1143000" y="3054096"/>
            <a:ext cx="5852160" cy="50292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Ordenar y anotar ayuda más que adornar.</a:t>
            </a:r>
            <a:endParaRPr lang="en-US" sz="1400" dirty="0"/>
          </a:p>
        </p:txBody>
      </p:sp>
      <p:sp>
        <p:nvSpPr>
          <p:cNvPr id="16" name="Shape 13"/>
          <p:cNvSpPr/>
          <p:nvPr/>
        </p:nvSpPr>
        <p:spPr>
          <a:xfrm>
            <a:off x="548640" y="3867912"/>
            <a:ext cx="384048" cy="384048"/>
          </a:xfrm>
          <a:prstGeom prst="ellipse">
            <a:avLst/>
          </a:prstGeom>
          <a:solidFill>
            <a:srgbClr val="065A82"/>
          </a:solidFill>
          <a:ln w="12700">
            <a:solidFill>
              <a:srgbClr val="065A82"/>
            </a:solidFill>
            <a:prstDash val="solid"/>
          </a:ln>
        </p:spPr>
        <p:txBody>
          <a:bodyPr/>
          <a:lstStyle/>
          <a:p>
            <a:endParaRPr lang="es-CL"/>
          </a:p>
        </p:txBody>
      </p:sp>
      <p:sp>
        <p:nvSpPr>
          <p:cNvPr id="17" name="Text 14"/>
          <p:cNvSpPr txBox="1"/>
          <p:nvPr/>
        </p:nvSpPr>
        <p:spPr>
          <a:xfrm>
            <a:off x="548640" y="3867912"/>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4</a:t>
            </a:r>
            <a:endParaRPr lang="en-US" sz="1400" dirty="0"/>
          </a:p>
        </p:txBody>
      </p:sp>
      <p:sp>
        <p:nvSpPr>
          <p:cNvPr id="18" name="Text 15"/>
          <p:cNvSpPr txBox="1"/>
          <p:nvPr/>
        </p:nvSpPr>
        <p:spPr>
          <a:xfrm>
            <a:off x="1143000" y="3840480"/>
            <a:ext cx="5852160" cy="50292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patchwork: + | /  para combinar, &amp; para aplicar el tema a todos.</a:t>
            </a:r>
            <a:endParaRPr lang="en-US" sz="1400" dirty="0"/>
          </a:p>
        </p:txBody>
      </p:sp>
      <p:sp>
        <p:nvSpPr>
          <p:cNvPr id="19" name="Shape 16"/>
          <p:cNvSpPr/>
          <p:nvPr/>
        </p:nvSpPr>
        <p:spPr>
          <a:xfrm>
            <a:off x="548640" y="4654296"/>
            <a:ext cx="384048" cy="384048"/>
          </a:xfrm>
          <a:prstGeom prst="ellipse">
            <a:avLst/>
          </a:prstGeom>
          <a:solidFill>
            <a:srgbClr val="065A82"/>
          </a:solidFill>
          <a:ln w="12700">
            <a:solidFill>
              <a:srgbClr val="065A82"/>
            </a:solidFill>
            <a:prstDash val="solid"/>
          </a:ln>
        </p:spPr>
        <p:txBody>
          <a:bodyPr/>
          <a:lstStyle/>
          <a:p>
            <a:endParaRPr lang="es-CL"/>
          </a:p>
        </p:txBody>
      </p:sp>
      <p:sp>
        <p:nvSpPr>
          <p:cNvPr id="20" name="Text 17"/>
          <p:cNvSpPr txBox="1"/>
          <p:nvPr/>
        </p:nvSpPr>
        <p:spPr>
          <a:xfrm>
            <a:off x="548640" y="4654296"/>
            <a:ext cx="384048" cy="384048"/>
          </a:xfrm>
          <a:prstGeom prst="rect">
            <a:avLst/>
          </a:prstGeom>
          <a:noFill/>
          <a:ln/>
        </p:spPr>
        <p:txBody>
          <a:bodyPr wrap="square" lIns="0" tIns="0" rIns="0" bIns="0" rtlCol="0" anchor="ctr"/>
          <a:lstStyle/>
          <a:p>
            <a:pPr marL="0" indent="0" algn="ctr">
              <a:buNone/>
            </a:pPr>
            <a:r>
              <a:rPr lang="en-US" sz="1400" b="1" dirty="0">
                <a:solidFill>
                  <a:srgbClr val="FFFFFF"/>
                </a:solidFill>
                <a:latin typeface="Calibri" pitchFamily="34" charset="0"/>
                <a:ea typeface="Calibri" pitchFamily="34" charset="-122"/>
                <a:cs typeface="Calibri" pitchFamily="34" charset="-120"/>
              </a:rPr>
              <a:t>5</a:t>
            </a:r>
            <a:endParaRPr lang="en-US" sz="1400" dirty="0"/>
          </a:p>
        </p:txBody>
      </p:sp>
      <p:sp>
        <p:nvSpPr>
          <p:cNvPr id="21" name="Text 18"/>
          <p:cNvSpPr txBox="1"/>
          <p:nvPr/>
        </p:nvSpPr>
        <p:spPr>
          <a:xfrm>
            <a:off x="1143000" y="4626864"/>
            <a:ext cx="5852160" cy="502920"/>
          </a:xfrm>
          <a:prstGeom prst="rect">
            <a:avLst/>
          </a:prstGeom>
          <a:noFill/>
          <a:ln/>
        </p:spPr>
        <p:txBody>
          <a:bodyPr wrap="square" lIns="0" tIns="0" rIns="0" bIns="0" rtlCol="0" anchor="ctr"/>
          <a:lstStyle/>
          <a:p>
            <a:pPr marL="0" indent="0">
              <a:buNone/>
            </a:pPr>
            <a:r>
              <a:rPr lang="en-US" sz="1400" dirty="0">
                <a:solidFill>
                  <a:srgbClr val="1E2A44"/>
                </a:solidFill>
                <a:latin typeface="Calibri" pitchFamily="34" charset="0"/>
                <a:ea typeface="Calibri" pitchFamily="34" charset="-122"/>
                <a:cs typeface="Calibri" pitchFamily="34" charset="-120"/>
              </a:rPr>
              <a:t>ggplotly vuelve interactivo un gráfico estático ya correcto.</a:t>
            </a:r>
            <a:endParaRPr lang="en-US" sz="1400" dirty="0"/>
          </a:p>
        </p:txBody>
      </p:sp>
      <p:sp>
        <p:nvSpPr>
          <p:cNvPr id="22" name="Text 19"/>
          <p:cNvSpPr txBox="1"/>
          <p:nvPr/>
        </p:nvSpPr>
        <p:spPr>
          <a:xfrm>
            <a:off x="7406640" y="1417320"/>
            <a:ext cx="4114800" cy="228600"/>
          </a:xfrm>
          <a:prstGeom prst="rect">
            <a:avLst/>
          </a:prstGeom>
          <a:noFill/>
          <a:ln/>
        </p:spPr>
        <p:txBody>
          <a:bodyPr wrap="square" lIns="0" tIns="0" rIns="0" bIns="0" rtlCol="0" anchor="ctr"/>
          <a:lstStyle/>
          <a:p>
            <a:pPr marL="0" indent="0">
              <a:buNone/>
            </a:pPr>
            <a:r>
              <a:rPr lang="en-US" sz="900" b="1" kern="0" spc="200" dirty="0">
                <a:solidFill>
                  <a:srgbClr val="1C7293"/>
                </a:solidFill>
                <a:latin typeface="Calibri" pitchFamily="34" charset="0"/>
                <a:ea typeface="Calibri" pitchFamily="34" charset="-122"/>
                <a:cs typeface="Calibri" pitchFamily="34" charset="-120"/>
              </a:rPr>
              <a:t>PARA SEGUIR</a:t>
            </a:r>
            <a:endParaRPr lang="en-US" sz="900" dirty="0"/>
          </a:p>
        </p:txBody>
      </p:sp>
      <p:sp>
        <p:nvSpPr>
          <p:cNvPr id="23" name="Text 20"/>
          <p:cNvSpPr txBox="1"/>
          <p:nvPr/>
        </p:nvSpPr>
        <p:spPr>
          <a:xfrm>
            <a:off x="7635240" y="1783080"/>
            <a:ext cx="3931920" cy="274320"/>
          </a:xfrm>
          <a:prstGeom prst="rect">
            <a:avLst/>
          </a:prstGeom>
          <a:noFill/>
          <a:ln/>
        </p:spPr>
        <p:txBody>
          <a:bodyPr wrap="square" lIns="0" tIns="0" rIns="0" bIns="0" rtlCol="0" anchor="t"/>
          <a:lstStyle/>
          <a:p>
            <a:pPr marL="0" indent="0">
              <a:buNone/>
            </a:pPr>
            <a:r>
              <a:rPr lang="en-US" sz="1250" b="1" dirty="0">
                <a:solidFill>
                  <a:srgbClr val="21295C"/>
                </a:solidFill>
                <a:latin typeface="Calibri" pitchFamily="34" charset="0"/>
                <a:ea typeface="Calibri" pitchFamily="34" charset="-122"/>
                <a:cs typeface="Calibri" pitchFamily="34" charset="-120"/>
              </a:rPr>
              <a:t>ggplot2: Elegant Graphics for Data Analysis</a:t>
            </a:r>
            <a:endParaRPr lang="en-US" sz="1250" dirty="0"/>
          </a:p>
        </p:txBody>
      </p:sp>
      <p:sp>
        <p:nvSpPr>
          <p:cNvPr id="24" name="Text 21"/>
          <p:cNvSpPr txBox="1"/>
          <p:nvPr/>
        </p:nvSpPr>
        <p:spPr>
          <a:xfrm>
            <a:off x="7635240" y="2057400"/>
            <a:ext cx="3931920" cy="320040"/>
          </a:xfrm>
          <a:prstGeom prst="rect">
            <a:avLst/>
          </a:prstGeom>
          <a:noFill/>
          <a:ln/>
        </p:spPr>
        <p:txBody>
          <a:bodyPr wrap="square" lIns="0" tIns="0" rIns="0" bIns="0" rtlCol="0" anchor="t"/>
          <a:lstStyle/>
          <a:p>
            <a:pPr marL="0" indent="0">
              <a:buNone/>
            </a:pPr>
            <a:r>
              <a:rPr lang="en-US" sz="1100" dirty="0">
                <a:solidFill>
                  <a:srgbClr val="5B6B7F"/>
                </a:solidFill>
                <a:latin typeface="Calibri" pitchFamily="34" charset="0"/>
                <a:ea typeface="Calibri" pitchFamily="34" charset="-122"/>
                <a:cs typeface="Calibri" pitchFamily="34" charset="-120"/>
              </a:rPr>
              <a:t>ggplot2-book.org</a:t>
            </a:r>
            <a:endParaRPr lang="en-US" sz="1100" dirty="0"/>
          </a:p>
        </p:txBody>
      </p:sp>
      <p:sp>
        <p:nvSpPr>
          <p:cNvPr id="25" name="Text 22"/>
          <p:cNvSpPr txBox="1"/>
          <p:nvPr/>
        </p:nvSpPr>
        <p:spPr>
          <a:xfrm>
            <a:off x="7635240" y="2514600"/>
            <a:ext cx="3931920" cy="274320"/>
          </a:xfrm>
          <a:prstGeom prst="rect">
            <a:avLst/>
          </a:prstGeom>
          <a:noFill/>
          <a:ln/>
        </p:spPr>
        <p:txBody>
          <a:bodyPr wrap="square" lIns="0" tIns="0" rIns="0" bIns="0" rtlCol="0" anchor="t"/>
          <a:lstStyle/>
          <a:p>
            <a:pPr marL="0" indent="0">
              <a:buNone/>
            </a:pPr>
            <a:r>
              <a:rPr lang="en-US" sz="1250" b="1" dirty="0">
                <a:solidFill>
                  <a:srgbClr val="21295C"/>
                </a:solidFill>
                <a:latin typeface="Calibri" pitchFamily="34" charset="0"/>
                <a:ea typeface="Calibri" pitchFamily="34" charset="-122"/>
                <a:cs typeface="Calibri" pitchFamily="34" charset="-120"/>
              </a:rPr>
              <a:t>Documentación de patchwork</a:t>
            </a:r>
            <a:endParaRPr lang="en-US" sz="1250" dirty="0"/>
          </a:p>
        </p:txBody>
      </p:sp>
      <p:sp>
        <p:nvSpPr>
          <p:cNvPr id="26" name="Text 23"/>
          <p:cNvSpPr txBox="1"/>
          <p:nvPr/>
        </p:nvSpPr>
        <p:spPr>
          <a:xfrm>
            <a:off x="7635240" y="2788920"/>
            <a:ext cx="3931920" cy="320040"/>
          </a:xfrm>
          <a:prstGeom prst="rect">
            <a:avLst/>
          </a:prstGeom>
          <a:noFill/>
          <a:ln/>
        </p:spPr>
        <p:txBody>
          <a:bodyPr wrap="square" lIns="0" tIns="0" rIns="0" bIns="0" rtlCol="0" anchor="t"/>
          <a:lstStyle/>
          <a:p>
            <a:pPr marL="0" indent="0">
              <a:buNone/>
            </a:pPr>
            <a:r>
              <a:rPr lang="en-US" sz="1100" dirty="0">
                <a:solidFill>
                  <a:srgbClr val="5B6B7F"/>
                </a:solidFill>
                <a:latin typeface="Calibri" pitchFamily="34" charset="0"/>
                <a:ea typeface="Calibri" pitchFamily="34" charset="-122"/>
                <a:cs typeface="Calibri" pitchFamily="34" charset="-120"/>
              </a:rPr>
              <a:t>patchwork.data-imaginist.com</a:t>
            </a:r>
            <a:endParaRPr lang="en-US" sz="1100" dirty="0"/>
          </a:p>
        </p:txBody>
      </p:sp>
      <p:sp>
        <p:nvSpPr>
          <p:cNvPr id="27" name="Text 24"/>
          <p:cNvSpPr txBox="1"/>
          <p:nvPr/>
        </p:nvSpPr>
        <p:spPr>
          <a:xfrm>
            <a:off x="7635240" y="3246120"/>
            <a:ext cx="3931920" cy="274320"/>
          </a:xfrm>
          <a:prstGeom prst="rect">
            <a:avLst/>
          </a:prstGeom>
          <a:noFill/>
          <a:ln/>
        </p:spPr>
        <p:txBody>
          <a:bodyPr wrap="square" lIns="0" tIns="0" rIns="0" bIns="0" rtlCol="0" anchor="t"/>
          <a:lstStyle/>
          <a:p>
            <a:pPr marL="0" indent="0">
              <a:buNone/>
            </a:pPr>
            <a:r>
              <a:rPr lang="en-US" sz="1250" b="1" dirty="0">
                <a:solidFill>
                  <a:srgbClr val="21295C"/>
                </a:solidFill>
                <a:latin typeface="Calibri" pitchFamily="34" charset="0"/>
                <a:ea typeface="Calibri" pitchFamily="34" charset="-122"/>
                <a:cs typeface="Calibri" pitchFamily="34" charset="-120"/>
              </a:rPr>
              <a:t>Plotly para R</a:t>
            </a:r>
            <a:endParaRPr lang="en-US" sz="1250" dirty="0"/>
          </a:p>
        </p:txBody>
      </p:sp>
      <p:sp>
        <p:nvSpPr>
          <p:cNvPr id="28" name="Text 25"/>
          <p:cNvSpPr txBox="1"/>
          <p:nvPr/>
        </p:nvSpPr>
        <p:spPr>
          <a:xfrm>
            <a:off x="7635240" y="3520440"/>
            <a:ext cx="3931920" cy="320040"/>
          </a:xfrm>
          <a:prstGeom prst="rect">
            <a:avLst/>
          </a:prstGeom>
          <a:noFill/>
          <a:ln/>
        </p:spPr>
        <p:txBody>
          <a:bodyPr wrap="square" lIns="0" tIns="0" rIns="0" bIns="0" rtlCol="0" anchor="t"/>
          <a:lstStyle/>
          <a:p>
            <a:pPr marL="0" indent="0">
              <a:buNone/>
            </a:pPr>
            <a:r>
              <a:rPr lang="en-US" sz="1100" dirty="0">
                <a:solidFill>
                  <a:srgbClr val="5B6B7F"/>
                </a:solidFill>
                <a:latin typeface="Calibri" pitchFamily="34" charset="0"/>
                <a:ea typeface="Calibri" pitchFamily="34" charset="-122"/>
                <a:cs typeface="Calibri" pitchFamily="34" charset="-120"/>
              </a:rPr>
              <a:t>plotly-r.com</a:t>
            </a:r>
            <a:endParaRPr lang="en-US" sz="1100" dirty="0"/>
          </a:p>
        </p:txBody>
      </p:sp>
      <p:sp>
        <p:nvSpPr>
          <p:cNvPr id="29" name="Shape 26"/>
          <p:cNvSpPr/>
          <p:nvPr/>
        </p:nvSpPr>
        <p:spPr>
          <a:xfrm>
            <a:off x="7406640" y="4160520"/>
            <a:ext cx="4233672" cy="1463040"/>
          </a:xfrm>
          <a:prstGeom prst="roundRect">
            <a:avLst>
              <a:gd name="adj" fmla="val 4375"/>
            </a:avLst>
          </a:prstGeom>
          <a:solidFill>
            <a:srgbClr val="21295C"/>
          </a:solidFill>
          <a:ln w="12700">
            <a:solidFill>
              <a:srgbClr val="21295C"/>
            </a:solidFill>
            <a:prstDash val="solid"/>
          </a:ln>
        </p:spPr>
        <p:txBody>
          <a:bodyPr/>
          <a:lstStyle/>
          <a:p>
            <a:endParaRPr lang="es-CL"/>
          </a:p>
        </p:txBody>
      </p:sp>
      <p:sp>
        <p:nvSpPr>
          <p:cNvPr id="30" name="Text 27"/>
          <p:cNvSpPr txBox="1"/>
          <p:nvPr/>
        </p:nvSpPr>
        <p:spPr>
          <a:xfrm>
            <a:off x="7680960" y="4297680"/>
            <a:ext cx="3657600" cy="228600"/>
          </a:xfrm>
          <a:prstGeom prst="rect">
            <a:avLst/>
          </a:prstGeom>
          <a:noFill/>
          <a:ln/>
        </p:spPr>
        <p:txBody>
          <a:bodyPr wrap="square" lIns="0" tIns="0" rIns="0" bIns="0" rtlCol="0" anchor="ctr"/>
          <a:lstStyle/>
          <a:p>
            <a:pPr marL="0" indent="0">
              <a:buNone/>
            </a:pPr>
            <a:r>
              <a:rPr lang="en-US" sz="900" b="1" kern="0" spc="200" dirty="0">
                <a:solidFill>
                  <a:srgbClr val="8FB8D8"/>
                </a:solidFill>
                <a:latin typeface="Calibri" pitchFamily="34" charset="0"/>
                <a:ea typeface="Calibri" pitchFamily="34" charset="-122"/>
                <a:cs typeface="Calibri" pitchFamily="34" charset="-120"/>
              </a:rPr>
              <a:t>PRÓXIMA SESIÓN</a:t>
            </a:r>
            <a:endParaRPr lang="en-US" sz="900" dirty="0"/>
          </a:p>
        </p:txBody>
      </p:sp>
      <p:sp>
        <p:nvSpPr>
          <p:cNvPr id="31" name="Text 28"/>
          <p:cNvSpPr txBox="1"/>
          <p:nvPr/>
        </p:nvSpPr>
        <p:spPr>
          <a:xfrm>
            <a:off x="7680960" y="4572000"/>
            <a:ext cx="3749040" cy="365760"/>
          </a:xfrm>
          <a:prstGeom prst="rect">
            <a:avLst/>
          </a:prstGeom>
          <a:noFill/>
          <a:ln/>
        </p:spPr>
        <p:txBody>
          <a:bodyPr wrap="square" lIns="0" tIns="0" rIns="0" bIns="0" rtlCol="0" anchor="ctr"/>
          <a:lstStyle/>
          <a:p>
            <a:pPr marL="0" indent="0">
              <a:buNone/>
            </a:pPr>
            <a:r>
              <a:rPr lang="en-US" sz="1600" b="1" dirty="0">
                <a:solidFill>
                  <a:srgbClr val="FFFFFF"/>
                </a:solidFill>
                <a:latin typeface="Cambria" pitchFamily="34" charset="0"/>
                <a:ea typeface="Cambria" pitchFamily="34" charset="-122"/>
                <a:cs typeface="Cambria" pitchFamily="34" charset="-120"/>
              </a:rPr>
              <a:t>Sesión 4 · Regresión lineal</a:t>
            </a:r>
            <a:endParaRPr lang="en-US" sz="1600" dirty="0"/>
          </a:p>
        </p:txBody>
      </p:sp>
      <p:sp>
        <p:nvSpPr>
          <p:cNvPr id="32" name="Text 29"/>
          <p:cNvSpPr txBox="1"/>
          <p:nvPr/>
        </p:nvSpPr>
        <p:spPr>
          <a:xfrm>
            <a:off x="7680960" y="4983480"/>
            <a:ext cx="3749040" cy="502920"/>
          </a:xfrm>
          <a:prstGeom prst="rect">
            <a:avLst/>
          </a:prstGeom>
          <a:noFill/>
          <a:ln/>
        </p:spPr>
        <p:txBody>
          <a:bodyPr wrap="square" lIns="0" tIns="0" rIns="0" bIns="0" rtlCol="0" anchor="t"/>
          <a:lstStyle/>
          <a:p>
            <a:pPr marL="0" indent="0">
              <a:buNone/>
            </a:pPr>
            <a:r>
              <a:rPr lang="en-US" sz="1200" dirty="0">
                <a:solidFill>
                  <a:srgbClr val="C9DDEC"/>
                </a:solidFill>
                <a:latin typeface="Calibri" pitchFamily="34" charset="0"/>
                <a:ea typeface="Calibri" pitchFamily="34" charset="-122"/>
                <a:cs typeface="Calibri" pitchFamily="34" charset="-120"/>
              </a:rPr>
              <a:t>Trae una pregunta con dos variables de tu investigación.</a:t>
            </a:r>
            <a:endParaRPr lang="en-US" sz="12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6</TotalTime>
  <Words>9445</Words>
  <Application>Microsoft Office PowerPoint</Application>
  <PresentationFormat>Panorámica</PresentationFormat>
  <Paragraphs>674</Paragraphs>
  <Slides>34</Slides>
  <Notes>34</Notes>
  <HiddenSlides>0</HiddenSlides>
  <MMClips>0</MMClips>
  <ScaleCrop>false</ScaleCrop>
  <HeadingPairs>
    <vt:vector size="6" baseType="variant">
      <vt:variant>
        <vt:lpstr>Fuentes usadas</vt:lpstr>
      </vt:variant>
      <vt:variant>
        <vt:i4>4</vt:i4>
      </vt:variant>
      <vt:variant>
        <vt:lpstr>Tema</vt:lpstr>
      </vt:variant>
      <vt:variant>
        <vt:i4>1</vt:i4>
      </vt:variant>
      <vt:variant>
        <vt:lpstr>Títulos de diapositiva</vt:lpstr>
      </vt:variant>
      <vt:variant>
        <vt:i4>34</vt:i4>
      </vt:variant>
    </vt:vector>
  </HeadingPairs>
  <TitlesOfParts>
    <vt:vector size="39" baseType="lpstr">
      <vt:lpstr>Arial</vt:lpstr>
      <vt:lpstr>Calibri</vt:lpstr>
      <vt:lpstr>Cambria</vt:lpstr>
      <vt:lpstr>Courier New</vt:lpstr>
      <vt:lpstr>Office Theme</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lpstr>Presentación de PowerPoint</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3 · Visualización avanzada</dc:title>
  <dc:subject>PptxGenJS Presentation</dc:subject>
  <dc:creator>Pablo Lemus</dc:creator>
  <cp:lastModifiedBy>PABLO  LEMUS HENRIQUEZ</cp:lastModifiedBy>
  <cp:revision>2</cp:revision>
  <dcterms:created xsi:type="dcterms:W3CDTF">2026-10-21T01:59:40Z</dcterms:created>
  <dcterms:modified xsi:type="dcterms:W3CDTF">2026-10-22T22:47:22Z</dcterms:modified>
</cp:coreProperties>
</file>