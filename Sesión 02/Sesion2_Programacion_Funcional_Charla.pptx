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8780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1:00 · 1 min] Portada: Programación funcional
Bienvenidas y bienvenidos a la segunda sesión. Hoy damos un salto: pasamos de usar funciones que escribieron otros a escribir las nuestras, y de repetir un análisis a mano a automatizarlo. Antes de empezar, confirmo que la grabación está activa y les pido que abran RStudio con el proyecto de la clase pasada, porque en la práctica vamos a seguir trabajando ahí.
Destacar:
• Confirma que la grabación esté activa y avisa que quienes se conecten tarde la recibirán.
• Pregunta por el chat quién alcanzó a hacer el Reto del Bloque 2 de la sesión anterior; sirve para calibrar el ritmo.
• Recuerda que las funciones de hoy quedarán guardadas y versionadas en el repositorio Git de la sesión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2:30 · 1 min 30 s] La sesión de hoy: 2 horas, dos partes
La sesión dura dos horas, como la anterior: una de charla y una de práctica. En la charla vemos funciones propias durante veinte minutos, iteración con purrr durante veintidós y, para cerrar, un caso completo de automatización durante diez, más tres minutos de cierre. En la práctica hay cuatro bloques: preparación, funciones, purrr y un análisis automatizado de cinco archivos; el último bloque es el más largo porque integra todo. Al final reciben las diapositivas, la guía y los datos.
Destacar:
• La charla es el marco; la práctica es donde se consolida el aprendizaje.
• Señala que el bloque 3 de la práctica (20 min) es el que une funciones y purrr en un caso real.
• Recuerda que la clase queda grabada para repasar.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4:00 · 1 min 30 s] Al terminar la sesión podrás…
Tres objetivos. Primero, escribir funciones propias, con argumentos claros y con validaciones, para no copiar y pegar código. Segundo, aplicar una misma función a muchas columnas, grupos o archivos con purrr. Y tercero, encadenar ambas ideas para automatizar un análisis completo: leer varios archivos, resumirlos, ajustar un modelo por grupo y guardar los resultados. Si lo piensan, es lo mismo que haríamos a mano, pero escrito una sola vez.
Destacar:
• Programar funcionalmente no es "programar más": es escribir menos código y cometer menos errores.
• Conecta con la sesión 1: across() ya iteraba sobre columnas; purrr generaliza esa idea a cualquier cosa.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 5:00 · 1 min] El problema: el mismo análisis, una y otra vez
Imaginen que tienen cinco encuestas anuales, de 2022 a 2026, y que quieren calcular tres estadísticos para cada una de las cinco dimensiones de satisfacción. Son setenta y cinco cálculos. Copiar y pegar setenta y cinco veces es lento, aburrido y, sobre todo, peligroso, como vamos a ver enseguida. Al final de la sesión harán esto con una función y una línea de iteración.
Destacar:
• Deja que la cifra (75) haga el trabajo de motivar.
• Es una situación real en investigación: olas de medición, sedes, réplicas, cohortes.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 5:45 · 0 min 45 s] Divisor: Parte 1 · Funciones propias
Empezamos con la primera parte: escribir nuestras propias funciones. Veinte minutos.
Destacar:
• Punto de control: deberías estar en el minuto 5.
• Pregunta de enganche: ¿cuántas veces han copiado un bloque de código cambiando solo un nombre?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 – 7:45 · 2 min] Copiar y pegar produce errores silenciosos
Miren estas tres líneas: calculan el error estándar de tres dimensiones. Las dos primeras están bien. En la tercera, al copiar y pegar, quedó sin cambiar el nombre de la columna en el denominador: se divide por la raíz de un tamaño de muestra que pertenece a otra variable. R no avisa nada, el resultado es plausible, 0,0828 en lugar de 0,0846, y ese error podría terminar en una tabla de un artículo. De ahí sale la regla de las tres copias: si copias un bloque tres veces, conviértelo en función.
Destacar:
• Dales unos segundos para encontrar el error antes de revelarlo.
• El peligro no es que falle, sino que no falle: el resultado parece razonable.
• La regla de las tres copias es una guía práctica, no una ley; lo importante es la idea de escribir cada cosa una sola vez.</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 – 10:15 · 2 min 30 s] Anatomía de una función
Toda función en R tiene cuatro partes. El nombre, que conviene que sea un verbo o una descripción clara. Los argumentos, que son todo lo que cambia de un uso a otro, y pueden tener un valor por defecto. El cuerpo, entre llaves, que es lo que la función hace. Y el valor devuelto, que es simplemente la última expresión que se evalúa. Una función es, en el fondo, una receta con ingredientes variables.
Destacar:
• Recorre la plantilla de arriba hacia abajo y luego las cuatro tarjetas.
• Insiste en que el valor devuelto es la última expresión evaluada; return() casi nunca hace falta.
• Nombres: error_estandar() es mejor que f1(); un buen nombre evita comentarios.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[10:15 – 12:15 · 2 min] Tu primera función: error_estandar()
Convertimos el cálculo repetido en una función. Recibe un vector x; quita los NA si se lo pedimos y devuelve la desviación estándar dividida por la raíz del número de datos. Ahora el cálculo está escrito en un solo lugar: lo usamos con cualquier columna y, si hay que corregir algo, se corrige una vez. Fíjense en los dos resultados: 0,0759 para supervisión y 0,0846 para financiamiento, este último idéntico al valor correcto de la lámina anterior.
Destacar:
• Muestra que la función se define una vez y se usa tantas veces como se quiera.
• Un cambio en un solo lugar corrige todos los usos.
• Si alguien pregunta por la raíz de n: es la fórmula del error estándar de la media.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 – 14:00 · 1 min 45 s] Argumentos: valores por defecto y nombres
Los argumentos sin valor por defecto, como x, son obligatorios. Los que lo tienen, como na.rm, son opcionales: si no los escribo, se usa el valor por defecto. Puedo pasar los argumentos por posición o por nombre, y cuando no es el primero conviene escribir el nombre, porque el código se lee solo. En el ejemplo de abajo, con na.rm igual a FALSE y un NA en el vector, el resultado es NA: la función hace exactamente lo que le pedimos.
Destacar:
• Primero los argumentos obligatorios (los datos), después los opcionales con su valor por defecto.
• Elige defaults sensatos: el uso más habitual debería funcionar sin escribir nada.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 – 15:45 · 1 min 45 s] Devolver resultados: un valor o una tabla
Una función puede devolver un número, un vector o una tabla. Aquí resumen_num() devuelve un tibble de una fila con n, media, desviación estándar y error estándar. Devolver un tibble tiene una ventaja que vamos a explotar en la segunda parte: los resultados de muchas llamadas se pueden apilar en una sola tabla. Y fíjense que usa error_estandar() adentro: las funciones se construyen unas sobre otras.
Destacar:
• Devolver un data frame es el patrón más útil en análisis de datos.
• Cada función hace una sola cosa; resumen_num() se apoya en error_estandar().
• return() se usa solo para salidas tempranas, por ejemplo después de una validación.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[15:45 – 18:00 · 2 min 15 s] Chequeo rápido: responde en el chat
Chequeo rápido por el chat. Pregunta uno: con esta función, ¿qué devuelve f de 5? Pregunta dos: ¿y f con y igual a 3 y luego 4? Pregunta tres: si la última línea de una función es una asignación, como x igual a x más uno, ¿qué devuelve al llamarla? Les doy medio minuto por pregunta y comentamos las respuestas.
Destacar:
• Dedica unos 30 segundos por pregunta.
• Si más de un tercio falla alguna, detente un minuto a repasar los argumentos.
• La pregunta 3 es la trampa: la función devuelve el valor, pero de forma invisible, y por eso no se imprime.
Respuestas: (1) 10: y vale 2 por defecto. (2) 12: el 4 entra a x por posición y y vale 3 por nombre. (3) Devuelve el valor de x más uno, pero invisible: no se imprime en la consola. Para verlo se termina con x, o se usa return(x).</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 – 20:15 · 2 min 15 s] Validar entradas: stop(), warning(), stopifnot()
Una función que acepta cualquier cosa es una función que falla de formas misteriosas. Si le paso la columna nivel, que es texto, quiero un error claro que diga qué esperaba y qué recibió, no un mensaje críptico de R. Si le paso un solo dato, no se puede calcular una desviación estándar: devuelvo NA y aviso con una advertencia. Con stop detengo la ejecución, con warning aviso y sigo, con message informo, y stopifnot es un atajo para comprobar condiciones.
Destacar:
• Un buen mensaje de error dice qué se esperaba y qué se recibió.
• call. = FALSE hace que el mensaje sea más limpio para quien lo lee.
• No hace falta validar todo: valida lo que más probablemente se equivoque quien use tu función.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[20:15 – 22:45 · 2 min 30 s] Funciones que envuelven dplyr: {{ }}
Un caso especial y muy útil: funciones que envuelven verbos de dplyr. Si el argumento es el nombre de una columna sin comillas, como nivel o sat_supervision, hay que envolverlo en doble llave. Con eso, resumir_por() recibe los datos, la variable de agrupación y la variable a resumir, y se usa igual que un verbo de dplyr, dentro de un pipe. Abajo, el resultado por nivel: doctorandos con 3,79 y magísteres con 3,72. La misma función sirve para cualquier agrupación y cualquier variable.
Destacar:
• Regla práctica: columna sin comillas en un argumento, se envuelve en {{ }}.
• No expliques la teoría de tidy evaluation; basta con la regla.
• Si falta la llave, el error típico es "object not found"; ya lo reconocerán en la práctica.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[22:45 – 24:00 · 1 min 15 s · OPCIONAL] Cuando el nombre llega como texto: .data[[ ]]
Si el nombre de la columna llega como texto, entre comillas, por ejemplo porque lo guardamos en un vector o porque viene de un bucle, no se usa la doble llave sino .data entre dobles corchetes. Es el caso que vamos a necesitar al iterar sobre nombres de variables. La regla se resume en una línea: sin comillas, doble llave; con comillas, .data.
Destacar:
• Es una lámina de referencia: no te detengas en los detalles.
• Alternativa conocida: across(all_of(vars)) cuando se trabaja con varias columnas.
Si vas atrasado: Sáltala y menciona la regla en una frase al pasar a la lámina 15 (ahorras 1 min 15 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[24:00 – 25:00 · 1 min] Dónde viven tus funciones (y qué pasa dentro)
Dos ideas para terminar esta parte. Primera: las funciones no se dejan sueltas en el script de análisis, se guardan en un archivo aparte, R/funciones.R, y se cargan con source y here. Así se reutilizan en todos los scripts del proyecto, y es lo que van a versionar con Git. Segunda: lo que pasa dentro de una función se queda dentro. En el ejemplo, la x de dentro vale 1, pero la x global sigue valiendo 100.
Destacar:
• Una carpeta R/ con un archivo funciones.R es la convención más simple y suficiente.
• Variables locales y globales: la función no modifica el entorno externo; por eso es segura.
• Gancho con Git: un commit por cada función nueva, con un mensaje que diga qué hace.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 – 25:45 · 0 min 45 s] Divisor: Parte 2 · Iteración con purrr
Segunda parte: iterar con purrr. Ya tenemos funciones; ahora queremos aplicarlas a muchas cosas a la vez. Veintidós minutos.
Destacar:
• Punto de control: deberías estar en el minuto 25. Si vas atrasado, decide qué láminas opcionales saltar (ver Plan B).
• Pregunta de enganche: ¿cómo calcularían la media de las cinco columnas sat_ sin copiar el código cinco veces?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[25:45 – 27:45 · 2 min] Del bucle for a map()
Una forma de repetir una operación es el bucle for: creo un vector vacío, recorro los índices y voy llenando. Funciona, pero hay mucho código de "andamiaje" que no es lo importante. Con map_dbl() escribo la intención: aplica esta función a cada columna y devuélveme un vector numérico. Mismo resultado, mucho menos ruido, y de yapa el vector resultante conserva los nombres de las columnas.
Destacar:
• No demonices el for: es perfectamente válido; map() simplemente es más corto y más expresivo.
• Señala que el resultado de map_dbl() lleva los nombres de las columnas.
• Pide que comparen visualmente la cantidad de líneas.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[27:45 – 30:00 · 2 min 15 s] Anatomía de map()
map recibe tres cosas. El primer argumento, punto x, es lo que recorro: un vector, una lista o las columnas de un data frame. El segundo, punto f, es la función que aplico a cada elemento: puede ser el nombre de una función, como error_estandar, o una función anónima con la sintaxis de barra invertida. Y los puntos suspensivos son argumentos extra que se pasan a esa función. Una regla para recordar: map siempre devuelve una lista, con un elemento por cada elemento de entrada.
Destacar:
• La función anónima \(x) se escribe en el momento: es la forma moderna, desde R 4.1.
• Verás en tutoriales antiguos la sintaxis ~ mean(.x): sigue funcionando, pero hoy se prefiere \(x).
• Insiste en la regla: un elemento de salida por cada elemento de entrada.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[30:00 – 32:00 · 2 min] Variantes tipadas: map_dbl(), map_chr()…
Si sé de antemano qué tipo de dato quiero, uso la variante tipada: map_dbl para números, map_int para enteros, map_chr para texto y map_lgl para verdadero o falso. Además de simplificar el resultado, funcionan como una comprobación: si la función devuelve algo de otro tipo o de otro largo, falla con un mensaje claro. Por ejemplo, si intento map_dbl con resumen_num, que devuelve cuatro valores por columna, R dice que el resultado debe tener largo uno, no cuatro. Esa es la señal de que lo que necesito es map más list_rbind.
Destacar:
• Los errores tipados son un aliado: te avisan antes de que el problema se propague.
• La tabla es de consulta; no la leas entera, señala las cuatro más usadas.
• Adelanta: para devolver tablas se usa map() y luego list_rbind(), en la lámina siguiente.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[32:00 – 34:00 · 2 min] Combinar resultados con list_rbind()
Cuando cada llamada devuelve una tabla, map entrega una lista de tablas, y list_rbind las apila en una sola. Con names_to le pido que guarde en una columna el nombre de cada elemento de la lista, en este caso la dimensión. Y así, en dos líneas, tengo una tabla resumen con las cinco dimensiones: n, media, desviación estándar y error estándar de cada una. Lo que antes eran cinco bloques copiados es una cadena de dos pasos.
Destacar:
• Resalta names_to: convierte los nombres de la lista en una columna de la tabla.
• En versiones antiguas de purrr esto se hacía con map_dfr(); hoy se prefiere map() y list_rbind().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[34:00 – 36:30 · 2 min 30 s] Leer muchos archivos de una vez
Un caso típico: una carpeta con un archivo por año. Listo los archivos con list.files, les pongo de nombre su nombre de archivo con set_names y aplico read_csv a cada uno con map. Obtengo una lista de cinco tablas. Antes de seguir, hago una comprobación barata: map_int con ncol. Cuatro archivos tienen diez columnas, pero el de 2025 tiene una sola. Algo salió mal: ese archivo fue exportado con punto y coma como separador, algo muy común con Excel en español, y read_csv no lo entendió.
Destacar:
• Revisa siempre dimensiones, ncol y nrow, después de leer varios archivos.
• Este problema es real: un archivo con separador distinto, con codificación distinta o con una columna más.
• Es un buen ejemplo para introducir el manejo de errores en la lámina siguiente.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[36:30 – 39:00 · 2 min 30 s] Cuando una iteración falla: safely() y possibly()
Intentemos resumir cada archivo con una función, resumir_ola. Con el archivo de 2025 mal leído, la función falla, y un solo error detiene toda la iteración. Con possibly, el error se reemplaza por un valor alternativo, aquí NULL, y la iteración continúa. Pero miren el resultado: tenemos cuatro filas, falta 2025, y nadie nos avisó. Por eso conviene ser cuidadosos: o se usa safely y se revisa el componente error, o, mejor aún, se corrige la causa. La función leer_ola, de abajo, detecta que hay una sola columna y relee el archivo con read_csv2.
Destacar:
• Mensaje clave: possibly() evita que todo se caiga, pero puede ocultar datos que faltan.
• Cuenta siempre cuántos resultados esperabas y cuántos obtuviste.
• safely() devuelve, para cada elemento, una lista con result y error.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[39:00 – 40:45 · 1 min 45 s · OPCIONAL] map2() y pmap(): varias entradas en paralelo
A veces hay que recorrer dos o más entradas a la vez: map2 recorre dos, y pmap recorre una lista de cualquier cantidad, por ejemplo las columnas de una tabla de parámetros. En el ejemplo calculo la correlación de tres pares de variables: la tabla pares tiene una columna con la primera variable y otra con la segunda, y map2_dbl devuelve un número por fila. La correlación entre horas de investigación y publicaciones es de 0,39.
Destacar:
• Úsalo cuando cada iteración necesita dos o más valores distintos.
• Una tabla de parámetros con pmap() es una forma muy potente de definir un conjunto de análisis.
Si vas atrasado: Sáltala y menciónala en una frase en la lámina 30 (ahorras 1 min 45 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[40:45 – 42:30 · 1 min 45 s] Chequeo rápido: responde en el chat
Segundo chequeo rápido. Pregunta uno: ¿qué tipo de objeto devuelve map de uno a tres con x al cuadrado? Pregunta dos: ¿qué función uso si quiero obtener directamente el vector 1, 4, 9? Pregunta tres: tengo una lista de cinco tablas con las mismas columnas, ¿cómo las convierto en una sola, con una columna que indique de qué archivo viene cada fila?
Destacar:
• Mismo formato que el chequeo anterior: respuestas por el chat y comentario rápido.
• Si la pregunta 3 falla, vuelve a la lámina 20 y repite names_to.
Respuestas: (1) Una lista de tres elementos: 1, 4 y 9. (2) map_dbl(1:3, \(x) x^2). (3) list_rbind(names_to = "archivo").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[42:30 – 45:00 · 2 min 30 s] nest() + map(): un modelo por grupo
Este es el patrón más potente de la sesión. nest agrupa los datos por área y deja, por cada área, una tabla completa dentro de una columna: una list-column. A partir de ahí uso mutate y map para añadir columnas: un modelo lineal por área, sus coeficientes ordenados con broom y su R cuadrado. El resultado es una tabla con una fila por grupo. Aquí, la diferencia de horas de investigación entre magíster y doctorado es de unas diez a doce horas semanales en las tres áreas, con R cuadrado entre 0,38 y 0,48.
Destacar:
• Idea central: un data frame puede guardar tablas y modelos dentro de sus celdas.
• No es necesario explicar broom en profundidad: tidy() ordena los coeficientes en una tabla.
• Interpretación: el coeficiente es negativo porque la categoría de referencia es Doctorado.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[45:00 – 47:00 · 2 min] walk(): guardar figuras y tablas
map se usa cuando quiero los resultados; walk se usa cuando lo que me interesa es el efecto: guardar un archivo, imprimir, escribir en disco. Aquí defino una función que dibuja la distribución de horas por nivel, la aplico a cada área con map2 para obtener tres gráficos y luego walk2 los guarda con ggsave, uno por área. En la carpeta outputs/figuras aparecen tres archivos, sin que haya escrito tres veces el mismo código.
Destacar:
• map: resultados. walk: efectos secundarios.
• Es el cierre de la cadena: leer, resumir, modelar y guardar sin intervención manual.
• Pide que recuerden la carpeta outputs/ de la sesión 1.</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[47:00 – 47:30 · 0 min 30 s] Divisor: Parte 3 · Automatizar un análisis
Última parte de la charla: juntar todo en un caso completo. Diez minutos.
Destacar:
• Punto de control: deberías estar en el minuto 47.</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[47:30 – 50:00 · 2 min 30 s] La receta: una función por paso
Un análisis automatizado es una cadena de pasos pequeños. Leer cada archivo con leer_ola. Apilar los resultados con list_rbind. Resumir con across o con resumen_num. Modelar con nest y map. Y guardar con walk. Cada caja es una función con una sola tarea, y por eso es fácil de probar, de reutilizar y de cambiar. Si mañana llega una sexta ola, el análisis se repite sin tocar el código.
Destacar:
• Principio: funciones pequeñas que hacen una sola cosa y se encadenan.
• Reutilización: la misma cadena sirve para nuevas olas, sedes o cohortes.
• Probar cada paso por separado antes de unirlos.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[50:00 – 52:30 · 2 min 30 s] Caso: de cinco archivos a una tendencia
Así se ve en código. Parto de los cinco archivos, los leo con leer_ola, los apilo con list_rbind y resumo cada año con across, la herramienta que vimos la sesión pasada, usando el argumento punto by para agrupar por año. El resultado: una tabla de cinco filas con la media de cada dimensión. Y aparece un hallazgo: la satisfacción con la conectividad sube de 2,96 en 2022 a 3,63 en 2026, mientras las demás cambian poco. Es un análisis que antes habría exigido abrir cinco archivos a mano.
Destacar:
• Destaca la conexión con la sesión 1: across() dentro de summarise().
• Resalta el hallazgo, que da sentido al ejercicio: la conectividad mejora año tras año.
• Datos simulados: la tendencia es ilustrativa.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[52:30 – 54:00 · 1 min 30 s] Caja de herramientas: ¿cuál uso?
Para decidir qué usar. Si transformo columnas dentro de dplyr, across o pick. Si aplico una función a cada elemento de una lista, map. Si necesito apilar resultados, list_rbind. Dos entradas en paralelo, map2 o pmap. Efectos como guardar archivos, walk. Combinar muchas tablas, reduce. Y para tolerar errores, safely o possibly. No hace falta memorizar la tabla: la tienen en el material.
Destacar:
• Es una lámina de referencia: señala las tres o cuatro situaciones más frecuentes.
• across() y map() no compiten: across trabaja dentro de dplyr, map con listas de cualquier cosa.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[54:00 – 55:00 · 1 min · OPCIONAL] reduce(): unir muchas tablas
Un último verbo útil: reduce aplica una función de a dos, acumulando el resultado. Es ideal para unir muchas tablas con left_join: en lugar de encadenar tres left_join a mano, pongo las tablas en una lista y las reduzco con un solo join. El resultado es una tabla por programa con satisfacción, horas y publicaciones.
Destacar:
• Útil cuando tienes tres o más tablas que unir por la misma llave.
• Lo practicarán en el reto del bloque 2.
Si vas atrasado: Sáltala por completo (ahorras 1 min).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[55:00 – 57:00 · 2 min] Errores frecuentes y buenas prácticas
Cuatro trampas para cerrar. Una: funciones que dependen de variables globales; todo lo que la función necesita debe entrar como argumento. Dos: map_dbl con una función que devuelve una tabla; usen map y list_rbind. Tres: silenciar errores con possibly sin revisar lo que falta. Y cuatro: iterar antes de probar; primero la función con un solo caso conocido, y después con todos. Y como buena práctica: nombres claros, una tarea por función y un commit de Git por cada función nueva.
Destacar:
• Las trampas son las que más se ven en la práctica; anótalas para el bloque 3.
• Cierra con la práctica de probar la función con un caso donde conoces la respuesta.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[57:00 – 59:00 · 2 min] Ahora, a practicar (60 minutos)
Ahora a practicar: una hora, con cuatro bloques. Preparación de cinco minutos: crear R/funciones.R y copiar los datos nuevos. Funciones propias, quince minutos. purrr, quince minutos. Y el bloque final, de veinte, donde automatizamos el análisis de los cinco archivos. Escriban su código en su propio script y usen la guía solo como hoja de ruta. Si se traban más de tres minutos, pasen al siguiente ejercicio y pregunten en el chat.
Destacar:
• Verifica que todos tengan los archivos, R, RStudio y el proyecto de la sesión 1.
• Comparte el enlace o los archivos del material.
• Avisa que estarás disponible durante la práctica; quien termine antes puede intentar el Reto del Bloque 3.</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[59:00 – 60:00 · 1 min] Lo esencial y dónde seguir
Para llevar: una función se escribe una vez y se usa muchas; los argumentos y las validaciones la hacen segura; map aplica una función a cada elemento y list_rbind apila las tablas; safely y possibly ayudan con los errores, pero no hay que ocultarlos; y nest con map permite un modelo por grupo. Para seguir, el libro R para Ciencia de Datos, sus capítulos de funciones e iteración, y la documentación de purrr. La próxima sesión es Visualización avanzada.
Destacar:
• Deja esta lámina visible mientras comienza la práctica.
• Próxima sesión: Visualización avanzada con ggplot2.
• Tarea sugerida: terminar el Reto del Bloque 3 y subir R/funciones.R al repositorio.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3200400"/>
            <a:ext cx="5852160" cy="5852160"/>
          </a:xfrm>
          <a:prstGeom prst="ellipse">
            <a:avLst/>
          </a:prstGeom>
          <a:solidFill>
            <a:srgbClr val="065A82">
              <a:alpha val="75000"/>
            </a:srgbClr>
          </a:solidFill>
          <a:ln w="12700">
            <a:solidFill>
              <a:srgbClr val="065A82">
                <a:alpha val="0"/>
              </a:srgbClr>
            </a:solidFill>
            <a:prstDash val="solid"/>
          </a:ln>
        </p:spPr>
        <p:txBody>
          <a:bodyPr/>
          <a:lstStyle/>
          <a:p>
            <a:endParaRPr lang="es-CL"/>
          </a:p>
        </p:txBody>
      </p:sp>
      <p:sp>
        <p:nvSpPr>
          <p:cNvPr id="3" name="Shape 1"/>
          <p:cNvSpPr/>
          <p:nvPr/>
        </p:nvSpPr>
        <p:spPr>
          <a:xfrm>
            <a:off x="10058400" y="4389120"/>
            <a:ext cx="3108960" cy="3108960"/>
          </a:xfrm>
          <a:prstGeom prst="ellipse">
            <a:avLst/>
          </a:prstGeom>
          <a:solidFill>
            <a:srgbClr val="1C7293">
              <a:alpha val="80000"/>
            </a:srgbClr>
          </a:solidFill>
          <a:ln w="12700">
            <a:solidFill>
              <a:srgbClr val="1C7293">
                <a:alpha val="0"/>
              </a:srgbClr>
            </a:solidFill>
            <a:prstDash val="solid"/>
          </a:ln>
        </p:spPr>
        <p:txBody>
          <a:bodyPr/>
          <a:lstStyle/>
          <a:p>
            <a:endParaRPr lang="es-CL"/>
          </a:p>
        </p:txBody>
      </p:sp>
      <p:sp>
        <p:nvSpPr>
          <p:cNvPr id="4" name="Text 2"/>
          <p:cNvSpPr txBox="1"/>
          <p:nvPr/>
        </p:nvSpPr>
        <p:spPr>
          <a:xfrm>
            <a:off x="731520" y="1828800"/>
            <a:ext cx="10058400" cy="274320"/>
          </a:xfrm>
          <a:prstGeom prst="rect">
            <a:avLst/>
          </a:prstGeom>
          <a:noFill/>
          <a:ln/>
        </p:spPr>
        <p:txBody>
          <a:bodyPr wrap="square" lIns="0" tIns="0" rIns="0" bIns="0" rtlCol="0" anchor="ctr"/>
          <a:lstStyle/>
          <a:p>
            <a:pPr marL="0" indent="0">
              <a:buNone/>
            </a:pPr>
            <a:r>
              <a:rPr lang="en-US" sz="1100" b="1" kern="0" spc="300" dirty="0">
                <a:solidFill>
                  <a:srgbClr val="8FB8D8"/>
                </a:solidFill>
                <a:latin typeface="Calibri" pitchFamily="34" charset="0"/>
                <a:ea typeface="Calibri" pitchFamily="34" charset="-122"/>
                <a:cs typeface="Calibri" pitchFamily="34" charset="-120"/>
              </a:rPr>
              <a:t>ANÁLISIS DE DATOS EN R · NIVEL BÁSICO-INTERMEDIO</a:t>
            </a:r>
            <a:endParaRPr lang="en-US" sz="1100" dirty="0"/>
          </a:p>
        </p:txBody>
      </p:sp>
      <p:sp>
        <p:nvSpPr>
          <p:cNvPr id="5" name="Text 3"/>
          <p:cNvSpPr txBox="1"/>
          <p:nvPr/>
        </p:nvSpPr>
        <p:spPr>
          <a:xfrm>
            <a:off x="731520" y="2286000"/>
            <a:ext cx="100584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Programación funcional</a:t>
            </a:r>
            <a:endParaRPr lang="en-US" sz="4400" dirty="0"/>
          </a:p>
        </p:txBody>
      </p:sp>
      <p:sp>
        <p:nvSpPr>
          <p:cNvPr id="6" name="Text 4"/>
          <p:cNvSpPr txBox="1"/>
          <p:nvPr/>
        </p:nvSpPr>
        <p:spPr>
          <a:xfrm>
            <a:off x="731520" y="3246120"/>
            <a:ext cx="8229600" cy="457200"/>
          </a:xfrm>
          <a:prstGeom prst="rect">
            <a:avLst/>
          </a:prstGeom>
          <a:noFill/>
          <a:ln/>
        </p:spPr>
        <p:txBody>
          <a:bodyPr wrap="square" lIns="0" tIns="0" rIns="0" bIns="0" rtlCol="0" anchor="ctr"/>
          <a:lstStyle/>
          <a:p>
            <a:pPr marL="0" indent="0">
              <a:buNone/>
            </a:pPr>
            <a:r>
              <a:rPr lang="en-US" sz="2000" dirty="0">
                <a:solidFill>
                  <a:srgbClr val="C9DDEC"/>
                </a:solidFill>
                <a:latin typeface="Calibri" pitchFamily="34" charset="0"/>
                <a:ea typeface="Calibri" pitchFamily="34" charset="-122"/>
                <a:cs typeface="Calibri" pitchFamily="34" charset="-120"/>
              </a:rPr>
              <a:t>Funciones propias e iteración con purrr para automatizar análisis</a:t>
            </a:r>
            <a:endParaRPr lang="en-US" sz="2000" dirty="0"/>
          </a:p>
        </p:txBody>
      </p:sp>
      <p:sp>
        <p:nvSpPr>
          <p:cNvPr id="7" name="Text 5"/>
          <p:cNvSpPr txBox="1"/>
          <p:nvPr/>
        </p:nvSpPr>
        <p:spPr>
          <a:xfrm>
            <a:off x="731520" y="4023360"/>
            <a:ext cx="8229600" cy="320040"/>
          </a:xfrm>
          <a:prstGeom prst="rect">
            <a:avLst/>
          </a:prstGeom>
          <a:noFill/>
          <a:ln/>
        </p:spPr>
        <p:txBody>
          <a:bodyPr wrap="square" lIns="0" tIns="0" rIns="0" bIns="0" rtlCol="0" anchor="ctr"/>
          <a:lstStyle/>
          <a:p>
            <a:pPr marL="0" indent="0">
              <a:buNone/>
            </a:pPr>
            <a:r>
              <a:rPr lang="en-US" sz="1400" dirty="0">
                <a:solidFill>
                  <a:srgbClr val="9DB8CE"/>
                </a:solidFill>
                <a:latin typeface="Calibri" pitchFamily="34" charset="0"/>
                <a:ea typeface="Calibri" pitchFamily="34" charset="-122"/>
                <a:cs typeface="Calibri" pitchFamily="34" charset="-120"/>
              </a:rPr>
              <a:t>Sesión 2 de 8 · Charla (1 h) + Práctica guiada (1 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PANORAMA</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La sesión de hoy: 2 horas, dos partes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a:t>
            </a:r>
            <a:endParaRPr lang="en-US" sz="800" dirty="0"/>
          </a:p>
        </p:txBody>
      </p:sp>
      <p:sp>
        <p:nvSpPr>
          <p:cNvPr id="7" name="Shape 4"/>
          <p:cNvSpPr/>
          <p:nvPr/>
        </p:nvSpPr>
        <p:spPr>
          <a:xfrm>
            <a:off x="548640" y="1463040"/>
            <a:ext cx="5330952" cy="4480560"/>
          </a:xfrm>
          <a:prstGeom prst="roundRect">
            <a:avLst>
              <a:gd name="adj" fmla="val 1429"/>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8" name="Text 5"/>
          <p:cNvSpPr txBox="1"/>
          <p:nvPr/>
        </p:nvSpPr>
        <p:spPr>
          <a:xfrm>
            <a:off x="822960" y="1645920"/>
            <a:ext cx="4572000" cy="365760"/>
          </a:xfrm>
          <a:prstGeom prst="rect">
            <a:avLst/>
          </a:prstGeom>
          <a:noFill/>
          <a:ln/>
        </p:spPr>
        <p:txBody>
          <a:bodyPr wrap="square" lIns="0" tIns="0" rIns="0" bIns="0"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Charla · 60 min</a:t>
            </a:r>
            <a:endParaRPr lang="en-US" sz="1800" dirty="0"/>
          </a:p>
        </p:txBody>
      </p:sp>
      <p:sp>
        <p:nvSpPr>
          <p:cNvPr id="9" name="Shape 6"/>
          <p:cNvSpPr/>
          <p:nvPr/>
        </p:nvSpPr>
        <p:spPr>
          <a:xfrm>
            <a:off x="822960" y="2148840"/>
            <a:ext cx="371094" cy="164592"/>
          </a:xfrm>
          <a:prstGeom prst="rect">
            <a:avLst/>
          </a:prstGeom>
          <a:solidFill>
            <a:srgbClr val="065A82"/>
          </a:solidFill>
          <a:ln w="12700">
            <a:solidFill>
              <a:srgbClr val="065A82"/>
            </a:solidFill>
            <a:prstDash val="solid"/>
          </a:ln>
        </p:spPr>
        <p:txBody>
          <a:bodyPr/>
          <a:lstStyle/>
          <a:p>
            <a:endParaRPr lang="es-CL"/>
          </a:p>
        </p:txBody>
      </p:sp>
      <p:sp>
        <p:nvSpPr>
          <p:cNvPr id="10" name="Shape 7"/>
          <p:cNvSpPr/>
          <p:nvPr/>
        </p:nvSpPr>
        <p:spPr>
          <a:xfrm>
            <a:off x="1221486" y="2148840"/>
            <a:ext cx="1566672" cy="164592"/>
          </a:xfrm>
          <a:prstGeom prst="rect">
            <a:avLst/>
          </a:prstGeom>
          <a:solidFill>
            <a:srgbClr val="1C7293"/>
          </a:solidFill>
          <a:ln w="12700">
            <a:solidFill>
              <a:srgbClr val="1C7293"/>
            </a:solidFill>
            <a:prstDash val="solid"/>
          </a:ln>
        </p:spPr>
        <p:txBody>
          <a:bodyPr/>
          <a:lstStyle/>
          <a:p>
            <a:endParaRPr lang="es-CL"/>
          </a:p>
        </p:txBody>
      </p:sp>
      <p:sp>
        <p:nvSpPr>
          <p:cNvPr id="11" name="Shape 8"/>
          <p:cNvSpPr/>
          <p:nvPr/>
        </p:nvSpPr>
        <p:spPr>
          <a:xfrm>
            <a:off x="2815590" y="2148840"/>
            <a:ext cx="1726082" cy="164592"/>
          </a:xfrm>
          <a:prstGeom prst="rect">
            <a:avLst/>
          </a:prstGeom>
          <a:solidFill>
            <a:srgbClr val="065A82"/>
          </a:solidFill>
          <a:ln w="12700">
            <a:solidFill>
              <a:srgbClr val="065A82"/>
            </a:solidFill>
            <a:prstDash val="solid"/>
          </a:ln>
        </p:spPr>
        <p:txBody>
          <a:bodyPr/>
          <a:lstStyle/>
          <a:p>
            <a:endParaRPr lang="es-CL"/>
          </a:p>
        </p:txBody>
      </p:sp>
      <p:sp>
        <p:nvSpPr>
          <p:cNvPr id="12" name="Shape 9"/>
          <p:cNvSpPr/>
          <p:nvPr/>
        </p:nvSpPr>
        <p:spPr>
          <a:xfrm>
            <a:off x="4569104" y="2148840"/>
            <a:ext cx="769620" cy="164592"/>
          </a:xfrm>
          <a:prstGeom prst="rect">
            <a:avLst/>
          </a:prstGeom>
          <a:solidFill>
            <a:srgbClr val="1C7293"/>
          </a:solidFill>
          <a:ln w="12700">
            <a:solidFill>
              <a:srgbClr val="1C7293"/>
            </a:solidFill>
            <a:prstDash val="solid"/>
          </a:ln>
        </p:spPr>
        <p:txBody>
          <a:bodyPr/>
          <a:lstStyle/>
          <a:p>
            <a:endParaRPr lang="es-CL"/>
          </a:p>
        </p:txBody>
      </p:sp>
      <p:sp>
        <p:nvSpPr>
          <p:cNvPr id="13" name="Shape 10"/>
          <p:cNvSpPr/>
          <p:nvPr/>
        </p:nvSpPr>
        <p:spPr>
          <a:xfrm>
            <a:off x="5366156" y="2148840"/>
            <a:ext cx="211684" cy="164592"/>
          </a:xfrm>
          <a:prstGeom prst="rect">
            <a:avLst/>
          </a:prstGeom>
          <a:solidFill>
            <a:srgbClr val="065A82"/>
          </a:solidFill>
          <a:ln w="12700">
            <a:solidFill>
              <a:srgbClr val="065A82"/>
            </a:solidFill>
            <a:prstDash val="solid"/>
          </a:ln>
        </p:spPr>
        <p:txBody>
          <a:bodyPr/>
          <a:lstStyle/>
          <a:p>
            <a:endParaRPr lang="es-CL"/>
          </a:p>
        </p:txBody>
      </p:sp>
      <p:sp>
        <p:nvSpPr>
          <p:cNvPr id="14" name="Text 11"/>
          <p:cNvSpPr txBox="1"/>
          <p:nvPr/>
        </p:nvSpPr>
        <p:spPr>
          <a:xfrm>
            <a:off x="822960" y="2606040"/>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Apertura</a:t>
            </a:r>
            <a:endParaRPr lang="en-US" sz="1300" dirty="0"/>
          </a:p>
        </p:txBody>
      </p:sp>
      <p:sp>
        <p:nvSpPr>
          <p:cNvPr id="15" name="Text 12"/>
          <p:cNvSpPr txBox="1"/>
          <p:nvPr/>
        </p:nvSpPr>
        <p:spPr>
          <a:xfrm>
            <a:off x="4389120" y="2606040"/>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5 min</a:t>
            </a:r>
            <a:endParaRPr lang="en-US" sz="1300" dirty="0"/>
          </a:p>
        </p:txBody>
      </p:sp>
      <p:sp>
        <p:nvSpPr>
          <p:cNvPr id="16" name="Shape 13"/>
          <p:cNvSpPr/>
          <p:nvPr/>
        </p:nvSpPr>
        <p:spPr>
          <a:xfrm>
            <a:off x="822960" y="3063240"/>
            <a:ext cx="4782312" cy="0"/>
          </a:xfrm>
          <a:prstGeom prst="line">
            <a:avLst/>
          </a:prstGeom>
          <a:noFill/>
          <a:ln w="9525">
            <a:solidFill>
              <a:srgbClr val="E4EEF2"/>
            </a:solidFill>
            <a:prstDash val="solid"/>
          </a:ln>
        </p:spPr>
        <p:txBody>
          <a:bodyPr/>
          <a:lstStyle/>
          <a:p>
            <a:endParaRPr lang="es-CL"/>
          </a:p>
        </p:txBody>
      </p:sp>
      <p:sp>
        <p:nvSpPr>
          <p:cNvPr id="17" name="Text 14"/>
          <p:cNvSpPr txBox="1"/>
          <p:nvPr/>
        </p:nvSpPr>
        <p:spPr>
          <a:xfrm>
            <a:off x="822960" y="3227832"/>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Funciones propias</a:t>
            </a:r>
            <a:endParaRPr lang="en-US" sz="1300" dirty="0"/>
          </a:p>
        </p:txBody>
      </p:sp>
      <p:sp>
        <p:nvSpPr>
          <p:cNvPr id="18" name="Text 15"/>
          <p:cNvSpPr txBox="1"/>
          <p:nvPr/>
        </p:nvSpPr>
        <p:spPr>
          <a:xfrm>
            <a:off x="4389120" y="3227832"/>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20 min</a:t>
            </a:r>
            <a:endParaRPr lang="en-US" sz="1300" dirty="0"/>
          </a:p>
        </p:txBody>
      </p:sp>
      <p:sp>
        <p:nvSpPr>
          <p:cNvPr id="19" name="Shape 16"/>
          <p:cNvSpPr/>
          <p:nvPr/>
        </p:nvSpPr>
        <p:spPr>
          <a:xfrm>
            <a:off x="822960" y="3685032"/>
            <a:ext cx="4782312" cy="0"/>
          </a:xfrm>
          <a:prstGeom prst="line">
            <a:avLst/>
          </a:prstGeom>
          <a:noFill/>
          <a:ln w="9525">
            <a:solidFill>
              <a:srgbClr val="E4EEF2"/>
            </a:solidFill>
            <a:prstDash val="solid"/>
          </a:ln>
        </p:spPr>
        <p:txBody>
          <a:bodyPr/>
          <a:lstStyle/>
          <a:p>
            <a:endParaRPr lang="es-CL"/>
          </a:p>
        </p:txBody>
      </p:sp>
      <p:sp>
        <p:nvSpPr>
          <p:cNvPr id="20" name="Text 17"/>
          <p:cNvSpPr txBox="1"/>
          <p:nvPr/>
        </p:nvSpPr>
        <p:spPr>
          <a:xfrm>
            <a:off x="822960" y="3849624"/>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Iteración con purrr</a:t>
            </a:r>
            <a:endParaRPr lang="en-US" sz="1300" dirty="0"/>
          </a:p>
        </p:txBody>
      </p:sp>
      <p:sp>
        <p:nvSpPr>
          <p:cNvPr id="21" name="Text 18"/>
          <p:cNvSpPr txBox="1"/>
          <p:nvPr/>
        </p:nvSpPr>
        <p:spPr>
          <a:xfrm>
            <a:off x="4389120" y="3849624"/>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22 min</a:t>
            </a:r>
            <a:endParaRPr lang="en-US" sz="1300" dirty="0"/>
          </a:p>
        </p:txBody>
      </p:sp>
      <p:sp>
        <p:nvSpPr>
          <p:cNvPr id="22" name="Shape 19"/>
          <p:cNvSpPr/>
          <p:nvPr/>
        </p:nvSpPr>
        <p:spPr>
          <a:xfrm>
            <a:off x="822960" y="4306824"/>
            <a:ext cx="4782312" cy="0"/>
          </a:xfrm>
          <a:prstGeom prst="line">
            <a:avLst/>
          </a:prstGeom>
          <a:noFill/>
          <a:ln w="9525">
            <a:solidFill>
              <a:srgbClr val="E4EEF2"/>
            </a:solidFill>
            <a:prstDash val="solid"/>
          </a:ln>
        </p:spPr>
        <p:txBody>
          <a:bodyPr/>
          <a:lstStyle/>
          <a:p>
            <a:endParaRPr lang="es-CL"/>
          </a:p>
        </p:txBody>
      </p:sp>
      <p:sp>
        <p:nvSpPr>
          <p:cNvPr id="23" name="Text 20"/>
          <p:cNvSpPr txBox="1"/>
          <p:nvPr/>
        </p:nvSpPr>
        <p:spPr>
          <a:xfrm>
            <a:off x="822960" y="4471416"/>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Automatizar un análisis</a:t>
            </a:r>
            <a:endParaRPr lang="en-US" sz="1300" dirty="0"/>
          </a:p>
        </p:txBody>
      </p:sp>
      <p:sp>
        <p:nvSpPr>
          <p:cNvPr id="24" name="Text 21"/>
          <p:cNvSpPr txBox="1"/>
          <p:nvPr/>
        </p:nvSpPr>
        <p:spPr>
          <a:xfrm>
            <a:off x="4389120" y="4471416"/>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10 min</a:t>
            </a:r>
            <a:endParaRPr lang="en-US" sz="1300" dirty="0"/>
          </a:p>
        </p:txBody>
      </p:sp>
      <p:sp>
        <p:nvSpPr>
          <p:cNvPr id="25" name="Shape 22"/>
          <p:cNvSpPr/>
          <p:nvPr/>
        </p:nvSpPr>
        <p:spPr>
          <a:xfrm>
            <a:off x="822960" y="4928616"/>
            <a:ext cx="4782312" cy="0"/>
          </a:xfrm>
          <a:prstGeom prst="line">
            <a:avLst/>
          </a:prstGeom>
          <a:noFill/>
          <a:ln w="9525">
            <a:solidFill>
              <a:srgbClr val="E4EEF2"/>
            </a:solidFill>
            <a:prstDash val="solid"/>
          </a:ln>
        </p:spPr>
        <p:txBody>
          <a:bodyPr/>
          <a:lstStyle/>
          <a:p>
            <a:endParaRPr lang="es-CL"/>
          </a:p>
        </p:txBody>
      </p:sp>
      <p:sp>
        <p:nvSpPr>
          <p:cNvPr id="26" name="Text 23"/>
          <p:cNvSpPr txBox="1"/>
          <p:nvPr/>
        </p:nvSpPr>
        <p:spPr>
          <a:xfrm>
            <a:off x="822960" y="5093208"/>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Cierre</a:t>
            </a:r>
            <a:endParaRPr lang="en-US" sz="1300" dirty="0"/>
          </a:p>
        </p:txBody>
      </p:sp>
      <p:sp>
        <p:nvSpPr>
          <p:cNvPr id="27" name="Text 24"/>
          <p:cNvSpPr txBox="1"/>
          <p:nvPr/>
        </p:nvSpPr>
        <p:spPr>
          <a:xfrm>
            <a:off x="4389120" y="5093208"/>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3 min</a:t>
            </a:r>
            <a:endParaRPr lang="en-US" sz="1300" dirty="0"/>
          </a:p>
        </p:txBody>
      </p:sp>
      <p:sp>
        <p:nvSpPr>
          <p:cNvPr id="28" name="Shape 25"/>
          <p:cNvSpPr/>
          <p:nvPr/>
        </p:nvSpPr>
        <p:spPr>
          <a:xfrm>
            <a:off x="6309360" y="1463040"/>
            <a:ext cx="5330952" cy="4480560"/>
          </a:xfrm>
          <a:prstGeom prst="roundRect">
            <a:avLst>
              <a:gd name="adj" fmla="val 1429"/>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9" name="Text 26"/>
          <p:cNvSpPr txBox="1"/>
          <p:nvPr/>
        </p:nvSpPr>
        <p:spPr>
          <a:xfrm>
            <a:off x="6583680" y="1645920"/>
            <a:ext cx="4572000" cy="365760"/>
          </a:xfrm>
          <a:prstGeom prst="rect">
            <a:avLst/>
          </a:prstGeom>
          <a:noFill/>
          <a:ln/>
        </p:spPr>
        <p:txBody>
          <a:bodyPr wrap="square" lIns="0" tIns="0" rIns="0" bIns="0"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Práctica · 60 min</a:t>
            </a:r>
            <a:endParaRPr lang="en-US" sz="1800" dirty="0"/>
          </a:p>
        </p:txBody>
      </p:sp>
      <p:sp>
        <p:nvSpPr>
          <p:cNvPr id="30" name="Shape 27"/>
          <p:cNvSpPr/>
          <p:nvPr/>
        </p:nvSpPr>
        <p:spPr>
          <a:xfrm>
            <a:off x="6583680" y="2148840"/>
            <a:ext cx="371094" cy="164592"/>
          </a:xfrm>
          <a:prstGeom prst="rect">
            <a:avLst/>
          </a:prstGeom>
          <a:solidFill>
            <a:srgbClr val="065A82"/>
          </a:solidFill>
          <a:ln w="12700">
            <a:solidFill>
              <a:srgbClr val="065A82"/>
            </a:solidFill>
            <a:prstDash val="solid"/>
          </a:ln>
        </p:spPr>
        <p:txBody>
          <a:bodyPr/>
          <a:lstStyle/>
          <a:p>
            <a:endParaRPr lang="es-CL"/>
          </a:p>
        </p:txBody>
      </p:sp>
      <p:sp>
        <p:nvSpPr>
          <p:cNvPr id="31" name="Shape 28"/>
          <p:cNvSpPr/>
          <p:nvPr/>
        </p:nvSpPr>
        <p:spPr>
          <a:xfrm>
            <a:off x="6982206" y="2148840"/>
            <a:ext cx="1168146" cy="164592"/>
          </a:xfrm>
          <a:prstGeom prst="rect">
            <a:avLst/>
          </a:prstGeom>
          <a:solidFill>
            <a:srgbClr val="1C7293"/>
          </a:solidFill>
          <a:ln w="12700">
            <a:solidFill>
              <a:srgbClr val="1C7293"/>
            </a:solidFill>
            <a:prstDash val="solid"/>
          </a:ln>
        </p:spPr>
        <p:txBody>
          <a:bodyPr/>
          <a:lstStyle/>
          <a:p>
            <a:endParaRPr lang="es-CL"/>
          </a:p>
        </p:txBody>
      </p:sp>
      <p:sp>
        <p:nvSpPr>
          <p:cNvPr id="32" name="Shape 29"/>
          <p:cNvSpPr/>
          <p:nvPr/>
        </p:nvSpPr>
        <p:spPr>
          <a:xfrm>
            <a:off x="8177784" y="2148840"/>
            <a:ext cx="1168146" cy="164592"/>
          </a:xfrm>
          <a:prstGeom prst="rect">
            <a:avLst/>
          </a:prstGeom>
          <a:solidFill>
            <a:srgbClr val="065A82"/>
          </a:solidFill>
          <a:ln w="12700">
            <a:solidFill>
              <a:srgbClr val="065A82"/>
            </a:solidFill>
            <a:prstDash val="solid"/>
          </a:ln>
        </p:spPr>
        <p:txBody>
          <a:bodyPr/>
          <a:lstStyle/>
          <a:p>
            <a:endParaRPr lang="es-CL"/>
          </a:p>
        </p:txBody>
      </p:sp>
      <p:sp>
        <p:nvSpPr>
          <p:cNvPr id="33" name="Shape 30"/>
          <p:cNvSpPr/>
          <p:nvPr/>
        </p:nvSpPr>
        <p:spPr>
          <a:xfrm>
            <a:off x="9373362" y="2148840"/>
            <a:ext cx="1566672" cy="164592"/>
          </a:xfrm>
          <a:prstGeom prst="rect">
            <a:avLst/>
          </a:prstGeom>
          <a:solidFill>
            <a:srgbClr val="1C7293"/>
          </a:solidFill>
          <a:ln w="12700">
            <a:solidFill>
              <a:srgbClr val="1C7293"/>
            </a:solidFill>
            <a:prstDash val="solid"/>
          </a:ln>
        </p:spPr>
        <p:txBody>
          <a:bodyPr/>
          <a:lstStyle/>
          <a:p>
            <a:endParaRPr lang="es-CL"/>
          </a:p>
        </p:txBody>
      </p:sp>
      <p:sp>
        <p:nvSpPr>
          <p:cNvPr id="34" name="Shape 31"/>
          <p:cNvSpPr/>
          <p:nvPr/>
        </p:nvSpPr>
        <p:spPr>
          <a:xfrm>
            <a:off x="10967466" y="2148840"/>
            <a:ext cx="371094" cy="164592"/>
          </a:xfrm>
          <a:prstGeom prst="rect">
            <a:avLst/>
          </a:prstGeom>
          <a:solidFill>
            <a:srgbClr val="065A82"/>
          </a:solidFill>
          <a:ln w="12700">
            <a:solidFill>
              <a:srgbClr val="065A82"/>
            </a:solidFill>
            <a:prstDash val="solid"/>
          </a:ln>
        </p:spPr>
        <p:txBody>
          <a:bodyPr/>
          <a:lstStyle/>
          <a:p>
            <a:endParaRPr lang="es-CL"/>
          </a:p>
        </p:txBody>
      </p:sp>
      <p:sp>
        <p:nvSpPr>
          <p:cNvPr id="35" name="Text 32"/>
          <p:cNvSpPr txBox="1"/>
          <p:nvPr/>
        </p:nvSpPr>
        <p:spPr>
          <a:xfrm>
            <a:off x="6583680" y="2606040"/>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Bloque 0 · Preparación</a:t>
            </a:r>
            <a:endParaRPr lang="en-US" sz="1300" dirty="0"/>
          </a:p>
        </p:txBody>
      </p:sp>
      <p:sp>
        <p:nvSpPr>
          <p:cNvPr id="36" name="Text 33"/>
          <p:cNvSpPr txBox="1"/>
          <p:nvPr/>
        </p:nvSpPr>
        <p:spPr>
          <a:xfrm>
            <a:off x="10149840" y="2606040"/>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5 min</a:t>
            </a:r>
            <a:endParaRPr lang="en-US" sz="1300" dirty="0"/>
          </a:p>
        </p:txBody>
      </p:sp>
      <p:sp>
        <p:nvSpPr>
          <p:cNvPr id="37" name="Shape 34"/>
          <p:cNvSpPr/>
          <p:nvPr/>
        </p:nvSpPr>
        <p:spPr>
          <a:xfrm>
            <a:off x="6583680" y="3063240"/>
            <a:ext cx="4782312" cy="0"/>
          </a:xfrm>
          <a:prstGeom prst="line">
            <a:avLst/>
          </a:prstGeom>
          <a:noFill/>
          <a:ln w="9525">
            <a:solidFill>
              <a:srgbClr val="E4EEF2"/>
            </a:solidFill>
            <a:prstDash val="solid"/>
          </a:ln>
        </p:spPr>
        <p:txBody>
          <a:bodyPr/>
          <a:lstStyle/>
          <a:p>
            <a:endParaRPr lang="es-CL"/>
          </a:p>
        </p:txBody>
      </p:sp>
      <p:sp>
        <p:nvSpPr>
          <p:cNvPr id="38" name="Text 35"/>
          <p:cNvSpPr txBox="1"/>
          <p:nvPr/>
        </p:nvSpPr>
        <p:spPr>
          <a:xfrm>
            <a:off x="6583680" y="3227832"/>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Bloque 1 · Funciones propias</a:t>
            </a:r>
            <a:endParaRPr lang="en-US" sz="1300" dirty="0"/>
          </a:p>
        </p:txBody>
      </p:sp>
      <p:sp>
        <p:nvSpPr>
          <p:cNvPr id="39" name="Text 36"/>
          <p:cNvSpPr txBox="1"/>
          <p:nvPr/>
        </p:nvSpPr>
        <p:spPr>
          <a:xfrm>
            <a:off x="10149840" y="3227832"/>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15 min</a:t>
            </a:r>
            <a:endParaRPr lang="en-US" sz="1300" dirty="0"/>
          </a:p>
        </p:txBody>
      </p:sp>
      <p:sp>
        <p:nvSpPr>
          <p:cNvPr id="40" name="Shape 37"/>
          <p:cNvSpPr/>
          <p:nvPr/>
        </p:nvSpPr>
        <p:spPr>
          <a:xfrm>
            <a:off x="6583680" y="3685032"/>
            <a:ext cx="4782312" cy="0"/>
          </a:xfrm>
          <a:prstGeom prst="line">
            <a:avLst/>
          </a:prstGeom>
          <a:noFill/>
          <a:ln w="9525">
            <a:solidFill>
              <a:srgbClr val="E4EEF2"/>
            </a:solidFill>
            <a:prstDash val="solid"/>
          </a:ln>
        </p:spPr>
        <p:txBody>
          <a:bodyPr/>
          <a:lstStyle/>
          <a:p>
            <a:endParaRPr lang="es-CL"/>
          </a:p>
        </p:txBody>
      </p:sp>
      <p:sp>
        <p:nvSpPr>
          <p:cNvPr id="41" name="Text 38"/>
          <p:cNvSpPr txBox="1"/>
          <p:nvPr/>
        </p:nvSpPr>
        <p:spPr>
          <a:xfrm>
            <a:off x="6583680" y="3849624"/>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Bloque 2 · Iteración con purrr</a:t>
            </a:r>
            <a:endParaRPr lang="en-US" sz="1300" dirty="0"/>
          </a:p>
        </p:txBody>
      </p:sp>
      <p:sp>
        <p:nvSpPr>
          <p:cNvPr id="42" name="Text 39"/>
          <p:cNvSpPr txBox="1"/>
          <p:nvPr/>
        </p:nvSpPr>
        <p:spPr>
          <a:xfrm>
            <a:off x="10149840" y="3849624"/>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15 min</a:t>
            </a:r>
            <a:endParaRPr lang="en-US" sz="1300" dirty="0"/>
          </a:p>
        </p:txBody>
      </p:sp>
      <p:sp>
        <p:nvSpPr>
          <p:cNvPr id="43" name="Shape 40"/>
          <p:cNvSpPr/>
          <p:nvPr/>
        </p:nvSpPr>
        <p:spPr>
          <a:xfrm>
            <a:off x="6583680" y="4306824"/>
            <a:ext cx="4782312" cy="0"/>
          </a:xfrm>
          <a:prstGeom prst="line">
            <a:avLst/>
          </a:prstGeom>
          <a:noFill/>
          <a:ln w="9525">
            <a:solidFill>
              <a:srgbClr val="E4EEF2"/>
            </a:solidFill>
            <a:prstDash val="solid"/>
          </a:ln>
        </p:spPr>
        <p:txBody>
          <a:bodyPr/>
          <a:lstStyle/>
          <a:p>
            <a:endParaRPr lang="es-CL"/>
          </a:p>
        </p:txBody>
      </p:sp>
      <p:sp>
        <p:nvSpPr>
          <p:cNvPr id="44" name="Text 41"/>
          <p:cNvSpPr txBox="1"/>
          <p:nvPr/>
        </p:nvSpPr>
        <p:spPr>
          <a:xfrm>
            <a:off x="6583680" y="4471416"/>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Bloque 3 · Automatizar un análisis</a:t>
            </a:r>
            <a:endParaRPr lang="en-US" sz="1300" dirty="0"/>
          </a:p>
        </p:txBody>
      </p:sp>
      <p:sp>
        <p:nvSpPr>
          <p:cNvPr id="45" name="Text 42"/>
          <p:cNvSpPr txBox="1"/>
          <p:nvPr/>
        </p:nvSpPr>
        <p:spPr>
          <a:xfrm>
            <a:off x="10149840" y="4471416"/>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20 min</a:t>
            </a:r>
            <a:endParaRPr lang="en-US" sz="1300" dirty="0"/>
          </a:p>
        </p:txBody>
      </p:sp>
      <p:sp>
        <p:nvSpPr>
          <p:cNvPr id="46" name="Shape 43"/>
          <p:cNvSpPr/>
          <p:nvPr/>
        </p:nvSpPr>
        <p:spPr>
          <a:xfrm>
            <a:off x="6583680" y="4928616"/>
            <a:ext cx="4782312" cy="0"/>
          </a:xfrm>
          <a:prstGeom prst="line">
            <a:avLst/>
          </a:prstGeom>
          <a:noFill/>
          <a:ln w="9525">
            <a:solidFill>
              <a:srgbClr val="E4EEF2"/>
            </a:solidFill>
            <a:prstDash val="solid"/>
          </a:ln>
        </p:spPr>
        <p:txBody>
          <a:bodyPr/>
          <a:lstStyle/>
          <a:p>
            <a:endParaRPr lang="es-CL"/>
          </a:p>
        </p:txBody>
      </p:sp>
      <p:sp>
        <p:nvSpPr>
          <p:cNvPr id="47" name="Text 44"/>
          <p:cNvSpPr txBox="1"/>
          <p:nvPr/>
        </p:nvSpPr>
        <p:spPr>
          <a:xfrm>
            <a:off x="6583680" y="5093208"/>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Cierre y dudas</a:t>
            </a:r>
            <a:endParaRPr lang="en-US" sz="1300" dirty="0"/>
          </a:p>
        </p:txBody>
      </p:sp>
      <p:sp>
        <p:nvSpPr>
          <p:cNvPr id="48" name="Text 45"/>
          <p:cNvSpPr txBox="1"/>
          <p:nvPr/>
        </p:nvSpPr>
        <p:spPr>
          <a:xfrm>
            <a:off x="10149840" y="5093208"/>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5 min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OBJETIVOS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Al terminar la sesión podrás…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3</a:t>
            </a:r>
            <a:endParaRPr lang="en-US" sz="800" dirty="0"/>
          </a:p>
        </p:txBody>
      </p:sp>
      <p:sp>
        <p:nvSpPr>
          <p:cNvPr id="7" name="Shape 4"/>
          <p:cNvSpPr/>
          <p:nvPr/>
        </p:nvSpPr>
        <p:spPr>
          <a:xfrm>
            <a:off x="548640" y="1600200"/>
            <a:ext cx="3584448" cy="3246120"/>
          </a:xfrm>
          <a:prstGeom prst="roundRect">
            <a:avLst>
              <a:gd name="adj" fmla="val 197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8" name="Shape 5"/>
          <p:cNvSpPr/>
          <p:nvPr/>
        </p:nvSpPr>
        <p:spPr>
          <a:xfrm>
            <a:off x="868680" y="1920240"/>
            <a:ext cx="868680" cy="868680"/>
          </a:xfrm>
          <a:prstGeom prst="ellipse">
            <a:avLst/>
          </a:prstGeom>
          <a:solidFill>
            <a:srgbClr val="21295C"/>
          </a:solidFill>
          <a:ln w="12700">
            <a:solidFill>
              <a:srgbClr val="21295C"/>
            </a:solidFill>
            <a:prstDash val="solid"/>
          </a:ln>
        </p:spPr>
        <p:txBody>
          <a:bodyPr/>
          <a:lstStyle/>
          <a:p>
            <a:endParaRPr lang="es-CL"/>
          </a:p>
        </p:txBody>
      </p:sp>
      <p:pic>
        <p:nvPicPr>
          <p:cNvPr id="9" name="Image 0" descr="preencoded.png"/>
          <p:cNvPicPr>
            <a:picLocks noChangeAspect="1"/>
          </p:cNvPicPr>
          <p:nvPr/>
        </p:nvPicPr>
        <p:blipFill>
          <a:blip r:embed="rId3"/>
          <a:stretch>
            <a:fillRect/>
          </a:stretch>
        </p:blipFill>
        <p:spPr>
          <a:xfrm>
            <a:off x="1115568" y="2167128"/>
            <a:ext cx="374904" cy="374904"/>
          </a:xfrm>
          <a:prstGeom prst="rect">
            <a:avLst/>
          </a:prstGeom>
        </p:spPr>
      </p:pic>
      <p:sp>
        <p:nvSpPr>
          <p:cNvPr id="10" name="Text 6"/>
          <p:cNvSpPr txBox="1"/>
          <p:nvPr/>
        </p:nvSpPr>
        <p:spPr>
          <a:xfrm>
            <a:off x="868680" y="3017520"/>
            <a:ext cx="3017520" cy="411480"/>
          </a:xfrm>
          <a:prstGeom prst="rect">
            <a:avLst/>
          </a:prstGeom>
          <a:noFill/>
          <a:ln/>
        </p:spPr>
        <p:txBody>
          <a:bodyPr wrap="square" lIns="0" tIns="0" rIns="0" bIns="0" rtlCol="0" anchor="ctr"/>
          <a:lstStyle/>
          <a:p>
            <a:pPr marL="0" indent="0">
              <a:buNone/>
            </a:pPr>
            <a:r>
              <a:rPr lang="en-US" sz="1900" b="1" dirty="0">
                <a:solidFill>
                  <a:srgbClr val="21295C"/>
                </a:solidFill>
                <a:latin typeface="Cambria" pitchFamily="34" charset="0"/>
                <a:ea typeface="Cambria" pitchFamily="34" charset="-122"/>
                <a:cs typeface="Cambria" pitchFamily="34" charset="-120"/>
              </a:rPr>
              <a:t>Escribir funciones</a:t>
            </a:r>
            <a:endParaRPr lang="en-US" sz="1900" dirty="0"/>
          </a:p>
        </p:txBody>
      </p:sp>
      <p:sp>
        <p:nvSpPr>
          <p:cNvPr id="11" name="Text 7"/>
          <p:cNvSpPr txBox="1"/>
          <p:nvPr/>
        </p:nvSpPr>
        <p:spPr>
          <a:xfrm>
            <a:off x="868680" y="3520440"/>
            <a:ext cx="2971800" cy="1371600"/>
          </a:xfrm>
          <a:prstGeom prst="rect">
            <a:avLst/>
          </a:prstGeom>
          <a:noFill/>
          <a:ln/>
        </p:spPr>
        <p:txBody>
          <a:bodyPr wrap="square" lIns="0" tIns="0" rIns="0" bIns="0" rtlCol="0" anchor="t"/>
          <a:lstStyle/>
          <a:p>
            <a:pPr marL="0" indent="0">
              <a:buNone/>
            </a:pPr>
            <a:r>
              <a:rPr lang="en-US" sz="1400" dirty="0">
                <a:solidFill>
                  <a:srgbClr val="1E2A44"/>
                </a:solidFill>
                <a:latin typeface="Calibri" pitchFamily="34" charset="0"/>
                <a:ea typeface="Calibri" pitchFamily="34" charset="-122"/>
                <a:cs typeface="Calibri" pitchFamily="34" charset="-120"/>
              </a:rPr>
              <a:t>Funciones propias con argumentos claros y validaciones, en lugar de copiar y pegar código.</a:t>
            </a:r>
            <a:endParaRPr lang="en-US" sz="1400" dirty="0"/>
          </a:p>
        </p:txBody>
      </p:sp>
      <p:sp>
        <p:nvSpPr>
          <p:cNvPr id="12" name="Shape 8"/>
          <p:cNvSpPr/>
          <p:nvPr/>
        </p:nvSpPr>
        <p:spPr>
          <a:xfrm>
            <a:off x="4297680" y="1600200"/>
            <a:ext cx="3584448" cy="3246120"/>
          </a:xfrm>
          <a:prstGeom prst="roundRect">
            <a:avLst>
              <a:gd name="adj" fmla="val 197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3" name="Shape 9"/>
          <p:cNvSpPr/>
          <p:nvPr/>
        </p:nvSpPr>
        <p:spPr>
          <a:xfrm>
            <a:off x="4617720" y="1920240"/>
            <a:ext cx="868680" cy="868680"/>
          </a:xfrm>
          <a:prstGeom prst="ellipse">
            <a:avLst/>
          </a:prstGeom>
          <a:solidFill>
            <a:srgbClr val="065A82"/>
          </a:solidFill>
          <a:ln w="12700">
            <a:solidFill>
              <a:srgbClr val="065A82"/>
            </a:solidFill>
            <a:prstDash val="solid"/>
          </a:ln>
        </p:spPr>
        <p:txBody>
          <a:bodyPr/>
          <a:lstStyle/>
          <a:p>
            <a:endParaRPr lang="es-CL"/>
          </a:p>
        </p:txBody>
      </p:sp>
      <p:pic>
        <p:nvPicPr>
          <p:cNvPr id="14" name="Image 1" descr="preencoded.png"/>
          <p:cNvPicPr>
            <a:picLocks noChangeAspect="1"/>
          </p:cNvPicPr>
          <p:nvPr/>
        </p:nvPicPr>
        <p:blipFill>
          <a:blip r:embed="rId4"/>
          <a:stretch>
            <a:fillRect/>
          </a:stretch>
        </p:blipFill>
        <p:spPr>
          <a:xfrm>
            <a:off x="4864608" y="2167128"/>
            <a:ext cx="374904" cy="374904"/>
          </a:xfrm>
          <a:prstGeom prst="rect">
            <a:avLst/>
          </a:prstGeom>
        </p:spPr>
      </p:pic>
      <p:sp>
        <p:nvSpPr>
          <p:cNvPr id="15" name="Text 10"/>
          <p:cNvSpPr txBox="1"/>
          <p:nvPr/>
        </p:nvSpPr>
        <p:spPr>
          <a:xfrm>
            <a:off x="4617720" y="3017520"/>
            <a:ext cx="3017520" cy="411480"/>
          </a:xfrm>
          <a:prstGeom prst="rect">
            <a:avLst/>
          </a:prstGeom>
          <a:noFill/>
          <a:ln/>
        </p:spPr>
        <p:txBody>
          <a:bodyPr wrap="square" lIns="0" tIns="0" rIns="0" bIns="0" rtlCol="0" anchor="ctr"/>
          <a:lstStyle/>
          <a:p>
            <a:pPr marL="0" indent="0">
              <a:buNone/>
            </a:pPr>
            <a:r>
              <a:rPr lang="en-US" sz="1900" b="1" dirty="0">
                <a:solidFill>
                  <a:srgbClr val="21295C"/>
                </a:solidFill>
                <a:latin typeface="Cambria" pitchFamily="34" charset="0"/>
                <a:ea typeface="Cambria" pitchFamily="34" charset="-122"/>
                <a:cs typeface="Cambria" pitchFamily="34" charset="-120"/>
              </a:rPr>
              <a:t>Iterar con purrr</a:t>
            </a:r>
            <a:endParaRPr lang="en-US" sz="1900" dirty="0"/>
          </a:p>
        </p:txBody>
      </p:sp>
      <p:sp>
        <p:nvSpPr>
          <p:cNvPr id="16" name="Text 11"/>
          <p:cNvSpPr txBox="1"/>
          <p:nvPr/>
        </p:nvSpPr>
        <p:spPr>
          <a:xfrm>
            <a:off x="4617720" y="3520440"/>
            <a:ext cx="2971800" cy="1371600"/>
          </a:xfrm>
          <a:prstGeom prst="rect">
            <a:avLst/>
          </a:prstGeom>
          <a:noFill/>
          <a:ln/>
        </p:spPr>
        <p:txBody>
          <a:bodyPr wrap="square" lIns="0" tIns="0" rIns="0" bIns="0" rtlCol="0" anchor="t"/>
          <a:lstStyle/>
          <a:p>
            <a:pPr marL="0" indent="0">
              <a:buNone/>
            </a:pPr>
            <a:r>
              <a:rPr lang="en-US" sz="1400" dirty="0">
                <a:solidFill>
                  <a:srgbClr val="1E2A44"/>
                </a:solidFill>
                <a:latin typeface="Calibri" pitchFamily="34" charset="0"/>
                <a:ea typeface="Calibri" pitchFamily="34" charset="-122"/>
                <a:cs typeface="Calibri" pitchFamily="34" charset="-120"/>
              </a:rPr>
              <a:t>Aplicar la misma función a muchas columnas, grupos o archivos con map() y sus variantes.</a:t>
            </a:r>
            <a:endParaRPr lang="en-US" sz="1400" dirty="0"/>
          </a:p>
        </p:txBody>
      </p:sp>
      <p:sp>
        <p:nvSpPr>
          <p:cNvPr id="17" name="Shape 12"/>
          <p:cNvSpPr/>
          <p:nvPr/>
        </p:nvSpPr>
        <p:spPr>
          <a:xfrm>
            <a:off x="8046720" y="1600200"/>
            <a:ext cx="3584448" cy="3246120"/>
          </a:xfrm>
          <a:prstGeom prst="roundRect">
            <a:avLst>
              <a:gd name="adj" fmla="val 197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8" name="Shape 13"/>
          <p:cNvSpPr/>
          <p:nvPr/>
        </p:nvSpPr>
        <p:spPr>
          <a:xfrm>
            <a:off x="8366760" y="1920240"/>
            <a:ext cx="868680" cy="868680"/>
          </a:xfrm>
          <a:prstGeom prst="ellipse">
            <a:avLst/>
          </a:prstGeom>
          <a:solidFill>
            <a:srgbClr val="1C7293"/>
          </a:solidFill>
          <a:ln w="12700">
            <a:solidFill>
              <a:srgbClr val="1C7293"/>
            </a:solidFill>
            <a:prstDash val="solid"/>
          </a:ln>
        </p:spPr>
        <p:txBody>
          <a:bodyPr/>
          <a:lstStyle/>
          <a:p>
            <a:endParaRPr lang="es-CL"/>
          </a:p>
        </p:txBody>
      </p:sp>
      <p:pic>
        <p:nvPicPr>
          <p:cNvPr id="19" name="Image 2" descr="preencoded.png"/>
          <p:cNvPicPr>
            <a:picLocks noChangeAspect="1"/>
          </p:cNvPicPr>
          <p:nvPr/>
        </p:nvPicPr>
        <p:blipFill>
          <a:blip r:embed="rId5"/>
          <a:stretch>
            <a:fillRect/>
          </a:stretch>
        </p:blipFill>
        <p:spPr>
          <a:xfrm>
            <a:off x="8613648" y="2167128"/>
            <a:ext cx="374904" cy="374904"/>
          </a:xfrm>
          <a:prstGeom prst="rect">
            <a:avLst/>
          </a:prstGeom>
        </p:spPr>
      </p:pic>
      <p:sp>
        <p:nvSpPr>
          <p:cNvPr id="20" name="Text 14"/>
          <p:cNvSpPr txBox="1"/>
          <p:nvPr/>
        </p:nvSpPr>
        <p:spPr>
          <a:xfrm>
            <a:off x="8366760" y="3017520"/>
            <a:ext cx="3017520" cy="411480"/>
          </a:xfrm>
          <a:prstGeom prst="rect">
            <a:avLst/>
          </a:prstGeom>
          <a:noFill/>
          <a:ln/>
        </p:spPr>
        <p:txBody>
          <a:bodyPr wrap="square" lIns="0" tIns="0" rIns="0" bIns="0" rtlCol="0" anchor="ctr"/>
          <a:lstStyle/>
          <a:p>
            <a:pPr marL="0" indent="0">
              <a:buNone/>
            </a:pPr>
            <a:r>
              <a:rPr lang="en-US" sz="1900" b="1" dirty="0">
                <a:solidFill>
                  <a:srgbClr val="21295C"/>
                </a:solidFill>
                <a:latin typeface="Cambria" pitchFamily="34" charset="0"/>
                <a:ea typeface="Cambria" pitchFamily="34" charset="-122"/>
                <a:cs typeface="Cambria" pitchFamily="34" charset="-120"/>
              </a:rPr>
              <a:t>Automatizar análisis</a:t>
            </a:r>
            <a:endParaRPr lang="en-US" sz="1900" dirty="0"/>
          </a:p>
        </p:txBody>
      </p:sp>
      <p:sp>
        <p:nvSpPr>
          <p:cNvPr id="21" name="Text 15"/>
          <p:cNvSpPr txBox="1"/>
          <p:nvPr/>
        </p:nvSpPr>
        <p:spPr>
          <a:xfrm>
            <a:off x="8366760" y="3520440"/>
            <a:ext cx="2971800" cy="1371600"/>
          </a:xfrm>
          <a:prstGeom prst="rect">
            <a:avLst/>
          </a:prstGeom>
          <a:noFill/>
          <a:ln/>
        </p:spPr>
        <p:txBody>
          <a:bodyPr wrap="square" lIns="0" tIns="0" rIns="0" bIns="0" rtlCol="0" anchor="t"/>
          <a:lstStyle/>
          <a:p>
            <a:pPr marL="0" indent="0">
              <a:buNone/>
            </a:pPr>
            <a:r>
              <a:rPr lang="en-US" sz="1400" dirty="0">
                <a:solidFill>
                  <a:srgbClr val="1E2A44"/>
                </a:solidFill>
                <a:latin typeface="Calibri" pitchFamily="34" charset="0"/>
                <a:ea typeface="Calibri" pitchFamily="34" charset="-122"/>
                <a:cs typeface="Calibri" pitchFamily="34" charset="-120"/>
              </a:rPr>
              <a:t>Encadenar leer, resumir, modelar y guardar en un flujo que se repite sin tocar el código.</a:t>
            </a:r>
            <a:endParaRPr lang="en-US" sz="1400" dirty="0"/>
          </a:p>
        </p:txBody>
      </p:sp>
      <p:sp>
        <p:nvSpPr>
          <p:cNvPr id="22" name="Shape 16"/>
          <p:cNvSpPr/>
          <p:nvPr/>
        </p:nvSpPr>
        <p:spPr>
          <a:xfrm>
            <a:off x="548640" y="5166360"/>
            <a:ext cx="11091672" cy="548640"/>
          </a:xfrm>
          <a:prstGeom prst="rect">
            <a:avLst/>
          </a:prstGeom>
          <a:solidFill>
            <a:srgbClr val="E4EEF2"/>
          </a:solidFill>
          <a:ln w="12700">
            <a:solidFill>
              <a:srgbClr val="E4EEF2"/>
            </a:solidFill>
            <a:prstDash val="solid"/>
          </a:ln>
        </p:spPr>
        <p:txBody>
          <a:bodyPr/>
          <a:lstStyle/>
          <a:p>
            <a:endParaRPr lang="es-CL"/>
          </a:p>
        </p:txBody>
      </p:sp>
      <p:sp>
        <p:nvSpPr>
          <p:cNvPr id="23" name="Shape 17"/>
          <p:cNvSpPr/>
          <p:nvPr/>
        </p:nvSpPr>
        <p:spPr>
          <a:xfrm>
            <a:off x="548640" y="5166360"/>
            <a:ext cx="64008" cy="548640"/>
          </a:xfrm>
          <a:prstGeom prst="rect">
            <a:avLst/>
          </a:prstGeom>
          <a:solidFill>
            <a:srgbClr val="1C7293"/>
          </a:solidFill>
          <a:ln w="12700">
            <a:solidFill>
              <a:srgbClr val="1C7293"/>
            </a:solidFill>
            <a:prstDash val="solid"/>
          </a:ln>
        </p:spPr>
        <p:txBody>
          <a:bodyPr/>
          <a:lstStyle/>
          <a:p>
            <a:endParaRPr lang="es-CL"/>
          </a:p>
        </p:txBody>
      </p:sp>
      <p:sp>
        <p:nvSpPr>
          <p:cNvPr id="24" name="Text 18"/>
          <p:cNvSpPr txBox="1"/>
          <p:nvPr/>
        </p:nvSpPr>
        <p:spPr>
          <a:xfrm>
            <a:off x="749808" y="5166360"/>
            <a:ext cx="10771632" cy="548640"/>
          </a:xfrm>
          <a:prstGeom prst="rect">
            <a:avLst/>
          </a:prstGeom>
          <a:noFill/>
          <a:ln/>
        </p:spPr>
        <p:txBody>
          <a:bodyPr wrap="square" lIns="0" tIns="0" rIns="0" bIns="0" rtlCol="0" anchor="ctr"/>
          <a:lstStyle/>
          <a:p>
            <a:pPr marL="0" indent="0">
              <a:buNone/>
            </a:pPr>
            <a:r>
              <a:rPr lang="en-US" sz="1300" i="1" dirty="0">
                <a:solidFill>
                  <a:srgbClr val="1E2A44"/>
                </a:solidFill>
                <a:latin typeface="Calibri" pitchFamily="34" charset="0"/>
                <a:ea typeface="Calibri" pitchFamily="34" charset="-122"/>
                <a:cs typeface="Calibri" pitchFamily="34" charset="-120"/>
              </a:rPr>
              <a:t>Conexión con la sesión 1: across() ya iteraba sobre columnas dentro de dplyr; purrr generaliza esa idea a cualquier lista de cosas.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MOTIVACIÓN</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El problema: el mismo análisis, una y otra vez</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4</a:t>
            </a:r>
            <a:endParaRPr lang="en-US" sz="800" dirty="0"/>
          </a:p>
        </p:txBody>
      </p:sp>
      <p:sp>
        <p:nvSpPr>
          <p:cNvPr id="7" name="Shape 4"/>
          <p:cNvSpPr/>
          <p:nvPr/>
        </p:nvSpPr>
        <p:spPr>
          <a:xfrm>
            <a:off x="548640" y="1508760"/>
            <a:ext cx="3108960" cy="1554480"/>
          </a:xfrm>
          <a:prstGeom prst="roundRect">
            <a:avLst>
              <a:gd name="adj" fmla="val 4118"/>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8" name="Text 5"/>
          <p:cNvSpPr txBox="1"/>
          <p:nvPr/>
        </p:nvSpPr>
        <p:spPr>
          <a:xfrm>
            <a:off x="822960" y="1600200"/>
            <a:ext cx="914400" cy="1371600"/>
          </a:xfrm>
          <a:prstGeom prst="rect">
            <a:avLst/>
          </a:prstGeom>
          <a:noFill/>
          <a:ln/>
        </p:spPr>
        <p:txBody>
          <a:bodyPr wrap="square" lIns="0" tIns="0" rIns="0" bIns="0" rtlCol="0" anchor="ctr"/>
          <a:lstStyle/>
          <a:p>
            <a:pPr marL="0" indent="0">
              <a:buNone/>
            </a:pPr>
            <a:r>
              <a:rPr lang="en-US" sz="5400" b="1" dirty="0">
                <a:solidFill>
                  <a:srgbClr val="065A82"/>
                </a:solidFill>
                <a:latin typeface="Cambria" pitchFamily="34" charset="0"/>
                <a:ea typeface="Cambria" pitchFamily="34" charset="-122"/>
                <a:cs typeface="Cambria" pitchFamily="34" charset="-120"/>
              </a:rPr>
              <a:t>5</a:t>
            </a:r>
            <a:endParaRPr lang="en-US" sz="5400" dirty="0"/>
          </a:p>
        </p:txBody>
      </p:sp>
      <p:sp>
        <p:nvSpPr>
          <p:cNvPr id="9" name="Text 6"/>
          <p:cNvSpPr txBox="1"/>
          <p:nvPr/>
        </p:nvSpPr>
        <p:spPr>
          <a:xfrm>
            <a:off x="1691640" y="1600200"/>
            <a:ext cx="1828800" cy="1371600"/>
          </a:xfrm>
          <a:prstGeom prst="rect">
            <a:avLst/>
          </a:prstGeom>
          <a:noFill/>
          <a:ln/>
        </p:spPr>
        <p:txBody>
          <a:bodyPr wrap="square" lIns="0" tIns="0" rIns="0" bIns="0" rtlCol="0" anchor="ctr"/>
          <a:lstStyle/>
          <a:p>
            <a:pPr marL="0" indent="0">
              <a:buNone/>
            </a:pPr>
            <a:r>
              <a:rPr lang="en-US" sz="1400" dirty="0">
                <a:solidFill>
                  <a:srgbClr val="1E2A44"/>
                </a:solidFill>
                <a:latin typeface="Calibri" pitchFamily="34" charset="0"/>
                <a:ea typeface="Calibri" pitchFamily="34" charset="-122"/>
                <a:cs typeface="Calibri" pitchFamily="34" charset="-120"/>
              </a:rPr>
              <a:t>encuestas anuales (2022–2026)</a:t>
            </a:r>
            <a:endParaRPr lang="en-US" sz="1400" dirty="0"/>
          </a:p>
        </p:txBody>
      </p:sp>
      <p:sp>
        <p:nvSpPr>
          <p:cNvPr id="10" name="Text 7"/>
          <p:cNvSpPr txBox="1"/>
          <p:nvPr/>
        </p:nvSpPr>
        <p:spPr>
          <a:xfrm>
            <a:off x="3657600" y="1783080"/>
            <a:ext cx="640080" cy="1005840"/>
          </a:xfrm>
          <a:prstGeom prst="rect">
            <a:avLst/>
          </a:prstGeom>
          <a:noFill/>
          <a:ln/>
        </p:spPr>
        <p:txBody>
          <a:bodyPr wrap="square" lIns="0" tIns="0" rIns="0" bIns="0" rtlCol="0" anchor="ctr"/>
          <a:lstStyle/>
          <a:p>
            <a:pPr marL="0" indent="0" algn="ctr">
              <a:buNone/>
            </a:pPr>
            <a:r>
              <a:rPr lang="en-US" sz="3000" dirty="0">
                <a:solidFill>
                  <a:srgbClr val="5B6B7F"/>
                </a:solidFill>
                <a:latin typeface="Cambria" pitchFamily="34" charset="0"/>
                <a:ea typeface="Cambria" pitchFamily="34" charset="-122"/>
                <a:cs typeface="Cambria" pitchFamily="34" charset="-120"/>
              </a:rPr>
              <a:t>×</a:t>
            </a:r>
            <a:endParaRPr lang="en-US" sz="3000" dirty="0"/>
          </a:p>
        </p:txBody>
      </p:sp>
      <p:sp>
        <p:nvSpPr>
          <p:cNvPr id="11" name="Shape 8"/>
          <p:cNvSpPr/>
          <p:nvPr/>
        </p:nvSpPr>
        <p:spPr>
          <a:xfrm>
            <a:off x="4297680" y="1508760"/>
            <a:ext cx="3108960" cy="1554480"/>
          </a:xfrm>
          <a:prstGeom prst="roundRect">
            <a:avLst>
              <a:gd name="adj" fmla="val 4118"/>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2" name="Text 9"/>
          <p:cNvSpPr txBox="1"/>
          <p:nvPr/>
        </p:nvSpPr>
        <p:spPr>
          <a:xfrm>
            <a:off x="4572000" y="1600200"/>
            <a:ext cx="914400" cy="1371600"/>
          </a:xfrm>
          <a:prstGeom prst="rect">
            <a:avLst/>
          </a:prstGeom>
          <a:noFill/>
          <a:ln/>
        </p:spPr>
        <p:txBody>
          <a:bodyPr wrap="square" lIns="0" tIns="0" rIns="0" bIns="0" rtlCol="0" anchor="ctr"/>
          <a:lstStyle/>
          <a:p>
            <a:pPr marL="0" indent="0">
              <a:buNone/>
            </a:pPr>
            <a:r>
              <a:rPr lang="en-US" sz="5400" b="1" dirty="0">
                <a:solidFill>
                  <a:srgbClr val="065A82"/>
                </a:solidFill>
                <a:latin typeface="Cambria" pitchFamily="34" charset="0"/>
                <a:ea typeface="Cambria" pitchFamily="34" charset="-122"/>
                <a:cs typeface="Cambria" pitchFamily="34" charset="-120"/>
              </a:rPr>
              <a:t>5</a:t>
            </a:r>
            <a:endParaRPr lang="en-US" sz="5400" dirty="0"/>
          </a:p>
        </p:txBody>
      </p:sp>
      <p:sp>
        <p:nvSpPr>
          <p:cNvPr id="13" name="Text 10"/>
          <p:cNvSpPr txBox="1"/>
          <p:nvPr/>
        </p:nvSpPr>
        <p:spPr>
          <a:xfrm>
            <a:off x="5440680" y="1600200"/>
            <a:ext cx="1828800" cy="1371600"/>
          </a:xfrm>
          <a:prstGeom prst="rect">
            <a:avLst/>
          </a:prstGeom>
          <a:noFill/>
          <a:ln/>
        </p:spPr>
        <p:txBody>
          <a:bodyPr wrap="square" lIns="0" tIns="0" rIns="0" bIns="0" rtlCol="0" anchor="ctr"/>
          <a:lstStyle/>
          <a:p>
            <a:pPr marL="0" indent="0">
              <a:buNone/>
            </a:pPr>
            <a:r>
              <a:rPr lang="en-US" sz="1400" dirty="0">
                <a:solidFill>
                  <a:srgbClr val="1E2A44"/>
                </a:solidFill>
                <a:latin typeface="Calibri" pitchFamily="34" charset="0"/>
                <a:ea typeface="Calibri" pitchFamily="34" charset="-122"/>
                <a:cs typeface="Calibri" pitchFamily="34" charset="-120"/>
              </a:rPr>
              <a:t>dimensiones de satisfacción</a:t>
            </a:r>
            <a:endParaRPr lang="en-US" sz="1400" dirty="0"/>
          </a:p>
        </p:txBody>
      </p:sp>
      <p:sp>
        <p:nvSpPr>
          <p:cNvPr id="14" name="Text 11"/>
          <p:cNvSpPr txBox="1"/>
          <p:nvPr/>
        </p:nvSpPr>
        <p:spPr>
          <a:xfrm>
            <a:off x="7406640" y="1783080"/>
            <a:ext cx="640080" cy="1005840"/>
          </a:xfrm>
          <a:prstGeom prst="rect">
            <a:avLst/>
          </a:prstGeom>
          <a:noFill/>
          <a:ln/>
        </p:spPr>
        <p:txBody>
          <a:bodyPr wrap="square" lIns="0" tIns="0" rIns="0" bIns="0" rtlCol="0" anchor="ctr"/>
          <a:lstStyle/>
          <a:p>
            <a:pPr marL="0" indent="0" algn="ctr">
              <a:buNone/>
            </a:pPr>
            <a:r>
              <a:rPr lang="en-US" sz="3000" dirty="0">
                <a:solidFill>
                  <a:srgbClr val="5B6B7F"/>
                </a:solidFill>
                <a:latin typeface="Cambria" pitchFamily="34" charset="0"/>
                <a:ea typeface="Cambria" pitchFamily="34" charset="-122"/>
                <a:cs typeface="Cambria" pitchFamily="34" charset="-120"/>
              </a:rPr>
              <a:t>×</a:t>
            </a:r>
            <a:endParaRPr lang="en-US" sz="3000" dirty="0"/>
          </a:p>
        </p:txBody>
      </p:sp>
      <p:sp>
        <p:nvSpPr>
          <p:cNvPr id="15" name="Shape 12"/>
          <p:cNvSpPr/>
          <p:nvPr/>
        </p:nvSpPr>
        <p:spPr>
          <a:xfrm>
            <a:off x="8046720" y="1508760"/>
            <a:ext cx="3108960" cy="1554480"/>
          </a:xfrm>
          <a:prstGeom prst="roundRect">
            <a:avLst>
              <a:gd name="adj" fmla="val 4118"/>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6" name="Text 13"/>
          <p:cNvSpPr txBox="1"/>
          <p:nvPr/>
        </p:nvSpPr>
        <p:spPr>
          <a:xfrm>
            <a:off x="8321040" y="1600200"/>
            <a:ext cx="914400" cy="1371600"/>
          </a:xfrm>
          <a:prstGeom prst="rect">
            <a:avLst/>
          </a:prstGeom>
          <a:noFill/>
          <a:ln/>
        </p:spPr>
        <p:txBody>
          <a:bodyPr wrap="square" lIns="0" tIns="0" rIns="0" bIns="0" rtlCol="0" anchor="ctr"/>
          <a:lstStyle/>
          <a:p>
            <a:pPr marL="0" indent="0">
              <a:buNone/>
            </a:pPr>
            <a:r>
              <a:rPr lang="en-US" sz="5400" b="1" dirty="0">
                <a:solidFill>
                  <a:srgbClr val="065A82"/>
                </a:solidFill>
                <a:latin typeface="Cambria" pitchFamily="34" charset="0"/>
                <a:ea typeface="Cambria" pitchFamily="34" charset="-122"/>
                <a:cs typeface="Cambria" pitchFamily="34" charset="-120"/>
              </a:rPr>
              <a:t>3</a:t>
            </a:r>
            <a:endParaRPr lang="en-US" sz="5400" dirty="0"/>
          </a:p>
        </p:txBody>
      </p:sp>
      <p:sp>
        <p:nvSpPr>
          <p:cNvPr id="17" name="Text 14"/>
          <p:cNvSpPr txBox="1"/>
          <p:nvPr/>
        </p:nvSpPr>
        <p:spPr>
          <a:xfrm>
            <a:off x="9189720" y="1600200"/>
            <a:ext cx="1828800" cy="1371600"/>
          </a:xfrm>
          <a:prstGeom prst="rect">
            <a:avLst/>
          </a:prstGeom>
          <a:noFill/>
          <a:ln/>
        </p:spPr>
        <p:txBody>
          <a:bodyPr wrap="square" lIns="0" tIns="0" rIns="0" bIns="0" rtlCol="0" anchor="ctr"/>
          <a:lstStyle/>
          <a:p>
            <a:pPr marL="0" indent="0">
              <a:buNone/>
            </a:pPr>
            <a:r>
              <a:rPr lang="en-US" sz="1400" dirty="0">
                <a:solidFill>
                  <a:srgbClr val="1E2A44"/>
                </a:solidFill>
                <a:latin typeface="Calibri" pitchFamily="34" charset="0"/>
                <a:ea typeface="Calibri" pitchFamily="34" charset="-122"/>
                <a:cs typeface="Calibri" pitchFamily="34" charset="-120"/>
              </a:rPr>
              <a:t>estadísticos: n, media, error estándar</a:t>
            </a:r>
            <a:endParaRPr lang="en-US" sz="1400" dirty="0"/>
          </a:p>
        </p:txBody>
      </p:sp>
      <p:sp>
        <p:nvSpPr>
          <p:cNvPr id="18" name="Text 15"/>
          <p:cNvSpPr txBox="1"/>
          <p:nvPr/>
        </p:nvSpPr>
        <p:spPr>
          <a:xfrm>
            <a:off x="548640" y="3246120"/>
            <a:ext cx="11064240" cy="548640"/>
          </a:xfrm>
          <a:prstGeom prst="rect">
            <a:avLst/>
          </a:prstGeom>
          <a:noFill/>
          <a:ln/>
        </p:spPr>
        <p:txBody>
          <a:bodyPr wrap="square" lIns="0" tIns="0" rIns="0" bIns="0" rtlCol="0" anchor="ctr"/>
          <a:lstStyle/>
          <a:p>
            <a:pPr marL="0" indent="0" algn="ctr">
              <a:buNone/>
            </a:pPr>
            <a:r>
              <a:rPr lang="en-US" sz="2800" b="1" dirty="0">
                <a:solidFill>
                  <a:srgbClr val="21295C"/>
                </a:solidFill>
                <a:latin typeface="Cambria" pitchFamily="34" charset="0"/>
                <a:ea typeface="Cambria" pitchFamily="34" charset="-122"/>
                <a:cs typeface="Cambria" pitchFamily="34" charset="-120"/>
              </a:rPr>
              <a:t>= 75 cálculos</a:t>
            </a:r>
            <a:endParaRPr lang="en-US" sz="2800" dirty="0"/>
          </a:p>
        </p:txBody>
      </p:sp>
      <p:sp>
        <p:nvSpPr>
          <p:cNvPr id="19" name="Shape 16"/>
          <p:cNvSpPr/>
          <p:nvPr/>
        </p:nvSpPr>
        <p:spPr>
          <a:xfrm>
            <a:off x="548640" y="4114800"/>
            <a:ext cx="5440680" cy="1463040"/>
          </a:xfrm>
          <a:prstGeom prst="roundRect">
            <a:avLst>
              <a:gd name="adj" fmla="val 4375"/>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0" name="Shape 17"/>
          <p:cNvSpPr/>
          <p:nvPr/>
        </p:nvSpPr>
        <p:spPr>
          <a:xfrm>
            <a:off x="548640" y="4114800"/>
            <a:ext cx="73152" cy="1463040"/>
          </a:xfrm>
          <a:prstGeom prst="rect">
            <a:avLst/>
          </a:prstGeom>
          <a:solidFill>
            <a:srgbClr val="B7791F"/>
          </a:solidFill>
          <a:ln w="12700">
            <a:solidFill>
              <a:srgbClr val="B7791F"/>
            </a:solidFill>
            <a:prstDash val="solid"/>
          </a:ln>
        </p:spPr>
        <p:txBody>
          <a:bodyPr/>
          <a:lstStyle/>
          <a:p>
            <a:endParaRPr lang="es-CL"/>
          </a:p>
        </p:txBody>
      </p:sp>
      <p:sp>
        <p:nvSpPr>
          <p:cNvPr id="21" name="Text 18"/>
          <p:cNvSpPr txBox="1"/>
          <p:nvPr/>
        </p:nvSpPr>
        <p:spPr>
          <a:xfrm>
            <a:off x="868680" y="4251960"/>
            <a:ext cx="4572000" cy="320040"/>
          </a:xfrm>
          <a:prstGeom prst="rect">
            <a:avLst/>
          </a:prstGeom>
          <a:noFill/>
          <a:ln/>
        </p:spPr>
        <p:txBody>
          <a:bodyPr wrap="square" lIns="0" tIns="0" rIns="0" bIns="0" rtlCol="0" anchor="ctr"/>
          <a:lstStyle/>
          <a:p>
            <a:pPr marL="0" indent="0">
              <a:buNone/>
            </a:pPr>
            <a:r>
              <a:rPr lang="en-US" sz="1700" b="1" dirty="0">
                <a:solidFill>
                  <a:srgbClr val="B7791F"/>
                </a:solidFill>
                <a:latin typeface="Cambria" pitchFamily="34" charset="0"/>
                <a:ea typeface="Cambria" pitchFamily="34" charset="-122"/>
                <a:cs typeface="Cambria" pitchFamily="34" charset="-120"/>
              </a:rPr>
              <a:t>A mano</a:t>
            </a:r>
            <a:endParaRPr lang="en-US" sz="1700" dirty="0"/>
          </a:p>
        </p:txBody>
      </p:sp>
      <p:sp>
        <p:nvSpPr>
          <p:cNvPr id="22" name="Text 19"/>
          <p:cNvSpPr txBox="1"/>
          <p:nvPr/>
        </p:nvSpPr>
        <p:spPr>
          <a:xfrm>
            <a:off x="868680" y="4617720"/>
            <a:ext cx="4937760" cy="1097280"/>
          </a:xfrm>
          <a:prstGeom prst="rect">
            <a:avLst/>
          </a:prstGeom>
          <a:noFill/>
          <a:ln/>
        </p:spPr>
        <p:txBody>
          <a:bodyPr wrap="square" lIns="0" tIns="0" rIns="0" bIns="0" rtlCol="0" anchor="t"/>
          <a:lstStyle/>
          <a:p>
            <a:pPr marL="0" indent="0">
              <a:buNone/>
            </a:pPr>
            <a:r>
              <a:rPr lang="en-US" sz="1400" dirty="0">
                <a:solidFill>
                  <a:srgbClr val="1E2A44"/>
                </a:solidFill>
                <a:latin typeface="Calibri" pitchFamily="34" charset="0"/>
                <a:ea typeface="Calibri" pitchFamily="34" charset="-122"/>
                <a:cs typeface="Calibri" pitchFamily="34" charset="-120"/>
              </a:rPr>
              <a:t>75 bloques copiados y pegados. Cada uno es una oportunidad para equivocarse, y nadie los revisa todos.</a:t>
            </a:r>
            <a:endParaRPr lang="en-US" sz="1400" dirty="0"/>
          </a:p>
        </p:txBody>
      </p:sp>
      <p:sp>
        <p:nvSpPr>
          <p:cNvPr id="23" name="Shape 20"/>
          <p:cNvSpPr/>
          <p:nvPr/>
        </p:nvSpPr>
        <p:spPr>
          <a:xfrm>
            <a:off x="6199632" y="4114800"/>
            <a:ext cx="5440680" cy="1463040"/>
          </a:xfrm>
          <a:prstGeom prst="roundRect">
            <a:avLst>
              <a:gd name="adj" fmla="val 4375"/>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4" name="Shape 21"/>
          <p:cNvSpPr/>
          <p:nvPr/>
        </p:nvSpPr>
        <p:spPr>
          <a:xfrm>
            <a:off x="6199632" y="4114800"/>
            <a:ext cx="73152" cy="1463040"/>
          </a:xfrm>
          <a:prstGeom prst="rect">
            <a:avLst/>
          </a:prstGeom>
          <a:solidFill>
            <a:srgbClr val="1C7293"/>
          </a:solidFill>
          <a:ln w="12700">
            <a:solidFill>
              <a:srgbClr val="1C7293"/>
            </a:solidFill>
            <a:prstDash val="solid"/>
          </a:ln>
        </p:spPr>
        <p:txBody>
          <a:bodyPr/>
          <a:lstStyle/>
          <a:p>
            <a:endParaRPr lang="es-CL"/>
          </a:p>
        </p:txBody>
      </p:sp>
      <p:sp>
        <p:nvSpPr>
          <p:cNvPr id="25" name="Text 22"/>
          <p:cNvSpPr txBox="1"/>
          <p:nvPr/>
        </p:nvSpPr>
        <p:spPr>
          <a:xfrm>
            <a:off x="6519672" y="4251960"/>
            <a:ext cx="4572000" cy="320040"/>
          </a:xfrm>
          <a:prstGeom prst="rect">
            <a:avLst/>
          </a:prstGeom>
          <a:noFill/>
          <a:ln/>
        </p:spPr>
        <p:txBody>
          <a:bodyPr wrap="square" lIns="0" tIns="0" rIns="0" bIns="0" rtlCol="0" anchor="ctr"/>
          <a:lstStyle/>
          <a:p>
            <a:pPr marL="0" indent="0">
              <a:buNone/>
            </a:pPr>
            <a:r>
              <a:rPr lang="en-US" sz="1700" b="1" dirty="0">
                <a:solidFill>
                  <a:srgbClr val="1C7293"/>
                </a:solidFill>
                <a:latin typeface="Cambria" pitchFamily="34" charset="0"/>
                <a:ea typeface="Cambria" pitchFamily="34" charset="-122"/>
                <a:cs typeface="Cambria" pitchFamily="34" charset="-120"/>
              </a:rPr>
              <a:t>Con funciones y purrr</a:t>
            </a:r>
            <a:endParaRPr lang="en-US" sz="1700" dirty="0"/>
          </a:p>
        </p:txBody>
      </p:sp>
      <p:sp>
        <p:nvSpPr>
          <p:cNvPr id="26" name="Text 23"/>
          <p:cNvSpPr txBox="1"/>
          <p:nvPr/>
        </p:nvSpPr>
        <p:spPr>
          <a:xfrm>
            <a:off x="6519672" y="4617720"/>
            <a:ext cx="4937760" cy="1097280"/>
          </a:xfrm>
          <a:prstGeom prst="rect">
            <a:avLst/>
          </a:prstGeom>
          <a:noFill/>
          <a:ln/>
        </p:spPr>
        <p:txBody>
          <a:bodyPr wrap="square" lIns="0" tIns="0" rIns="0" bIns="0" rtlCol="0" anchor="t"/>
          <a:lstStyle/>
          <a:p>
            <a:pPr marL="0" indent="0">
              <a:buNone/>
            </a:pPr>
            <a:r>
              <a:rPr lang="en-US" sz="1400" dirty="0">
                <a:solidFill>
                  <a:srgbClr val="1E2A44"/>
                </a:solidFill>
                <a:latin typeface="Calibri" pitchFamily="34" charset="0"/>
                <a:ea typeface="Calibri" pitchFamily="34" charset="-122"/>
                <a:cs typeface="Calibri" pitchFamily="34" charset="-120"/>
              </a:rPr>
              <a:t>1 función + 1 línea de iteración. El cálculo se escribe una vez y se aplica a todo.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3200400"/>
            <a:ext cx="5852160" cy="5852160"/>
          </a:xfrm>
          <a:prstGeom prst="ellipse">
            <a:avLst/>
          </a:prstGeom>
          <a:solidFill>
            <a:srgbClr val="065A82">
              <a:alpha val="75000"/>
            </a:srgbClr>
          </a:solidFill>
          <a:ln w="12700">
            <a:solidFill>
              <a:srgbClr val="065A82">
                <a:alpha val="0"/>
              </a:srgbClr>
            </a:solidFill>
            <a:prstDash val="solid"/>
          </a:ln>
        </p:spPr>
        <p:txBody>
          <a:bodyPr/>
          <a:lstStyle/>
          <a:p>
            <a:endParaRPr lang="es-CL"/>
          </a:p>
        </p:txBody>
      </p:sp>
      <p:sp>
        <p:nvSpPr>
          <p:cNvPr id="3" name="Shape 1"/>
          <p:cNvSpPr/>
          <p:nvPr/>
        </p:nvSpPr>
        <p:spPr>
          <a:xfrm>
            <a:off x="10058400" y="4389120"/>
            <a:ext cx="3108960" cy="3108960"/>
          </a:xfrm>
          <a:prstGeom prst="ellipse">
            <a:avLst/>
          </a:prstGeom>
          <a:solidFill>
            <a:srgbClr val="1C7293">
              <a:alpha val="80000"/>
            </a:srgbClr>
          </a:solidFill>
          <a:ln w="12700">
            <a:solidFill>
              <a:srgbClr val="1C7293">
                <a:alpha val="0"/>
              </a:srgbClr>
            </a:solidFill>
            <a:prstDash val="solid"/>
          </a:ln>
        </p:spPr>
        <p:txBody>
          <a:bodyPr/>
          <a:lstStyle/>
          <a:p>
            <a:endParaRPr lang="es-CL"/>
          </a:p>
        </p:txBody>
      </p:sp>
      <p:sp>
        <p:nvSpPr>
          <p:cNvPr id="4" name="Text 2"/>
          <p:cNvSpPr txBox="1"/>
          <p:nvPr/>
        </p:nvSpPr>
        <p:spPr>
          <a:xfrm>
            <a:off x="731520" y="2331720"/>
            <a:ext cx="7315200" cy="274320"/>
          </a:xfrm>
          <a:prstGeom prst="rect">
            <a:avLst/>
          </a:prstGeom>
          <a:noFill/>
          <a:ln/>
        </p:spPr>
        <p:txBody>
          <a:bodyPr wrap="square" lIns="0" tIns="0" rIns="0" bIns="0" rtlCol="0" anchor="ctr"/>
          <a:lstStyle/>
          <a:p>
            <a:pPr marL="0" indent="0">
              <a:buNone/>
            </a:pPr>
            <a:r>
              <a:rPr lang="en-US" sz="1100" b="1" kern="0" spc="300" dirty="0">
                <a:solidFill>
                  <a:srgbClr val="8FB8D8"/>
                </a:solidFill>
                <a:latin typeface="Calibri" pitchFamily="34" charset="0"/>
                <a:ea typeface="Calibri" pitchFamily="34" charset="-122"/>
                <a:cs typeface="Calibri" pitchFamily="34" charset="-120"/>
              </a:rPr>
              <a:t>PARTE 1</a:t>
            </a:r>
            <a:endParaRPr lang="en-US" sz="1100" dirty="0"/>
          </a:p>
        </p:txBody>
      </p:sp>
      <p:sp>
        <p:nvSpPr>
          <p:cNvPr id="5" name="Text 3"/>
          <p:cNvSpPr txBox="1"/>
          <p:nvPr/>
        </p:nvSpPr>
        <p:spPr>
          <a:xfrm>
            <a:off x="731520" y="2697480"/>
            <a:ext cx="91440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Funciones propias</a:t>
            </a:r>
            <a:endParaRPr lang="en-US" sz="4000" dirty="0"/>
          </a:p>
        </p:txBody>
      </p:sp>
      <p:sp>
        <p:nvSpPr>
          <p:cNvPr id="6" name="Text 4"/>
          <p:cNvSpPr txBox="1"/>
          <p:nvPr/>
        </p:nvSpPr>
        <p:spPr>
          <a:xfrm>
            <a:off x="731520" y="3611880"/>
            <a:ext cx="7772400" cy="365760"/>
          </a:xfrm>
          <a:prstGeom prst="rect">
            <a:avLst/>
          </a:prstGeom>
          <a:noFill/>
          <a:ln/>
        </p:spPr>
        <p:txBody>
          <a:bodyPr wrap="square" lIns="0" tIns="0" rIns="0" bIns="0" rtlCol="0" anchor="ctr"/>
          <a:lstStyle/>
          <a:p>
            <a:pPr marL="0" indent="0">
              <a:buNone/>
            </a:pPr>
            <a:r>
              <a:rPr lang="en-US" sz="1800" dirty="0">
                <a:solidFill>
                  <a:srgbClr val="C9DDEC"/>
                </a:solidFill>
                <a:latin typeface="Calibri" pitchFamily="34" charset="0"/>
                <a:ea typeface="Calibri" pitchFamily="34" charset="-122"/>
                <a:cs typeface="Calibri" pitchFamily="34" charset="-120"/>
              </a:rPr>
              <a:t>Escribe una vez, usa muchas veces</a:t>
            </a:r>
            <a:endParaRPr lang="en-US" sz="1800" dirty="0"/>
          </a:p>
        </p:txBody>
      </p:sp>
      <p:sp>
        <p:nvSpPr>
          <p:cNvPr id="7" name="Text 5"/>
          <p:cNvSpPr txBox="1"/>
          <p:nvPr/>
        </p:nvSpPr>
        <p:spPr>
          <a:xfrm>
            <a:off x="731520" y="4114800"/>
            <a:ext cx="7315200" cy="274320"/>
          </a:xfrm>
          <a:prstGeom prst="rect">
            <a:avLst/>
          </a:prstGeom>
          <a:noFill/>
          <a:ln/>
        </p:spPr>
        <p:txBody>
          <a:bodyPr wrap="square" lIns="0" tIns="0" rIns="0" bIns="0" rtlCol="0" anchor="ctr"/>
          <a:lstStyle/>
          <a:p>
            <a:pPr marL="0" indent="0">
              <a:buNone/>
            </a:pPr>
            <a:r>
              <a:rPr lang="en-US" sz="1300" dirty="0">
                <a:solidFill>
                  <a:srgbClr val="9DB8CE"/>
                </a:solidFill>
                <a:latin typeface="Calibri" pitchFamily="34" charset="0"/>
                <a:ea typeface="Calibri" pitchFamily="34" charset="-122"/>
                <a:cs typeface="Calibri" pitchFamily="34" charset="-120"/>
              </a:rPr>
              <a:t>20 minutos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FUNCIONES PROPIAS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Copiar y pegar produce errores silenciosos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6</a:t>
            </a:r>
            <a:endParaRPr lang="en-US" sz="800" dirty="0"/>
          </a:p>
        </p:txBody>
      </p:sp>
      <p:sp>
        <p:nvSpPr>
          <p:cNvPr id="7" name="Shape 4"/>
          <p:cNvSpPr/>
          <p:nvPr/>
        </p:nvSpPr>
        <p:spPr>
          <a:xfrm>
            <a:off x="548640" y="1463040"/>
            <a:ext cx="6949440" cy="2042160"/>
          </a:xfrm>
          <a:prstGeom prst="roundRect">
            <a:avLst>
              <a:gd name="adj" fmla="val 2687"/>
            </a:avLst>
          </a:prstGeom>
          <a:solidFill>
            <a:srgbClr val="162044"/>
          </a:solidFill>
          <a:ln w="12700">
            <a:solidFill>
              <a:srgbClr val="162044"/>
            </a:solidFill>
            <a:prstDash val="solid"/>
          </a:ln>
        </p:spPr>
        <p:txBody>
          <a:bodyPr/>
          <a:lstStyle/>
          <a:p>
            <a:endParaRPr lang="es-CL"/>
          </a:p>
        </p:txBody>
      </p:sp>
      <p:sp>
        <p:nvSpPr>
          <p:cNvPr id="8" name="Shape 5"/>
          <p:cNvSpPr/>
          <p:nvPr/>
        </p:nvSpPr>
        <p:spPr>
          <a:xfrm>
            <a:off x="621792" y="3105912"/>
            <a:ext cx="6803136" cy="216408"/>
          </a:xfrm>
          <a:prstGeom prst="rect">
            <a:avLst/>
          </a:prstGeom>
          <a:solidFill>
            <a:srgbClr val="D69E2E">
              <a:alpha val="28000"/>
            </a:srgbClr>
          </a:solidFill>
          <a:ln w="12700">
            <a:solidFill>
              <a:srgbClr val="D69E2E">
                <a:alpha val="0"/>
              </a:srgbClr>
            </a:solidFill>
            <a:prstDash val="solid"/>
          </a:ln>
        </p:spPr>
        <p:txBody>
          <a:bodyPr/>
          <a:lstStyle/>
          <a:p>
            <a:endParaRPr lang="es-CL"/>
          </a:p>
        </p:txBody>
      </p:sp>
      <p:sp>
        <p:nvSpPr>
          <p:cNvPr id="9" name="Text 6"/>
          <p:cNvSpPr txBox="1"/>
          <p:nvPr/>
        </p:nvSpPr>
        <p:spPr>
          <a:xfrm>
            <a:off x="731520" y="1591056"/>
            <a:ext cx="6583680" cy="1731264"/>
          </a:xfrm>
          <a:prstGeom prst="rect">
            <a:avLst/>
          </a:prstGeom>
          <a:noFill/>
          <a:ln/>
        </p:spPr>
        <p:txBody>
          <a:bodyPr wrap="square" lIns="0" tIns="0" rIns="0" bIns="0" rtlCol="0" anchor="t"/>
          <a:lstStyle/>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ee_sup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sd</a:t>
            </a:r>
            <a:r>
              <a:rPr lang="en-US" sz="1200" dirty="0">
                <a:solidFill>
                  <a:srgbClr val="E6EDF7"/>
                </a:solidFill>
                <a:latin typeface="Courier New" pitchFamily="34" charset="0"/>
                <a:ea typeface="Courier New" pitchFamily="34" charset="-122"/>
                <a:cs typeface="Courier New" pitchFamily="34" charset="-120"/>
              </a:rPr>
              <a:t>(encuesta$sat_supervision, na.rm = </a:t>
            </a:r>
            <a:r>
              <a:rPr lang="en-US" sz="1200" dirty="0">
                <a:solidFill>
                  <a:srgbClr val="C9B8FF"/>
                </a:solidFill>
                <a:latin typeface="Courier New" pitchFamily="34" charset="0"/>
                <a:ea typeface="Courier New" pitchFamily="34" charset="-122"/>
                <a:cs typeface="Courier New" pitchFamily="34" charset="-120"/>
              </a:rPr>
              <a:t>TRUE</a:t>
            </a: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sqrt</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7DD3FC"/>
                </a:solidFill>
                <a:latin typeface="Courier New" pitchFamily="34" charset="0"/>
                <a:ea typeface="Courier New" pitchFamily="34" charset="-122"/>
                <a:cs typeface="Courier New" pitchFamily="34" charset="-120"/>
              </a:rPr>
              <a:t>sum</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7DD3FC"/>
                </a:solidFill>
                <a:latin typeface="Courier New" pitchFamily="34" charset="0"/>
                <a:ea typeface="Courier New" pitchFamily="34" charset="-122"/>
                <a:cs typeface="Courier New" pitchFamily="34" charset="-120"/>
              </a:rPr>
              <a:t>is.na</a:t>
            </a:r>
            <a:r>
              <a:rPr lang="en-US" sz="1200" dirty="0">
                <a:solidFill>
                  <a:srgbClr val="E6EDF7"/>
                </a:solidFill>
                <a:latin typeface="Courier New" pitchFamily="34" charset="0"/>
                <a:ea typeface="Courier New" pitchFamily="34" charset="-122"/>
                <a:cs typeface="Courier New" pitchFamily="34" charset="-120"/>
              </a:rPr>
              <a:t>(encuesta$sat_supervision)))</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ee_inf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sd</a:t>
            </a:r>
            <a:r>
              <a:rPr lang="en-US" sz="1200" dirty="0">
                <a:solidFill>
                  <a:srgbClr val="E6EDF7"/>
                </a:solidFill>
                <a:latin typeface="Courier New" pitchFamily="34" charset="0"/>
                <a:ea typeface="Courier New" pitchFamily="34" charset="-122"/>
                <a:cs typeface="Courier New" pitchFamily="34" charset="-120"/>
              </a:rPr>
              <a:t>(encuesta$sat_infraestructura, na.rm = </a:t>
            </a:r>
            <a:r>
              <a:rPr lang="en-US" sz="1200" dirty="0">
                <a:solidFill>
                  <a:srgbClr val="C9B8FF"/>
                </a:solidFill>
                <a:latin typeface="Courier New" pitchFamily="34" charset="0"/>
                <a:ea typeface="Courier New" pitchFamily="34" charset="-122"/>
                <a:cs typeface="Courier New" pitchFamily="34" charset="-120"/>
              </a:rPr>
              <a:t>TRUE</a:t>
            </a: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sqrt</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7DD3FC"/>
                </a:solidFill>
                <a:latin typeface="Courier New" pitchFamily="34" charset="0"/>
                <a:ea typeface="Courier New" pitchFamily="34" charset="-122"/>
                <a:cs typeface="Courier New" pitchFamily="34" charset="-120"/>
              </a:rPr>
              <a:t>sum</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7DD3FC"/>
                </a:solidFill>
                <a:latin typeface="Courier New" pitchFamily="34" charset="0"/>
                <a:ea typeface="Courier New" pitchFamily="34" charset="-122"/>
                <a:cs typeface="Courier New" pitchFamily="34" charset="-120"/>
              </a:rPr>
              <a:t>is.na</a:t>
            </a:r>
            <a:r>
              <a:rPr lang="en-US" sz="1200" dirty="0">
                <a:solidFill>
                  <a:srgbClr val="E6EDF7"/>
                </a:solidFill>
                <a:latin typeface="Courier New" pitchFamily="34" charset="0"/>
                <a:ea typeface="Courier New" pitchFamily="34" charset="-122"/>
                <a:cs typeface="Courier New" pitchFamily="34" charset="-120"/>
              </a:rPr>
              <a:t>(encuesta$sat_infraestructura)))</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ee_fin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sd</a:t>
            </a:r>
            <a:r>
              <a:rPr lang="en-US" sz="1200" dirty="0">
                <a:solidFill>
                  <a:srgbClr val="E6EDF7"/>
                </a:solidFill>
                <a:latin typeface="Courier New" pitchFamily="34" charset="0"/>
                <a:ea typeface="Courier New" pitchFamily="34" charset="-122"/>
                <a:cs typeface="Courier New" pitchFamily="34" charset="-120"/>
              </a:rPr>
              <a:t>(encuesta$sat_financiamiento, na.rm = </a:t>
            </a:r>
            <a:r>
              <a:rPr lang="en-US" sz="1200" dirty="0">
                <a:solidFill>
                  <a:srgbClr val="C9B8FF"/>
                </a:solidFill>
                <a:latin typeface="Courier New" pitchFamily="34" charset="0"/>
                <a:ea typeface="Courier New" pitchFamily="34" charset="-122"/>
                <a:cs typeface="Courier New" pitchFamily="34" charset="-120"/>
              </a:rPr>
              <a:t>TRUE</a:t>
            </a: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sqrt</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7DD3FC"/>
                </a:solidFill>
                <a:latin typeface="Courier New" pitchFamily="34" charset="0"/>
                <a:ea typeface="Courier New" pitchFamily="34" charset="-122"/>
                <a:cs typeface="Courier New" pitchFamily="34" charset="-120"/>
              </a:rPr>
              <a:t>sum</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7DD3FC"/>
                </a:solidFill>
                <a:latin typeface="Courier New" pitchFamily="34" charset="0"/>
                <a:ea typeface="Courier New" pitchFamily="34" charset="-122"/>
                <a:cs typeface="Courier New" pitchFamily="34" charset="-120"/>
              </a:rPr>
              <a:t>is.na</a:t>
            </a:r>
            <a:r>
              <a:rPr lang="en-US" sz="1200" dirty="0">
                <a:solidFill>
                  <a:srgbClr val="E6EDF7"/>
                </a:solidFill>
                <a:latin typeface="Courier New" pitchFamily="34" charset="0"/>
                <a:ea typeface="Courier New" pitchFamily="34" charset="-122"/>
                <a:cs typeface="Courier New" pitchFamily="34" charset="-120"/>
              </a:rPr>
              <a:t>(encuesta$sat_infraestructura)))</a:t>
            </a:r>
            <a:endParaRPr lang="en-US" sz="1200" dirty="0"/>
          </a:p>
        </p:txBody>
      </p:sp>
      <p:sp>
        <p:nvSpPr>
          <p:cNvPr id="10" name="Text 7"/>
          <p:cNvSpPr txBox="1"/>
          <p:nvPr/>
        </p:nvSpPr>
        <p:spPr>
          <a:xfrm>
            <a:off x="5394960" y="3124200"/>
            <a:ext cx="2103120" cy="219456"/>
          </a:xfrm>
          <a:prstGeom prst="rect">
            <a:avLst/>
          </a:prstGeom>
          <a:noFill/>
          <a:ln/>
        </p:spPr>
        <p:txBody>
          <a:bodyPr wrap="square" lIns="0" tIns="0" rIns="0" bIns="0" rtlCol="0" anchor="ctr"/>
          <a:lstStyle/>
          <a:p>
            <a:pPr marL="0" indent="0">
              <a:buNone/>
            </a:pPr>
            <a:r>
              <a:rPr lang="en-US" sz="1200" b="1" dirty="0">
                <a:solidFill>
                  <a:srgbClr val="B7791F"/>
                </a:solidFill>
                <a:latin typeface="Calibri" pitchFamily="34" charset="0"/>
                <a:ea typeface="Calibri" pitchFamily="34" charset="-122"/>
                <a:cs typeface="Calibri" pitchFamily="34" charset="-120"/>
              </a:rPr>
              <a:t>← ¿dónde está el error?</a:t>
            </a:r>
            <a:endParaRPr lang="en-US" sz="1200" dirty="0"/>
          </a:p>
        </p:txBody>
      </p:sp>
      <p:sp>
        <p:nvSpPr>
          <p:cNvPr id="11" name="Shape 8"/>
          <p:cNvSpPr/>
          <p:nvPr/>
        </p:nvSpPr>
        <p:spPr>
          <a:xfrm>
            <a:off x="548640" y="3825240"/>
            <a:ext cx="6949440" cy="777240"/>
          </a:xfrm>
          <a:prstGeom prst="rect">
            <a:avLst/>
          </a:prstGeom>
          <a:solidFill>
            <a:srgbClr val="E4EEF2"/>
          </a:solidFill>
          <a:ln w="12700">
            <a:solidFill>
              <a:srgbClr val="E4EEF2"/>
            </a:solidFill>
            <a:prstDash val="solid"/>
          </a:ln>
        </p:spPr>
        <p:txBody>
          <a:bodyPr/>
          <a:lstStyle/>
          <a:p>
            <a:endParaRPr lang="es-CL"/>
          </a:p>
        </p:txBody>
      </p:sp>
      <p:sp>
        <p:nvSpPr>
          <p:cNvPr id="12" name="Shape 9"/>
          <p:cNvSpPr/>
          <p:nvPr/>
        </p:nvSpPr>
        <p:spPr>
          <a:xfrm>
            <a:off x="548640" y="3825240"/>
            <a:ext cx="64008" cy="777240"/>
          </a:xfrm>
          <a:prstGeom prst="rect">
            <a:avLst/>
          </a:prstGeom>
          <a:solidFill>
            <a:srgbClr val="1C7293"/>
          </a:solidFill>
          <a:ln w="12700">
            <a:solidFill>
              <a:srgbClr val="1C7293"/>
            </a:solidFill>
            <a:prstDash val="solid"/>
          </a:ln>
        </p:spPr>
        <p:txBody>
          <a:bodyPr/>
          <a:lstStyle/>
          <a:p>
            <a:endParaRPr lang="es-CL"/>
          </a:p>
        </p:txBody>
      </p:sp>
      <p:sp>
        <p:nvSpPr>
          <p:cNvPr id="13" name="Text 10"/>
          <p:cNvSpPr txBox="1"/>
          <p:nvPr/>
        </p:nvSpPr>
        <p:spPr>
          <a:xfrm>
            <a:off x="749808" y="3825240"/>
            <a:ext cx="6629400" cy="777240"/>
          </a:xfrm>
          <a:prstGeom prst="rect">
            <a:avLst/>
          </a:prstGeom>
          <a:noFill/>
          <a:ln/>
        </p:spPr>
        <p:txBody>
          <a:bodyPr wrap="square" lIns="0" tIns="0" rIns="0" bIns="0" rtlCol="0" anchor="ctr"/>
          <a:lstStyle/>
          <a:p>
            <a:pPr marL="0" indent="0">
              <a:buNone/>
            </a:pPr>
            <a:r>
              <a:rPr lang="en-US" sz="1400" b="1" dirty="0">
                <a:solidFill>
                  <a:srgbClr val="1E2A44"/>
                </a:solidFill>
                <a:latin typeface="Calibri" pitchFamily="34" charset="0"/>
                <a:ea typeface="Calibri" pitchFamily="34" charset="-122"/>
                <a:cs typeface="Calibri" pitchFamily="34" charset="-120"/>
              </a:rPr>
              <a:t>Regla de las tres copias: si copias un bloque tres veces, conviértelo en una función.</a:t>
            </a:r>
            <a:endParaRPr lang="en-US" sz="1400" dirty="0"/>
          </a:p>
        </p:txBody>
      </p:sp>
      <p:sp>
        <p:nvSpPr>
          <p:cNvPr id="14" name="Shape 11"/>
          <p:cNvSpPr/>
          <p:nvPr/>
        </p:nvSpPr>
        <p:spPr>
          <a:xfrm>
            <a:off x="7863840" y="1463040"/>
            <a:ext cx="3776472" cy="3657600"/>
          </a:xfrm>
          <a:prstGeom prst="roundRect">
            <a:avLst>
              <a:gd name="adj" fmla="val 1750"/>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5" name="Text 12"/>
          <p:cNvSpPr txBox="1"/>
          <p:nvPr/>
        </p:nvSpPr>
        <p:spPr>
          <a:xfrm>
            <a:off x="8092440" y="1645920"/>
            <a:ext cx="329184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LO QUE MUESTRA R</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092440" y="1965960"/>
          <a:ext cx="3200400" cy="1645920"/>
        </p:xfrm>
        <a:graphic>
          <a:graphicData uri="http://schemas.openxmlformats.org/drawingml/2006/table">
            <a:tbl>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Cálculo</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Valor</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29184">
                <a:tc>
                  <a:txBody>
                    <a:bodyPr/>
                    <a:lstStyle/>
                    <a:p>
                      <a:pPr marL="0" indent="0" algn="l">
                        <a:buNone/>
                      </a:pPr>
                      <a:r>
                        <a:rPr lang="en-US" sz="1000" dirty="0">
                          <a:solidFill>
                            <a:srgbClr val="065A82"/>
                          </a:solidFill>
                          <a:latin typeface="Courier New" pitchFamily="34" charset="0"/>
                          <a:ea typeface="Courier New" pitchFamily="34" charset="-122"/>
                          <a:cs typeface="Courier New" pitchFamily="34" charset="-120"/>
                        </a:rPr>
                        <a:t>ee_sup</a:t>
                      </a:r>
                      <a:endParaRPr lang="en-US" sz="10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44"/>
                          </a:solidFill>
                          <a:latin typeface="Calibri" pitchFamily="34" charset="0"/>
                          <a:ea typeface="Calibri" pitchFamily="34" charset="-122"/>
                          <a:cs typeface="Calibri" pitchFamily="34" charset="-120"/>
                        </a:rPr>
                        <a:t>0.0759</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000" dirty="0">
                          <a:solidFill>
                            <a:srgbClr val="065A82"/>
                          </a:solidFill>
                          <a:latin typeface="Courier New" pitchFamily="34" charset="0"/>
                          <a:ea typeface="Courier New" pitchFamily="34" charset="-122"/>
                          <a:cs typeface="Courier New" pitchFamily="34" charset="-120"/>
                        </a:rPr>
                        <a:t>ee_inf</a:t>
                      </a:r>
                      <a:endParaRPr lang="en-US" sz="10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100" dirty="0">
                          <a:solidFill>
                            <a:srgbClr val="1E2A44"/>
                          </a:solidFill>
                          <a:latin typeface="Calibri" pitchFamily="34" charset="0"/>
                          <a:ea typeface="Calibri" pitchFamily="34" charset="-122"/>
                          <a:cs typeface="Calibri" pitchFamily="34" charset="-120"/>
                        </a:rPr>
                        <a:t>0.0873</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329184">
                <a:tc>
                  <a:txBody>
                    <a:bodyPr/>
                    <a:lstStyle/>
                    <a:p>
                      <a:pPr marL="0" indent="0" algn="l">
                        <a:buNone/>
                      </a:pPr>
                      <a:r>
                        <a:rPr lang="en-US" sz="1000" dirty="0">
                          <a:solidFill>
                            <a:srgbClr val="8A5A00"/>
                          </a:solidFill>
                          <a:latin typeface="Courier New" pitchFamily="34" charset="0"/>
                          <a:ea typeface="Courier New" pitchFamily="34" charset="-122"/>
                          <a:cs typeface="Courier New" pitchFamily="34" charset="-120"/>
                        </a:rPr>
                        <a:t>ee_fin (con error)</a:t>
                      </a:r>
                      <a:endParaRPr lang="en-US" sz="10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9E3B4"/>
                    </a:solidFill>
                  </a:tcPr>
                </a:tc>
                <a:tc>
                  <a:txBody>
                    <a:bodyPr/>
                    <a:lstStyle/>
                    <a:p>
                      <a:pPr marL="0" indent="0" algn="r">
                        <a:buNone/>
                      </a:pPr>
                      <a:r>
                        <a:rPr lang="en-US" sz="1100" dirty="0">
                          <a:solidFill>
                            <a:srgbClr val="8A5A00"/>
                          </a:solidFill>
                          <a:latin typeface="Calibri" pitchFamily="34" charset="0"/>
                          <a:ea typeface="Calibri" pitchFamily="34" charset="-122"/>
                          <a:cs typeface="Calibri" pitchFamily="34" charset="-120"/>
                        </a:rPr>
                        <a:t>0.0828</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9E3B4"/>
                    </a:solidFill>
                  </a:tcPr>
                </a:tc>
                <a:extLst>
                  <a:ext uri="{0D108BD9-81ED-4DB2-BD59-A6C34878D82A}">
                    <a16:rowId xmlns:a16="http://schemas.microsoft.com/office/drawing/2014/main" val="10003"/>
                  </a:ext>
                </a:extLst>
              </a:tr>
              <a:tr h="329184">
                <a:tc>
                  <a:txBody>
                    <a:bodyPr/>
                    <a:lstStyle/>
                    <a:p>
                      <a:pPr marL="0" indent="0" algn="l">
                        <a:buNone/>
                      </a:pPr>
                      <a:r>
                        <a:rPr lang="en-US" sz="1000" dirty="0">
                          <a:solidFill>
                            <a:srgbClr val="065A82"/>
                          </a:solidFill>
                          <a:latin typeface="Courier New" pitchFamily="34" charset="0"/>
                          <a:ea typeface="Courier New" pitchFamily="34" charset="-122"/>
                          <a:cs typeface="Courier New" pitchFamily="34" charset="-120"/>
                        </a:rPr>
                        <a:t>ee_fin (correcto)</a:t>
                      </a:r>
                      <a:endParaRPr lang="en-US" sz="10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100" dirty="0">
                          <a:solidFill>
                            <a:srgbClr val="1E2A44"/>
                          </a:solidFill>
                          <a:latin typeface="Calibri" pitchFamily="34" charset="0"/>
                          <a:ea typeface="Calibri" pitchFamily="34" charset="-122"/>
                          <a:cs typeface="Calibri" pitchFamily="34" charset="-120"/>
                        </a:rPr>
                        <a:t>0.0846</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4"/>
                  </a:ext>
                </a:extLst>
              </a:tr>
            </a:tbl>
          </a:graphicData>
        </a:graphic>
      </p:graphicFrame>
      <p:sp>
        <p:nvSpPr>
          <p:cNvPr id="17" name="Text 13"/>
          <p:cNvSpPr txBox="1"/>
          <p:nvPr/>
        </p:nvSpPr>
        <p:spPr>
          <a:xfrm>
            <a:off x="8092440" y="3886200"/>
            <a:ext cx="3383280" cy="1097280"/>
          </a:xfrm>
          <a:prstGeom prst="rect">
            <a:avLst/>
          </a:prstGeom>
          <a:noFill/>
          <a:ln/>
        </p:spPr>
        <p:txBody>
          <a:bodyPr wrap="square" lIns="0" tIns="0" rIns="0" bIns="0" rtlCol="0" anchor="t"/>
          <a:lstStyle/>
          <a:p>
            <a:pPr marL="0" indent="0">
              <a:buNone/>
            </a:pPr>
            <a:r>
              <a:rPr lang="en-US" sz="1200" i="1" dirty="0">
                <a:solidFill>
                  <a:srgbClr val="5B6B7F"/>
                </a:solidFill>
                <a:latin typeface="Calibri" pitchFamily="34" charset="0"/>
                <a:ea typeface="Calibri" pitchFamily="34" charset="-122"/>
                <a:cs typeface="Calibri" pitchFamily="34" charset="-120"/>
              </a:rPr>
              <a:t>El error no genera ningún aviso: el resultado parece razonable y podría terminar en una tabla publicada.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FUNCIONES PROPIAS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Anatomía de una función</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7</a:t>
            </a:r>
            <a:endParaRPr lang="en-US" sz="800" dirty="0"/>
          </a:p>
        </p:txBody>
      </p:sp>
      <p:sp>
        <p:nvSpPr>
          <p:cNvPr id="7" name="Shape 4"/>
          <p:cNvSpPr/>
          <p:nvPr/>
        </p:nvSpPr>
        <p:spPr>
          <a:xfrm>
            <a:off x="548640" y="1463040"/>
            <a:ext cx="11091672" cy="1320800"/>
          </a:xfrm>
          <a:prstGeom prst="roundRect">
            <a:avLst>
              <a:gd name="adj" fmla="val 4154"/>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10725912" cy="1009904"/>
          </a:xfrm>
          <a:prstGeom prst="rect">
            <a:avLst/>
          </a:prstGeom>
          <a:noFill/>
          <a:ln/>
        </p:spPr>
        <p:txBody>
          <a:bodyPr wrap="square" lIns="0" tIns="0" rIns="0" bIns="0" rtlCol="0" anchor="t"/>
          <a:lstStyle/>
          <a:p>
            <a:pPr marL="0" indent="0">
              <a:lnSpc>
                <a:spcPts val="1988"/>
              </a:lnSpc>
              <a:buNone/>
            </a:pPr>
            <a:r>
              <a:rPr lang="en-US" sz="1400" dirty="0">
                <a:solidFill>
                  <a:srgbClr val="E6EDF7"/>
                </a:solidFill>
                <a:latin typeface="Courier New" pitchFamily="34" charset="0"/>
                <a:ea typeface="Courier New" pitchFamily="34" charset="-122"/>
                <a:cs typeface="Courier New" pitchFamily="34" charset="-120"/>
              </a:rPr>
              <a:t>nombre </a:t>
            </a:r>
            <a:r>
              <a:rPr lang="en-US" sz="1400" dirty="0">
                <a:solidFill>
                  <a:srgbClr val="A5D8FF"/>
                </a:solidFill>
                <a:latin typeface="Courier New" pitchFamily="34" charset="0"/>
                <a:ea typeface="Courier New" pitchFamily="34" charset="-122"/>
                <a:cs typeface="Courier New" pitchFamily="34" charset="-120"/>
              </a:rPr>
              <a:t>&lt;-</a:t>
            </a:r>
            <a:r>
              <a:rPr lang="en-US" sz="1400" dirty="0">
                <a:solidFill>
                  <a:srgbClr val="E6EDF7"/>
                </a:solidFill>
                <a:latin typeface="Courier New" pitchFamily="34" charset="0"/>
                <a:ea typeface="Courier New" pitchFamily="34" charset="-122"/>
                <a:cs typeface="Courier New" pitchFamily="34" charset="-120"/>
              </a:rPr>
              <a:t> </a:t>
            </a:r>
            <a:r>
              <a:rPr lang="en-US" sz="1400" dirty="0">
                <a:solidFill>
                  <a:srgbClr val="C9B8FF"/>
                </a:solidFill>
                <a:latin typeface="Courier New" pitchFamily="34" charset="0"/>
                <a:ea typeface="Courier New" pitchFamily="34" charset="-122"/>
                <a:cs typeface="Courier New" pitchFamily="34" charset="-120"/>
              </a:rPr>
              <a:t>function</a:t>
            </a:r>
            <a:r>
              <a:rPr lang="en-US" sz="1400" dirty="0">
                <a:solidFill>
                  <a:srgbClr val="E6EDF7"/>
                </a:solidFill>
                <a:latin typeface="Courier New" pitchFamily="34" charset="0"/>
                <a:ea typeface="Courier New" pitchFamily="34" charset="-122"/>
                <a:cs typeface="Courier New" pitchFamily="34" charset="-120"/>
              </a:rPr>
              <a:t>(arg1, arg2 = valor_por_defecto) {</a:t>
            </a:r>
            <a:endParaRPr lang="en-US" sz="1400" dirty="0"/>
          </a:p>
          <a:p>
            <a:pPr marL="0" indent="0">
              <a:lnSpc>
                <a:spcPts val="1988"/>
              </a:lnSpc>
              <a:buNone/>
            </a:pPr>
            <a:r>
              <a:rPr lang="en-US" sz="1400" dirty="0">
                <a:solidFill>
                  <a:srgbClr val="E6EDF7"/>
                </a:solidFill>
                <a:latin typeface="Courier New" pitchFamily="34" charset="0"/>
                <a:ea typeface="Courier New" pitchFamily="34" charset="-122"/>
                <a:cs typeface="Courier New" pitchFamily="34" charset="-120"/>
              </a:rPr>
              <a:t>  </a:t>
            </a:r>
            <a:r>
              <a:rPr lang="en-US" sz="1400" i="1" dirty="0">
                <a:solidFill>
                  <a:srgbClr val="8196BC"/>
                </a:solidFill>
                <a:latin typeface="Courier New" pitchFamily="34" charset="0"/>
                <a:ea typeface="Courier New" pitchFamily="34" charset="-122"/>
                <a:cs typeface="Courier New" pitchFamily="34" charset="-120"/>
              </a:rPr>
              <a:t># cuerpo: lo que hace la función</a:t>
            </a:r>
            <a:endParaRPr lang="en-US" sz="1400" dirty="0"/>
          </a:p>
          <a:p>
            <a:pPr marL="0" indent="0">
              <a:lnSpc>
                <a:spcPts val="1988"/>
              </a:lnSpc>
              <a:buNone/>
            </a:pPr>
            <a:r>
              <a:rPr lang="en-US" sz="1400" dirty="0">
                <a:solidFill>
                  <a:srgbClr val="E6EDF7"/>
                </a:solidFill>
                <a:latin typeface="Courier New" pitchFamily="34" charset="0"/>
                <a:ea typeface="Courier New" pitchFamily="34" charset="-122"/>
                <a:cs typeface="Courier New" pitchFamily="34" charset="-120"/>
              </a:rPr>
              <a:t>  resultado   </a:t>
            </a:r>
            <a:r>
              <a:rPr lang="en-US" sz="1400" i="1" dirty="0">
                <a:solidFill>
                  <a:srgbClr val="8196BC"/>
                </a:solidFill>
                <a:latin typeface="Courier New" pitchFamily="34" charset="0"/>
                <a:ea typeface="Courier New" pitchFamily="34" charset="-122"/>
                <a:cs typeface="Courier New" pitchFamily="34" charset="-120"/>
              </a:rPr>
              <a:t># la última expresión evaluada es lo que se devuelve</a:t>
            </a:r>
            <a:endParaRPr lang="en-US" sz="1400" dirty="0"/>
          </a:p>
          <a:p>
            <a:pPr marL="0" indent="0">
              <a:lnSpc>
                <a:spcPts val="1988"/>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9" name="Shape 6"/>
          <p:cNvSpPr/>
          <p:nvPr/>
        </p:nvSpPr>
        <p:spPr>
          <a:xfrm>
            <a:off x="548640" y="3429000"/>
            <a:ext cx="2651760" cy="2011680"/>
          </a:xfrm>
          <a:prstGeom prst="roundRect">
            <a:avLst>
              <a:gd name="adj" fmla="val 318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0" name="Shape 7"/>
          <p:cNvSpPr/>
          <p:nvPr/>
        </p:nvSpPr>
        <p:spPr>
          <a:xfrm>
            <a:off x="777240" y="3639312"/>
            <a:ext cx="411480" cy="411480"/>
          </a:xfrm>
          <a:prstGeom prst="ellipse">
            <a:avLst/>
          </a:prstGeom>
          <a:solidFill>
            <a:srgbClr val="21295C"/>
          </a:solidFill>
          <a:ln w="12700">
            <a:solidFill>
              <a:srgbClr val="21295C"/>
            </a:solidFill>
            <a:prstDash val="solid"/>
          </a:ln>
        </p:spPr>
        <p:txBody>
          <a:bodyPr/>
          <a:lstStyle/>
          <a:p>
            <a:endParaRPr lang="es-CL"/>
          </a:p>
        </p:txBody>
      </p:sp>
      <p:sp>
        <p:nvSpPr>
          <p:cNvPr id="11" name="Text 8"/>
          <p:cNvSpPr txBox="1"/>
          <p:nvPr/>
        </p:nvSpPr>
        <p:spPr>
          <a:xfrm>
            <a:off x="777240" y="363931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777240" y="4206240"/>
            <a:ext cx="2286000" cy="365760"/>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Nombre</a:t>
            </a:r>
            <a:endParaRPr lang="en-US" sz="1600" dirty="0"/>
          </a:p>
        </p:txBody>
      </p:sp>
      <p:sp>
        <p:nvSpPr>
          <p:cNvPr id="13" name="Text 10"/>
          <p:cNvSpPr txBox="1"/>
          <p:nvPr/>
        </p:nvSpPr>
        <p:spPr>
          <a:xfrm>
            <a:off x="777240" y="4617720"/>
            <a:ext cx="2240280" cy="105156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Un verbo o una descripción clara: error_estandar(), leer_ola().</a:t>
            </a:r>
            <a:endParaRPr lang="en-US" sz="1250" dirty="0"/>
          </a:p>
        </p:txBody>
      </p:sp>
      <p:sp>
        <p:nvSpPr>
          <p:cNvPr id="14" name="Shape 11"/>
          <p:cNvSpPr/>
          <p:nvPr/>
        </p:nvSpPr>
        <p:spPr>
          <a:xfrm>
            <a:off x="3346704" y="3429000"/>
            <a:ext cx="2651760" cy="2011680"/>
          </a:xfrm>
          <a:prstGeom prst="roundRect">
            <a:avLst>
              <a:gd name="adj" fmla="val 318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5" name="Shape 12"/>
          <p:cNvSpPr/>
          <p:nvPr/>
        </p:nvSpPr>
        <p:spPr>
          <a:xfrm>
            <a:off x="3575304" y="3639312"/>
            <a:ext cx="411480" cy="411480"/>
          </a:xfrm>
          <a:prstGeom prst="ellipse">
            <a:avLst/>
          </a:prstGeom>
          <a:solidFill>
            <a:srgbClr val="065A82"/>
          </a:solidFill>
          <a:ln w="12700">
            <a:solidFill>
              <a:srgbClr val="065A82"/>
            </a:solidFill>
            <a:prstDash val="solid"/>
          </a:ln>
        </p:spPr>
        <p:txBody>
          <a:bodyPr/>
          <a:lstStyle/>
          <a:p>
            <a:endParaRPr lang="es-CL"/>
          </a:p>
        </p:txBody>
      </p:sp>
      <p:sp>
        <p:nvSpPr>
          <p:cNvPr id="16" name="Text 13"/>
          <p:cNvSpPr txBox="1"/>
          <p:nvPr/>
        </p:nvSpPr>
        <p:spPr>
          <a:xfrm>
            <a:off x="3575304" y="363931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4"/>
          <p:cNvSpPr txBox="1"/>
          <p:nvPr/>
        </p:nvSpPr>
        <p:spPr>
          <a:xfrm>
            <a:off x="3575304" y="4206240"/>
            <a:ext cx="2286000" cy="365760"/>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Argumentos</a:t>
            </a:r>
            <a:endParaRPr lang="en-US" sz="1600" dirty="0"/>
          </a:p>
        </p:txBody>
      </p:sp>
      <p:sp>
        <p:nvSpPr>
          <p:cNvPr id="18" name="Text 15"/>
          <p:cNvSpPr txBox="1"/>
          <p:nvPr/>
        </p:nvSpPr>
        <p:spPr>
          <a:xfrm>
            <a:off x="3575304" y="4617720"/>
            <a:ext cx="2240280" cy="105156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Lo que cambia de un uso a otro. Pueden tener un valor por defecto.</a:t>
            </a:r>
            <a:endParaRPr lang="en-US" sz="1250" dirty="0"/>
          </a:p>
        </p:txBody>
      </p:sp>
      <p:sp>
        <p:nvSpPr>
          <p:cNvPr id="19" name="Shape 16"/>
          <p:cNvSpPr/>
          <p:nvPr/>
        </p:nvSpPr>
        <p:spPr>
          <a:xfrm>
            <a:off x="6144768" y="3429000"/>
            <a:ext cx="2651760" cy="2011680"/>
          </a:xfrm>
          <a:prstGeom prst="roundRect">
            <a:avLst>
              <a:gd name="adj" fmla="val 318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0" name="Shape 17"/>
          <p:cNvSpPr/>
          <p:nvPr/>
        </p:nvSpPr>
        <p:spPr>
          <a:xfrm>
            <a:off x="6373368" y="3639312"/>
            <a:ext cx="411480" cy="411480"/>
          </a:xfrm>
          <a:prstGeom prst="ellipse">
            <a:avLst/>
          </a:prstGeom>
          <a:solidFill>
            <a:srgbClr val="1C7293"/>
          </a:solidFill>
          <a:ln w="12700">
            <a:solidFill>
              <a:srgbClr val="1C7293"/>
            </a:solidFill>
            <a:prstDash val="solid"/>
          </a:ln>
        </p:spPr>
        <p:txBody>
          <a:bodyPr/>
          <a:lstStyle/>
          <a:p>
            <a:endParaRPr lang="es-CL"/>
          </a:p>
        </p:txBody>
      </p:sp>
      <p:sp>
        <p:nvSpPr>
          <p:cNvPr id="21" name="Text 18"/>
          <p:cNvSpPr txBox="1"/>
          <p:nvPr/>
        </p:nvSpPr>
        <p:spPr>
          <a:xfrm>
            <a:off x="6373368" y="363931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9"/>
          <p:cNvSpPr txBox="1"/>
          <p:nvPr/>
        </p:nvSpPr>
        <p:spPr>
          <a:xfrm>
            <a:off x="6373368" y="4206240"/>
            <a:ext cx="2286000" cy="365760"/>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Cuerpo</a:t>
            </a:r>
            <a:endParaRPr lang="en-US" sz="1600" dirty="0"/>
          </a:p>
        </p:txBody>
      </p:sp>
      <p:sp>
        <p:nvSpPr>
          <p:cNvPr id="23" name="Text 20"/>
          <p:cNvSpPr txBox="1"/>
          <p:nvPr/>
        </p:nvSpPr>
        <p:spPr>
          <a:xfrm>
            <a:off x="6373368" y="4617720"/>
            <a:ext cx="2240280" cy="105156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Lo que la función hace, entre llaves { }.</a:t>
            </a:r>
            <a:endParaRPr lang="en-US" sz="1250" dirty="0"/>
          </a:p>
        </p:txBody>
      </p:sp>
      <p:sp>
        <p:nvSpPr>
          <p:cNvPr id="24" name="Shape 21"/>
          <p:cNvSpPr/>
          <p:nvPr/>
        </p:nvSpPr>
        <p:spPr>
          <a:xfrm>
            <a:off x="8942832" y="3429000"/>
            <a:ext cx="2651760" cy="2011680"/>
          </a:xfrm>
          <a:prstGeom prst="roundRect">
            <a:avLst>
              <a:gd name="adj" fmla="val 318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5" name="Shape 22"/>
          <p:cNvSpPr/>
          <p:nvPr/>
        </p:nvSpPr>
        <p:spPr>
          <a:xfrm>
            <a:off x="9171432" y="3639312"/>
            <a:ext cx="411480" cy="411480"/>
          </a:xfrm>
          <a:prstGeom prst="ellipse">
            <a:avLst/>
          </a:prstGeom>
          <a:solidFill>
            <a:srgbClr val="2F8F6B"/>
          </a:solidFill>
          <a:ln w="12700">
            <a:solidFill>
              <a:srgbClr val="2F8F6B"/>
            </a:solidFill>
            <a:prstDash val="solid"/>
          </a:ln>
        </p:spPr>
        <p:txBody>
          <a:bodyPr/>
          <a:lstStyle/>
          <a:p>
            <a:endParaRPr lang="es-CL"/>
          </a:p>
        </p:txBody>
      </p:sp>
      <p:sp>
        <p:nvSpPr>
          <p:cNvPr id="26" name="Text 23"/>
          <p:cNvSpPr txBox="1"/>
          <p:nvPr/>
        </p:nvSpPr>
        <p:spPr>
          <a:xfrm>
            <a:off x="9171432" y="363931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4"/>
          <p:cNvSpPr txBox="1"/>
          <p:nvPr/>
        </p:nvSpPr>
        <p:spPr>
          <a:xfrm>
            <a:off x="9171432" y="4206240"/>
            <a:ext cx="2286000" cy="365760"/>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Valor devuelto</a:t>
            </a:r>
            <a:endParaRPr lang="en-US" sz="1600" dirty="0"/>
          </a:p>
        </p:txBody>
      </p:sp>
      <p:sp>
        <p:nvSpPr>
          <p:cNvPr id="28" name="Text 25"/>
          <p:cNvSpPr txBox="1"/>
          <p:nvPr/>
        </p:nvSpPr>
        <p:spPr>
          <a:xfrm>
            <a:off x="9171432" y="4617720"/>
            <a:ext cx="2240280" cy="105156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La última expresión evaluada. return() casi nunca hace falta.</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FUNCIONES PROPIAS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Tu primera función: error_estandar()</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8</a:t>
            </a:r>
            <a:endParaRPr lang="en-US" sz="800" dirty="0"/>
          </a:p>
        </p:txBody>
      </p:sp>
      <p:sp>
        <p:nvSpPr>
          <p:cNvPr id="7" name="Shape 4"/>
          <p:cNvSpPr/>
          <p:nvPr/>
        </p:nvSpPr>
        <p:spPr>
          <a:xfrm>
            <a:off x="548640" y="1463040"/>
            <a:ext cx="6400800" cy="1248664"/>
          </a:xfrm>
          <a:prstGeom prst="roundRect">
            <a:avLst>
              <a:gd name="adj" fmla="val 4394"/>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6035040" cy="937768"/>
          </a:xfrm>
          <a:prstGeom prst="rect">
            <a:avLst/>
          </a:prstGeom>
          <a:noFill/>
          <a:ln/>
        </p:spPr>
        <p:txBody>
          <a:bodyPr wrap="square" lIns="0" tIns="0" rIns="0" bIns="0" rtlCol="0" anchor="t"/>
          <a:lstStyle/>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error_estandar </a:t>
            </a:r>
            <a:r>
              <a:rPr lang="en-US" sz="1300" dirty="0">
                <a:solidFill>
                  <a:srgbClr val="A5D8FF"/>
                </a:solidFill>
                <a:latin typeface="Courier New" pitchFamily="34" charset="0"/>
                <a:ea typeface="Courier New" pitchFamily="34" charset="-122"/>
                <a:cs typeface="Courier New" pitchFamily="34" charset="-120"/>
              </a:rPr>
              <a:t>&lt;-</a:t>
            </a: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C9B8FF"/>
                </a:solidFill>
                <a:latin typeface="Courier New" pitchFamily="34" charset="0"/>
                <a:ea typeface="Courier New" pitchFamily="34" charset="-122"/>
                <a:cs typeface="Courier New" pitchFamily="34" charset="-120"/>
              </a:rPr>
              <a:t>function</a:t>
            </a:r>
            <a:r>
              <a:rPr lang="en-US" sz="1300" dirty="0">
                <a:solidFill>
                  <a:srgbClr val="E6EDF7"/>
                </a:solidFill>
                <a:latin typeface="Courier New" pitchFamily="34" charset="0"/>
                <a:ea typeface="Courier New" pitchFamily="34" charset="-122"/>
                <a:cs typeface="Courier New" pitchFamily="34" charset="-120"/>
              </a:rPr>
              <a:t>(x, na.rm = </a:t>
            </a:r>
            <a:r>
              <a:rPr lang="en-US" sz="1300" dirty="0">
                <a:solidFill>
                  <a:srgbClr val="C9B8FF"/>
                </a:solidFill>
                <a:latin typeface="Courier New" pitchFamily="34" charset="0"/>
                <a:ea typeface="Courier New" pitchFamily="34" charset="-122"/>
                <a:cs typeface="Courier New" pitchFamily="34" charset="-120"/>
              </a:rPr>
              <a:t>TRUE</a:t>
            </a: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C9B8FF"/>
                </a:solidFill>
                <a:latin typeface="Courier New" pitchFamily="34" charset="0"/>
                <a:ea typeface="Courier New" pitchFamily="34" charset="-122"/>
                <a:cs typeface="Courier New" pitchFamily="34" charset="-120"/>
              </a:rPr>
              <a:t>if</a:t>
            </a:r>
            <a:r>
              <a:rPr lang="en-US" sz="1300" dirty="0">
                <a:solidFill>
                  <a:srgbClr val="E6EDF7"/>
                </a:solidFill>
                <a:latin typeface="Courier New" pitchFamily="34" charset="0"/>
                <a:ea typeface="Courier New" pitchFamily="34" charset="-122"/>
                <a:cs typeface="Courier New" pitchFamily="34" charset="-120"/>
              </a:rPr>
              <a:t> (na.rm) x </a:t>
            </a:r>
            <a:r>
              <a:rPr lang="en-US" sz="1300" dirty="0">
                <a:solidFill>
                  <a:srgbClr val="A5D8FF"/>
                </a:solidFill>
                <a:latin typeface="Courier New" pitchFamily="34" charset="0"/>
                <a:ea typeface="Courier New" pitchFamily="34" charset="-122"/>
                <a:cs typeface="Courier New" pitchFamily="34" charset="-120"/>
              </a:rPr>
              <a:t>&lt;-</a:t>
            </a:r>
            <a:r>
              <a:rPr lang="en-US" sz="1300" dirty="0">
                <a:solidFill>
                  <a:srgbClr val="E6EDF7"/>
                </a:solidFill>
                <a:latin typeface="Courier New" pitchFamily="34" charset="0"/>
                <a:ea typeface="Courier New" pitchFamily="34" charset="-122"/>
                <a:cs typeface="Courier New" pitchFamily="34" charset="-120"/>
              </a:rPr>
              <a:t> x[!</a:t>
            </a:r>
            <a:r>
              <a:rPr lang="en-US" sz="1300" dirty="0">
                <a:solidFill>
                  <a:srgbClr val="7DD3FC"/>
                </a:solidFill>
                <a:latin typeface="Courier New" pitchFamily="34" charset="0"/>
                <a:ea typeface="Courier New" pitchFamily="34" charset="-122"/>
                <a:cs typeface="Courier New" pitchFamily="34" charset="-120"/>
              </a:rPr>
              <a:t>is.na</a:t>
            </a:r>
            <a:r>
              <a:rPr lang="en-US" sz="1300" dirty="0">
                <a:solidFill>
                  <a:srgbClr val="E6EDF7"/>
                </a:solidFill>
                <a:latin typeface="Courier New" pitchFamily="34" charset="0"/>
                <a:ea typeface="Courier New" pitchFamily="34" charset="-122"/>
                <a:cs typeface="Courier New" pitchFamily="34" charset="-120"/>
              </a:rPr>
              <a:t>(x)]</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7DD3FC"/>
                </a:solidFill>
                <a:latin typeface="Courier New" pitchFamily="34" charset="0"/>
                <a:ea typeface="Courier New" pitchFamily="34" charset="-122"/>
                <a:cs typeface="Courier New" pitchFamily="34" charset="-120"/>
              </a:rPr>
              <a:t>sd</a:t>
            </a:r>
            <a:r>
              <a:rPr lang="en-US" sz="1300" dirty="0">
                <a:solidFill>
                  <a:srgbClr val="E6EDF7"/>
                </a:solidFill>
                <a:latin typeface="Courier New" pitchFamily="34" charset="0"/>
                <a:ea typeface="Courier New" pitchFamily="34" charset="-122"/>
                <a:cs typeface="Courier New" pitchFamily="34" charset="-120"/>
              </a:rPr>
              <a:t>(x) / </a:t>
            </a:r>
            <a:r>
              <a:rPr lang="en-US" sz="1300" dirty="0">
                <a:solidFill>
                  <a:srgbClr val="7DD3FC"/>
                </a:solidFill>
                <a:latin typeface="Courier New" pitchFamily="34" charset="0"/>
                <a:ea typeface="Courier New" pitchFamily="34" charset="-122"/>
                <a:cs typeface="Courier New" pitchFamily="34" charset="-120"/>
              </a:rPr>
              <a:t>sqrt</a:t>
            </a:r>
            <a:r>
              <a:rPr lang="en-US" sz="1300" dirty="0">
                <a:solidFill>
                  <a:srgbClr val="E6EDF7"/>
                </a:solidFill>
                <a:latin typeface="Courier New" pitchFamily="34" charset="0"/>
                <a:ea typeface="Courier New" pitchFamily="34" charset="-122"/>
                <a:cs typeface="Courier New" pitchFamily="34" charset="-120"/>
              </a:rPr>
              <a:t>(</a:t>
            </a:r>
            <a:r>
              <a:rPr lang="en-US" sz="1300" dirty="0">
                <a:solidFill>
                  <a:srgbClr val="7DD3FC"/>
                </a:solidFill>
                <a:latin typeface="Courier New" pitchFamily="34" charset="0"/>
                <a:ea typeface="Courier New" pitchFamily="34" charset="-122"/>
                <a:cs typeface="Courier New" pitchFamily="34" charset="-120"/>
              </a:rPr>
              <a:t>length</a:t>
            </a:r>
            <a:r>
              <a:rPr lang="en-US" sz="1300" dirty="0">
                <a:solidFill>
                  <a:srgbClr val="E6EDF7"/>
                </a:solidFill>
                <a:latin typeface="Courier New" pitchFamily="34" charset="0"/>
                <a:ea typeface="Courier New" pitchFamily="34" charset="-122"/>
                <a:cs typeface="Courier New" pitchFamily="34" charset="-120"/>
              </a:rPr>
              <a:t>(x))</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9" name="Text 6"/>
          <p:cNvSpPr txBox="1"/>
          <p:nvPr/>
        </p:nvSpPr>
        <p:spPr>
          <a:xfrm>
            <a:off x="548640" y="2986024"/>
            <a:ext cx="45720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USO</a:t>
            </a:r>
            <a:endParaRPr lang="en-US" sz="900" dirty="0"/>
          </a:p>
        </p:txBody>
      </p:sp>
      <p:sp>
        <p:nvSpPr>
          <p:cNvPr id="10" name="Shape 7"/>
          <p:cNvSpPr/>
          <p:nvPr/>
        </p:nvSpPr>
        <p:spPr>
          <a:xfrm>
            <a:off x="548640" y="3260344"/>
            <a:ext cx="6400800" cy="1248664"/>
          </a:xfrm>
          <a:prstGeom prst="roundRect">
            <a:avLst>
              <a:gd name="adj" fmla="val 4394"/>
            </a:avLst>
          </a:prstGeom>
          <a:solidFill>
            <a:srgbClr val="162044"/>
          </a:solidFill>
          <a:ln w="12700">
            <a:solidFill>
              <a:srgbClr val="162044"/>
            </a:solidFill>
            <a:prstDash val="solid"/>
          </a:ln>
        </p:spPr>
        <p:txBody>
          <a:bodyPr/>
          <a:lstStyle/>
          <a:p>
            <a:endParaRPr lang="es-CL"/>
          </a:p>
        </p:txBody>
      </p:sp>
      <p:sp>
        <p:nvSpPr>
          <p:cNvPr id="11" name="Text 8"/>
          <p:cNvSpPr txBox="1"/>
          <p:nvPr/>
        </p:nvSpPr>
        <p:spPr>
          <a:xfrm>
            <a:off x="731520" y="3388360"/>
            <a:ext cx="6035040" cy="937768"/>
          </a:xfrm>
          <a:prstGeom prst="rect">
            <a:avLst/>
          </a:prstGeom>
          <a:noFill/>
          <a:ln/>
        </p:spPr>
        <p:txBody>
          <a:bodyPr wrap="square" lIns="0" tIns="0" rIns="0" bIns="0" rtlCol="0" anchor="t"/>
          <a:lstStyle/>
          <a:p>
            <a:pPr marL="0" indent="0">
              <a:lnSpc>
                <a:spcPts val="1846"/>
              </a:lnSpc>
              <a:buNone/>
            </a:pPr>
            <a:r>
              <a:rPr lang="en-US" sz="1300" dirty="0">
                <a:solidFill>
                  <a:srgbClr val="7DD3FC"/>
                </a:solidFill>
                <a:latin typeface="Courier New" pitchFamily="34" charset="0"/>
                <a:ea typeface="Courier New" pitchFamily="34" charset="-122"/>
                <a:cs typeface="Courier New" pitchFamily="34" charset="-120"/>
              </a:rPr>
              <a:t>error_estandar</a:t>
            </a:r>
            <a:r>
              <a:rPr lang="en-US" sz="1300" dirty="0">
                <a:solidFill>
                  <a:srgbClr val="E6EDF7"/>
                </a:solidFill>
                <a:latin typeface="Courier New" pitchFamily="34" charset="0"/>
                <a:ea typeface="Courier New" pitchFamily="34" charset="-122"/>
                <a:cs typeface="Courier New" pitchFamily="34" charset="-120"/>
              </a:rPr>
              <a:t>(encuesta$sat_supervision)</a:t>
            </a:r>
            <a:endParaRPr lang="en-US" sz="1300" dirty="0"/>
          </a:p>
          <a:p>
            <a:pPr marL="0" indent="0">
              <a:lnSpc>
                <a:spcPts val="1846"/>
              </a:lnSpc>
              <a:buNone/>
            </a:pPr>
            <a:r>
              <a:rPr lang="en-US" sz="1300" dirty="0">
                <a:solidFill>
                  <a:srgbClr val="8FD5B0"/>
                </a:solidFill>
                <a:latin typeface="Courier New" pitchFamily="34" charset="0"/>
                <a:ea typeface="Courier New" pitchFamily="34" charset="-122"/>
                <a:cs typeface="Courier New" pitchFamily="34" charset="-120"/>
              </a:rPr>
              <a:t>#&gt; [1] 0.0759</a:t>
            </a:r>
            <a:endParaRPr lang="en-US" sz="1300" dirty="0"/>
          </a:p>
          <a:p>
            <a:pPr marL="0" indent="0">
              <a:lnSpc>
                <a:spcPts val="1846"/>
              </a:lnSpc>
              <a:buNone/>
            </a:pPr>
            <a:r>
              <a:rPr lang="en-US" sz="1300" dirty="0">
                <a:solidFill>
                  <a:srgbClr val="7DD3FC"/>
                </a:solidFill>
                <a:latin typeface="Courier New" pitchFamily="34" charset="0"/>
                <a:ea typeface="Courier New" pitchFamily="34" charset="-122"/>
                <a:cs typeface="Courier New" pitchFamily="34" charset="-120"/>
              </a:rPr>
              <a:t>error_estandar</a:t>
            </a:r>
            <a:r>
              <a:rPr lang="en-US" sz="1300" dirty="0">
                <a:solidFill>
                  <a:srgbClr val="E6EDF7"/>
                </a:solidFill>
                <a:latin typeface="Courier New" pitchFamily="34" charset="0"/>
                <a:ea typeface="Courier New" pitchFamily="34" charset="-122"/>
                <a:cs typeface="Courier New" pitchFamily="34" charset="-120"/>
              </a:rPr>
              <a:t>(encuesta$sat_financiamiento)</a:t>
            </a:r>
            <a:endParaRPr lang="en-US" sz="1300" dirty="0"/>
          </a:p>
          <a:p>
            <a:pPr marL="0" indent="0">
              <a:lnSpc>
                <a:spcPts val="1846"/>
              </a:lnSpc>
              <a:buNone/>
            </a:pPr>
            <a:r>
              <a:rPr lang="en-US" sz="1300" dirty="0">
                <a:solidFill>
                  <a:srgbClr val="8FD5B0"/>
                </a:solidFill>
                <a:latin typeface="Courier New" pitchFamily="34" charset="0"/>
                <a:ea typeface="Courier New" pitchFamily="34" charset="-122"/>
                <a:cs typeface="Courier New" pitchFamily="34" charset="-120"/>
              </a:rPr>
              <a:t>#&gt; [1] 0.0846</a:t>
            </a:r>
            <a:endParaRPr lang="en-US" sz="1300" dirty="0"/>
          </a:p>
        </p:txBody>
      </p:sp>
      <p:sp>
        <p:nvSpPr>
          <p:cNvPr id="12" name="Shape 9"/>
          <p:cNvSpPr/>
          <p:nvPr/>
        </p:nvSpPr>
        <p:spPr>
          <a:xfrm>
            <a:off x="7315200" y="1463040"/>
            <a:ext cx="4325112" cy="4023360"/>
          </a:xfrm>
          <a:prstGeom prst="roundRect">
            <a:avLst>
              <a:gd name="adj" fmla="val 1591"/>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3" name="Text 10"/>
          <p:cNvSpPr txBox="1"/>
          <p:nvPr/>
        </p:nvSpPr>
        <p:spPr>
          <a:xfrm>
            <a:off x="7589520" y="1645920"/>
            <a:ext cx="3657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QUÉ GANAMOS</a:t>
            </a:r>
            <a:endParaRPr lang="en-US" sz="900" dirty="0"/>
          </a:p>
        </p:txBody>
      </p:sp>
      <p:sp>
        <p:nvSpPr>
          <p:cNvPr id="14" name="Shape 11"/>
          <p:cNvSpPr/>
          <p:nvPr/>
        </p:nvSpPr>
        <p:spPr>
          <a:xfrm>
            <a:off x="7589520" y="2057400"/>
            <a:ext cx="365760" cy="365760"/>
          </a:xfrm>
          <a:prstGeom prst="ellipse">
            <a:avLst/>
          </a:prstGeom>
          <a:solidFill>
            <a:srgbClr val="065A82"/>
          </a:solidFill>
          <a:ln w="12700">
            <a:solidFill>
              <a:srgbClr val="065A82"/>
            </a:solidFill>
            <a:prstDash val="solid"/>
          </a:ln>
        </p:spPr>
        <p:txBody>
          <a:bodyPr/>
          <a:lstStyle/>
          <a:p>
            <a:endParaRPr lang="es-CL"/>
          </a:p>
        </p:txBody>
      </p:sp>
      <p:sp>
        <p:nvSpPr>
          <p:cNvPr id="15" name="Text 12"/>
          <p:cNvSpPr txBox="1"/>
          <p:nvPr/>
        </p:nvSpPr>
        <p:spPr>
          <a:xfrm>
            <a:off x="7589520" y="20574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6" name="Text 13"/>
          <p:cNvSpPr txBox="1"/>
          <p:nvPr/>
        </p:nvSpPr>
        <p:spPr>
          <a:xfrm>
            <a:off x="8092440" y="2011680"/>
            <a:ext cx="3337560" cy="292608"/>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El cálculo vive en un solo lugar</a:t>
            </a:r>
            <a:endParaRPr lang="en-US" sz="1350" dirty="0"/>
          </a:p>
        </p:txBody>
      </p:sp>
      <p:sp>
        <p:nvSpPr>
          <p:cNvPr id="17" name="Text 14"/>
          <p:cNvSpPr txBox="1"/>
          <p:nvPr/>
        </p:nvSpPr>
        <p:spPr>
          <a:xfrm>
            <a:off x="8092440" y="2331720"/>
            <a:ext cx="3337560" cy="548640"/>
          </a:xfrm>
          <a:prstGeom prst="rect">
            <a:avLst/>
          </a:prstGeom>
          <a:noFill/>
          <a:ln/>
        </p:spPr>
        <p:txBody>
          <a:bodyPr wrap="square" lIns="0" tIns="0" rIns="0" bIns="0" rtlCol="0" anchor="t"/>
          <a:lstStyle/>
          <a:p>
            <a:pPr marL="0" indent="0">
              <a:buNone/>
            </a:pPr>
            <a:r>
              <a:rPr lang="en-US" sz="1200" dirty="0">
                <a:solidFill>
                  <a:srgbClr val="5B6B7F"/>
                </a:solidFill>
                <a:latin typeface="Calibri" pitchFamily="34" charset="0"/>
                <a:ea typeface="Calibri" pitchFamily="34" charset="-122"/>
                <a:cs typeface="Calibri" pitchFamily="34" charset="-120"/>
              </a:rPr>
              <a:t>Si hay que corregirlo, se corrige una vez.</a:t>
            </a:r>
            <a:endParaRPr lang="en-US" sz="1200" dirty="0"/>
          </a:p>
        </p:txBody>
      </p:sp>
      <p:sp>
        <p:nvSpPr>
          <p:cNvPr id="18" name="Shape 15"/>
          <p:cNvSpPr/>
          <p:nvPr/>
        </p:nvSpPr>
        <p:spPr>
          <a:xfrm>
            <a:off x="7589520" y="3154680"/>
            <a:ext cx="365760" cy="365760"/>
          </a:xfrm>
          <a:prstGeom prst="ellipse">
            <a:avLst/>
          </a:prstGeom>
          <a:solidFill>
            <a:srgbClr val="065A82"/>
          </a:solidFill>
          <a:ln w="12700">
            <a:solidFill>
              <a:srgbClr val="065A82"/>
            </a:solidFill>
            <a:prstDash val="solid"/>
          </a:ln>
        </p:spPr>
        <p:txBody>
          <a:bodyPr/>
          <a:lstStyle/>
          <a:p>
            <a:endParaRPr lang="es-CL"/>
          </a:p>
        </p:txBody>
      </p:sp>
      <p:sp>
        <p:nvSpPr>
          <p:cNvPr id="19" name="Text 16"/>
          <p:cNvSpPr txBox="1"/>
          <p:nvPr/>
        </p:nvSpPr>
        <p:spPr>
          <a:xfrm>
            <a:off x="7589520" y="31546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0" name="Text 17"/>
          <p:cNvSpPr txBox="1"/>
          <p:nvPr/>
        </p:nvSpPr>
        <p:spPr>
          <a:xfrm>
            <a:off x="8092440" y="3108960"/>
            <a:ext cx="3337560" cy="292608"/>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Un nombre que dice lo que hace</a:t>
            </a:r>
            <a:endParaRPr lang="en-US" sz="1350" dirty="0"/>
          </a:p>
        </p:txBody>
      </p:sp>
      <p:sp>
        <p:nvSpPr>
          <p:cNvPr id="21" name="Text 18"/>
          <p:cNvSpPr txBox="1"/>
          <p:nvPr/>
        </p:nvSpPr>
        <p:spPr>
          <a:xfrm>
            <a:off x="8092440" y="3429000"/>
            <a:ext cx="3337560" cy="548640"/>
          </a:xfrm>
          <a:prstGeom prst="rect">
            <a:avLst/>
          </a:prstGeom>
          <a:noFill/>
          <a:ln/>
        </p:spPr>
        <p:txBody>
          <a:bodyPr wrap="square" lIns="0" tIns="0" rIns="0" bIns="0" rtlCol="0" anchor="t"/>
          <a:lstStyle/>
          <a:p>
            <a:pPr marL="0" indent="0">
              <a:buNone/>
            </a:pPr>
            <a:r>
              <a:rPr lang="en-US" sz="1200" dirty="0">
                <a:solidFill>
                  <a:srgbClr val="5B6B7F"/>
                </a:solidFill>
                <a:latin typeface="Calibri" pitchFamily="34" charset="0"/>
                <a:ea typeface="Calibri" pitchFamily="34" charset="-122"/>
                <a:cs typeface="Calibri" pitchFamily="34" charset="-120"/>
              </a:rPr>
              <a:t>El código se lee casi como una frase.</a:t>
            </a:r>
            <a:endParaRPr lang="en-US" sz="1200" dirty="0"/>
          </a:p>
        </p:txBody>
      </p:sp>
      <p:sp>
        <p:nvSpPr>
          <p:cNvPr id="22" name="Shape 19"/>
          <p:cNvSpPr/>
          <p:nvPr/>
        </p:nvSpPr>
        <p:spPr>
          <a:xfrm>
            <a:off x="7589520" y="4251960"/>
            <a:ext cx="365760" cy="365760"/>
          </a:xfrm>
          <a:prstGeom prst="ellipse">
            <a:avLst/>
          </a:prstGeom>
          <a:solidFill>
            <a:srgbClr val="065A82"/>
          </a:solidFill>
          <a:ln w="12700">
            <a:solidFill>
              <a:srgbClr val="065A82"/>
            </a:solidFill>
            <a:prstDash val="solid"/>
          </a:ln>
        </p:spPr>
        <p:txBody>
          <a:bodyPr/>
          <a:lstStyle/>
          <a:p>
            <a:endParaRPr lang="es-CL"/>
          </a:p>
        </p:txBody>
      </p:sp>
      <p:sp>
        <p:nvSpPr>
          <p:cNvPr id="23" name="Text 20"/>
          <p:cNvSpPr txBox="1"/>
          <p:nvPr/>
        </p:nvSpPr>
        <p:spPr>
          <a:xfrm>
            <a:off x="7589520" y="42519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1"/>
          <p:cNvSpPr txBox="1"/>
          <p:nvPr/>
        </p:nvSpPr>
        <p:spPr>
          <a:xfrm>
            <a:off x="8092440" y="4206240"/>
            <a:ext cx="3337560" cy="292608"/>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Sirve para cualquier columna</a:t>
            </a:r>
            <a:endParaRPr lang="en-US" sz="1350" dirty="0"/>
          </a:p>
        </p:txBody>
      </p:sp>
      <p:sp>
        <p:nvSpPr>
          <p:cNvPr id="25" name="Text 22"/>
          <p:cNvSpPr txBox="1"/>
          <p:nvPr/>
        </p:nvSpPr>
        <p:spPr>
          <a:xfrm>
            <a:off x="8092440" y="4526280"/>
            <a:ext cx="3337560" cy="548640"/>
          </a:xfrm>
          <a:prstGeom prst="rect">
            <a:avLst/>
          </a:prstGeom>
          <a:noFill/>
          <a:ln/>
        </p:spPr>
        <p:txBody>
          <a:bodyPr wrap="square" lIns="0" tIns="0" rIns="0" bIns="0" rtlCol="0" anchor="t"/>
          <a:lstStyle/>
          <a:p>
            <a:pPr marL="0" indent="0">
              <a:buNone/>
            </a:pPr>
            <a:r>
              <a:rPr lang="en-US" sz="1200" dirty="0">
                <a:solidFill>
                  <a:srgbClr val="5B6B7F"/>
                </a:solidFill>
                <a:latin typeface="Calibri" pitchFamily="34" charset="0"/>
                <a:ea typeface="Calibri" pitchFamily="34" charset="-122"/>
                <a:cs typeface="Calibri" pitchFamily="34" charset="-120"/>
              </a:rPr>
              <a:t>Sin copiar nombres de variables.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FUNCIONES PROPIAS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Argumentos: valores por defecto y nombres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9</a:t>
            </a:r>
            <a:endParaRPr lang="en-US" sz="800" dirty="0"/>
          </a:p>
        </p:txBody>
      </p:sp>
      <p:sp>
        <p:nvSpPr>
          <p:cNvPr id="7" name="Shape 4"/>
          <p:cNvSpPr/>
          <p:nvPr/>
        </p:nvSpPr>
        <p:spPr>
          <a:xfrm>
            <a:off x="548640" y="1463040"/>
            <a:ext cx="11091672" cy="731520"/>
          </a:xfrm>
          <a:prstGeom prst="roundRect">
            <a:avLst>
              <a:gd name="adj" fmla="val 7500"/>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822960" y="1463040"/>
            <a:ext cx="10515600" cy="731520"/>
          </a:xfrm>
          <a:prstGeom prst="rect">
            <a:avLst/>
          </a:prstGeom>
          <a:noFill/>
          <a:ln/>
        </p:spPr>
        <p:txBody>
          <a:bodyPr wrap="square" lIns="0" tIns="0" rIns="0" bIns="0" rtlCol="0" anchor="ctr"/>
          <a:lstStyle/>
          <a:p>
            <a:pPr marL="0" indent="0">
              <a:buNone/>
            </a:pPr>
            <a:r>
              <a:rPr lang="en-US" sz="2200" dirty="0">
                <a:solidFill>
                  <a:srgbClr val="7DD3FC"/>
                </a:solidFill>
                <a:latin typeface="Courier New" pitchFamily="34" charset="0"/>
                <a:ea typeface="Courier New" pitchFamily="34" charset="-122"/>
                <a:cs typeface="Courier New" pitchFamily="34" charset="-120"/>
              </a:rPr>
              <a:t>error_estandar</a:t>
            </a:r>
            <a:r>
              <a:rPr lang="en-US" sz="2200" dirty="0">
                <a:solidFill>
                  <a:srgbClr val="E6EDF7"/>
                </a:solidFill>
                <a:latin typeface="Courier New" pitchFamily="34" charset="0"/>
                <a:ea typeface="Courier New" pitchFamily="34" charset="-122"/>
                <a:cs typeface="Courier New" pitchFamily="34" charset="-120"/>
              </a:rPr>
              <a:t>(x, na.rm = </a:t>
            </a:r>
            <a:r>
              <a:rPr lang="en-US" sz="2200" dirty="0">
                <a:solidFill>
                  <a:srgbClr val="C9B8FF"/>
                </a:solidFill>
                <a:latin typeface="Courier New" pitchFamily="34" charset="0"/>
                <a:ea typeface="Courier New" pitchFamily="34" charset="-122"/>
                <a:cs typeface="Courier New" pitchFamily="34" charset="-120"/>
              </a:rPr>
              <a:t>TRUE</a:t>
            </a:r>
            <a:r>
              <a:rPr lang="en-US" sz="2200" dirty="0">
                <a:solidFill>
                  <a:srgbClr val="E6EDF7"/>
                </a:solidFill>
                <a:latin typeface="Courier New" pitchFamily="34" charset="0"/>
                <a:ea typeface="Courier New" pitchFamily="34" charset="-122"/>
                <a:cs typeface="Courier New" pitchFamily="34" charset="-120"/>
              </a:rPr>
              <a:t>)</a:t>
            </a:r>
            <a:endParaRPr lang="en-US" sz="2200" dirty="0"/>
          </a:p>
        </p:txBody>
      </p:sp>
      <p:sp>
        <p:nvSpPr>
          <p:cNvPr id="9" name="Shape 6"/>
          <p:cNvSpPr/>
          <p:nvPr/>
        </p:nvSpPr>
        <p:spPr>
          <a:xfrm>
            <a:off x="548640" y="2468880"/>
            <a:ext cx="3584448" cy="1920240"/>
          </a:xfrm>
          <a:prstGeom prst="roundRect">
            <a:avLst>
              <a:gd name="adj" fmla="val 3333"/>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0" name="Text 7"/>
          <p:cNvSpPr txBox="1"/>
          <p:nvPr/>
        </p:nvSpPr>
        <p:spPr>
          <a:xfrm>
            <a:off x="822960" y="2606040"/>
            <a:ext cx="3108960" cy="365760"/>
          </a:xfrm>
          <a:prstGeom prst="rect">
            <a:avLst/>
          </a:prstGeom>
          <a:noFill/>
          <a:ln/>
        </p:spPr>
        <p:txBody>
          <a:bodyPr wrap="square" lIns="0" tIns="0" rIns="0" bIns="0" rtlCol="0" anchor="ctr"/>
          <a:lstStyle/>
          <a:p>
            <a:pPr marL="0" indent="0">
              <a:buNone/>
            </a:pPr>
            <a:r>
              <a:rPr lang="en-US" sz="1500" b="1" dirty="0">
                <a:solidFill>
                  <a:srgbClr val="065A82"/>
                </a:solidFill>
                <a:latin typeface="Courier New" pitchFamily="34" charset="0"/>
                <a:ea typeface="Courier New" pitchFamily="34" charset="-122"/>
                <a:cs typeface="Courier New" pitchFamily="34" charset="-120"/>
              </a:rPr>
              <a:t>x</a:t>
            </a:r>
            <a:endParaRPr lang="en-US" sz="1500" dirty="0"/>
          </a:p>
        </p:txBody>
      </p:sp>
      <p:sp>
        <p:nvSpPr>
          <p:cNvPr id="11" name="Text 8"/>
          <p:cNvSpPr txBox="1"/>
          <p:nvPr/>
        </p:nvSpPr>
        <p:spPr>
          <a:xfrm>
            <a:off x="822960" y="3017520"/>
            <a:ext cx="310896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Obligatorio</a:t>
            </a:r>
            <a:endParaRPr lang="en-US" sz="1200" dirty="0"/>
          </a:p>
        </p:txBody>
      </p:sp>
      <p:sp>
        <p:nvSpPr>
          <p:cNvPr id="12" name="Text 9"/>
          <p:cNvSpPr txBox="1"/>
          <p:nvPr/>
        </p:nvSpPr>
        <p:spPr>
          <a:xfrm>
            <a:off x="822960" y="3337560"/>
            <a:ext cx="3063240" cy="96012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No tiene valor por defecto: hay que darlo siempre.</a:t>
            </a:r>
            <a:endParaRPr lang="en-US" sz="1250" dirty="0"/>
          </a:p>
        </p:txBody>
      </p:sp>
      <p:sp>
        <p:nvSpPr>
          <p:cNvPr id="13" name="Shape 10"/>
          <p:cNvSpPr/>
          <p:nvPr/>
        </p:nvSpPr>
        <p:spPr>
          <a:xfrm>
            <a:off x="4297680" y="2468880"/>
            <a:ext cx="3584448" cy="1920240"/>
          </a:xfrm>
          <a:prstGeom prst="roundRect">
            <a:avLst>
              <a:gd name="adj" fmla="val 3333"/>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4" name="Text 11"/>
          <p:cNvSpPr txBox="1"/>
          <p:nvPr/>
        </p:nvSpPr>
        <p:spPr>
          <a:xfrm>
            <a:off x="4572000" y="2606040"/>
            <a:ext cx="3108960" cy="365760"/>
          </a:xfrm>
          <a:prstGeom prst="rect">
            <a:avLst/>
          </a:prstGeom>
          <a:noFill/>
          <a:ln/>
        </p:spPr>
        <p:txBody>
          <a:bodyPr wrap="square" lIns="0" tIns="0" rIns="0" bIns="0" rtlCol="0" anchor="ctr"/>
          <a:lstStyle/>
          <a:p>
            <a:pPr marL="0" indent="0">
              <a:buNone/>
            </a:pPr>
            <a:r>
              <a:rPr lang="en-US" sz="1500" b="1" dirty="0">
                <a:solidFill>
                  <a:srgbClr val="065A82"/>
                </a:solidFill>
                <a:latin typeface="Courier New" pitchFamily="34" charset="0"/>
                <a:ea typeface="Courier New" pitchFamily="34" charset="-122"/>
                <a:cs typeface="Courier New" pitchFamily="34" charset="-120"/>
              </a:rPr>
              <a:t>na.rm = TRUE</a:t>
            </a:r>
            <a:endParaRPr lang="en-US" sz="1500" dirty="0"/>
          </a:p>
        </p:txBody>
      </p:sp>
      <p:sp>
        <p:nvSpPr>
          <p:cNvPr id="15" name="Text 12"/>
          <p:cNvSpPr txBox="1"/>
          <p:nvPr/>
        </p:nvSpPr>
        <p:spPr>
          <a:xfrm>
            <a:off x="4572000" y="3017520"/>
            <a:ext cx="310896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Opcional</a:t>
            </a:r>
            <a:endParaRPr lang="en-US" sz="1200" dirty="0"/>
          </a:p>
        </p:txBody>
      </p:sp>
      <p:sp>
        <p:nvSpPr>
          <p:cNvPr id="16" name="Text 13"/>
          <p:cNvSpPr txBox="1"/>
          <p:nvPr/>
        </p:nvSpPr>
        <p:spPr>
          <a:xfrm>
            <a:off x="4572000" y="3337560"/>
            <a:ext cx="3063240" cy="96012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Si no lo escribes, vale TRUE (el valor por defecto).</a:t>
            </a:r>
            <a:endParaRPr lang="en-US" sz="1250" dirty="0"/>
          </a:p>
        </p:txBody>
      </p:sp>
      <p:sp>
        <p:nvSpPr>
          <p:cNvPr id="17" name="Shape 14"/>
          <p:cNvSpPr/>
          <p:nvPr/>
        </p:nvSpPr>
        <p:spPr>
          <a:xfrm>
            <a:off x="8046720" y="2468880"/>
            <a:ext cx="3584448" cy="1920240"/>
          </a:xfrm>
          <a:prstGeom prst="roundRect">
            <a:avLst>
              <a:gd name="adj" fmla="val 3333"/>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8" name="Text 15"/>
          <p:cNvSpPr txBox="1"/>
          <p:nvPr/>
        </p:nvSpPr>
        <p:spPr>
          <a:xfrm>
            <a:off x="8321040" y="2606040"/>
            <a:ext cx="3108960" cy="365760"/>
          </a:xfrm>
          <a:prstGeom prst="rect">
            <a:avLst/>
          </a:prstGeom>
          <a:noFill/>
          <a:ln/>
        </p:spPr>
        <p:txBody>
          <a:bodyPr wrap="square" lIns="0" tIns="0" rIns="0" bIns="0" rtlCol="0" anchor="ctr"/>
          <a:lstStyle/>
          <a:p>
            <a:pPr marL="0" indent="0">
              <a:buNone/>
            </a:pPr>
            <a:r>
              <a:rPr lang="en-US" sz="1500" b="1" dirty="0">
                <a:solidFill>
                  <a:srgbClr val="065A82"/>
                </a:solidFill>
                <a:latin typeface="Courier New" pitchFamily="34" charset="0"/>
                <a:ea typeface="Courier New" pitchFamily="34" charset="-122"/>
                <a:cs typeface="Courier New" pitchFamily="34" charset="-120"/>
              </a:rPr>
              <a:t>Posición o nombre</a:t>
            </a:r>
            <a:endParaRPr lang="en-US" sz="1500" dirty="0"/>
          </a:p>
        </p:txBody>
      </p:sp>
      <p:sp>
        <p:nvSpPr>
          <p:cNvPr id="19" name="Text 16"/>
          <p:cNvSpPr txBox="1"/>
          <p:nvPr/>
        </p:nvSpPr>
        <p:spPr>
          <a:xfrm>
            <a:off x="8321040" y="3017520"/>
            <a:ext cx="310896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Dos formas</a:t>
            </a:r>
            <a:endParaRPr lang="en-US" sz="1200" dirty="0"/>
          </a:p>
        </p:txBody>
      </p:sp>
      <p:sp>
        <p:nvSpPr>
          <p:cNvPr id="20" name="Text 17"/>
          <p:cNvSpPr txBox="1"/>
          <p:nvPr/>
        </p:nvSpPr>
        <p:spPr>
          <a:xfrm>
            <a:off x="8321040" y="3337560"/>
            <a:ext cx="3063240" cy="96012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error_estandar(v, na.rm = FALSE). Escribe el nombre cuando no es el primer argumento.</a:t>
            </a:r>
            <a:endParaRPr lang="en-US" sz="1250" dirty="0"/>
          </a:p>
        </p:txBody>
      </p:sp>
      <p:sp>
        <p:nvSpPr>
          <p:cNvPr id="21" name="Shape 18"/>
          <p:cNvSpPr/>
          <p:nvPr/>
        </p:nvSpPr>
        <p:spPr>
          <a:xfrm>
            <a:off x="548640" y="4663440"/>
            <a:ext cx="11091672" cy="779780"/>
          </a:xfrm>
          <a:prstGeom prst="roundRect">
            <a:avLst>
              <a:gd name="adj" fmla="val 7036"/>
            </a:avLst>
          </a:prstGeom>
          <a:solidFill>
            <a:srgbClr val="162044"/>
          </a:solidFill>
          <a:ln w="12700">
            <a:solidFill>
              <a:srgbClr val="162044"/>
            </a:solidFill>
            <a:prstDash val="solid"/>
          </a:ln>
        </p:spPr>
        <p:txBody>
          <a:bodyPr/>
          <a:lstStyle/>
          <a:p>
            <a:endParaRPr lang="es-CL"/>
          </a:p>
        </p:txBody>
      </p:sp>
      <p:sp>
        <p:nvSpPr>
          <p:cNvPr id="22" name="Text 19"/>
          <p:cNvSpPr txBox="1"/>
          <p:nvPr/>
        </p:nvSpPr>
        <p:spPr>
          <a:xfrm>
            <a:off x="731520" y="4791456"/>
            <a:ext cx="10725912" cy="468884"/>
          </a:xfrm>
          <a:prstGeom prst="rect">
            <a:avLst/>
          </a:prstGeom>
          <a:noFill/>
          <a:ln/>
        </p:spPr>
        <p:txBody>
          <a:bodyPr wrap="square" lIns="0" tIns="0" rIns="0" bIns="0" rtlCol="0" anchor="t"/>
          <a:lstStyle/>
          <a:p>
            <a:pPr marL="0" indent="0">
              <a:lnSpc>
                <a:spcPts val="1846"/>
              </a:lnSpc>
              <a:buNone/>
            </a:pPr>
            <a:r>
              <a:rPr lang="en-US" sz="1300" dirty="0">
                <a:solidFill>
                  <a:srgbClr val="7DD3FC"/>
                </a:solidFill>
                <a:latin typeface="Courier New" pitchFamily="34" charset="0"/>
                <a:ea typeface="Courier New" pitchFamily="34" charset="-122"/>
                <a:cs typeface="Courier New" pitchFamily="34" charset="-120"/>
              </a:rPr>
              <a:t>error_estandar</a:t>
            </a:r>
            <a:r>
              <a:rPr lang="en-US" sz="1300" dirty="0">
                <a:solidFill>
                  <a:srgbClr val="E6EDF7"/>
                </a:solidFill>
                <a:latin typeface="Courier New" pitchFamily="34" charset="0"/>
                <a:ea typeface="Courier New" pitchFamily="34" charset="-122"/>
                <a:cs typeface="Courier New" pitchFamily="34" charset="-120"/>
              </a:rPr>
              <a:t>(encuesta$sat_supervision)             </a:t>
            </a:r>
            <a:r>
              <a:rPr lang="en-US" sz="1300" i="1" dirty="0">
                <a:solidFill>
                  <a:srgbClr val="8196BC"/>
                </a:solidFill>
                <a:latin typeface="Courier New" pitchFamily="34" charset="0"/>
                <a:ea typeface="Courier New" pitchFamily="34" charset="-122"/>
                <a:cs typeface="Courier New" pitchFamily="34" charset="-120"/>
              </a:rPr>
              <a:t># usa na.rm = TRUE</a:t>
            </a:r>
            <a:endParaRPr lang="en-US" sz="1300" dirty="0"/>
          </a:p>
          <a:p>
            <a:pPr marL="0" indent="0">
              <a:lnSpc>
                <a:spcPts val="1846"/>
              </a:lnSpc>
              <a:buNone/>
            </a:pPr>
            <a:r>
              <a:rPr lang="en-US" sz="1300" dirty="0">
                <a:solidFill>
                  <a:srgbClr val="7DD3FC"/>
                </a:solidFill>
                <a:latin typeface="Courier New" pitchFamily="34" charset="0"/>
                <a:ea typeface="Courier New" pitchFamily="34" charset="-122"/>
                <a:cs typeface="Courier New" pitchFamily="34" charset="-120"/>
              </a:rPr>
              <a:t>error_estandar</a:t>
            </a:r>
            <a:r>
              <a:rPr lang="en-US" sz="1300" dirty="0">
                <a:solidFill>
                  <a:srgbClr val="E6EDF7"/>
                </a:solidFill>
                <a:latin typeface="Courier New" pitchFamily="34" charset="0"/>
                <a:ea typeface="Courier New" pitchFamily="34" charset="-122"/>
                <a:cs typeface="Courier New" pitchFamily="34" charset="-120"/>
              </a:rPr>
              <a:t>(</a:t>
            </a:r>
            <a:r>
              <a:rPr lang="en-US" sz="1300" dirty="0">
                <a:solidFill>
                  <a:srgbClr val="7DD3FC"/>
                </a:solidFill>
                <a:latin typeface="Courier New" pitchFamily="34" charset="0"/>
                <a:ea typeface="Courier New" pitchFamily="34" charset="-122"/>
                <a:cs typeface="Courier New" pitchFamily="34" charset="-120"/>
              </a:rPr>
              <a:t>c</a:t>
            </a:r>
            <a:r>
              <a:rPr lang="en-US" sz="1300" dirty="0">
                <a:solidFill>
                  <a:srgbClr val="E6EDF7"/>
                </a:solidFill>
                <a:latin typeface="Courier New" pitchFamily="34" charset="0"/>
                <a:ea typeface="Courier New" pitchFamily="34" charset="-122"/>
                <a:cs typeface="Courier New" pitchFamily="34" charset="-120"/>
              </a:rPr>
              <a:t>(</a:t>
            </a:r>
            <a:r>
              <a:rPr lang="en-US" sz="1300" dirty="0">
                <a:solidFill>
                  <a:srgbClr val="F2C97D"/>
                </a:solidFill>
                <a:latin typeface="Courier New" pitchFamily="34" charset="0"/>
                <a:ea typeface="Courier New" pitchFamily="34" charset="-122"/>
                <a:cs typeface="Courier New" pitchFamily="34" charset="-120"/>
              </a:rPr>
              <a:t>1</a:t>
            </a: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F2C97D"/>
                </a:solidFill>
                <a:latin typeface="Courier New" pitchFamily="34" charset="0"/>
                <a:ea typeface="Courier New" pitchFamily="34" charset="-122"/>
                <a:cs typeface="Courier New" pitchFamily="34" charset="-120"/>
              </a:rPr>
              <a:t>2</a:t>
            </a: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C9B8FF"/>
                </a:solidFill>
                <a:latin typeface="Courier New" pitchFamily="34" charset="0"/>
                <a:ea typeface="Courier New" pitchFamily="34" charset="-122"/>
                <a:cs typeface="Courier New" pitchFamily="34" charset="-120"/>
              </a:rPr>
              <a:t>NA</a:t>
            </a: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F2C97D"/>
                </a:solidFill>
                <a:latin typeface="Courier New" pitchFamily="34" charset="0"/>
                <a:ea typeface="Courier New" pitchFamily="34" charset="-122"/>
                <a:cs typeface="Courier New" pitchFamily="34" charset="-120"/>
              </a:rPr>
              <a:t>4</a:t>
            </a:r>
            <a:r>
              <a:rPr lang="en-US" sz="1300" dirty="0">
                <a:solidFill>
                  <a:srgbClr val="E6EDF7"/>
                </a:solidFill>
                <a:latin typeface="Courier New" pitchFamily="34" charset="0"/>
                <a:ea typeface="Courier New" pitchFamily="34" charset="-122"/>
                <a:cs typeface="Courier New" pitchFamily="34" charset="-120"/>
              </a:rPr>
              <a:t>), na.rm = </a:t>
            </a:r>
            <a:r>
              <a:rPr lang="en-US" sz="1300" dirty="0">
                <a:solidFill>
                  <a:srgbClr val="C9B8FF"/>
                </a:solidFill>
                <a:latin typeface="Courier New" pitchFamily="34" charset="0"/>
                <a:ea typeface="Courier New" pitchFamily="34" charset="-122"/>
                <a:cs typeface="Courier New" pitchFamily="34" charset="-120"/>
              </a:rPr>
              <a:t>FALSE</a:t>
            </a: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8FD5B0"/>
                </a:solidFill>
                <a:latin typeface="Courier New" pitchFamily="34" charset="0"/>
                <a:ea typeface="Courier New" pitchFamily="34" charset="-122"/>
                <a:cs typeface="Courier New" pitchFamily="34" charset="-120"/>
              </a:rPr>
              <a:t>#&gt; [1] NA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FUNCIONES PROPIAS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Devolver resultados: un valor o una tabla</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10</a:t>
            </a:r>
            <a:endParaRPr lang="en-US" sz="800" dirty="0"/>
          </a:p>
        </p:txBody>
      </p:sp>
      <p:sp>
        <p:nvSpPr>
          <p:cNvPr id="7" name="Shape 4"/>
          <p:cNvSpPr/>
          <p:nvPr/>
        </p:nvSpPr>
        <p:spPr>
          <a:xfrm>
            <a:off x="548640" y="1463040"/>
            <a:ext cx="6492240" cy="2186432"/>
          </a:xfrm>
          <a:prstGeom prst="roundRect">
            <a:avLst>
              <a:gd name="adj" fmla="val 2509"/>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6126480" cy="1875536"/>
          </a:xfrm>
          <a:prstGeom prst="rect">
            <a:avLst/>
          </a:prstGeom>
          <a:noFill/>
          <a:ln/>
        </p:spPr>
        <p:txBody>
          <a:bodyPr wrap="square" lIns="0" tIns="0" rIns="0" bIns="0" rtlCol="0" anchor="t"/>
          <a:lstStyle/>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resumen_num </a:t>
            </a:r>
            <a:r>
              <a:rPr lang="en-US" sz="1300" dirty="0">
                <a:solidFill>
                  <a:srgbClr val="A5D8FF"/>
                </a:solidFill>
                <a:latin typeface="Courier New" pitchFamily="34" charset="0"/>
                <a:ea typeface="Courier New" pitchFamily="34" charset="-122"/>
                <a:cs typeface="Courier New" pitchFamily="34" charset="-120"/>
              </a:rPr>
              <a:t>&lt;-</a:t>
            </a: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C9B8FF"/>
                </a:solidFill>
                <a:latin typeface="Courier New" pitchFamily="34" charset="0"/>
                <a:ea typeface="Courier New" pitchFamily="34" charset="-122"/>
                <a:cs typeface="Courier New" pitchFamily="34" charset="-120"/>
              </a:rPr>
              <a:t>function</a:t>
            </a:r>
            <a:r>
              <a:rPr lang="en-US" sz="1300" dirty="0">
                <a:solidFill>
                  <a:srgbClr val="E6EDF7"/>
                </a:solidFill>
                <a:latin typeface="Courier New" pitchFamily="34" charset="0"/>
                <a:ea typeface="Courier New" pitchFamily="34" charset="-122"/>
                <a:cs typeface="Courier New" pitchFamily="34" charset="-120"/>
              </a:rPr>
              <a:t>(x, na.rm = </a:t>
            </a:r>
            <a:r>
              <a:rPr lang="en-US" sz="1300" dirty="0">
                <a:solidFill>
                  <a:srgbClr val="C9B8FF"/>
                </a:solidFill>
                <a:latin typeface="Courier New" pitchFamily="34" charset="0"/>
                <a:ea typeface="Courier New" pitchFamily="34" charset="-122"/>
                <a:cs typeface="Courier New" pitchFamily="34" charset="-120"/>
              </a:rPr>
              <a:t>TRUE</a:t>
            </a: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7DD3FC"/>
                </a:solidFill>
                <a:latin typeface="Courier New" pitchFamily="34" charset="0"/>
                <a:ea typeface="Courier New" pitchFamily="34" charset="-122"/>
                <a:cs typeface="Courier New" pitchFamily="34" charset="-120"/>
              </a:rPr>
              <a:t>tibble</a:t>
            </a: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    n     = </a:t>
            </a:r>
            <a:r>
              <a:rPr lang="en-US" sz="1300" dirty="0">
                <a:solidFill>
                  <a:srgbClr val="7DD3FC"/>
                </a:solidFill>
                <a:latin typeface="Courier New" pitchFamily="34" charset="0"/>
                <a:ea typeface="Courier New" pitchFamily="34" charset="-122"/>
                <a:cs typeface="Courier New" pitchFamily="34" charset="-120"/>
              </a:rPr>
              <a:t>sum</a:t>
            </a:r>
            <a:r>
              <a:rPr lang="en-US" sz="1300" dirty="0">
                <a:solidFill>
                  <a:srgbClr val="E6EDF7"/>
                </a:solidFill>
                <a:latin typeface="Courier New" pitchFamily="34" charset="0"/>
                <a:ea typeface="Courier New" pitchFamily="34" charset="-122"/>
                <a:cs typeface="Courier New" pitchFamily="34" charset="-120"/>
              </a:rPr>
              <a:t>(!</a:t>
            </a:r>
            <a:r>
              <a:rPr lang="en-US" sz="1300" dirty="0">
                <a:solidFill>
                  <a:srgbClr val="7DD3FC"/>
                </a:solidFill>
                <a:latin typeface="Courier New" pitchFamily="34" charset="0"/>
                <a:ea typeface="Courier New" pitchFamily="34" charset="-122"/>
                <a:cs typeface="Courier New" pitchFamily="34" charset="-120"/>
              </a:rPr>
              <a:t>is.na</a:t>
            </a:r>
            <a:r>
              <a:rPr lang="en-US" sz="1300" dirty="0">
                <a:solidFill>
                  <a:srgbClr val="E6EDF7"/>
                </a:solidFill>
                <a:latin typeface="Courier New" pitchFamily="34" charset="0"/>
                <a:ea typeface="Courier New" pitchFamily="34" charset="-122"/>
                <a:cs typeface="Courier New" pitchFamily="34" charset="-120"/>
              </a:rPr>
              <a:t>(x)),</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    media = </a:t>
            </a:r>
            <a:r>
              <a:rPr lang="en-US" sz="1300" dirty="0">
                <a:solidFill>
                  <a:srgbClr val="7DD3FC"/>
                </a:solidFill>
                <a:latin typeface="Courier New" pitchFamily="34" charset="0"/>
                <a:ea typeface="Courier New" pitchFamily="34" charset="-122"/>
                <a:cs typeface="Courier New" pitchFamily="34" charset="-120"/>
              </a:rPr>
              <a:t>mean</a:t>
            </a:r>
            <a:r>
              <a:rPr lang="en-US" sz="1300" dirty="0">
                <a:solidFill>
                  <a:srgbClr val="E6EDF7"/>
                </a:solidFill>
                <a:latin typeface="Courier New" pitchFamily="34" charset="0"/>
                <a:ea typeface="Courier New" pitchFamily="34" charset="-122"/>
                <a:cs typeface="Courier New" pitchFamily="34" charset="-120"/>
              </a:rPr>
              <a:t>(x, na.rm = na.rm),</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    de    = </a:t>
            </a:r>
            <a:r>
              <a:rPr lang="en-US" sz="1300" dirty="0">
                <a:solidFill>
                  <a:srgbClr val="7DD3FC"/>
                </a:solidFill>
                <a:latin typeface="Courier New" pitchFamily="34" charset="0"/>
                <a:ea typeface="Courier New" pitchFamily="34" charset="-122"/>
                <a:cs typeface="Courier New" pitchFamily="34" charset="-120"/>
              </a:rPr>
              <a:t>sd</a:t>
            </a:r>
            <a:r>
              <a:rPr lang="en-US" sz="1300" dirty="0">
                <a:solidFill>
                  <a:srgbClr val="E6EDF7"/>
                </a:solidFill>
                <a:latin typeface="Courier New" pitchFamily="34" charset="0"/>
                <a:ea typeface="Courier New" pitchFamily="34" charset="-122"/>
                <a:cs typeface="Courier New" pitchFamily="34" charset="-120"/>
              </a:rPr>
              <a:t>(x, na.rm = na.rm),</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    ee    = </a:t>
            </a:r>
            <a:r>
              <a:rPr lang="en-US" sz="1300" dirty="0">
                <a:solidFill>
                  <a:srgbClr val="7DD3FC"/>
                </a:solidFill>
                <a:latin typeface="Courier New" pitchFamily="34" charset="0"/>
                <a:ea typeface="Courier New" pitchFamily="34" charset="-122"/>
                <a:cs typeface="Courier New" pitchFamily="34" charset="-120"/>
              </a:rPr>
              <a:t>error_estandar</a:t>
            </a:r>
            <a:r>
              <a:rPr lang="en-US" sz="1300" dirty="0">
                <a:solidFill>
                  <a:srgbClr val="E6EDF7"/>
                </a:solidFill>
                <a:latin typeface="Courier New" pitchFamily="34" charset="0"/>
                <a:ea typeface="Courier New" pitchFamily="34" charset="-122"/>
                <a:cs typeface="Courier New" pitchFamily="34" charset="-120"/>
              </a:rPr>
              <a:t>(x, na.rm = na.rm)</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9" name="Shape 6"/>
          <p:cNvSpPr/>
          <p:nvPr/>
        </p:nvSpPr>
        <p:spPr>
          <a:xfrm>
            <a:off x="7315200" y="1463040"/>
            <a:ext cx="4325112" cy="2148840"/>
          </a:xfrm>
          <a:prstGeom prst="roundRect">
            <a:avLst>
              <a:gd name="adj" fmla="val 2979"/>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0" name="Text 7"/>
          <p:cNvSpPr txBox="1"/>
          <p:nvPr/>
        </p:nvSpPr>
        <p:spPr>
          <a:xfrm>
            <a:off x="7589520" y="1645920"/>
            <a:ext cx="384048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RESULTADO DE RESUMEN_NUM()</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589520" y="2057400"/>
          <a:ext cx="3474720" cy="731520"/>
        </p:xfrm>
        <a:graphic>
          <a:graphicData uri="http://schemas.openxmlformats.org/drawingml/2006/table">
            <a:tbl>
              <a:tblPr/>
              <a:tblGrid>
                <a:gridCol w="6400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65760">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media</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de</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ee</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65760">
                <a:tc>
                  <a:txBody>
                    <a:bodyPr/>
                    <a:lstStyle/>
                    <a:p>
                      <a:pPr marL="0" indent="0" algn="r">
                        <a:buNone/>
                      </a:pPr>
                      <a:r>
                        <a:rPr lang="en-US" sz="1200" dirty="0">
                          <a:solidFill>
                            <a:srgbClr val="1E2A44"/>
                          </a:solidFill>
                          <a:latin typeface="Calibri" pitchFamily="34" charset="0"/>
                          <a:ea typeface="Calibri" pitchFamily="34" charset="-122"/>
                          <a:cs typeface="Calibri" pitchFamily="34" charset="-120"/>
                        </a:rPr>
                        <a:t>144</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E2A44"/>
                          </a:solidFill>
                          <a:latin typeface="Calibri" pitchFamily="34" charset="0"/>
                          <a:ea typeface="Calibri" pitchFamily="34" charset="-122"/>
                          <a:cs typeface="Calibri" pitchFamily="34" charset="-120"/>
                        </a:rPr>
                        <a:t>23.8</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E2A44"/>
                          </a:solidFill>
                          <a:latin typeface="Calibri" pitchFamily="34" charset="0"/>
                          <a:ea typeface="Calibri" pitchFamily="34" charset="-122"/>
                          <a:cs typeface="Calibri" pitchFamily="34" charset="-120"/>
                        </a:rPr>
                        <a:t>8.03</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E2A44"/>
                          </a:solidFill>
                          <a:latin typeface="Calibri" pitchFamily="34" charset="0"/>
                          <a:ea typeface="Calibri" pitchFamily="34" charset="-122"/>
                          <a:cs typeface="Calibri" pitchFamily="34" charset="-120"/>
                        </a:rPr>
                        <a:t>0.669</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2" name="Text 8"/>
          <p:cNvSpPr txBox="1"/>
          <p:nvPr/>
        </p:nvSpPr>
        <p:spPr>
          <a:xfrm>
            <a:off x="7589520" y="2926080"/>
            <a:ext cx="3840480" cy="457200"/>
          </a:xfrm>
          <a:prstGeom prst="rect">
            <a:avLst/>
          </a:prstGeom>
          <a:noFill/>
          <a:ln/>
        </p:spPr>
        <p:txBody>
          <a:bodyPr wrap="square" lIns="0" tIns="0" rIns="0" bIns="0" rtlCol="0" anchor="ctr"/>
          <a:lstStyle/>
          <a:p>
            <a:pPr marL="0" indent="0">
              <a:buNone/>
            </a:pPr>
            <a:r>
              <a:rPr lang="en-US" sz="1200" i="1" dirty="0">
                <a:solidFill>
                  <a:srgbClr val="5B6B7F"/>
                </a:solidFill>
                <a:latin typeface="Calibri" pitchFamily="34" charset="0"/>
                <a:ea typeface="Calibri" pitchFamily="34" charset="-122"/>
                <a:cs typeface="Calibri" pitchFamily="34" charset="-120"/>
              </a:rPr>
              <a:t>sobre horas_investigacion_sem: un tibble de una fila, fácil de apilar.</a:t>
            </a:r>
            <a:endParaRPr lang="en-US" sz="1200" dirty="0"/>
          </a:p>
        </p:txBody>
      </p:sp>
      <p:sp>
        <p:nvSpPr>
          <p:cNvPr id="13" name="Shape 9"/>
          <p:cNvSpPr/>
          <p:nvPr/>
        </p:nvSpPr>
        <p:spPr>
          <a:xfrm>
            <a:off x="548640" y="4069080"/>
            <a:ext cx="3584448" cy="1463040"/>
          </a:xfrm>
          <a:prstGeom prst="roundRect">
            <a:avLst>
              <a:gd name="adj" fmla="val 4375"/>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4" name="Text 10"/>
          <p:cNvSpPr txBox="1"/>
          <p:nvPr/>
        </p:nvSpPr>
        <p:spPr>
          <a:xfrm>
            <a:off x="822960" y="4206240"/>
            <a:ext cx="3108960" cy="548640"/>
          </a:xfrm>
          <a:prstGeom prst="rect">
            <a:avLst/>
          </a:prstGeom>
          <a:noFill/>
          <a:ln/>
        </p:spPr>
        <p:txBody>
          <a:bodyPr wrap="square" lIns="0" tIns="0" rIns="0" bIns="0" rtlCol="0" anchor="t"/>
          <a:lstStyle/>
          <a:p>
            <a:pPr marL="0" indent="0">
              <a:buNone/>
            </a:pPr>
            <a:r>
              <a:rPr lang="en-US" sz="1350" b="1" dirty="0">
                <a:solidFill>
                  <a:srgbClr val="21295C"/>
                </a:solidFill>
                <a:latin typeface="Calibri" pitchFamily="34" charset="0"/>
                <a:ea typeface="Calibri" pitchFamily="34" charset="-122"/>
                <a:cs typeface="Calibri" pitchFamily="34" charset="-120"/>
              </a:rPr>
              <a:t>Un tibble se puede apilar</a:t>
            </a:r>
            <a:endParaRPr lang="en-US" sz="1350" dirty="0"/>
          </a:p>
        </p:txBody>
      </p:sp>
      <p:sp>
        <p:nvSpPr>
          <p:cNvPr id="15" name="Text 11"/>
          <p:cNvSpPr txBox="1"/>
          <p:nvPr/>
        </p:nvSpPr>
        <p:spPr>
          <a:xfrm>
            <a:off x="822960" y="4663440"/>
            <a:ext cx="3108960" cy="777240"/>
          </a:xfrm>
          <a:prstGeom prst="rect">
            <a:avLst/>
          </a:prstGeom>
          <a:noFill/>
          <a:ln/>
        </p:spPr>
        <p:txBody>
          <a:bodyPr wrap="square" lIns="0" tIns="0" rIns="0" bIns="0" rtlCol="0" anchor="t"/>
          <a:lstStyle/>
          <a:p>
            <a:pPr marL="0" indent="0">
              <a:buNone/>
            </a:pPr>
            <a:r>
              <a:rPr lang="en-US" sz="1250" dirty="0">
                <a:solidFill>
                  <a:srgbClr val="5B6B7F"/>
                </a:solidFill>
                <a:latin typeface="Calibri" pitchFamily="34" charset="0"/>
                <a:ea typeface="Calibri" pitchFamily="34" charset="-122"/>
                <a:cs typeface="Calibri" pitchFamily="34" charset="-120"/>
              </a:rPr>
              <a:t>En la Parte 2 los combinaremos con list_rbind().</a:t>
            </a:r>
            <a:endParaRPr lang="en-US" sz="1250" dirty="0"/>
          </a:p>
        </p:txBody>
      </p:sp>
      <p:sp>
        <p:nvSpPr>
          <p:cNvPr id="16" name="Shape 12"/>
          <p:cNvSpPr/>
          <p:nvPr/>
        </p:nvSpPr>
        <p:spPr>
          <a:xfrm>
            <a:off x="4297680" y="4069080"/>
            <a:ext cx="3584448" cy="1463040"/>
          </a:xfrm>
          <a:prstGeom prst="roundRect">
            <a:avLst>
              <a:gd name="adj" fmla="val 4375"/>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7" name="Text 13"/>
          <p:cNvSpPr txBox="1"/>
          <p:nvPr/>
        </p:nvSpPr>
        <p:spPr>
          <a:xfrm>
            <a:off x="4572000" y="4206240"/>
            <a:ext cx="3108960" cy="548640"/>
          </a:xfrm>
          <a:prstGeom prst="rect">
            <a:avLst/>
          </a:prstGeom>
          <a:noFill/>
          <a:ln/>
        </p:spPr>
        <p:txBody>
          <a:bodyPr wrap="square" lIns="0" tIns="0" rIns="0" bIns="0" rtlCol="0" anchor="t"/>
          <a:lstStyle/>
          <a:p>
            <a:pPr marL="0" indent="0">
              <a:buNone/>
            </a:pPr>
            <a:r>
              <a:rPr lang="en-US" sz="1350" b="1" dirty="0">
                <a:solidFill>
                  <a:srgbClr val="21295C"/>
                </a:solidFill>
                <a:latin typeface="Calibri" pitchFamily="34" charset="0"/>
                <a:ea typeface="Calibri" pitchFamily="34" charset="-122"/>
                <a:cs typeface="Calibri" pitchFamily="34" charset="-120"/>
              </a:rPr>
              <a:t>Funciones sobre funciones</a:t>
            </a:r>
            <a:endParaRPr lang="en-US" sz="1350" dirty="0"/>
          </a:p>
        </p:txBody>
      </p:sp>
      <p:sp>
        <p:nvSpPr>
          <p:cNvPr id="18" name="Text 14"/>
          <p:cNvSpPr txBox="1"/>
          <p:nvPr/>
        </p:nvSpPr>
        <p:spPr>
          <a:xfrm>
            <a:off x="4572000" y="4663440"/>
            <a:ext cx="3108960" cy="777240"/>
          </a:xfrm>
          <a:prstGeom prst="rect">
            <a:avLst/>
          </a:prstGeom>
          <a:noFill/>
          <a:ln/>
        </p:spPr>
        <p:txBody>
          <a:bodyPr wrap="square" lIns="0" tIns="0" rIns="0" bIns="0" rtlCol="0" anchor="t"/>
          <a:lstStyle/>
          <a:p>
            <a:pPr marL="0" indent="0">
              <a:buNone/>
            </a:pPr>
            <a:r>
              <a:rPr lang="en-US" sz="1250" dirty="0">
                <a:solidFill>
                  <a:srgbClr val="5B6B7F"/>
                </a:solidFill>
                <a:latin typeface="Calibri" pitchFamily="34" charset="0"/>
                <a:ea typeface="Calibri" pitchFamily="34" charset="-122"/>
                <a:cs typeface="Calibri" pitchFamily="34" charset="-120"/>
              </a:rPr>
              <a:t>resumen_num() usa error_estandar() por dentro.</a:t>
            </a:r>
            <a:endParaRPr lang="en-US" sz="1250" dirty="0"/>
          </a:p>
        </p:txBody>
      </p:sp>
      <p:sp>
        <p:nvSpPr>
          <p:cNvPr id="19" name="Shape 15"/>
          <p:cNvSpPr/>
          <p:nvPr/>
        </p:nvSpPr>
        <p:spPr>
          <a:xfrm>
            <a:off x="8046720" y="4069080"/>
            <a:ext cx="3584448" cy="1463040"/>
          </a:xfrm>
          <a:prstGeom prst="roundRect">
            <a:avLst>
              <a:gd name="adj" fmla="val 4375"/>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0" name="Text 16"/>
          <p:cNvSpPr txBox="1"/>
          <p:nvPr/>
        </p:nvSpPr>
        <p:spPr>
          <a:xfrm>
            <a:off x="8321040" y="4206240"/>
            <a:ext cx="3108960" cy="548640"/>
          </a:xfrm>
          <a:prstGeom prst="rect">
            <a:avLst/>
          </a:prstGeom>
          <a:noFill/>
          <a:ln/>
        </p:spPr>
        <p:txBody>
          <a:bodyPr wrap="square" lIns="0" tIns="0" rIns="0" bIns="0" rtlCol="0" anchor="t"/>
          <a:lstStyle/>
          <a:p>
            <a:pPr marL="0" indent="0">
              <a:buNone/>
            </a:pPr>
            <a:r>
              <a:rPr lang="en-US" sz="1350" b="1" dirty="0">
                <a:solidFill>
                  <a:srgbClr val="21295C"/>
                </a:solidFill>
                <a:latin typeface="Calibri" pitchFamily="34" charset="0"/>
                <a:ea typeface="Calibri" pitchFamily="34" charset="-122"/>
                <a:cs typeface="Calibri" pitchFamily="34" charset="-120"/>
              </a:rPr>
              <a:t>return() solo para salidas tempranas</a:t>
            </a:r>
            <a:endParaRPr lang="en-US" sz="1350" dirty="0"/>
          </a:p>
        </p:txBody>
      </p:sp>
      <p:sp>
        <p:nvSpPr>
          <p:cNvPr id="21" name="Text 17"/>
          <p:cNvSpPr txBox="1"/>
          <p:nvPr/>
        </p:nvSpPr>
        <p:spPr>
          <a:xfrm>
            <a:off x="8321040" y="4663440"/>
            <a:ext cx="3108960" cy="777240"/>
          </a:xfrm>
          <a:prstGeom prst="rect">
            <a:avLst/>
          </a:prstGeom>
          <a:noFill/>
          <a:ln/>
        </p:spPr>
        <p:txBody>
          <a:bodyPr wrap="square" lIns="0" tIns="0" rIns="0" bIns="0" rtlCol="0" anchor="t"/>
          <a:lstStyle/>
          <a:p>
            <a:pPr marL="0" indent="0">
              <a:buNone/>
            </a:pPr>
            <a:r>
              <a:rPr lang="en-US" sz="1250" dirty="0">
                <a:solidFill>
                  <a:srgbClr val="5B6B7F"/>
                </a:solidFill>
                <a:latin typeface="Calibri" pitchFamily="34" charset="0"/>
                <a:ea typeface="Calibri" pitchFamily="34" charset="-122"/>
                <a:cs typeface="Calibri" pitchFamily="34" charset="-120"/>
              </a:rPr>
              <a:t>Por ejemplo, después de una validación.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FUNCIONES PROPIAS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Chequeo rápido: responde en el chat</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11</a:t>
            </a:r>
            <a:endParaRPr lang="en-US" sz="800" dirty="0"/>
          </a:p>
        </p:txBody>
      </p:sp>
      <p:sp>
        <p:nvSpPr>
          <p:cNvPr id="7" name="Shape 4"/>
          <p:cNvSpPr/>
          <p:nvPr/>
        </p:nvSpPr>
        <p:spPr>
          <a:xfrm>
            <a:off x="548640" y="1463040"/>
            <a:ext cx="11091672" cy="581406"/>
          </a:xfrm>
          <a:prstGeom prst="roundRect">
            <a:avLst>
              <a:gd name="adj" fmla="val 9436"/>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10725912" cy="270510"/>
          </a:xfrm>
          <a:prstGeom prst="rect">
            <a:avLst/>
          </a:prstGeom>
          <a:noFill/>
          <a:ln/>
        </p:spPr>
        <p:txBody>
          <a:bodyPr wrap="square" lIns="0" tIns="0" rIns="0" bIns="0" rtlCol="0" anchor="t"/>
          <a:lstStyle/>
          <a:p>
            <a:pPr marL="0" indent="0">
              <a:lnSpc>
                <a:spcPts val="2130"/>
              </a:lnSpc>
              <a:buNone/>
            </a:pPr>
            <a:r>
              <a:rPr lang="en-US" sz="1500" dirty="0">
                <a:solidFill>
                  <a:srgbClr val="E6EDF7"/>
                </a:solidFill>
                <a:latin typeface="Courier New" pitchFamily="34" charset="0"/>
                <a:ea typeface="Courier New" pitchFamily="34" charset="-122"/>
                <a:cs typeface="Courier New" pitchFamily="34" charset="-120"/>
              </a:rPr>
              <a:t>f </a:t>
            </a:r>
            <a:r>
              <a:rPr lang="en-US" sz="1500" dirty="0">
                <a:solidFill>
                  <a:srgbClr val="A5D8FF"/>
                </a:solidFill>
                <a:latin typeface="Courier New" pitchFamily="34" charset="0"/>
                <a:ea typeface="Courier New" pitchFamily="34" charset="-122"/>
                <a:cs typeface="Courier New" pitchFamily="34" charset="-120"/>
              </a:rPr>
              <a:t>&lt;-</a:t>
            </a:r>
            <a:r>
              <a:rPr lang="en-US" sz="1500" dirty="0">
                <a:solidFill>
                  <a:srgbClr val="E6EDF7"/>
                </a:solidFill>
                <a:latin typeface="Courier New" pitchFamily="34" charset="0"/>
                <a:ea typeface="Courier New" pitchFamily="34" charset="-122"/>
                <a:cs typeface="Courier New" pitchFamily="34" charset="-120"/>
              </a:rPr>
              <a:t> </a:t>
            </a:r>
            <a:r>
              <a:rPr lang="en-US" sz="1500" dirty="0">
                <a:solidFill>
                  <a:srgbClr val="C9B8FF"/>
                </a:solidFill>
                <a:latin typeface="Courier New" pitchFamily="34" charset="0"/>
                <a:ea typeface="Courier New" pitchFamily="34" charset="-122"/>
                <a:cs typeface="Courier New" pitchFamily="34" charset="-120"/>
              </a:rPr>
              <a:t>function</a:t>
            </a:r>
            <a:r>
              <a:rPr lang="en-US" sz="1500" dirty="0">
                <a:solidFill>
                  <a:srgbClr val="E6EDF7"/>
                </a:solidFill>
                <a:latin typeface="Courier New" pitchFamily="34" charset="0"/>
                <a:ea typeface="Courier New" pitchFamily="34" charset="-122"/>
                <a:cs typeface="Courier New" pitchFamily="34" charset="-120"/>
              </a:rPr>
              <a:t>(x, y = </a:t>
            </a:r>
            <a:r>
              <a:rPr lang="en-US" sz="1500" dirty="0">
                <a:solidFill>
                  <a:srgbClr val="F2C97D"/>
                </a:solidFill>
                <a:latin typeface="Courier New" pitchFamily="34" charset="0"/>
                <a:ea typeface="Courier New" pitchFamily="34" charset="-122"/>
                <a:cs typeface="Courier New" pitchFamily="34" charset="-120"/>
              </a:rPr>
              <a:t>2</a:t>
            </a:r>
            <a:r>
              <a:rPr lang="en-US" sz="1500" dirty="0">
                <a:solidFill>
                  <a:srgbClr val="E6EDF7"/>
                </a:solidFill>
                <a:latin typeface="Courier New" pitchFamily="34" charset="0"/>
                <a:ea typeface="Courier New" pitchFamily="34" charset="-122"/>
                <a:cs typeface="Courier New" pitchFamily="34" charset="-120"/>
              </a:rPr>
              <a:t>) x * y</a:t>
            </a:r>
            <a:endParaRPr lang="en-US" sz="1500" dirty="0"/>
          </a:p>
        </p:txBody>
      </p:sp>
      <p:sp>
        <p:nvSpPr>
          <p:cNvPr id="9" name="Shape 6"/>
          <p:cNvSpPr/>
          <p:nvPr/>
        </p:nvSpPr>
        <p:spPr>
          <a:xfrm>
            <a:off x="548640" y="2514600"/>
            <a:ext cx="3584448" cy="3017520"/>
          </a:xfrm>
          <a:prstGeom prst="roundRect">
            <a:avLst>
              <a:gd name="adj" fmla="val 2121"/>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0" name="Shape 7"/>
          <p:cNvSpPr/>
          <p:nvPr/>
        </p:nvSpPr>
        <p:spPr>
          <a:xfrm>
            <a:off x="777240" y="2697480"/>
            <a:ext cx="457200" cy="457200"/>
          </a:xfrm>
          <a:prstGeom prst="ellipse">
            <a:avLst/>
          </a:prstGeom>
          <a:solidFill>
            <a:srgbClr val="21295C"/>
          </a:solidFill>
          <a:ln w="12700">
            <a:solidFill>
              <a:srgbClr val="21295C"/>
            </a:solidFill>
            <a:prstDash val="solid"/>
          </a:ln>
        </p:spPr>
        <p:txBody>
          <a:bodyPr/>
          <a:lstStyle/>
          <a:p>
            <a:endParaRPr lang="es-CL"/>
          </a:p>
        </p:txBody>
      </p:sp>
      <p:sp>
        <p:nvSpPr>
          <p:cNvPr id="11" name="Text 8"/>
          <p:cNvSpPr txBox="1"/>
          <p:nvPr/>
        </p:nvSpPr>
        <p:spPr>
          <a:xfrm>
            <a:off x="777240" y="2697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2" name="Shape 9"/>
          <p:cNvSpPr/>
          <p:nvPr/>
        </p:nvSpPr>
        <p:spPr>
          <a:xfrm>
            <a:off x="777240" y="3337560"/>
            <a:ext cx="3127248" cy="1188720"/>
          </a:xfrm>
          <a:prstGeom prst="roundRect">
            <a:avLst>
              <a:gd name="adj" fmla="val 3846"/>
            </a:avLst>
          </a:prstGeom>
          <a:solidFill>
            <a:srgbClr val="162044"/>
          </a:solidFill>
          <a:ln w="12700">
            <a:solidFill>
              <a:srgbClr val="162044"/>
            </a:solidFill>
            <a:prstDash val="solid"/>
          </a:ln>
        </p:spPr>
        <p:txBody>
          <a:bodyPr/>
          <a:lstStyle/>
          <a:p>
            <a:endParaRPr lang="es-CL"/>
          </a:p>
        </p:txBody>
      </p:sp>
      <p:sp>
        <p:nvSpPr>
          <p:cNvPr id="13" name="Text 10"/>
          <p:cNvSpPr txBox="1"/>
          <p:nvPr/>
        </p:nvSpPr>
        <p:spPr>
          <a:xfrm>
            <a:off x="914400" y="3337560"/>
            <a:ext cx="2926080" cy="1188720"/>
          </a:xfrm>
          <a:prstGeom prst="rect">
            <a:avLst/>
          </a:prstGeom>
          <a:noFill/>
          <a:ln/>
        </p:spPr>
        <p:txBody>
          <a:bodyPr wrap="square" lIns="0" tIns="0" rIns="0" bIns="0" rtlCol="0" anchor="ctr"/>
          <a:lstStyle/>
          <a:p>
            <a:pPr marL="0" indent="0">
              <a:lnSpc>
                <a:spcPts val="1800"/>
              </a:lnSpc>
              <a:buNone/>
            </a:pPr>
            <a:r>
              <a:rPr lang="en-US" sz="1250" dirty="0">
                <a:solidFill>
                  <a:srgbClr val="7DD3FC"/>
                </a:solidFill>
                <a:latin typeface="Courier New" pitchFamily="34" charset="0"/>
                <a:ea typeface="Courier New" pitchFamily="34" charset="-122"/>
                <a:cs typeface="Courier New" pitchFamily="34" charset="-120"/>
              </a:rPr>
              <a:t>f</a:t>
            </a:r>
            <a:r>
              <a:rPr lang="en-US" sz="1250" dirty="0">
                <a:solidFill>
                  <a:srgbClr val="E6EDF7"/>
                </a:solidFill>
                <a:latin typeface="Courier New" pitchFamily="34" charset="0"/>
                <a:ea typeface="Courier New" pitchFamily="34" charset="-122"/>
                <a:cs typeface="Courier New" pitchFamily="34" charset="-120"/>
              </a:rPr>
              <a:t>(</a:t>
            </a:r>
            <a:r>
              <a:rPr lang="en-US" sz="1250" dirty="0">
                <a:solidFill>
                  <a:srgbClr val="F2C97D"/>
                </a:solidFill>
                <a:latin typeface="Courier New" pitchFamily="34" charset="0"/>
                <a:ea typeface="Courier New" pitchFamily="34" charset="-122"/>
                <a:cs typeface="Courier New" pitchFamily="34" charset="-120"/>
              </a:rPr>
              <a:t>5</a:t>
            </a: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4" name="Text 11"/>
          <p:cNvSpPr txBox="1"/>
          <p:nvPr/>
        </p:nvSpPr>
        <p:spPr>
          <a:xfrm>
            <a:off x="777240" y="4709160"/>
            <a:ext cx="3108960" cy="731520"/>
          </a:xfrm>
          <a:prstGeom prst="rect">
            <a:avLst/>
          </a:prstGeom>
          <a:noFill/>
          <a:ln/>
        </p:spPr>
        <p:txBody>
          <a:bodyPr wrap="square" lIns="0" tIns="0" rIns="0" bIns="0" rtlCol="0" anchor="t"/>
          <a:lstStyle/>
          <a:p>
            <a:pPr marL="0" indent="0">
              <a:buNone/>
            </a:pPr>
            <a:r>
              <a:rPr lang="en-US" sz="1400" b="1" dirty="0">
                <a:solidFill>
                  <a:srgbClr val="21295C"/>
                </a:solidFill>
                <a:latin typeface="Calibri" pitchFamily="34" charset="0"/>
                <a:ea typeface="Calibri" pitchFamily="34" charset="-122"/>
                <a:cs typeface="Calibri" pitchFamily="34" charset="-120"/>
              </a:rPr>
              <a:t>¿Qué devuelve?</a:t>
            </a:r>
            <a:endParaRPr lang="en-US" sz="1400" dirty="0"/>
          </a:p>
        </p:txBody>
      </p:sp>
      <p:sp>
        <p:nvSpPr>
          <p:cNvPr id="15" name="Shape 12"/>
          <p:cNvSpPr/>
          <p:nvPr/>
        </p:nvSpPr>
        <p:spPr>
          <a:xfrm>
            <a:off x="4297680" y="2514600"/>
            <a:ext cx="3584448" cy="3017520"/>
          </a:xfrm>
          <a:prstGeom prst="roundRect">
            <a:avLst>
              <a:gd name="adj" fmla="val 2121"/>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6" name="Shape 13"/>
          <p:cNvSpPr/>
          <p:nvPr/>
        </p:nvSpPr>
        <p:spPr>
          <a:xfrm>
            <a:off x="4526280" y="2697480"/>
            <a:ext cx="457200" cy="457200"/>
          </a:xfrm>
          <a:prstGeom prst="ellipse">
            <a:avLst/>
          </a:prstGeom>
          <a:solidFill>
            <a:srgbClr val="065A82"/>
          </a:solidFill>
          <a:ln w="12700">
            <a:solidFill>
              <a:srgbClr val="065A82"/>
            </a:solidFill>
            <a:prstDash val="solid"/>
          </a:ln>
        </p:spPr>
        <p:txBody>
          <a:bodyPr/>
          <a:lstStyle/>
          <a:p>
            <a:endParaRPr lang="es-CL"/>
          </a:p>
        </p:txBody>
      </p:sp>
      <p:sp>
        <p:nvSpPr>
          <p:cNvPr id="17" name="Text 14"/>
          <p:cNvSpPr txBox="1"/>
          <p:nvPr/>
        </p:nvSpPr>
        <p:spPr>
          <a:xfrm>
            <a:off x="4526280" y="2697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8" name="Shape 15"/>
          <p:cNvSpPr/>
          <p:nvPr/>
        </p:nvSpPr>
        <p:spPr>
          <a:xfrm>
            <a:off x="4526280" y="3337560"/>
            <a:ext cx="3127248" cy="1188720"/>
          </a:xfrm>
          <a:prstGeom prst="roundRect">
            <a:avLst>
              <a:gd name="adj" fmla="val 3846"/>
            </a:avLst>
          </a:prstGeom>
          <a:solidFill>
            <a:srgbClr val="162044"/>
          </a:solidFill>
          <a:ln w="12700">
            <a:solidFill>
              <a:srgbClr val="162044"/>
            </a:solidFill>
            <a:prstDash val="solid"/>
          </a:ln>
        </p:spPr>
        <p:txBody>
          <a:bodyPr/>
          <a:lstStyle/>
          <a:p>
            <a:endParaRPr lang="es-CL"/>
          </a:p>
        </p:txBody>
      </p:sp>
      <p:sp>
        <p:nvSpPr>
          <p:cNvPr id="19" name="Text 16"/>
          <p:cNvSpPr txBox="1"/>
          <p:nvPr/>
        </p:nvSpPr>
        <p:spPr>
          <a:xfrm>
            <a:off x="4663440" y="3337560"/>
            <a:ext cx="2926080" cy="1188720"/>
          </a:xfrm>
          <a:prstGeom prst="rect">
            <a:avLst/>
          </a:prstGeom>
          <a:noFill/>
          <a:ln/>
        </p:spPr>
        <p:txBody>
          <a:bodyPr wrap="square" lIns="0" tIns="0" rIns="0" bIns="0" rtlCol="0" anchor="ctr"/>
          <a:lstStyle/>
          <a:p>
            <a:pPr marL="0" indent="0">
              <a:lnSpc>
                <a:spcPts val="1800"/>
              </a:lnSpc>
              <a:buNone/>
            </a:pPr>
            <a:r>
              <a:rPr lang="en-US" sz="1250" dirty="0">
                <a:solidFill>
                  <a:srgbClr val="7DD3FC"/>
                </a:solidFill>
                <a:latin typeface="Courier New" pitchFamily="34" charset="0"/>
                <a:ea typeface="Courier New" pitchFamily="34" charset="-122"/>
                <a:cs typeface="Courier New" pitchFamily="34" charset="-120"/>
              </a:rPr>
              <a:t>f</a:t>
            </a:r>
            <a:r>
              <a:rPr lang="en-US" sz="1250" dirty="0">
                <a:solidFill>
                  <a:srgbClr val="E6EDF7"/>
                </a:solidFill>
                <a:latin typeface="Courier New" pitchFamily="34" charset="0"/>
                <a:ea typeface="Courier New" pitchFamily="34" charset="-122"/>
                <a:cs typeface="Courier New" pitchFamily="34" charset="-120"/>
              </a:rPr>
              <a:t>(y = </a:t>
            </a:r>
            <a:r>
              <a:rPr lang="en-US" sz="1250" dirty="0">
                <a:solidFill>
                  <a:srgbClr val="F2C97D"/>
                </a:solidFill>
                <a:latin typeface="Courier New" pitchFamily="34" charset="0"/>
                <a:ea typeface="Courier New" pitchFamily="34" charset="-122"/>
                <a:cs typeface="Courier New" pitchFamily="34" charset="-120"/>
              </a:rPr>
              <a:t>3</a:t>
            </a:r>
            <a:r>
              <a:rPr lang="en-US" sz="1250" dirty="0">
                <a:solidFill>
                  <a:srgbClr val="E6EDF7"/>
                </a:solidFill>
                <a:latin typeface="Courier New" pitchFamily="34" charset="0"/>
                <a:ea typeface="Courier New" pitchFamily="34" charset="-122"/>
                <a:cs typeface="Courier New" pitchFamily="34" charset="-120"/>
              </a:rPr>
              <a:t>, </a:t>
            </a:r>
            <a:r>
              <a:rPr lang="en-US" sz="1250" dirty="0">
                <a:solidFill>
                  <a:srgbClr val="F2C97D"/>
                </a:solidFill>
                <a:latin typeface="Courier New" pitchFamily="34" charset="0"/>
                <a:ea typeface="Courier New" pitchFamily="34" charset="-122"/>
                <a:cs typeface="Courier New" pitchFamily="34" charset="-120"/>
              </a:rPr>
              <a:t>4</a:t>
            </a: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20" name="Text 17"/>
          <p:cNvSpPr txBox="1"/>
          <p:nvPr/>
        </p:nvSpPr>
        <p:spPr>
          <a:xfrm>
            <a:off x="4526280" y="4709160"/>
            <a:ext cx="3108960" cy="731520"/>
          </a:xfrm>
          <a:prstGeom prst="rect">
            <a:avLst/>
          </a:prstGeom>
          <a:noFill/>
          <a:ln/>
        </p:spPr>
        <p:txBody>
          <a:bodyPr wrap="square" lIns="0" tIns="0" rIns="0" bIns="0" rtlCol="0" anchor="t"/>
          <a:lstStyle/>
          <a:p>
            <a:pPr marL="0" indent="0">
              <a:buNone/>
            </a:pPr>
            <a:r>
              <a:rPr lang="en-US" sz="1400" b="1" dirty="0">
                <a:solidFill>
                  <a:srgbClr val="21295C"/>
                </a:solidFill>
                <a:latin typeface="Calibri" pitchFamily="34" charset="0"/>
                <a:ea typeface="Calibri" pitchFamily="34" charset="-122"/>
                <a:cs typeface="Calibri" pitchFamily="34" charset="-120"/>
              </a:rPr>
              <a:t>¿Y esto?</a:t>
            </a:r>
            <a:endParaRPr lang="en-US" sz="1400" dirty="0"/>
          </a:p>
        </p:txBody>
      </p:sp>
      <p:sp>
        <p:nvSpPr>
          <p:cNvPr id="21" name="Shape 18"/>
          <p:cNvSpPr/>
          <p:nvPr/>
        </p:nvSpPr>
        <p:spPr>
          <a:xfrm>
            <a:off x="8046720" y="2514600"/>
            <a:ext cx="3584448" cy="3017520"/>
          </a:xfrm>
          <a:prstGeom prst="roundRect">
            <a:avLst>
              <a:gd name="adj" fmla="val 2121"/>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2" name="Shape 19"/>
          <p:cNvSpPr/>
          <p:nvPr/>
        </p:nvSpPr>
        <p:spPr>
          <a:xfrm>
            <a:off x="8275320" y="2697480"/>
            <a:ext cx="457200" cy="457200"/>
          </a:xfrm>
          <a:prstGeom prst="ellipse">
            <a:avLst/>
          </a:prstGeom>
          <a:solidFill>
            <a:srgbClr val="1C7293"/>
          </a:solidFill>
          <a:ln w="12700">
            <a:solidFill>
              <a:srgbClr val="1C7293"/>
            </a:solidFill>
            <a:prstDash val="solid"/>
          </a:ln>
        </p:spPr>
        <p:txBody>
          <a:bodyPr/>
          <a:lstStyle/>
          <a:p>
            <a:endParaRPr lang="es-CL"/>
          </a:p>
        </p:txBody>
      </p:sp>
      <p:sp>
        <p:nvSpPr>
          <p:cNvPr id="23" name="Text 20"/>
          <p:cNvSpPr txBox="1"/>
          <p:nvPr/>
        </p:nvSpPr>
        <p:spPr>
          <a:xfrm>
            <a:off x="8275320" y="2697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Shape 21"/>
          <p:cNvSpPr/>
          <p:nvPr/>
        </p:nvSpPr>
        <p:spPr>
          <a:xfrm>
            <a:off x="8275320" y="3337560"/>
            <a:ext cx="3127248" cy="1188720"/>
          </a:xfrm>
          <a:prstGeom prst="roundRect">
            <a:avLst>
              <a:gd name="adj" fmla="val 3846"/>
            </a:avLst>
          </a:prstGeom>
          <a:solidFill>
            <a:srgbClr val="162044"/>
          </a:solidFill>
          <a:ln w="12700">
            <a:solidFill>
              <a:srgbClr val="162044"/>
            </a:solidFill>
            <a:prstDash val="solid"/>
          </a:ln>
        </p:spPr>
        <p:txBody>
          <a:bodyPr/>
          <a:lstStyle/>
          <a:p>
            <a:endParaRPr lang="es-CL"/>
          </a:p>
        </p:txBody>
      </p:sp>
      <p:sp>
        <p:nvSpPr>
          <p:cNvPr id="25" name="Text 22"/>
          <p:cNvSpPr txBox="1"/>
          <p:nvPr/>
        </p:nvSpPr>
        <p:spPr>
          <a:xfrm>
            <a:off x="8412480" y="3337560"/>
            <a:ext cx="2926080" cy="1188720"/>
          </a:xfrm>
          <a:prstGeom prst="rect">
            <a:avLst/>
          </a:prstGeom>
          <a:noFill/>
          <a:ln/>
        </p:spPr>
        <p:txBody>
          <a:bodyPr wrap="square" lIns="0" tIns="0" rIns="0" bIns="0" rtlCol="0" anchor="ctr"/>
          <a:lstStyle/>
          <a:p>
            <a:pPr marL="0" indent="0">
              <a:lnSpc>
                <a:spcPts val="1800"/>
              </a:lnSpc>
              <a:buNone/>
            </a:pPr>
            <a:r>
              <a:rPr lang="en-US" sz="1250" dirty="0">
                <a:solidFill>
                  <a:srgbClr val="E6EDF7"/>
                </a:solidFill>
                <a:latin typeface="Courier New" pitchFamily="34" charset="0"/>
                <a:ea typeface="Courier New" pitchFamily="34" charset="-122"/>
                <a:cs typeface="Courier New" pitchFamily="34" charset="-120"/>
              </a:rPr>
              <a:t>g </a:t>
            </a:r>
            <a:r>
              <a:rPr lang="en-US" sz="1250" dirty="0">
                <a:solidFill>
                  <a:srgbClr val="A5D8FF"/>
                </a:solidFill>
                <a:latin typeface="Courier New" pitchFamily="34" charset="0"/>
                <a:ea typeface="Courier New" pitchFamily="34" charset="-122"/>
                <a:cs typeface="Courier New" pitchFamily="34" charset="-120"/>
              </a:rPr>
              <a:t>&lt;-</a:t>
            </a:r>
            <a:r>
              <a:rPr lang="en-US" sz="1250" dirty="0">
                <a:solidFill>
                  <a:srgbClr val="E6EDF7"/>
                </a:solidFill>
                <a:latin typeface="Courier New" pitchFamily="34" charset="0"/>
                <a:ea typeface="Courier New" pitchFamily="34" charset="-122"/>
                <a:cs typeface="Courier New" pitchFamily="34" charset="-120"/>
              </a:rPr>
              <a:t> </a:t>
            </a:r>
            <a:r>
              <a:rPr lang="en-US" sz="1250" dirty="0">
                <a:solidFill>
                  <a:srgbClr val="C9B8FF"/>
                </a:solidFill>
                <a:latin typeface="Courier New" pitchFamily="34" charset="0"/>
                <a:ea typeface="Courier New" pitchFamily="34" charset="-122"/>
                <a:cs typeface="Courier New" pitchFamily="34" charset="-120"/>
              </a:rPr>
              <a:t>function</a:t>
            </a:r>
            <a:r>
              <a:rPr lang="en-US" sz="1250" dirty="0">
                <a:solidFill>
                  <a:srgbClr val="E6EDF7"/>
                </a:solidFill>
                <a:latin typeface="Courier New" pitchFamily="34" charset="0"/>
                <a:ea typeface="Courier New" pitchFamily="34" charset="-122"/>
                <a:cs typeface="Courier New" pitchFamily="34" charset="-120"/>
              </a:rPr>
              <a:t>(x) {</a:t>
            </a:r>
            <a:endParaRPr lang="en-US" sz="1250" dirty="0"/>
          </a:p>
          <a:p>
            <a:pPr marL="0" indent="0">
              <a:lnSpc>
                <a:spcPts val="1800"/>
              </a:lnSpc>
              <a:buNone/>
            </a:pPr>
            <a:r>
              <a:rPr lang="en-US" sz="1250" dirty="0">
                <a:solidFill>
                  <a:srgbClr val="E6EDF7"/>
                </a:solidFill>
                <a:latin typeface="Courier New" pitchFamily="34" charset="0"/>
                <a:ea typeface="Courier New" pitchFamily="34" charset="-122"/>
                <a:cs typeface="Courier New" pitchFamily="34" charset="-120"/>
              </a:rPr>
              <a:t>  x </a:t>
            </a:r>
            <a:r>
              <a:rPr lang="en-US" sz="1250" dirty="0">
                <a:solidFill>
                  <a:srgbClr val="A5D8FF"/>
                </a:solidFill>
                <a:latin typeface="Courier New" pitchFamily="34" charset="0"/>
                <a:ea typeface="Courier New" pitchFamily="34" charset="-122"/>
                <a:cs typeface="Courier New" pitchFamily="34" charset="-120"/>
              </a:rPr>
              <a:t>&lt;-</a:t>
            </a:r>
            <a:r>
              <a:rPr lang="en-US" sz="1250" dirty="0">
                <a:solidFill>
                  <a:srgbClr val="E6EDF7"/>
                </a:solidFill>
                <a:latin typeface="Courier New" pitchFamily="34" charset="0"/>
                <a:ea typeface="Courier New" pitchFamily="34" charset="-122"/>
                <a:cs typeface="Courier New" pitchFamily="34" charset="-120"/>
              </a:rPr>
              <a:t> x + </a:t>
            </a:r>
            <a:r>
              <a:rPr lang="en-US" sz="1250" dirty="0">
                <a:solidFill>
                  <a:srgbClr val="F2C97D"/>
                </a:solidFill>
                <a:latin typeface="Courier New" pitchFamily="34" charset="0"/>
                <a:ea typeface="Courier New" pitchFamily="34" charset="-122"/>
                <a:cs typeface="Courier New" pitchFamily="34" charset="-120"/>
              </a:rPr>
              <a:t>1</a:t>
            </a:r>
            <a:endParaRPr lang="en-US" sz="1250" dirty="0"/>
          </a:p>
          <a:p>
            <a:pPr marL="0" indent="0">
              <a:lnSpc>
                <a:spcPts val="18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marL="0" indent="0">
              <a:lnSpc>
                <a:spcPts val="1800"/>
              </a:lnSpc>
              <a:buNone/>
            </a:pPr>
            <a:r>
              <a:rPr lang="en-US" sz="1250" dirty="0">
                <a:solidFill>
                  <a:srgbClr val="7DD3FC"/>
                </a:solidFill>
                <a:latin typeface="Courier New" pitchFamily="34" charset="0"/>
                <a:ea typeface="Courier New" pitchFamily="34" charset="-122"/>
                <a:cs typeface="Courier New" pitchFamily="34" charset="-120"/>
              </a:rPr>
              <a:t>g</a:t>
            </a:r>
            <a:r>
              <a:rPr lang="en-US" sz="1250" dirty="0">
                <a:solidFill>
                  <a:srgbClr val="E6EDF7"/>
                </a:solidFill>
                <a:latin typeface="Courier New" pitchFamily="34" charset="0"/>
                <a:ea typeface="Courier New" pitchFamily="34" charset="-122"/>
                <a:cs typeface="Courier New" pitchFamily="34" charset="-120"/>
              </a:rPr>
              <a:t>(</a:t>
            </a:r>
            <a:r>
              <a:rPr lang="en-US" sz="1250" dirty="0">
                <a:solidFill>
                  <a:srgbClr val="F2C97D"/>
                </a:solidFill>
                <a:latin typeface="Courier New" pitchFamily="34" charset="0"/>
                <a:ea typeface="Courier New" pitchFamily="34" charset="-122"/>
                <a:cs typeface="Courier New" pitchFamily="34" charset="-120"/>
              </a:rPr>
              <a:t>1</a:t>
            </a: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26" name="Text 23"/>
          <p:cNvSpPr txBox="1"/>
          <p:nvPr/>
        </p:nvSpPr>
        <p:spPr>
          <a:xfrm>
            <a:off x="8275320" y="4709160"/>
            <a:ext cx="3108960" cy="731520"/>
          </a:xfrm>
          <a:prstGeom prst="rect">
            <a:avLst/>
          </a:prstGeom>
          <a:noFill/>
          <a:ln/>
        </p:spPr>
        <p:txBody>
          <a:bodyPr wrap="square" lIns="0" tIns="0" rIns="0" bIns="0" rtlCol="0" anchor="t"/>
          <a:lstStyle/>
          <a:p>
            <a:pPr marL="0" indent="0">
              <a:buNone/>
            </a:pPr>
            <a:r>
              <a:rPr lang="en-US" sz="1400" b="1" dirty="0">
                <a:solidFill>
                  <a:srgbClr val="21295C"/>
                </a:solidFill>
                <a:latin typeface="Calibri" pitchFamily="34" charset="0"/>
                <a:ea typeface="Calibri" pitchFamily="34" charset="-122"/>
                <a:cs typeface="Calibri" pitchFamily="34" charset="-120"/>
              </a:rPr>
              <a:t>¿Qué devuelve?</a:t>
            </a:r>
            <a:endParaRPr lang="en-US" sz="1400" dirty="0"/>
          </a:p>
          <a:p>
            <a:pPr marL="0" indent="0">
              <a:buNone/>
            </a:pPr>
            <a:r>
              <a:rPr lang="en-US" sz="1400" b="1" dirty="0">
                <a:solidFill>
                  <a:srgbClr val="21295C"/>
                </a:solidFill>
                <a:latin typeface="Calibri" pitchFamily="34" charset="0"/>
                <a:ea typeface="Calibri" pitchFamily="34" charset="-122"/>
                <a:cs typeface="Calibri" pitchFamily="34" charset="-120"/>
              </a:rPr>
              <a:t>¿Qué ves en la consola?</a:t>
            </a:r>
            <a:endParaRPr lang="en-US" sz="1400" dirty="0"/>
          </a:p>
        </p:txBody>
      </p:sp>
      <p:sp>
        <p:nvSpPr>
          <p:cNvPr id="27" name="Shape 24"/>
          <p:cNvSpPr/>
          <p:nvPr/>
        </p:nvSpPr>
        <p:spPr>
          <a:xfrm>
            <a:off x="548640" y="5715000"/>
            <a:ext cx="11091672" cy="457200"/>
          </a:xfrm>
          <a:prstGeom prst="rect">
            <a:avLst/>
          </a:prstGeom>
          <a:solidFill>
            <a:srgbClr val="E4EEF2"/>
          </a:solidFill>
          <a:ln w="12700">
            <a:solidFill>
              <a:srgbClr val="E4EEF2"/>
            </a:solidFill>
            <a:prstDash val="solid"/>
          </a:ln>
        </p:spPr>
        <p:txBody>
          <a:bodyPr/>
          <a:lstStyle/>
          <a:p>
            <a:endParaRPr lang="es-CL"/>
          </a:p>
        </p:txBody>
      </p:sp>
      <p:sp>
        <p:nvSpPr>
          <p:cNvPr id="28" name="Shape 25"/>
          <p:cNvSpPr/>
          <p:nvPr/>
        </p:nvSpPr>
        <p:spPr>
          <a:xfrm>
            <a:off x="548640" y="5715000"/>
            <a:ext cx="64008" cy="457200"/>
          </a:xfrm>
          <a:prstGeom prst="rect">
            <a:avLst/>
          </a:prstGeom>
          <a:solidFill>
            <a:srgbClr val="1C7293"/>
          </a:solidFill>
          <a:ln w="12700">
            <a:solidFill>
              <a:srgbClr val="1C7293"/>
            </a:solidFill>
            <a:prstDash val="solid"/>
          </a:ln>
        </p:spPr>
        <p:txBody>
          <a:bodyPr/>
          <a:lstStyle/>
          <a:p>
            <a:endParaRPr lang="es-CL"/>
          </a:p>
        </p:txBody>
      </p:sp>
      <p:sp>
        <p:nvSpPr>
          <p:cNvPr id="29" name="Text 26"/>
          <p:cNvSpPr txBox="1"/>
          <p:nvPr/>
        </p:nvSpPr>
        <p:spPr>
          <a:xfrm>
            <a:off x="749808" y="5715000"/>
            <a:ext cx="10771632" cy="457200"/>
          </a:xfrm>
          <a:prstGeom prst="rect">
            <a:avLst/>
          </a:prstGeom>
          <a:noFill/>
          <a:ln/>
        </p:spPr>
        <p:txBody>
          <a:bodyPr wrap="square" lIns="0" tIns="0" rIns="0" bIns="0" rtlCol="0" anchor="ctr"/>
          <a:lstStyle/>
          <a:p>
            <a:pPr marL="0" indent="0">
              <a:buNone/>
            </a:pPr>
            <a:r>
              <a:rPr lang="en-US" sz="1250" i="1" dirty="0">
                <a:solidFill>
                  <a:srgbClr val="1E2A44"/>
                </a:solidFill>
                <a:latin typeface="Calibri" pitchFamily="34" charset="0"/>
                <a:ea typeface="Calibri" pitchFamily="34" charset="-122"/>
                <a:cs typeface="Calibri" pitchFamily="34" charset="-120"/>
              </a:rPr>
              <a:t>Escribe tus respuestas en el chat. Las comentamos juntos.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FUNCIONES PROPIAS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Validar entradas: stop(), warning(), stopifnot()</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12</a:t>
            </a:r>
            <a:endParaRPr lang="en-US" sz="800" dirty="0"/>
          </a:p>
        </p:txBody>
      </p:sp>
      <p:sp>
        <p:nvSpPr>
          <p:cNvPr id="7" name="Shape 4"/>
          <p:cNvSpPr/>
          <p:nvPr/>
        </p:nvSpPr>
        <p:spPr>
          <a:xfrm>
            <a:off x="548640" y="1463040"/>
            <a:ext cx="7223760" cy="2691384"/>
          </a:xfrm>
          <a:prstGeom prst="roundRect">
            <a:avLst>
              <a:gd name="adj" fmla="val 2039"/>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6858000" cy="2380488"/>
          </a:xfrm>
          <a:prstGeom prst="rect">
            <a:avLst/>
          </a:prstGeom>
          <a:noFill/>
          <a:ln/>
        </p:spPr>
        <p:txBody>
          <a:bodyPr wrap="square" lIns="0" tIns="0" rIns="0" bIns="0" rtlCol="0" anchor="t"/>
          <a:lstStyle/>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error_estandar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C9B8FF"/>
                </a:solidFill>
                <a:latin typeface="Courier New" pitchFamily="34" charset="0"/>
                <a:ea typeface="Courier New" pitchFamily="34" charset="-122"/>
                <a:cs typeface="Courier New" pitchFamily="34" charset="-120"/>
              </a:rPr>
              <a:t>function</a:t>
            </a:r>
            <a:r>
              <a:rPr lang="en-US" sz="1200" dirty="0">
                <a:solidFill>
                  <a:srgbClr val="E6EDF7"/>
                </a:solidFill>
                <a:latin typeface="Courier New" pitchFamily="34" charset="0"/>
                <a:ea typeface="Courier New" pitchFamily="34" charset="-122"/>
                <a:cs typeface="Courier New" pitchFamily="34" charset="-120"/>
              </a:rPr>
              <a:t>(x, na.rm = </a:t>
            </a:r>
            <a:r>
              <a:rPr lang="en-US" sz="1200" dirty="0">
                <a:solidFill>
                  <a:srgbClr val="C9B8FF"/>
                </a:solidFill>
                <a:latin typeface="Courier New" pitchFamily="34" charset="0"/>
                <a:ea typeface="Courier New" pitchFamily="34" charset="-122"/>
                <a:cs typeface="Courier New" pitchFamily="34" charset="-120"/>
              </a:rPr>
              <a:t>TRUE</a:t>
            </a: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C9B8FF"/>
                </a:solidFill>
                <a:latin typeface="Courier New" pitchFamily="34" charset="0"/>
                <a:ea typeface="Courier New" pitchFamily="34" charset="-122"/>
                <a:cs typeface="Courier New" pitchFamily="34" charset="-120"/>
              </a:rPr>
              <a:t>if</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is.numeric</a:t>
            </a:r>
            <a:r>
              <a:rPr lang="en-US" sz="1200" dirty="0">
                <a:solidFill>
                  <a:srgbClr val="E6EDF7"/>
                </a:solidFill>
                <a:latin typeface="Courier New" pitchFamily="34" charset="0"/>
                <a:ea typeface="Courier New" pitchFamily="34" charset="-122"/>
                <a:cs typeface="Courier New" pitchFamily="34" charset="-120"/>
              </a:rPr>
              <a:t>(x))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stop</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F2C97D"/>
                </a:solidFill>
                <a:latin typeface="Courier New" pitchFamily="34" charset="0"/>
                <a:ea typeface="Courier New" pitchFamily="34" charset="-122"/>
                <a:cs typeface="Courier New" pitchFamily="34" charset="-120"/>
              </a:rPr>
              <a:t>"`x` debe ser numérica, no "</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class</a:t>
            </a:r>
            <a:r>
              <a:rPr lang="en-US" sz="1200" dirty="0">
                <a:solidFill>
                  <a:srgbClr val="E6EDF7"/>
                </a:solidFill>
                <a:latin typeface="Courier New" pitchFamily="34" charset="0"/>
                <a:ea typeface="Courier New" pitchFamily="34" charset="-122"/>
                <a:cs typeface="Courier New" pitchFamily="34" charset="-120"/>
              </a:rPr>
              <a:t>(x)[</a:t>
            </a:r>
            <a:r>
              <a:rPr lang="en-US" sz="1200" dirty="0">
                <a:solidFill>
                  <a:srgbClr val="F2C97D"/>
                </a:solidFill>
                <a:latin typeface="Courier New" pitchFamily="34" charset="0"/>
                <a:ea typeface="Courier New" pitchFamily="34" charset="-122"/>
                <a:cs typeface="Courier New" pitchFamily="34" charset="-120"/>
              </a:rPr>
              <a:t>1</a:t>
            </a:r>
            <a:r>
              <a:rPr lang="en-US" sz="1200" dirty="0">
                <a:solidFill>
                  <a:srgbClr val="E6EDF7"/>
                </a:solidFill>
                <a:latin typeface="Courier New" pitchFamily="34" charset="0"/>
                <a:ea typeface="Courier New" pitchFamily="34" charset="-122"/>
                <a:cs typeface="Courier New" pitchFamily="34" charset="-120"/>
              </a:rPr>
              <a:t>], call. = </a:t>
            </a:r>
            <a:r>
              <a:rPr lang="en-US" sz="1200" dirty="0">
                <a:solidFill>
                  <a:srgbClr val="C9B8FF"/>
                </a:solidFill>
                <a:latin typeface="Courier New" pitchFamily="34" charset="0"/>
                <a:ea typeface="Courier New" pitchFamily="34" charset="-122"/>
                <a:cs typeface="Courier New" pitchFamily="34" charset="-120"/>
              </a:rPr>
              <a:t>FALSE</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C9B8FF"/>
                </a:solidFill>
                <a:latin typeface="Courier New" pitchFamily="34" charset="0"/>
                <a:ea typeface="Courier New" pitchFamily="34" charset="-122"/>
                <a:cs typeface="Courier New" pitchFamily="34" charset="-120"/>
              </a:rPr>
              <a:t>if</a:t>
            </a:r>
            <a:r>
              <a:rPr lang="en-US" sz="1200" dirty="0">
                <a:solidFill>
                  <a:srgbClr val="E6EDF7"/>
                </a:solidFill>
                <a:latin typeface="Courier New" pitchFamily="34" charset="0"/>
                <a:ea typeface="Courier New" pitchFamily="34" charset="-122"/>
                <a:cs typeface="Courier New" pitchFamily="34" charset="-120"/>
              </a:rPr>
              <a:t> (na.rm) x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x[!</a:t>
            </a:r>
            <a:r>
              <a:rPr lang="en-US" sz="1200" dirty="0">
                <a:solidFill>
                  <a:srgbClr val="7DD3FC"/>
                </a:solidFill>
                <a:latin typeface="Courier New" pitchFamily="34" charset="0"/>
                <a:ea typeface="Courier New" pitchFamily="34" charset="-122"/>
                <a:cs typeface="Courier New" pitchFamily="34" charset="-120"/>
              </a:rPr>
              <a:t>is.na</a:t>
            </a:r>
            <a:r>
              <a:rPr lang="en-US" sz="1200" dirty="0">
                <a:solidFill>
                  <a:srgbClr val="E6EDF7"/>
                </a:solidFill>
                <a:latin typeface="Courier New" pitchFamily="34" charset="0"/>
                <a:ea typeface="Courier New" pitchFamily="34" charset="-122"/>
                <a:cs typeface="Courier New" pitchFamily="34" charset="-120"/>
              </a:rPr>
              <a:t>(x)]</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C9B8FF"/>
                </a:solidFill>
                <a:latin typeface="Courier New" pitchFamily="34" charset="0"/>
                <a:ea typeface="Courier New" pitchFamily="34" charset="-122"/>
                <a:cs typeface="Courier New" pitchFamily="34" charset="-120"/>
              </a:rPr>
              <a:t>if</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length</a:t>
            </a:r>
            <a:r>
              <a:rPr lang="en-US" sz="1200" dirty="0">
                <a:solidFill>
                  <a:srgbClr val="E6EDF7"/>
                </a:solidFill>
                <a:latin typeface="Courier New" pitchFamily="34" charset="0"/>
                <a:ea typeface="Courier New" pitchFamily="34" charset="-122"/>
                <a:cs typeface="Courier New" pitchFamily="34" charset="-120"/>
              </a:rPr>
              <a:t>(x) &lt; </a:t>
            </a:r>
            <a:r>
              <a:rPr lang="en-US" sz="1200" dirty="0">
                <a:solidFill>
                  <a:srgbClr val="F2C97D"/>
                </a:solidFill>
                <a:latin typeface="Courier New" pitchFamily="34" charset="0"/>
                <a:ea typeface="Courier New" pitchFamily="34" charset="-122"/>
                <a:cs typeface="Courier New" pitchFamily="34" charset="-120"/>
              </a:rPr>
              <a:t>2</a:t>
            </a: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warning</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F2C97D"/>
                </a:solidFill>
                <a:latin typeface="Courier New" pitchFamily="34" charset="0"/>
                <a:ea typeface="Courier New" pitchFamily="34" charset="-122"/>
                <a:cs typeface="Courier New" pitchFamily="34" charset="-120"/>
              </a:rPr>
              <a:t>"Se necesitan al menos 2 valores; devuelvo NA"</a:t>
            </a:r>
            <a:r>
              <a:rPr lang="en-US" sz="1200" dirty="0">
                <a:solidFill>
                  <a:srgbClr val="E6EDF7"/>
                </a:solidFill>
                <a:latin typeface="Courier New" pitchFamily="34" charset="0"/>
                <a:ea typeface="Courier New" pitchFamily="34" charset="-122"/>
                <a:cs typeface="Courier New" pitchFamily="34" charset="-120"/>
              </a:rPr>
              <a:t>, call. = </a:t>
            </a:r>
            <a:r>
              <a:rPr lang="en-US" sz="1200" dirty="0">
                <a:solidFill>
                  <a:srgbClr val="C9B8FF"/>
                </a:solidFill>
                <a:latin typeface="Courier New" pitchFamily="34" charset="0"/>
                <a:ea typeface="Courier New" pitchFamily="34" charset="-122"/>
                <a:cs typeface="Courier New" pitchFamily="34" charset="-120"/>
              </a:rPr>
              <a:t>FALSE</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C9B8FF"/>
                </a:solidFill>
                <a:latin typeface="Courier New" pitchFamily="34" charset="0"/>
                <a:ea typeface="Courier New" pitchFamily="34" charset="-122"/>
                <a:cs typeface="Courier New" pitchFamily="34" charset="-120"/>
              </a:rPr>
              <a:t>return</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C9B8FF"/>
                </a:solidFill>
                <a:latin typeface="Courier New" pitchFamily="34" charset="0"/>
                <a:ea typeface="Courier New" pitchFamily="34" charset="-122"/>
                <a:cs typeface="Courier New" pitchFamily="34" charset="-120"/>
              </a:rPr>
              <a:t>NA_real_</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sd</a:t>
            </a:r>
            <a:r>
              <a:rPr lang="en-US" sz="1200" dirty="0">
                <a:solidFill>
                  <a:srgbClr val="E6EDF7"/>
                </a:solidFill>
                <a:latin typeface="Courier New" pitchFamily="34" charset="0"/>
                <a:ea typeface="Courier New" pitchFamily="34" charset="-122"/>
                <a:cs typeface="Courier New" pitchFamily="34" charset="-120"/>
              </a:rPr>
              <a:t>(x) / </a:t>
            </a:r>
            <a:r>
              <a:rPr lang="en-US" sz="1200" dirty="0">
                <a:solidFill>
                  <a:srgbClr val="7DD3FC"/>
                </a:solidFill>
                <a:latin typeface="Courier New" pitchFamily="34" charset="0"/>
                <a:ea typeface="Courier New" pitchFamily="34" charset="-122"/>
                <a:cs typeface="Courier New" pitchFamily="34" charset="-120"/>
              </a:rPr>
              <a:t>sqrt</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7DD3FC"/>
                </a:solidFill>
                <a:latin typeface="Courier New" pitchFamily="34" charset="0"/>
                <a:ea typeface="Courier New" pitchFamily="34" charset="-122"/>
                <a:cs typeface="Courier New" pitchFamily="34" charset="-120"/>
              </a:rPr>
              <a:t>length</a:t>
            </a:r>
            <a:r>
              <a:rPr lang="en-US" sz="1200" dirty="0">
                <a:solidFill>
                  <a:srgbClr val="E6EDF7"/>
                </a:solidFill>
                <a:latin typeface="Courier New" pitchFamily="34" charset="0"/>
                <a:ea typeface="Courier New" pitchFamily="34" charset="-122"/>
                <a:cs typeface="Courier New" pitchFamily="34" charset="-120"/>
              </a:rPr>
              <a:t>(x))</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9" name="Shape 6"/>
          <p:cNvSpPr/>
          <p:nvPr/>
        </p:nvSpPr>
        <p:spPr>
          <a:xfrm>
            <a:off x="548640" y="4337304"/>
            <a:ext cx="7223760" cy="1176528"/>
          </a:xfrm>
          <a:prstGeom prst="roundRect">
            <a:avLst>
              <a:gd name="adj" fmla="val 4663"/>
            </a:avLst>
          </a:prstGeom>
          <a:solidFill>
            <a:srgbClr val="162044"/>
          </a:solidFill>
          <a:ln w="12700">
            <a:solidFill>
              <a:srgbClr val="162044"/>
            </a:solidFill>
            <a:prstDash val="solid"/>
          </a:ln>
        </p:spPr>
        <p:txBody>
          <a:bodyPr/>
          <a:lstStyle/>
          <a:p>
            <a:endParaRPr lang="es-CL"/>
          </a:p>
        </p:txBody>
      </p:sp>
      <p:sp>
        <p:nvSpPr>
          <p:cNvPr id="10" name="Text 7"/>
          <p:cNvSpPr txBox="1"/>
          <p:nvPr/>
        </p:nvSpPr>
        <p:spPr>
          <a:xfrm>
            <a:off x="731520" y="4465320"/>
            <a:ext cx="6858000" cy="865632"/>
          </a:xfrm>
          <a:prstGeom prst="rect">
            <a:avLst/>
          </a:prstGeom>
          <a:noFill/>
          <a:ln/>
        </p:spPr>
        <p:txBody>
          <a:bodyPr wrap="square" lIns="0" tIns="0" rIns="0" bIns="0" rtlCol="0" anchor="t"/>
          <a:lstStyle/>
          <a:p>
            <a:pPr marL="0" indent="0">
              <a:lnSpc>
                <a:spcPts val="1704"/>
              </a:lnSpc>
              <a:buNone/>
            </a:pPr>
            <a:r>
              <a:rPr lang="en-US" sz="1200" dirty="0">
                <a:solidFill>
                  <a:srgbClr val="7DD3FC"/>
                </a:solidFill>
                <a:latin typeface="Courier New" pitchFamily="34" charset="0"/>
                <a:ea typeface="Courier New" pitchFamily="34" charset="-122"/>
                <a:cs typeface="Courier New" pitchFamily="34" charset="-120"/>
              </a:rPr>
              <a:t>error_estandar</a:t>
            </a:r>
            <a:r>
              <a:rPr lang="en-US" sz="1200" dirty="0">
                <a:solidFill>
                  <a:srgbClr val="E6EDF7"/>
                </a:solidFill>
                <a:latin typeface="Courier New" pitchFamily="34" charset="0"/>
                <a:ea typeface="Courier New" pitchFamily="34" charset="-122"/>
                <a:cs typeface="Courier New" pitchFamily="34" charset="-120"/>
              </a:rPr>
              <a:t>(encuesta$nivel)</a:t>
            </a:r>
            <a:endParaRPr lang="en-US" sz="1200" dirty="0"/>
          </a:p>
          <a:p>
            <a:pPr marL="0" indent="0">
              <a:lnSpc>
                <a:spcPts val="1704"/>
              </a:lnSpc>
              <a:buNone/>
            </a:pPr>
            <a:r>
              <a:rPr lang="en-US" sz="1200" dirty="0">
                <a:solidFill>
                  <a:srgbClr val="8FD5B0"/>
                </a:solidFill>
                <a:latin typeface="Courier New" pitchFamily="34" charset="0"/>
                <a:ea typeface="Courier New" pitchFamily="34" charset="-122"/>
                <a:cs typeface="Courier New" pitchFamily="34" charset="-120"/>
              </a:rPr>
              <a:t>#&gt; Error: `x` debe ser numérica, no character</a:t>
            </a:r>
            <a:endParaRPr lang="en-US" sz="1200" dirty="0"/>
          </a:p>
          <a:p>
            <a:pPr marL="0" indent="0">
              <a:lnSpc>
                <a:spcPts val="1704"/>
              </a:lnSpc>
              <a:buNone/>
            </a:pPr>
            <a:r>
              <a:rPr lang="en-US" sz="1200" dirty="0">
                <a:solidFill>
                  <a:srgbClr val="7DD3FC"/>
                </a:solidFill>
                <a:latin typeface="Courier New" pitchFamily="34" charset="0"/>
                <a:ea typeface="Courier New" pitchFamily="34" charset="-122"/>
                <a:cs typeface="Courier New" pitchFamily="34" charset="-120"/>
              </a:rPr>
              <a:t>error_estandar</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F2C97D"/>
                </a:solidFill>
                <a:latin typeface="Courier New" pitchFamily="34" charset="0"/>
                <a:ea typeface="Courier New" pitchFamily="34" charset="-122"/>
                <a:cs typeface="Courier New" pitchFamily="34" charset="-120"/>
              </a:rPr>
              <a:t>5</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8FD5B0"/>
                </a:solidFill>
                <a:latin typeface="Courier New" pitchFamily="34" charset="0"/>
                <a:ea typeface="Courier New" pitchFamily="34" charset="-122"/>
                <a:cs typeface="Courier New" pitchFamily="34" charset="-120"/>
              </a:rPr>
              <a:t>#&gt; Warning: Se necesitan al menos 2 valores; devuelvo NA</a:t>
            </a:r>
            <a:endParaRPr lang="en-US" sz="1200" dirty="0"/>
          </a:p>
        </p:txBody>
      </p:sp>
      <p:sp>
        <p:nvSpPr>
          <p:cNvPr id="11" name="Shape 8"/>
          <p:cNvSpPr/>
          <p:nvPr/>
        </p:nvSpPr>
        <p:spPr>
          <a:xfrm>
            <a:off x="8092440" y="1463040"/>
            <a:ext cx="3547872" cy="4160520"/>
          </a:xfrm>
          <a:prstGeom prst="roundRect">
            <a:avLst>
              <a:gd name="adj" fmla="val 1804"/>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2" name="Text 9"/>
          <p:cNvSpPr txBox="1"/>
          <p:nvPr/>
        </p:nvSpPr>
        <p:spPr>
          <a:xfrm>
            <a:off x="8321040" y="1645920"/>
            <a:ext cx="310896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CUÁL USAR</a:t>
            </a:r>
            <a:endParaRPr lang="en-US" sz="900" dirty="0"/>
          </a:p>
        </p:txBody>
      </p:sp>
      <p:sp>
        <p:nvSpPr>
          <p:cNvPr id="13" name="Text 10"/>
          <p:cNvSpPr txBox="1"/>
          <p:nvPr/>
        </p:nvSpPr>
        <p:spPr>
          <a:xfrm>
            <a:off x="8321040" y="2011680"/>
            <a:ext cx="3108960" cy="292608"/>
          </a:xfrm>
          <a:prstGeom prst="rect">
            <a:avLst/>
          </a:prstGeom>
          <a:noFill/>
          <a:ln/>
        </p:spPr>
        <p:txBody>
          <a:bodyPr wrap="square" lIns="0" tIns="0" rIns="0" bIns="0" rtlCol="0" anchor="ctr"/>
          <a:lstStyle/>
          <a:p>
            <a:pPr marL="0" indent="0">
              <a:buNone/>
            </a:pPr>
            <a:r>
              <a:rPr lang="en-US" sz="1400" b="1" dirty="0">
                <a:solidFill>
                  <a:srgbClr val="065A82"/>
                </a:solidFill>
                <a:latin typeface="Courier New" pitchFamily="34" charset="0"/>
                <a:ea typeface="Courier New" pitchFamily="34" charset="-122"/>
                <a:cs typeface="Courier New" pitchFamily="34" charset="-120"/>
              </a:rPr>
              <a:t>stop()</a:t>
            </a:r>
            <a:endParaRPr lang="en-US" sz="1400" dirty="0"/>
          </a:p>
        </p:txBody>
      </p:sp>
      <p:sp>
        <p:nvSpPr>
          <p:cNvPr id="14" name="Text 11"/>
          <p:cNvSpPr txBox="1"/>
          <p:nvPr/>
        </p:nvSpPr>
        <p:spPr>
          <a:xfrm>
            <a:off x="8321040" y="2331720"/>
            <a:ext cx="3108960" cy="41148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Detiene la ejecución con un error.</a:t>
            </a:r>
            <a:endParaRPr lang="en-US" sz="1250" dirty="0"/>
          </a:p>
        </p:txBody>
      </p:sp>
      <p:sp>
        <p:nvSpPr>
          <p:cNvPr id="15" name="Text 12"/>
          <p:cNvSpPr txBox="1"/>
          <p:nvPr/>
        </p:nvSpPr>
        <p:spPr>
          <a:xfrm>
            <a:off x="8321040" y="2880360"/>
            <a:ext cx="3108960" cy="292608"/>
          </a:xfrm>
          <a:prstGeom prst="rect">
            <a:avLst/>
          </a:prstGeom>
          <a:noFill/>
          <a:ln/>
        </p:spPr>
        <p:txBody>
          <a:bodyPr wrap="square" lIns="0" tIns="0" rIns="0" bIns="0" rtlCol="0" anchor="ctr"/>
          <a:lstStyle/>
          <a:p>
            <a:pPr marL="0" indent="0">
              <a:buNone/>
            </a:pPr>
            <a:r>
              <a:rPr lang="en-US" sz="1400" b="1" dirty="0">
                <a:solidFill>
                  <a:srgbClr val="065A82"/>
                </a:solidFill>
                <a:latin typeface="Courier New" pitchFamily="34" charset="0"/>
                <a:ea typeface="Courier New" pitchFamily="34" charset="-122"/>
                <a:cs typeface="Courier New" pitchFamily="34" charset="-120"/>
              </a:rPr>
              <a:t>warning()</a:t>
            </a:r>
            <a:endParaRPr lang="en-US" sz="1400" dirty="0"/>
          </a:p>
        </p:txBody>
      </p:sp>
      <p:sp>
        <p:nvSpPr>
          <p:cNvPr id="16" name="Text 13"/>
          <p:cNvSpPr txBox="1"/>
          <p:nvPr/>
        </p:nvSpPr>
        <p:spPr>
          <a:xfrm>
            <a:off x="8321040" y="3200400"/>
            <a:ext cx="3108960" cy="41148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Avisa y sigue ejecutando.</a:t>
            </a:r>
            <a:endParaRPr lang="en-US" sz="1250" dirty="0"/>
          </a:p>
        </p:txBody>
      </p:sp>
      <p:sp>
        <p:nvSpPr>
          <p:cNvPr id="17" name="Text 14"/>
          <p:cNvSpPr txBox="1"/>
          <p:nvPr/>
        </p:nvSpPr>
        <p:spPr>
          <a:xfrm>
            <a:off x="8321040" y="3749040"/>
            <a:ext cx="3108960" cy="292608"/>
          </a:xfrm>
          <a:prstGeom prst="rect">
            <a:avLst/>
          </a:prstGeom>
          <a:noFill/>
          <a:ln/>
        </p:spPr>
        <p:txBody>
          <a:bodyPr wrap="square" lIns="0" tIns="0" rIns="0" bIns="0" rtlCol="0" anchor="ctr"/>
          <a:lstStyle/>
          <a:p>
            <a:pPr marL="0" indent="0">
              <a:buNone/>
            </a:pPr>
            <a:r>
              <a:rPr lang="en-US" sz="1400" b="1" dirty="0">
                <a:solidFill>
                  <a:srgbClr val="065A82"/>
                </a:solidFill>
                <a:latin typeface="Courier New" pitchFamily="34" charset="0"/>
                <a:ea typeface="Courier New" pitchFamily="34" charset="-122"/>
                <a:cs typeface="Courier New" pitchFamily="34" charset="-120"/>
              </a:rPr>
              <a:t>message()</a:t>
            </a:r>
            <a:endParaRPr lang="en-US" sz="1400" dirty="0"/>
          </a:p>
        </p:txBody>
      </p:sp>
      <p:sp>
        <p:nvSpPr>
          <p:cNvPr id="18" name="Text 15"/>
          <p:cNvSpPr txBox="1"/>
          <p:nvPr/>
        </p:nvSpPr>
        <p:spPr>
          <a:xfrm>
            <a:off x="8321040" y="4069080"/>
            <a:ext cx="3108960" cy="41148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Informa, sin alarma.</a:t>
            </a:r>
            <a:endParaRPr lang="en-US" sz="1250" dirty="0"/>
          </a:p>
        </p:txBody>
      </p:sp>
      <p:sp>
        <p:nvSpPr>
          <p:cNvPr id="19" name="Text 16"/>
          <p:cNvSpPr txBox="1"/>
          <p:nvPr/>
        </p:nvSpPr>
        <p:spPr>
          <a:xfrm>
            <a:off x="8321040" y="4617720"/>
            <a:ext cx="3108960" cy="292608"/>
          </a:xfrm>
          <a:prstGeom prst="rect">
            <a:avLst/>
          </a:prstGeom>
          <a:noFill/>
          <a:ln/>
        </p:spPr>
        <p:txBody>
          <a:bodyPr wrap="square" lIns="0" tIns="0" rIns="0" bIns="0" rtlCol="0" anchor="ctr"/>
          <a:lstStyle/>
          <a:p>
            <a:pPr marL="0" indent="0">
              <a:buNone/>
            </a:pPr>
            <a:r>
              <a:rPr lang="en-US" sz="1400" b="1" dirty="0">
                <a:solidFill>
                  <a:srgbClr val="065A82"/>
                </a:solidFill>
                <a:latin typeface="Courier New" pitchFamily="34" charset="0"/>
                <a:ea typeface="Courier New" pitchFamily="34" charset="-122"/>
                <a:cs typeface="Courier New" pitchFamily="34" charset="-120"/>
              </a:rPr>
              <a:t>stopifnot()</a:t>
            </a:r>
            <a:endParaRPr lang="en-US" sz="1400" dirty="0"/>
          </a:p>
        </p:txBody>
      </p:sp>
      <p:sp>
        <p:nvSpPr>
          <p:cNvPr id="20" name="Text 17"/>
          <p:cNvSpPr txBox="1"/>
          <p:nvPr/>
        </p:nvSpPr>
        <p:spPr>
          <a:xfrm>
            <a:off x="8321040" y="4937760"/>
            <a:ext cx="3108960" cy="41148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Atajo para comprobar condiciones.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FUNCIONES PROPIAS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Funciones que envuelven dplyr: {{ }}</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13</a:t>
            </a:r>
            <a:endParaRPr lang="en-US" sz="800" dirty="0"/>
          </a:p>
        </p:txBody>
      </p:sp>
      <p:sp>
        <p:nvSpPr>
          <p:cNvPr id="7" name="Shape 4"/>
          <p:cNvSpPr/>
          <p:nvPr/>
        </p:nvSpPr>
        <p:spPr>
          <a:xfrm>
            <a:off x="548640" y="1463040"/>
            <a:ext cx="6675120" cy="2907792"/>
          </a:xfrm>
          <a:prstGeom prst="roundRect">
            <a:avLst>
              <a:gd name="adj" fmla="val 1887"/>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6309360" cy="2596896"/>
          </a:xfrm>
          <a:prstGeom prst="rect">
            <a:avLst/>
          </a:prstGeom>
          <a:noFill/>
          <a:ln/>
        </p:spPr>
        <p:txBody>
          <a:bodyPr wrap="square" lIns="0" tIns="0" rIns="0" bIns="0" rtlCol="0" anchor="t"/>
          <a:lstStyle/>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resumir_por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C9B8FF"/>
                </a:solidFill>
                <a:latin typeface="Courier New" pitchFamily="34" charset="0"/>
                <a:ea typeface="Courier New" pitchFamily="34" charset="-122"/>
                <a:cs typeface="Courier New" pitchFamily="34" charset="-120"/>
              </a:rPr>
              <a:t>function</a:t>
            </a:r>
            <a:r>
              <a:rPr lang="en-US" sz="1200" dirty="0">
                <a:solidFill>
                  <a:srgbClr val="E6EDF7"/>
                </a:solidFill>
                <a:latin typeface="Courier New" pitchFamily="34" charset="0"/>
                <a:ea typeface="Courier New" pitchFamily="34" charset="-122"/>
                <a:cs typeface="Courier New" pitchFamily="34" charset="-120"/>
              </a:rPr>
              <a:t>(datos, grupo, variable)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datos </a:t>
            </a:r>
            <a:r>
              <a:rPr lang="en-US" sz="1200" dirty="0">
                <a:solidFill>
                  <a:srgbClr val="A5D8FF"/>
                </a:solidFill>
                <a:latin typeface="Courier New" pitchFamily="34" charset="0"/>
                <a:ea typeface="Courier New" pitchFamily="34" charset="-122"/>
                <a:cs typeface="Courier New" pitchFamily="34" charset="-120"/>
              </a:rPr>
              <a:t>|&gt;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group_by</a:t>
            </a:r>
            <a:r>
              <a:rPr lang="en-US" sz="1200" dirty="0">
                <a:solidFill>
                  <a:srgbClr val="E6EDF7"/>
                </a:solidFill>
                <a:latin typeface="Courier New" pitchFamily="34" charset="0"/>
                <a:ea typeface="Courier New" pitchFamily="34" charset="-122"/>
                <a:cs typeface="Courier New" pitchFamily="34" charset="-120"/>
              </a:rPr>
              <a:t>({{ grupo }}) </a:t>
            </a:r>
            <a:r>
              <a:rPr lang="en-US" sz="1200" dirty="0">
                <a:solidFill>
                  <a:srgbClr val="A5D8FF"/>
                </a:solidFill>
                <a:latin typeface="Courier New" pitchFamily="34" charset="0"/>
                <a:ea typeface="Courier New" pitchFamily="34" charset="-122"/>
                <a:cs typeface="Courier New" pitchFamily="34" charset="-120"/>
              </a:rPr>
              <a:t>|&gt;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summarise</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n     = </a:t>
            </a:r>
            <a:r>
              <a:rPr lang="en-US" sz="1200" dirty="0">
                <a:solidFill>
                  <a:srgbClr val="7DD3FC"/>
                </a:solidFill>
                <a:latin typeface="Courier New" pitchFamily="34" charset="0"/>
                <a:ea typeface="Courier New" pitchFamily="34" charset="-122"/>
                <a:cs typeface="Courier New" pitchFamily="34" charset="-120"/>
              </a:rPr>
              <a:t>sum</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7DD3FC"/>
                </a:solidFill>
                <a:latin typeface="Courier New" pitchFamily="34" charset="0"/>
                <a:ea typeface="Courier New" pitchFamily="34" charset="-122"/>
                <a:cs typeface="Courier New" pitchFamily="34" charset="-120"/>
              </a:rPr>
              <a:t>is.na</a:t>
            </a:r>
            <a:r>
              <a:rPr lang="en-US" sz="1200" dirty="0">
                <a:solidFill>
                  <a:srgbClr val="E6EDF7"/>
                </a:solidFill>
                <a:latin typeface="Courier New" pitchFamily="34" charset="0"/>
                <a:ea typeface="Courier New" pitchFamily="34" charset="-122"/>
                <a:cs typeface="Courier New" pitchFamily="34" charset="-120"/>
              </a:rPr>
              <a:t>({{ variable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media = </a:t>
            </a:r>
            <a:r>
              <a:rPr lang="en-US" sz="1200" dirty="0">
                <a:solidFill>
                  <a:srgbClr val="7DD3FC"/>
                </a:solidFill>
                <a:latin typeface="Courier New" pitchFamily="34" charset="0"/>
                <a:ea typeface="Courier New" pitchFamily="34" charset="-122"/>
                <a:cs typeface="Courier New" pitchFamily="34" charset="-120"/>
              </a:rPr>
              <a:t>mean</a:t>
            </a:r>
            <a:r>
              <a:rPr lang="en-US" sz="1200" dirty="0">
                <a:solidFill>
                  <a:srgbClr val="E6EDF7"/>
                </a:solidFill>
                <a:latin typeface="Courier New" pitchFamily="34" charset="0"/>
                <a:ea typeface="Courier New" pitchFamily="34" charset="-122"/>
                <a:cs typeface="Courier New" pitchFamily="34" charset="-120"/>
              </a:rPr>
              <a:t>({{ variable }}, na.rm = </a:t>
            </a:r>
            <a:r>
              <a:rPr lang="en-US" sz="1200" dirty="0">
                <a:solidFill>
                  <a:srgbClr val="C9B8FF"/>
                </a:solidFill>
                <a:latin typeface="Courier New" pitchFamily="34" charset="0"/>
                <a:ea typeface="Courier New" pitchFamily="34" charset="-122"/>
                <a:cs typeface="Courier New" pitchFamily="34" charset="-120"/>
              </a:rPr>
              <a:t>TRUE</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ee    = </a:t>
            </a:r>
            <a:r>
              <a:rPr lang="en-US" sz="1200" dirty="0">
                <a:solidFill>
                  <a:srgbClr val="7DD3FC"/>
                </a:solidFill>
                <a:latin typeface="Courier New" pitchFamily="34" charset="0"/>
                <a:ea typeface="Courier New" pitchFamily="34" charset="-122"/>
                <a:cs typeface="Courier New" pitchFamily="34" charset="-120"/>
              </a:rPr>
              <a:t>error_estandar</a:t>
            </a:r>
            <a:r>
              <a:rPr lang="en-US" sz="1200" dirty="0">
                <a:solidFill>
                  <a:srgbClr val="E6EDF7"/>
                </a:solidFill>
                <a:latin typeface="Courier New" pitchFamily="34" charset="0"/>
                <a:ea typeface="Courier New" pitchFamily="34" charset="-122"/>
                <a:cs typeface="Courier New" pitchFamily="34" charset="-120"/>
              </a:rPr>
              <a:t>({{ variable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.groups = </a:t>
            </a:r>
            <a:r>
              <a:rPr lang="en-US" sz="1200" dirty="0">
                <a:solidFill>
                  <a:srgbClr val="F2C97D"/>
                </a:solidFill>
                <a:latin typeface="Courier New" pitchFamily="34" charset="0"/>
                <a:ea typeface="Courier New" pitchFamily="34" charset="-122"/>
                <a:cs typeface="Courier New" pitchFamily="34" charset="-120"/>
              </a:rPr>
              <a:t>"drop"</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encuesta </a:t>
            </a:r>
            <a:r>
              <a:rPr lang="en-US" sz="1200" dirty="0">
                <a:solidFill>
                  <a:srgbClr val="A5D8FF"/>
                </a:solidFill>
                <a:latin typeface="Courier New" pitchFamily="34" charset="0"/>
                <a:ea typeface="Courier New" pitchFamily="34" charset="-122"/>
                <a:cs typeface="Courier New" pitchFamily="34" charset="-120"/>
              </a:rPr>
              <a:t>|&gt;</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resumir_por</a:t>
            </a:r>
            <a:r>
              <a:rPr lang="en-US" sz="1200" dirty="0">
                <a:solidFill>
                  <a:srgbClr val="E6EDF7"/>
                </a:solidFill>
                <a:latin typeface="Courier New" pitchFamily="34" charset="0"/>
                <a:ea typeface="Courier New" pitchFamily="34" charset="-122"/>
                <a:cs typeface="Courier New" pitchFamily="34" charset="-120"/>
              </a:rPr>
              <a:t>(nivel, sat_supervision)</a:t>
            </a:r>
            <a:endParaRPr lang="en-US" sz="1200" dirty="0"/>
          </a:p>
        </p:txBody>
      </p:sp>
      <p:sp>
        <p:nvSpPr>
          <p:cNvPr id="9" name="Shape 6"/>
          <p:cNvSpPr/>
          <p:nvPr/>
        </p:nvSpPr>
        <p:spPr>
          <a:xfrm>
            <a:off x="7543800" y="1463040"/>
            <a:ext cx="4096512" cy="2103120"/>
          </a:xfrm>
          <a:prstGeom prst="roundRect">
            <a:avLst>
              <a:gd name="adj" fmla="val 3043"/>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0" name="Text 7"/>
          <p:cNvSpPr txBox="1"/>
          <p:nvPr/>
        </p:nvSpPr>
        <p:spPr>
          <a:xfrm>
            <a:off x="7772400" y="1645920"/>
            <a:ext cx="3657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RESULTADO</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0" y="1965960"/>
          <a:ext cx="3611880" cy="1042416"/>
        </p:xfrm>
        <a:graphic>
          <a:graphicData uri="http://schemas.openxmlformats.org/drawingml/2006/table">
            <a:tbl>
              <a:tblPr/>
              <a:tblGrid>
                <a:gridCol w="12801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347472">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nivel</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media</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ee</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47472">
                <a:tc>
                  <a:txBody>
                    <a:bodyPr/>
                    <a:lstStyle/>
                    <a:p>
                      <a:pPr marL="0" indent="0" algn="l">
                        <a:buNone/>
                      </a:pPr>
                      <a:r>
                        <a:rPr lang="en-US" sz="1150" dirty="0">
                          <a:solidFill>
                            <a:srgbClr val="1E2A44"/>
                          </a:solidFill>
                          <a:latin typeface="Calibri" pitchFamily="34" charset="0"/>
                          <a:ea typeface="Calibri" pitchFamily="34" charset="-122"/>
                          <a:cs typeface="Calibri" pitchFamily="34" charset="-120"/>
                        </a:rPr>
                        <a:t>Doctorado</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47</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3.79</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0.146</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150" dirty="0">
                          <a:solidFill>
                            <a:srgbClr val="1E2A44"/>
                          </a:solidFill>
                          <a:latin typeface="Calibri" pitchFamily="34" charset="0"/>
                          <a:ea typeface="Calibri" pitchFamily="34" charset="-122"/>
                          <a:cs typeface="Calibri" pitchFamily="34" charset="-120"/>
                        </a:rPr>
                        <a:t>Magíster</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103</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3.72</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0.0888</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bl>
          </a:graphicData>
        </a:graphic>
      </p:graphicFrame>
      <p:sp>
        <p:nvSpPr>
          <p:cNvPr id="12" name="Shape 8"/>
          <p:cNvSpPr/>
          <p:nvPr/>
        </p:nvSpPr>
        <p:spPr>
          <a:xfrm>
            <a:off x="7543800" y="3794760"/>
            <a:ext cx="4096512" cy="1234440"/>
          </a:xfrm>
          <a:prstGeom prst="rect">
            <a:avLst/>
          </a:prstGeom>
          <a:solidFill>
            <a:srgbClr val="E4EEF2"/>
          </a:solidFill>
          <a:ln w="12700">
            <a:solidFill>
              <a:srgbClr val="E4EEF2"/>
            </a:solidFill>
            <a:prstDash val="solid"/>
          </a:ln>
        </p:spPr>
        <p:txBody>
          <a:bodyPr/>
          <a:lstStyle/>
          <a:p>
            <a:endParaRPr lang="es-CL"/>
          </a:p>
        </p:txBody>
      </p:sp>
      <p:sp>
        <p:nvSpPr>
          <p:cNvPr id="13" name="Shape 9"/>
          <p:cNvSpPr/>
          <p:nvPr/>
        </p:nvSpPr>
        <p:spPr>
          <a:xfrm>
            <a:off x="7543800" y="3794760"/>
            <a:ext cx="64008" cy="1234440"/>
          </a:xfrm>
          <a:prstGeom prst="rect">
            <a:avLst/>
          </a:prstGeom>
          <a:solidFill>
            <a:srgbClr val="1C7293"/>
          </a:solidFill>
          <a:ln w="12700">
            <a:solidFill>
              <a:srgbClr val="1C7293"/>
            </a:solidFill>
            <a:prstDash val="solid"/>
          </a:ln>
        </p:spPr>
        <p:txBody>
          <a:bodyPr/>
          <a:lstStyle/>
          <a:p>
            <a:endParaRPr lang="es-CL"/>
          </a:p>
        </p:txBody>
      </p:sp>
      <p:sp>
        <p:nvSpPr>
          <p:cNvPr id="6" name="Text 10"/>
          <p:cNvSpPr txBox="1"/>
          <p:nvPr/>
        </p:nvSpPr>
        <p:spPr>
          <a:xfrm>
            <a:off x="7744968" y="3794760"/>
            <a:ext cx="3776472" cy="1234440"/>
          </a:xfrm>
          <a:prstGeom prst="rect">
            <a:avLst/>
          </a:prstGeom>
          <a:noFill/>
          <a:ln/>
        </p:spPr>
        <p:txBody>
          <a:bodyPr wrap="square" lIns="0" tIns="0" rIns="0" bIns="0" rtlCol="0" anchor="ctr"/>
          <a:lstStyle/>
          <a:p>
            <a:pPr marL="0" indent="0">
              <a:buNone/>
            </a:pPr>
            <a:r>
              <a:rPr lang="en-US" sz="1350" b="1" dirty="0">
                <a:solidFill>
                  <a:srgbClr val="1E2A44"/>
                </a:solidFill>
                <a:latin typeface="Calibri" pitchFamily="34" charset="0"/>
                <a:ea typeface="Calibri" pitchFamily="34" charset="-122"/>
                <a:cs typeface="Calibri" pitchFamily="34" charset="-120"/>
              </a:rPr>
              <a:t>Regla práctica: si el argumento es una columna sin comillas, envuélvelo en doble llave {{ }}.</a:t>
            </a:r>
            <a:endParaRPr lang="en-US" sz="1350" dirty="0"/>
          </a:p>
        </p:txBody>
      </p:sp>
      <p:sp>
        <p:nvSpPr>
          <p:cNvPr id="15" name="Text 11"/>
          <p:cNvSpPr txBox="1"/>
          <p:nvPr/>
        </p:nvSpPr>
        <p:spPr>
          <a:xfrm>
            <a:off x="7543800" y="5212080"/>
            <a:ext cx="4096512" cy="457200"/>
          </a:xfrm>
          <a:prstGeom prst="rect">
            <a:avLst/>
          </a:prstGeom>
          <a:noFill/>
          <a:ln/>
        </p:spPr>
        <p:txBody>
          <a:bodyPr wrap="square" lIns="0" tIns="0" rIns="0" bIns="0" rtlCol="0" anchor="ctr"/>
          <a:lstStyle/>
          <a:p>
            <a:pPr marL="0" indent="0">
              <a:buNone/>
            </a:pPr>
            <a:r>
              <a:rPr lang="en-US" sz="1200" i="1" dirty="0">
                <a:solidFill>
                  <a:srgbClr val="5B6B7F"/>
                </a:solidFill>
                <a:latin typeface="Calibri" pitchFamily="34" charset="0"/>
                <a:ea typeface="Calibri" pitchFamily="34" charset="-122"/>
                <a:cs typeface="Calibri" pitchFamily="34" charset="-120"/>
              </a:rPr>
              <a:t>Se usa igual que un verbo de dplyr, dentro de un pipe.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FUNCIONES PROPIAS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Cuando el nombre llega como texto: .data[[ ]]</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14</a:t>
            </a:r>
            <a:endParaRPr lang="en-US" sz="800" dirty="0"/>
          </a:p>
        </p:txBody>
      </p:sp>
      <p:sp>
        <p:nvSpPr>
          <p:cNvPr id="7" name="Shape 4"/>
          <p:cNvSpPr/>
          <p:nvPr/>
        </p:nvSpPr>
        <p:spPr>
          <a:xfrm>
            <a:off x="548640" y="1463040"/>
            <a:ext cx="6675120" cy="2907792"/>
          </a:xfrm>
          <a:prstGeom prst="roundRect">
            <a:avLst>
              <a:gd name="adj" fmla="val 1887"/>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6309360" cy="2596896"/>
          </a:xfrm>
          <a:prstGeom prst="rect">
            <a:avLst/>
          </a:prstGeom>
          <a:noFill/>
          <a:ln/>
        </p:spPr>
        <p:txBody>
          <a:bodyPr wrap="square" lIns="0" tIns="0" rIns="0" bIns="0" rtlCol="0" anchor="t"/>
          <a:lstStyle/>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resumir_texto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C9B8FF"/>
                </a:solidFill>
                <a:latin typeface="Courier New" pitchFamily="34" charset="0"/>
                <a:ea typeface="Courier New" pitchFamily="34" charset="-122"/>
                <a:cs typeface="Courier New" pitchFamily="34" charset="-120"/>
              </a:rPr>
              <a:t>function</a:t>
            </a:r>
            <a:r>
              <a:rPr lang="en-US" sz="1200" dirty="0">
                <a:solidFill>
                  <a:srgbClr val="E6EDF7"/>
                </a:solidFill>
                <a:latin typeface="Courier New" pitchFamily="34" charset="0"/>
                <a:ea typeface="Courier New" pitchFamily="34" charset="-122"/>
                <a:cs typeface="Courier New" pitchFamily="34" charset="-120"/>
              </a:rPr>
              <a:t>(datos, variable)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datos </a:t>
            </a:r>
            <a:r>
              <a:rPr lang="en-US" sz="1200" dirty="0">
                <a:solidFill>
                  <a:srgbClr val="A5D8FF"/>
                </a:solidFill>
                <a:latin typeface="Courier New" pitchFamily="34" charset="0"/>
                <a:ea typeface="Courier New" pitchFamily="34" charset="-122"/>
                <a:cs typeface="Courier New" pitchFamily="34" charset="-120"/>
              </a:rPr>
              <a:t>|&gt;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summarise</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media = </a:t>
            </a:r>
            <a:r>
              <a:rPr lang="en-US" sz="1200" dirty="0">
                <a:solidFill>
                  <a:srgbClr val="7DD3FC"/>
                </a:solidFill>
                <a:latin typeface="Courier New" pitchFamily="34" charset="0"/>
                <a:ea typeface="Courier New" pitchFamily="34" charset="-122"/>
                <a:cs typeface="Courier New" pitchFamily="34" charset="-120"/>
              </a:rPr>
              <a:t>mean</a:t>
            </a:r>
            <a:r>
              <a:rPr lang="en-US" sz="1200" dirty="0">
                <a:solidFill>
                  <a:srgbClr val="E6EDF7"/>
                </a:solidFill>
                <a:latin typeface="Courier New" pitchFamily="34" charset="0"/>
                <a:ea typeface="Courier New" pitchFamily="34" charset="-122"/>
                <a:cs typeface="Courier New" pitchFamily="34" charset="-120"/>
              </a:rPr>
              <a:t>(.data[[variable]], na.rm = </a:t>
            </a:r>
            <a:r>
              <a:rPr lang="en-US" sz="1200" dirty="0">
                <a:solidFill>
                  <a:srgbClr val="C9B8FF"/>
                </a:solidFill>
                <a:latin typeface="Courier New" pitchFamily="34" charset="0"/>
                <a:ea typeface="Courier New" pitchFamily="34" charset="-122"/>
                <a:cs typeface="Courier New" pitchFamily="34" charset="-120"/>
              </a:rPr>
              <a:t>TRUE</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ee    = </a:t>
            </a:r>
            <a:r>
              <a:rPr lang="en-US" sz="1200" dirty="0">
                <a:solidFill>
                  <a:srgbClr val="7DD3FC"/>
                </a:solidFill>
                <a:latin typeface="Courier New" pitchFamily="34" charset="0"/>
                <a:ea typeface="Courier New" pitchFamily="34" charset="-122"/>
                <a:cs typeface="Courier New" pitchFamily="34" charset="-120"/>
              </a:rPr>
              <a:t>error_estandar</a:t>
            </a:r>
            <a:r>
              <a:rPr lang="en-US" sz="1200" dirty="0">
                <a:solidFill>
                  <a:srgbClr val="E6EDF7"/>
                </a:solidFill>
                <a:latin typeface="Courier New" pitchFamily="34" charset="0"/>
                <a:ea typeface="Courier New" pitchFamily="34" charset="-122"/>
                <a:cs typeface="Courier New" pitchFamily="34" charset="-120"/>
              </a:rPr>
              <a:t>(.data[[variable]])</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7DD3FC"/>
                </a:solidFill>
                <a:latin typeface="Courier New" pitchFamily="34" charset="0"/>
                <a:ea typeface="Courier New" pitchFamily="34" charset="-122"/>
                <a:cs typeface="Courier New" pitchFamily="34" charset="-120"/>
              </a:rPr>
              <a:t>resumir_texto</a:t>
            </a:r>
            <a:r>
              <a:rPr lang="en-US" sz="1200" dirty="0">
                <a:solidFill>
                  <a:srgbClr val="E6EDF7"/>
                </a:solidFill>
                <a:latin typeface="Courier New" pitchFamily="34" charset="0"/>
                <a:ea typeface="Courier New" pitchFamily="34" charset="-122"/>
                <a:cs typeface="Courier New" pitchFamily="34" charset="-120"/>
              </a:rPr>
              <a:t>(encuesta, </a:t>
            </a:r>
            <a:r>
              <a:rPr lang="en-US" sz="1200" dirty="0">
                <a:solidFill>
                  <a:srgbClr val="F2C97D"/>
                </a:solidFill>
                <a:latin typeface="Courier New" pitchFamily="34" charset="0"/>
                <a:ea typeface="Courier New" pitchFamily="34" charset="-122"/>
                <a:cs typeface="Courier New" pitchFamily="34" charset="-120"/>
              </a:rPr>
              <a:t>"sat_biblioteca"</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8FD5B0"/>
                </a:solidFill>
                <a:latin typeface="Courier New" pitchFamily="34" charset="0"/>
                <a:ea typeface="Courier New" pitchFamily="34" charset="-122"/>
                <a:cs typeface="Courier New" pitchFamily="34" charset="-120"/>
              </a:rPr>
              <a:t>#&gt; # A tibble: 1 × 2</a:t>
            </a:r>
            <a:endParaRPr lang="en-US" sz="1200" dirty="0"/>
          </a:p>
          <a:p>
            <a:pPr marL="0" indent="0">
              <a:lnSpc>
                <a:spcPts val="1704"/>
              </a:lnSpc>
              <a:buNone/>
            </a:pPr>
            <a:r>
              <a:rPr lang="en-US" sz="1200" dirty="0">
                <a:solidFill>
                  <a:srgbClr val="8FD5B0"/>
                </a:solidFill>
                <a:latin typeface="Courier New" pitchFamily="34" charset="0"/>
                <a:ea typeface="Courier New" pitchFamily="34" charset="-122"/>
                <a:cs typeface="Courier New" pitchFamily="34" charset="-120"/>
              </a:rPr>
              <a:t>#&gt;   media     ee</a:t>
            </a:r>
            <a:endParaRPr lang="en-US" sz="1200" dirty="0"/>
          </a:p>
          <a:p>
            <a:pPr marL="0" indent="0">
              <a:lnSpc>
                <a:spcPts val="1704"/>
              </a:lnSpc>
              <a:buNone/>
            </a:pPr>
            <a:r>
              <a:rPr lang="en-US" sz="1200" dirty="0">
                <a:solidFill>
                  <a:srgbClr val="8FD5B0"/>
                </a:solidFill>
                <a:latin typeface="Courier New" pitchFamily="34" charset="0"/>
                <a:ea typeface="Courier New" pitchFamily="34" charset="-122"/>
                <a:cs typeface="Courier New" pitchFamily="34" charset="-120"/>
              </a:rPr>
              <a:t>#&gt;   3.79 0.0724</a:t>
            </a:r>
            <a:endParaRPr lang="en-US" sz="1200" dirty="0"/>
          </a:p>
        </p:txBody>
      </p:sp>
      <p:sp>
        <p:nvSpPr>
          <p:cNvPr id="9" name="Shape 6"/>
          <p:cNvSpPr/>
          <p:nvPr/>
        </p:nvSpPr>
        <p:spPr>
          <a:xfrm>
            <a:off x="7543800" y="1463040"/>
            <a:ext cx="4096512" cy="2926080"/>
          </a:xfrm>
          <a:prstGeom prst="roundRect">
            <a:avLst>
              <a:gd name="adj" fmla="val 2188"/>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0" name="Text 7"/>
          <p:cNvSpPr txBox="1"/>
          <p:nvPr/>
        </p:nvSpPr>
        <p:spPr>
          <a:xfrm>
            <a:off x="7772400" y="1645920"/>
            <a:ext cx="3657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CÓMO LLEGA EL NOMBRE DE LA COLUMNA</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772400" y="2011680"/>
          <a:ext cx="3474720" cy="1371600"/>
        </p:xfrm>
        <a:graphic>
          <a:graphicData uri="http://schemas.openxmlformats.org/drawingml/2006/table">
            <a:tbl>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5720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Llega…</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Usa</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57200">
                <a:tc>
                  <a:txBody>
                    <a:bodyPr/>
                    <a:lstStyle/>
                    <a:p>
                      <a:pPr marL="0" indent="0" algn="l">
                        <a:buNone/>
                      </a:pPr>
                      <a:r>
                        <a:rPr lang="en-US" sz="1150" dirty="0">
                          <a:solidFill>
                            <a:srgbClr val="1E2A44"/>
                          </a:solidFill>
                          <a:latin typeface="Calibri" pitchFamily="34" charset="0"/>
                          <a:ea typeface="Calibri" pitchFamily="34" charset="-122"/>
                          <a:cs typeface="Calibri" pitchFamily="34" charset="-120"/>
                        </a:rPr>
                        <a:t>sin comillas  (nivel)</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65A82"/>
                          </a:solidFill>
                          <a:latin typeface="Courier New" pitchFamily="34" charset="0"/>
                          <a:ea typeface="Courier New" pitchFamily="34" charset="-122"/>
                          <a:cs typeface="Courier New" pitchFamily="34" charset="-120"/>
                        </a:rPr>
                        <a:t>{{ variable }}</a:t>
                      </a:r>
                      <a:endParaRPr lang="en-US" sz="10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50" dirty="0">
                          <a:solidFill>
                            <a:srgbClr val="1E2A44"/>
                          </a:solidFill>
                          <a:latin typeface="Calibri" pitchFamily="34" charset="0"/>
                          <a:ea typeface="Calibri" pitchFamily="34" charset="-122"/>
                          <a:cs typeface="Calibri" pitchFamily="34" charset="-120"/>
                        </a:rPr>
                        <a:t>con comillas  ("nivel")</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050" dirty="0">
                          <a:solidFill>
                            <a:srgbClr val="065A82"/>
                          </a:solidFill>
                          <a:latin typeface="Courier New" pitchFamily="34" charset="0"/>
                          <a:ea typeface="Courier New" pitchFamily="34" charset="-122"/>
                          <a:cs typeface="Courier New" pitchFamily="34" charset="-120"/>
                        </a:rPr>
                        <a:t>.data[[variable]]</a:t>
                      </a:r>
                      <a:endParaRPr lang="en-US" sz="10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bl>
          </a:graphicData>
        </a:graphic>
      </p:graphicFrame>
      <p:sp>
        <p:nvSpPr>
          <p:cNvPr id="12" name="Text 8"/>
          <p:cNvSpPr txBox="1"/>
          <p:nvPr/>
        </p:nvSpPr>
        <p:spPr>
          <a:xfrm>
            <a:off x="7772400" y="3566160"/>
            <a:ext cx="3657600" cy="640080"/>
          </a:xfrm>
          <a:prstGeom prst="rect">
            <a:avLst/>
          </a:prstGeom>
          <a:noFill/>
          <a:ln/>
        </p:spPr>
        <p:txBody>
          <a:bodyPr wrap="square" lIns="0" tIns="0" rIns="0" bIns="0" rtlCol="0" anchor="t"/>
          <a:lstStyle/>
          <a:p>
            <a:pPr marL="0" indent="0">
              <a:buNone/>
            </a:pPr>
            <a:r>
              <a:rPr lang="en-US" sz="1200" i="1" dirty="0">
                <a:solidFill>
                  <a:srgbClr val="5B6B7F"/>
                </a:solidFill>
                <a:latin typeface="Calibri" pitchFamily="34" charset="0"/>
                <a:ea typeface="Calibri" pitchFamily="34" charset="-122"/>
                <a:cs typeface="Calibri" pitchFamily="34" charset="-120"/>
              </a:rPr>
              <a:t>Útil cuando los nombres vienen de un vector o de una iteración.</a:t>
            </a:r>
            <a:endParaRPr lang="en-US" sz="1200" dirty="0"/>
          </a:p>
        </p:txBody>
      </p:sp>
      <p:sp>
        <p:nvSpPr>
          <p:cNvPr id="13" name="Shape 9"/>
          <p:cNvSpPr/>
          <p:nvPr/>
        </p:nvSpPr>
        <p:spPr>
          <a:xfrm>
            <a:off x="7543800" y="4617720"/>
            <a:ext cx="4096512" cy="731520"/>
          </a:xfrm>
          <a:prstGeom prst="rect">
            <a:avLst/>
          </a:prstGeom>
          <a:solidFill>
            <a:srgbClr val="E4EEF2"/>
          </a:solidFill>
          <a:ln w="12700">
            <a:solidFill>
              <a:srgbClr val="E4EEF2"/>
            </a:solidFill>
            <a:prstDash val="solid"/>
          </a:ln>
        </p:spPr>
        <p:txBody>
          <a:bodyPr/>
          <a:lstStyle/>
          <a:p>
            <a:endParaRPr lang="es-CL"/>
          </a:p>
        </p:txBody>
      </p:sp>
      <p:sp>
        <p:nvSpPr>
          <p:cNvPr id="14" name="Shape 10"/>
          <p:cNvSpPr/>
          <p:nvPr/>
        </p:nvSpPr>
        <p:spPr>
          <a:xfrm>
            <a:off x="7543800" y="4617720"/>
            <a:ext cx="64008" cy="731520"/>
          </a:xfrm>
          <a:prstGeom prst="rect">
            <a:avLst/>
          </a:prstGeom>
          <a:solidFill>
            <a:srgbClr val="1C7293"/>
          </a:solidFill>
          <a:ln w="12700">
            <a:solidFill>
              <a:srgbClr val="1C7293"/>
            </a:solidFill>
            <a:prstDash val="solid"/>
          </a:ln>
        </p:spPr>
        <p:txBody>
          <a:bodyPr/>
          <a:lstStyle/>
          <a:p>
            <a:endParaRPr lang="es-CL"/>
          </a:p>
        </p:txBody>
      </p:sp>
      <p:sp>
        <p:nvSpPr>
          <p:cNvPr id="6" name="Text 11"/>
          <p:cNvSpPr txBox="1"/>
          <p:nvPr/>
        </p:nvSpPr>
        <p:spPr>
          <a:xfrm>
            <a:off x="7744968" y="4617720"/>
            <a:ext cx="3776472" cy="7315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Sin comillas: doble llave. Con comillas: .data.</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FUNCIONES PROPIAS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Dónde viven tus funciones (y qué pasa dentro)</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15</a:t>
            </a:r>
            <a:endParaRPr lang="en-US" sz="800" dirty="0"/>
          </a:p>
        </p:txBody>
      </p:sp>
      <p:sp>
        <p:nvSpPr>
          <p:cNvPr id="7" name="Shape 4"/>
          <p:cNvSpPr/>
          <p:nvPr/>
        </p:nvSpPr>
        <p:spPr>
          <a:xfrm>
            <a:off x="548640" y="1463040"/>
            <a:ext cx="5394960" cy="2240280"/>
          </a:xfrm>
          <a:prstGeom prst="roundRect">
            <a:avLst>
              <a:gd name="adj" fmla="val 2857"/>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8" name="Text 5"/>
          <p:cNvSpPr txBox="1"/>
          <p:nvPr/>
        </p:nvSpPr>
        <p:spPr>
          <a:xfrm>
            <a:off x="822960" y="1627632"/>
            <a:ext cx="45720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ESTRUCTURA DEL PROYECTO</a:t>
            </a:r>
            <a:endParaRPr lang="en-US" sz="900" dirty="0"/>
          </a:p>
        </p:txBody>
      </p:sp>
      <p:sp>
        <p:nvSpPr>
          <p:cNvPr id="9" name="Text 6"/>
          <p:cNvSpPr txBox="1"/>
          <p:nvPr/>
        </p:nvSpPr>
        <p:spPr>
          <a:xfrm>
            <a:off x="868680" y="1920240"/>
            <a:ext cx="4846320" cy="1737360"/>
          </a:xfrm>
          <a:prstGeom prst="rect">
            <a:avLst/>
          </a:prstGeom>
          <a:noFill/>
          <a:ln/>
        </p:spPr>
        <p:txBody>
          <a:bodyPr wrap="square" lIns="0" tIns="0" rIns="0" bIns="0" rtlCol="0" anchor="t"/>
          <a:lstStyle/>
          <a:p>
            <a:pPr>
              <a:lnSpc>
                <a:spcPts val="1700"/>
              </a:lnSpc>
            </a:pPr>
            <a:r>
              <a:rPr lang="en-US" sz="1200" dirty="0">
                <a:solidFill>
                  <a:srgbClr val="065A82"/>
                </a:solidFill>
                <a:latin typeface="Courier New" pitchFamily="34" charset="0"/>
                <a:cs typeface="Courier New" pitchFamily="34" charset="-120"/>
              </a:rPr>
              <a:t>Taller R - UMAG - 2026/</a:t>
            </a:r>
          </a:p>
          <a:p>
            <a:pPr marL="0" indent="0">
              <a:lnSpc>
                <a:spcPts val="1700"/>
              </a:lnSpc>
              <a:buNone/>
            </a:pPr>
            <a:r>
              <a:rPr lang="en-US" sz="1200" dirty="0">
                <a:solidFill>
                  <a:srgbClr val="065A82"/>
                </a:solidFill>
                <a:latin typeface="Courier New" pitchFamily="34" charset="0"/>
                <a:ea typeface="Courier New" pitchFamily="34" charset="-122"/>
                <a:cs typeface="Courier New" pitchFamily="34" charset="-120"/>
              </a:rPr>
              <a:t>  </a:t>
            </a:r>
            <a:r>
              <a:rPr lang="en-US" sz="1200" dirty="0" err="1">
                <a:solidFill>
                  <a:srgbClr val="065A82"/>
                </a:solidFill>
                <a:latin typeface="Courier New" pitchFamily="34" charset="0"/>
                <a:ea typeface="Courier New" pitchFamily="34" charset="-122"/>
                <a:cs typeface="Courier New" pitchFamily="34" charset="-120"/>
              </a:rPr>
              <a:t>Sesión</a:t>
            </a:r>
            <a:r>
              <a:rPr lang="en-US" sz="1200" dirty="0">
                <a:solidFill>
                  <a:srgbClr val="065A82"/>
                </a:solidFill>
                <a:latin typeface="Courier New" pitchFamily="34" charset="0"/>
                <a:ea typeface="Courier New" pitchFamily="34" charset="-122"/>
                <a:cs typeface="Courier New" pitchFamily="34" charset="-120"/>
              </a:rPr>
              <a:t> 02/</a:t>
            </a:r>
            <a:endParaRPr lang="en-US" sz="1200" dirty="0"/>
          </a:p>
          <a:p>
            <a:pPr marL="0" indent="0">
              <a:lnSpc>
                <a:spcPts val="1700"/>
              </a:lnSpc>
              <a:buNone/>
            </a:pPr>
            <a:r>
              <a:rPr lang="en-US" sz="1200" dirty="0">
                <a:solidFill>
                  <a:srgbClr val="065A82"/>
                </a:solidFill>
                <a:latin typeface="Courier New" pitchFamily="34" charset="0"/>
                <a:ea typeface="Courier New" pitchFamily="34" charset="-122"/>
                <a:cs typeface="Courier New" pitchFamily="34" charset="-120"/>
              </a:rPr>
              <a:t>    data/raw/</a:t>
            </a:r>
            <a:endParaRPr lang="en-US" sz="1200" dirty="0"/>
          </a:p>
          <a:p>
            <a:pPr marL="0" indent="0">
              <a:lnSpc>
                <a:spcPts val="1700"/>
              </a:lnSpc>
              <a:buNone/>
            </a:pPr>
            <a:r>
              <a:rPr lang="en-US" sz="1200" dirty="0">
                <a:solidFill>
                  <a:srgbClr val="065A82"/>
                </a:solidFill>
                <a:latin typeface="Courier New" pitchFamily="34" charset="0"/>
                <a:ea typeface="Courier New" pitchFamily="34" charset="-122"/>
                <a:cs typeface="Courier New" pitchFamily="34" charset="-120"/>
              </a:rPr>
              <a:t>    R/</a:t>
            </a:r>
            <a:endParaRPr lang="en-US" sz="1200" dirty="0"/>
          </a:p>
          <a:p>
            <a:pPr marL="0" indent="0">
              <a:lnSpc>
                <a:spcPts val="1700"/>
              </a:lnSpc>
              <a:buNone/>
            </a:pPr>
            <a:r>
              <a:rPr lang="en-US" sz="1200" dirty="0">
                <a:solidFill>
                  <a:srgbClr val="065A82"/>
                </a:solidFill>
                <a:latin typeface="Courier New" pitchFamily="34" charset="0"/>
                <a:ea typeface="Courier New" pitchFamily="34" charset="-122"/>
                <a:cs typeface="Courier New" pitchFamily="34" charset="-120"/>
              </a:rPr>
              <a:t>      </a:t>
            </a:r>
            <a:r>
              <a:rPr lang="en-US" sz="1200" dirty="0" err="1">
                <a:solidFill>
                  <a:srgbClr val="065A82"/>
                </a:solidFill>
                <a:latin typeface="Courier New" pitchFamily="34" charset="0"/>
                <a:ea typeface="Courier New" pitchFamily="34" charset="-122"/>
                <a:cs typeface="Courier New" pitchFamily="34" charset="-120"/>
              </a:rPr>
              <a:t>funciones.R</a:t>
            </a:r>
            <a:r>
              <a:rPr lang="en-US" sz="1200" dirty="0">
                <a:solidFill>
                  <a:srgbClr val="065A82"/>
                </a:solidFill>
                <a:latin typeface="Courier New" pitchFamily="34" charset="0"/>
                <a:ea typeface="Courier New" pitchFamily="34" charset="-122"/>
                <a:cs typeface="Courier New" pitchFamily="34" charset="-120"/>
              </a:rPr>
              <a:t>   </a:t>
            </a:r>
            <a:r>
              <a:rPr lang="en-US" sz="1200" i="1" dirty="0">
                <a:solidFill>
                  <a:srgbClr val="1C7293"/>
                </a:solidFill>
                <a:latin typeface="Courier New" pitchFamily="34" charset="0"/>
                <a:ea typeface="Courier New" pitchFamily="34" charset="-122"/>
                <a:cs typeface="Courier New" pitchFamily="34" charset="-120"/>
              </a:rPr>
              <a:t># tus funciones</a:t>
            </a:r>
            <a:endParaRPr lang="en-US" sz="1200" dirty="0"/>
          </a:p>
          <a:p>
            <a:pPr marL="0" indent="0">
              <a:lnSpc>
                <a:spcPts val="1700"/>
              </a:lnSpc>
              <a:buNone/>
            </a:pPr>
            <a:r>
              <a:rPr lang="en-US" sz="1200" dirty="0">
                <a:solidFill>
                  <a:srgbClr val="065A82"/>
                </a:solidFill>
                <a:latin typeface="Courier New" pitchFamily="34" charset="0"/>
                <a:ea typeface="Courier New" pitchFamily="34" charset="-122"/>
                <a:cs typeface="Courier New" pitchFamily="34" charset="-120"/>
              </a:rPr>
              <a:t>      </a:t>
            </a:r>
            <a:r>
              <a:rPr lang="en-US" sz="1200" dirty="0" err="1">
                <a:solidFill>
                  <a:srgbClr val="065A82"/>
                </a:solidFill>
                <a:latin typeface="Courier New" pitchFamily="34" charset="0"/>
                <a:ea typeface="Courier New" pitchFamily="34" charset="-122"/>
                <a:cs typeface="Courier New" pitchFamily="34" charset="-120"/>
              </a:rPr>
              <a:t>analisis.R</a:t>
            </a:r>
            <a:r>
              <a:rPr lang="en-US" sz="1200" dirty="0">
                <a:solidFill>
                  <a:srgbClr val="065A82"/>
                </a:solidFill>
                <a:latin typeface="Courier New" pitchFamily="34" charset="0"/>
                <a:ea typeface="Courier New" pitchFamily="34" charset="-122"/>
                <a:cs typeface="Courier New" pitchFamily="34" charset="-120"/>
              </a:rPr>
              <a:t>    </a:t>
            </a:r>
            <a:r>
              <a:rPr lang="en-US" sz="1200" i="1" dirty="0">
                <a:solidFill>
                  <a:srgbClr val="1C7293"/>
                </a:solidFill>
                <a:latin typeface="Courier New" pitchFamily="34" charset="0"/>
                <a:ea typeface="Courier New" pitchFamily="34" charset="-122"/>
                <a:cs typeface="Courier New" pitchFamily="34" charset="-120"/>
              </a:rPr>
              <a:t># usa source()</a:t>
            </a:r>
            <a:endParaRPr lang="en-US" sz="1200" dirty="0"/>
          </a:p>
          <a:p>
            <a:pPr marL="0" indent="0">
              <a:lnSpc>
                <a:spcPts val="1700"/>
              </a:lnSpc>
              <a:buNone/>
            </a:pPr>
            <a:r>
              <a:rPr lang="en-US" sz="1200">
                <a:solidFill>
                  <a:srgbClr val="065A82"/>
                </a:solidFill>
                <a:latin typeface="Courier New" pitchFamily="34" charset="0"/>
                <a:ea typeface="Courier New" pitchFamily="34" charset="-122"/>
                <a:cs typeface="Courier New" pitchFamily="34" charset="-120"/>
              </a:rPr>
              <a:t>    outputs</a:t>
            </a:r>
            <a:r>
              <a:rPr lang="en-US" sz="1200" dirty="0">
                <a:solidFill>
                  <a:srgbClr val="065A82"/>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3977640"/>
            <a:ext cx="5394960" cy="545338"/>
          </a:xfrm>
          <a:prstGeom prst="roundRect">
            <a:avLst>
              <a:gd name="adj" fmla="val 10061"/>
            </a:avLst>
          </a:prstGeom>
          <a:solidFill>
            <a:srgbClr val="162044"/>
          </a:solidFill>
          <a:ln w="12700">
            <a:solidFill>
              <a:srgbClr val="162044"/>
            </a:solidFill>
            <a:prstDash val="solid"/>
          </a:ln>
        </p:spPr>
        <p:txBody>
          <a:bodyPr/>
          <a:lstStyle/>
          <a:p>
            <a:endParaRPr lang="es-CL"/>
          </a:p>
        </p:txBody>
      </p:sp>
      <p:sp>
        <p:nvSpPr>
          <p:cNvPr id="11" name="Text 8"/>
          <p:cNvSpPr txBox="1"/>
          <p:nvPr/>
        </p:nvSpPr>
        <p:spPr>
          <a:xfrm>
            <a:off x="731520" y="4105656"/>
            <a:ext cx="5029200" cy="234442"/>
          </a:xfrm>
          <a:prstGeom prst="rect">
            <a:avLst/>
          </a:prstGeom>
          <a:noFill/>
          <a:ln/>
        </p:spPr>
        <p:txBody>
          <a:bodyPr wrap="square" lIns="0" tIns="0" rIns="0" bIns="0" rtlCol="0" anchor="t"/>
          <a:lstStyle/>
          <a:p>
            <a:pPr marL="0" indent="0">
              <a:lnSpc>
                <a:spcPts val="1846"/>
              </a:lnSpc>
              <a:buNone/>
            </a:pPr>
            <a:r>
              <a:rPr lang="en-US" sz="1300" dirty="0">
                <a:solidFill>
                  <a:srgbClr val="7DD3FC"/>
                </a:solidFill>
                <a:latin typeface="Courier New" pitchFamily="34" charset="0"/>
                <a:ea typeface="Courier New" pitchFamily="34" charset="-122"/>
                <a:cs typeface="Courier New" pitchFamily="34" charset="-120"/>
              </a:rPr>
              <a:t>source</a:t>
            </a:r>
            <a:r>
              <a:rPr lang="en-US" sz="1300" dirty="0">
                <a:solidFill>
                  <a:srgbClr val="E6EDF7"/>
                </a:solidFill>
                <a:latin typeface="Courier New" pitchFamily="34" charset="0"/>
                <a:ea typeface="Courier New" pitchFamily="34" charset="-122"/>
                <a:cs typeface="Courier New" pitchFamily="34" charset="-120"/>
              </a:rPr>
              <a:t>(</a:t>
            </a:r>
            <a:r>
              <a:rPr lang="en-US" sz="1300" dirty="0">
                <a:solidFill>
                  <a:srgbClr val="7DD3FC"/>
                </a:solidFill>
                <a:latin typeface="Courier New" pitchFamily="34" charset="0"/>
                <a:ea typeface="Courier New" pitchFamily="34" charset="-122"/>
                <a:cs typeface="Courier New" pitchFamily="34" charset="-120"/>
              </a:rPr>
              <a:t>here</a:t>
            </a:r>
            <a:r>
              <a:rPr lang="en-US" sz="1300" dirty="0">
                <a:solidFill>
                  <a:srgbClr val="E6EDF7"/>
                </a:solidFill>
                <a:latin typeface="Courier New" pitchFamily="34" charset="0"/>
                <a:ea typeface="Courier New" pitchFamily="34" charset="-122"/>
                <a:cs typeface="Courier New" pitchFamily="34" charset="-120"/>
              </a:rPr>
              <a:t>(</a:t>
            </a:r>
            <a:r>
              <a:rPr lang="en-US" sz="1300" dirty="0">
                <a:solidFill>
                  <a:srgbClr val="F2C97D"/>
                </a:solidFill>
                <a:latin typeface="Courier New" pitchFamily="34" charset="0"/>
                <a:ea typeface="Courier New" pitchFamily="34" charset="-122"/>
                <a:cs typeface="Courier New" pitchFamily="34" charset="-120"/>
              </a:rPr>
              <a:t>"R"</a:t>
            </a: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F2C97D"/>
                </a:solidFill>
                <a:latin typeface="Courier New" pitchFamily="34" charset="0"/>
                <a:ea typeface="Courier New" pitchFamily="34" charset="-122"/>
                <a:cs typeface="Courier New" pitchFamily="34" charset="-120"/>
              </a:rPr>
              <a:t>"funciones.R"</a:t>
            </a: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2" name="Text 9"/>
          <p:cNvSpPr txBox="1"/>
          <p:nvPr/>
        </p:nvSpPr>
        <p:spPr>
          <a:xfrm>
            <a:off x="548640" y="4709160"/>
            <a:ext cx="5394960" cy="320040"/>
          </a:xfrm>
          <a:prstGeom prst="rect">
            <a:avLst/>
          </a:prstGeom>
          <a:noFill/>
          <a:ln/>
        </p:spPr>
        <p:txBody>
          <a:bodyPr wrap="square" lIns="0" tIns="0" rIns="0" bIns="0" rtlCol="0" anchor="ctr"/>
          <a:lstStyle/>
          <a:p>
            <a:pPr marL="0" indent="0">
              <a:buNone/>
            </a:pPr>
            <a:r>
              <a:rPr lang="en-US" sz="1200" i="1" dirty="0">
                <a:solidFill>
                  <a:srgbClr val="5B6B7F"/>
                </a:solidFill>
                <a:latin typeface="Calibri" pitchFamily="34" charset="0"/>
                <a:ea typeface="Calibri" pitchFamily="34" charset="-122"/>
                <a:cs typeface="Calibri" pitchFamily="34" charset="-120"/>
              </a:rPr>
              <a:t>Se carga al comienzo de cada script de análisis.</a:t>
            </a:r>
            <a:endParaRPr lang="en-US" sz="1200" dirty="0"/>
          </a:p>
        </p:txBody>
      </p:sp>
      <p:sp>
        <p:nvSpPr>
          <p:cNvPr id="13" name="Shape 10"/>
          <p:cNvSpPr/>
          <p:nvPr/>
        </p:nvSpPr>
        <p:spPr>
          <a:xfrm>
            <a:off x="6263640" y="1463040"/>
            <a:ext cx="5376672" cy="2691384"/>
          </a:xfrm>
          <a:prstGeom prst="roundRect">
            <a:avLst>
              <a:gd name="adj" fmla="val 2039"/>
            </a:avLst>
          </a:prstGeom>
          <a:solidFill>
            <a:srgbClr val="162044"/>
          </a:solidFill>
          <a:ln w="12700">
            <a:solidFill>
              <a:srgbClr val="162044"/>
            </a:solidFill>
            <a:prstDash val="solid"/>
          </a:ln>
        </p:spPr>
        <p:txBody>
          <a:bodyPr/>
          <a:lstStyle/>
          <a:p>
            <a:endParaRPr lang="es-CL"/>
          </a:p>
        </p:txBody>
      </p:sp>
      <p:sp>
        <p:nvSpPr>
          <p:cNvPr id="14" name="Text 11"/>
          <p:cNvSpPr txBox="1"/>
          <p:nvPr/>
        </p:nvSpPr>
        <p:spPr>
          <a:xfrm>
            <a:off x="6446520" y="1591056"/>
            <a:ext cx="5010912" cy="2380488"/>
          </a:xfrm>
          <a:prstGeom prst="rect">
            <a:avLst/>
          </a:prstGeom>
          <a:noFill/>
          <a:ln/>
        </p:spPr>
        <p:txBody>
          <a:bodyPr wrap="square" lIns="0" tIns="0" rIns="0" bIns="0" rtlCol="0" anchor="t"/>
          <a:lstStyle/>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x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F2C97D"/>
                </a:solidFill>
                <a:latin typeface="Courier New" pitchFamily="34" charset="0"/>
                <a:ea typeface="Courier New" pitchFamily="34" charset="-122"/>
                <a:cs typeface="Courier New" pitchFamily="34" charset="-120"/>
              </a:rPr>
              <a:t>100</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f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C9B8FF"/>
                </a:solidFill>
                <a:latin typeface="Courier New" pitchFamily="34" charset="0"/>
                <a:ea typeface="Courier New" pitchFamily="34" charset="-122"/>
                <a:cs typeface="Courier New" pitchFamily="34" charset="-120"/>
              </a:rPr>
              <a:t>function</a:t>
            </a: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x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F2C97D"/>
                </a:solidFill>
                <a:latin typeface="Courier New" pitchFamily="34" charset="0"/>
                <a:ea typeface="Courier New" pitchFamily="34" charset="-122"/>
                <a:cs typeface="Courier New" pitchFamily="34" charset="-120"/>
              </a:rPr>
              <a:t>1</a:t>
            </a:r>
            <a:r>
              <a:rPr lang="en-US" sz="1200" dirty="0">
                <a:solidFill>
                  <a:srgbClr val="E6EDF7"/>
                </a:solidFill>
                <a:latin typeface="Courier New" pitchFamily="34" charset="0"/>
                <a:ea typeface="Courier New" pitchFamily="34" charset="-122"/>
                <a:cs typeface="Courier New" pitchFamily="34" charset="-120"/>
              </a:rPr>
              <a:t>       </a:t>
            </a:r>
            <a:r>
              <a:rPr lang="en-US" sz="1200" i="1" dirty="0">
                <a:solidFill>
                  <a:srgbClr val="8196BC"/>
                </a:solidFill>
                <a:latin typeface="Courier New" pitchFamily="34" charset="0"/>
                <a:ea typeface="Courier New" pitchFamily="34" charset="-122"/>
                <a:cs typeface="Courier New" pitchFamily="34" charset="-120"/>
              </a:rPr>
              <a:t># una x local</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x + </a:t>
            </a:r>
            <a:r>
              <a:rPr lang="en-US" sz="1200" dirty="0">
                <a:solidFill>
                  <a:srgbClr val="F2C97D"/>
                </a:solidFill>
                <a:latin typeface="Courier New" pitchFamily="34" charset="0"/>
                <a:ea typeface="Courier New" pitchFamily="34" charset="-122"/>
                <a:cs typeface="Courier New" pitchFamily="34" charset="-120"/>
              </a:rPr>
              <a:t>1</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7DD3FC"/>
                </a:solidFill>
                <a:latin typeface="Courier New" pitchFamily="34" charset="0"/>
                <a:ea typeface="Courier New" pitchFamily="34" charset="-122"/>
                <a:cs typeface="Courier New" pitchFamily="34" charset="-120"/>
              </a:rPr>
              <a:t>f</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8FD5B0"/>
                </a:solidFill>
                <a:latin typeface="Courier New" pitchFamily="34" charset="0"/>
                <a:ea typeface="Courier New" pitchFamily="34" charset="-122"/>
                <a:cs typeface="Courier New" pitchFamily="34" charset="-120"/>
              </a:rPr>
              <a:t>#&gt; [1] 2</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x</a:t>
            </a:r>
            <a:endParaRPr lang="en-US" sz="1200" dirty="0"/>
          </a:p>
          <a:p>
            <a:pPr marL="0" indent="0">
              <a:lnSpc>
                <a:spcPts val="1704"/>
              </a:lnSpc>
              <a:buNone/>
            </a:pPr>
            <a:r>
              <a:rPr lang="en-US" sz="1200" dirty="0">
                <a:solidFill>
                  <a:srgbClr val="8FD5B0"/>
                </a:solidFill>
                <a:latin typeface="Courier New" pitchFamily="34" charset="0"/>
                <a:ea typeface="Courier New" pitchFamily="34" charset="-122"/>
                <a:cs typeface="Courier New" pitchFamily="34" charset="-120"/>
              </a:rPr>
              <a:t>#&gt; [1] 100     # la x global no cambió</a:t>
            </a:r>
            <a:endParaRPr lang="en-US" sz="1200" dirty="0"/>
          </a:p>
        </p:txBody>
      </p:sp>
      <p:sp>
        <p:nvSpPr>
          <p:cNvPr id="15" name="Text 12"/>
          <p:cNvSpPr txBox="1"/>
          <p:nvPr/>
        </p:nvSpPr>
        <p:spPr>
          <a:xfrm>
            <a:off x="6263640" y="4291584"/>
            <a:ext cx="5376672" cy="320040"/>
          </a:xfrm>
          <a:prstGeom prst="rect">
            <a:avLst/>
          </a:prstGeom>
          <a:noFill/>
          <a:ln/>
        </p:spPr>
        <p:txBody>
          <a:bodyPr wrap="square" lIns="0" tIns="0" rIns="0" bIns="0" rtlCol="0" anchor="ctr"/>
          <a:lstStyle/>
          <a:p>
            <a:pPr marL="0" indent="0">
              <a:buNone/>
            </a:pPr>
            <a:r>
              <a:rPr lang="en-US" sz="1200" i="1" dirty="0">
                <a:solidFill>
                  <a:srgbClr val="5B6B7F"/>
                </a:solidFill>
                <a:latin typeface="Calibri" pitchFamily="34" charset="0"/>
                <a:ea typeface="Calibri" pitchFamily="34" charset="-122"/>
                <a:cs typeface="Calibri" pitchFamily="34" charset="-120"/>
              </a:rPr>
              <a:t>Lo que ocurre dentro de la función se queda dentro.</a:t>
            </a:r>
            <a:endParaRPr lang="en-US" sz="1200" dirty="0"/>
          </a:p>
        </p:txBody>
      </p:sp>
      <p:sp>
        <p:nvSpPr>
          <p:cNvPr id="16" name="Shape 13"/>
          <p:cNvSpPr/>
          <p:nvPr/>
        </p:nvSpPr>
        <p:spPr>
          <a:xfrm>
            <a:off x="6263640" y="4754880"/>
            <a:ext cx="5376672" cy="743712"/>
          </a:xfrm>
          <a:prstGeom prst="roundRect">
            <a:avLst>
              <a:gd name="adj" fmla="val 7377"/>
            </a:avLst>
          </a:prstGeom>
          <a:solidFill>
            <a:srgbClr val="162044"/>
          </a:solidFill>
          <a:ln w="12700">
            <a:solidFill>
              <a:srgbClr val="162044"/>
            </a:solidFill>
            <a:prstDash val="solid"/>
          </a:ln>
        </p:spPr>
        <p:txBody>
          <a:bodyPr/>
          <a:lstStyle/>
          <a:p>
            <a:endParaRPr lang="es-CL"/>
          </a:p>
        </p:txBody>
      </p:sp>
      <p:sp>
        <p:nvSpPr>
          <p:cNvPr id="17" name="Text 14"/>
          <p:cNvSpPr txBox="1"/>
          <p:nvPr/>
        </p:nvSpPr>
        <p:spPr>
          <a:xfrm>
            <a:off x="6446520" y="4882896"/>
            <a:ext cx="5010912" cy="432816"/>
          </a:xfrm>
          <a:prstGeom prst="rect">
            <a:avLst/>
          </a:prstGeom>
          <a:noFill/>
          <a:ln/>
        </p:spPr>
        <p:txBody>
          <a:bodyPr wrap="square" lIns="0" tIns="0" rIns="0" bIns="0" rtlCol="0" anchor="t"/>
          <a:lstStyle/>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git add R/funciones.R</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git commit -m </a:t>
            </a:r>
            <a:r>
              <a:rPr lang="en-US" sz="1200" dirty="0">
                <a:solidFill>
                  <a:srgbClr val="F2C97D"/>
                </a:solidFill>
                <a:latin typeface="Courier New" pitchFamily="34" charset="0"/>
                <a:ea typeface="Courier New" pitchFamily="34" charset="-122"/>
                <a:cs typeface="Courier New" pitchFamily="34" charset="-120"/>
              </a:rPr>
              <a:t>"Agrega error_estandar()"</a:t>
            </a:r>
            <a:endParaRPr lang="en-US" sz="1200" dirty="0"/>
          </a:p>
        </p:txBody>
      </p:sp>
      <p:sp>
        <p:nvSpPr>
          <p:cNvPr id="18" name="Text 15"/>
          <p:cNvSpPr txBox="1"/>
          <p:nvPr/>
        </p:nvSpPr>
        <p:spPr>
          <a:xfrm>
            <a:off x="6263640" y="5623560"/>
            <a:ext cx="5376672" cy="274320"/>
          </a:xfrm>
          <a:prstGeom prst="rect">
            <a:avLst/>
          </a:prstGeom>
          <a:noFill/>
          <a:ln/>
        </p:spPr>
        <p:txBody>
          <a:bodyPr wrap="square" lIns="0" tIns="0" rIns="0" bIns="0" rtlCol="0" anchor="ctr"/>
          <a:lstStyle/>
          <a:p>
            <a:pPr marL="0" indent="0">
              <a:buNone/>
            </a:pPr>
            <a:r>
              <a:rPr lang="en-US" sz="1200" i="1" dirty="0">
                <a:solidFill>
                  <a:srgbClr val="5B6B7F"/>
                </a:solidFill>
                <a:latin typeface="Calibri" pitchFamily="34" charset="0"/>
                <a:ea typeface="Calibri" pitchFamily="34" charset="-122"/>
                <a:cs typeface="Calibri" pitchFamily="34" charset="-120"/>
              </a:rPr>
              <a:t>Y cada función nueva, a Git.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3200400"/>
            <a:ext cx="5852160" cy="5852160"/>
          </a:xfrm>
          <a:prstGeom prst="ellipse">
            <a:avLst/>
          </a:prstGeom>
          <a:solidFill>
            <a:srgbClr val="065A82">
              <a:alpha val="75000"/>
            </a:srgbClr>
          </a:solidFill>
          <a:ln w="12700">
            <a:solidFill>
              <a:srgbClr val="065A82">
                <a:alpha val="0"/>
              </a:srgbClr>
            </a:solidFill>
            <a:prstDash val="solid"/>
          </a:ln>
        </p:spPr>
        <p:txBody>
          <a:bodyPr/>
          <a:lstStyle/>
          <a:p>
            <a:endParaRPr lang="es-CL"/>
          </a:p>
        </p:txBody>
      </p:sp>
      <p:sp>
        <p:nvSpPr>
          <p:cNvPr id="3" name="Shape 1"/>
          <p:cNvSpPr/>
          <p:nvPr/>
        </p:nvSpPr>
        <p:spPr>
          <a:xfrm>
            <a:off x="10058400" y="4389120"/>
            <a:ext cx="3108960" cy="3108960"/>
          </a:xfrm>
          <a:prstGeom prst="ellipse">
            <a:avLst/>
          </a:prstGeom>
          <a:solidFill>
            <a:srgbClr val="1C7293">
              <a:alpha val="80000"/>
            </a:srgbClr>
          </a:solidFill>
          <a:ln w="12700">
            <a:solidFill>
              <a:srgbClr val="1C7293">
                <a:alpha val="0"/>
              </a:srgbClr>
            </a:solidFill>
            <a:prstDash val="solid"/>
          </a:ln>
        </p:spPr>
        <p:txBody>
          <a:bodyPr/>
          <a:lstStyle/>
          <a:p>
            <a:endParaRPr lang="es-CL"/>
          </a:p>
        </p:txBody>
      </p:sp>
      <p:sp>
        <p:nvSpPr>
          <p:cNvPr id="4" name="Text 2"/>
          <p:cNvSpPr txBox="1"/>
          <p:nvPr/>
        </p:nvSpPr>
        <p:spPr>
          <a:xfrm>
            <a:off x="731520" y="2331720"/>
            <a:ext cx="7315200" cy="274320"/>
          </a:xfrm>
          <a:prstGeom prst="rect">
            <a:avLst/>
          </a:prstGeom>
          <a:noFill/>
          <a:ln/>
        </p:spPr>
        <p:txBody>
          <a:bodyPr wrap="square" lIns="0" tIns="0" rIns="0" bIns="0" rtlCol="0" anchor="ctr"/>
          <a:lstStyle/>
          <a:p>
            <a:pPr marL="0" indent="0">
              <a:buNone/>
            </a:pPr>
            <a:r>
              <a:rPr lang="en-US" sz="1100" b="1" kern="0" spc="300" dirty="0">
                <a:solidFill>
                  <a:srgbClr val="8FB8D8"/>
                </a:solidFill>
                <a:latin typeface="Calibri" pitchFamily="34" charset="0"/>
                <a:ea typeface="Calibri" pitchFamily="34" charset="-122"/>
                <a:cs typeface="Calibri" pitchFamily="34" charset="-120"/>
              </a:rPr>
              <a:t>PARTE 2</a:t>
            </a:r>
            <a:endParaRPr lang="en-US" sz="1100" dirty="0"/>
          </a:p>
        </p:txBody>
      </p:sp>
      <p:sp>
        <p:nvSpPr>
          <p:cNvPr id="5" name="Text 3"/>
          <p:cNvSpPr txBox="1"/>
          <p:nvPr/>
        </p:nvSpPr>
        <p:spPr>
          <a:xfrm>
            <a:off x="731520" y="2697480"/>
            <a:ext cx="91440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Iteración con purrr</a:t>
            </a:r>
            <a:endParaRPr lang="en-US" sz="4000" dirty="0"/>
          </a:p>
        </p:txBody>
      </p:sp>
      <p:sp>
        <p:nvSpPr>
          <p:cNvPr id="6" name="Text 4"/>
          <p:cNvSpPr txBox="1"/>
          <p:nvPr/>
        </p:nvSpPr>
        <p:spPr>
          <a:xfrm>
            <a:off x="731520" y="3611880"/>
            <a:ext cx="7772400" cy="365760"/>
          </a:xfrm>
          <a:prstGeom prst="rect">
            <a:avLst/>
          </a:prstGeom>
          <a:noFill/>
          <a:ln/>
        </p:spPr>
        <p:txBody>
          <a:bodyPr wrap="square" lIns="0" tIns="0" rIns="0" bIns="0" rtlCol="0" anchor="ctr"/>
          <a:lstStyle/>
          <a:p>
            <a:pPr marL="0" indent="0">
              <a:buNone/>
            </a:pPr>
            <a:r>
              <a:rPr lang="en-US" sz="1800" dirty="0">
                <a:solidFill>
                  <a:srgbClr val="C9DDEC"/>
                </a:solidFill>
                <a:latin typeface="Calibri" pitchFamily="34" charset="0"/>
                <a:ea typeface="Calibri" pitchFamily="34" charset="-122"/>
                <a:cs typeface="Calibri" pitchFamily="34" charset="-120"/>
              </a:rPr>
              <a:t>Aplicar una función a muchas cosas a la vez</a:t>
            </a:r>
            <a:endParaRPr lang="en-US" sz="1800" dirty="0"/>
          </a:p>
        </p:txBody>
      </p:sp>
      <p:sp>
        <p:nvSpPr>
          <p:cNvPr id="7" name="Text 5"/>
          <p:cNvSpPr txBox="1"/>
          <p:nvPr/>
        </p:nvSpPr>
        <p:spPr>
          <a:xfrm>
            <a:off x="731520" y="4114800"/>
            <a:ext cx="7315200" cy="274320"/>
          </a:xfrm>
          <a:prstGeom prst="rect">
            <a:avLst/>
          </a:prstGeom>
          <a:noFill/>
          <a:ln/>
        </p:spPr>
        <p:txBody>
          <a:bodyPr wrap="square" lIns="0" tIns="0" rIns="0" bIns="0" rtlCol="0" anchor="ctr"/>
          <a:lstStyle/>
          <a:p>
            <a:pPr marL="0" indent="0">
              <a:buNone/>
            </a:pPr>
            <a:r>
              <a:rPr lang="en-US" sz="1300" dirty="0">
                <a:solidFill>
                  <a:srgbClr val="9DB8CE"/>
                </a:solidFill>
                <a:latin typeface="Calibri" pitchFamily="34" charset="0"/>
                <a:ea typeface="Calibri" pitchFamily="34" charset="-122"/>
                <a:cs typeface="Calibri" pitchFamily="34" charset="-120"/>
              </a:rPr>
              <a:t>22 minutos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2 · ITERACIÓN CON PURRR</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Del bucle for a map()</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17</a:t>
            </a:r>
            <a:endParaRPr lang="en-US" sz="800" dirty="0"/>
          </a:p>
        </p:txBody>
      </p:sp>
      <p:sp>
        <p:nvSpPr>
          <p:cNvPr id="7" name="Text 4"/>
          <p:cNvSpPr txBox="1"/>
          <p:nvPr/>
        </p:nvSpPr>
        <p:spPr>
          <a:xfrm>
            <a:off x="548640" y="1417320"/>
            <a:ext cx="45720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CON FOR</a:t>
            </a:r>
            <a:endParaRPr lang="en-US" sz="900" dirty="0"/>
          </a:p>
        </p:txBody>
      </p:sp>
      <p:sp>
        <p:nvSpPr>
          <p:cNvPr id="8" name="Shape 5"/>
          <p:cNvSpPr/>
          <p:nvPr/>
        </p:nvSpPr>
        <p:spPr>
          <a:xfrm>
            <a:off x="548640" y="1691640"/>
            <a:ext cx="5486400" cy="2042160"/>
          </a:xfrm>
          <a:prstGeom prst="roundRect">
            <a:avLst>
              <a:gd name="adj" fmla="val 2687"/>
            </a:avLst>
          </a:prstGeom>
          <a:solidFill>
            <a:srgbClr val="162044"/>
          </a:solidFill>
          <a:ln w="12700">
            <a:solidFill>
              <a:srgbClr val="162044"/>
            </a:solidFill>
            <a:prstDash val="solid"/>
          </a:ln>
        </p:spPr>
        <p:txBody>
          <a:bodyPr/>
          <a:lstStyle/>
          <a:p>
            <a:endParaRPr lang="es-CL"/>
          </a:p>
        </p:txBody>
      </p:sp>
      <p:sp>
        <p:nvSpPr>
          <p:cNvPr id="9" name="Text 6"/>
          <p:cNvSpPr txBox="1"/>
          <p:nvPr/>
        </p:nvSpPr>
        <p:spPr>
          <a:xfrm>
            <a:off x="731520" y="1819656"/>
            <a:ext cx="5120640" cy="1731264"/>
          </a:xfrm>
          <a:prstGeom prst="rect">
            <a:avLst/>
          </a:prstGeom>
          <a:noFill/>
          <a:ln/>
        </p:spPr>
        <p:txBody>
          <a:bodyPr wrap="square" lIns="0" tIns="0" rIns="0" bIns="0" rtlCol="0" anchor="t"/>
          <a:lstStyle/>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vars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c</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F2C97D"/>
                </a:solidFill>
                <a:latin typeface="Courier New" pitchFamily="34" charset="0"/>
                <a:ea typeface="Courier New" pitchFamily="34" charset="-122"/>
                <a:cs typeface="Courier New" pitchFamily="34" charset="-120"/>
              </a:rPr>
              <a:t>"sat_supervision"</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F2C97D"/>
                </a:solidFill>
                <a:latin typeface="Courier New" pitchFamily="34" charset="0"/>
                <a:ea typeface="Courier New" pitchFamily="34" charset="-122"/>
                <a:cs typeface="Courier New" pitchFamily="34" charset="-120"/>
              </a:rPr>
              <a:t>"sat_infraestructura"</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F2C97D"/>
                </a:solidFill>
                <a:latin typeface="Courier New" pitchFamily="34" charset="0"/>
                <a:ea typeface="Courier New" pitchFamily="34" charset="-122"/>
                <a:cs typeface="Courier New" pitchFamily="34" charset="-120"/>
              </a:rPr>
              <a:t>"sat_financiamiento"</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medias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vector</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F2C97D"/>
                </a:solidFill>
                <a:latin typeface="Courier New" pitchFamily="34" charset="0"/>
                <a:ea typeface="Courier New" pitchFamily="34" charset="-122"/>
                <a:cs typeface="Courier New" pitchFamily="34" charset="-120"/>
              </a:rPr>
              <a:t>"double"</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length</a:t>
            </a:r>
            <a:r>
              <a:rPr lang="en-US" sz="1200" dirty="0">
                <a:solidFill>
                  <a:srgbClr val="E6EDF7"/>
                </a:solidFill>
                <a:latin typeface="Courier New" pitchFamily="34" charset="0"/>
                <a:ea typeface="Courier New" pitchFamily="34" charset="-122"/>
                <a:cs typeface="Courier New" pitchFamily="34" charset="-120"/>
              </a:rPr>
              <a:t>(vars))</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for (i in </a:t>
            </a:r>
            <a:r>
              <a:rPr lang="en-US" sz="1200" dirty="0">
                <a:solidFill>
                  <a:srgbClr val="7DD3FC"/>
                </a:solidFill>
                <a:latin typeface="Courier New" pitchFamily="34" charset="0"/>
                <a:ea typeface="Courier New" pitchFamily="34" charset="-122"/>
                <a:cs typeface="Courier New" pitchFamily="34" charset="-120"/>
              </a:rPr>
              <a:t>seq_along</a:t>
            </a:r>
            <a:r>
              <a:rPr lang="en-US" sz="1200" dirty="0">
                <a:solidFill>
                  <a:srgbClr val="E6EDF7"/>
                </a:solidFill>
                <a:latin typeface="Courier New" pitchFamily="34" charset="0"/>
                <a:ea typeface="Courier New" pitchFamily="34" charset="-122"/>
                <a:cs typeface="Courier New" pitchFamily="34" charset="-120"/>
              </a:rPr>
              <a:t>(vars))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medias[[i]]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mean</a:t>
            </a:r>
            <a:r>
              <a:rPr lang="en-US" sz="1200" dirty="0">
                <a:solidFill>
                  <a:srgbClr val="E6EDF7"/>
                </a:solidFill>
                <a:latin typeface="Courier New" pitchFamily="34" charset="0"/>
                <a:ea typeface="Courier New" pitchFamily="34" charset="-122"/>
                <a:cs typeface="Courier New" pitchFamily="34" charset="-120"/>
              </a:rPr>
              <a:t>(encuesta[[vars[[i]]]],</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na.rm = </a:t>
            </a:r>
            <a:r>
              <a:rPr lang="en-US" sz="1200" dirty="0">
                <a:solidFill>
                  <a:srgbClr val="C9B8FF"/>
                </a:solidFill>
                <a:latin typeface="Courier New" pitchFamily="34" charset="0"/>
                <a:ea typeface="Courier New" pitchFamily="34" charset="-122"/>
                <a:cs typeface="Courier New" pitchFamily="34" charset="-120"/>
              </a:rPr>
              <a:t>TRUE</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Text 7"/>
          <p:cNvSpPr txBox="1"/>
          <p:nvPr/>
        </p:nvSpPr>
        <p:spPr>
          <a:xfrm>
            <a:off x="6355080" y="1417320"/>
            <a:ext cx="45720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CON MAP_DBL()</a:t>
            </a:r>
            <a:endParaRPr lang="en-US" sz="900" dirty="0"/>
          </a:p>
        </p:txBody>
      </p:sp>
      <p:sp>
        <p:nvSpPr>
          <p:cNvPr id="11" name="Shape 8"/>
          <p:cNvSpPr/>
          <p:nvPr/>
        </p:nvSpPr>
        <p:spPr>
          <a:xfrm>
            <a:off x="6355080" y="1691640"/>
            <a:ext cx="5285232" cy="1176528"/>
          </a:xfrm>
          <a:prstGeom prst="roundRect">
            <a:avLst>
              <a:gd name="adj" fmla="val 4663"/>
            </a:avLst>
          </a:prstGeom>
          <a:solidFill>
            <a:srgbClr val="162044"/>
          </a:solidFill>
          <a:ln w="12700">
            <a:solidFill>
              <a:srgbClr val="162044"/>
            </a:solidFill>
            <a:prstDash val="solid"/>
          </a:ln>
        </p:spPr>
        <p:txBody>
          <a:bodyPr/>
          <a:lstStyle/>
          <a:p>
            <a:endParaRPr lang="es-CL"/>
          </a:p>
        </p:txBody>
      </p:sp>
      <p:sp>
        <p:nvSpPr>
          <p:cNvPr id="12" name="Text 9"/>
          <p:cNvSpPr txBox="1"/>
          <p:nvPr/>
        </p:nvSpPr>
        <p:spPr>
          <a:xfrm>
            <a:off x="6537960" y="1819656"/>
            <a:ext cx="4919472" cy="865632"/>
          </a:xfrm>
          <a:prstGeom prst="rect">
            <a:avLst/>
          </a:prstGeom>
          <a:noFill/>
          <a:ln/>
        </p:spPr>
        <p:txBody>
          <a:bodyPr wrap="square" lIns="0" tIns="0" rIns="0" bIns="0" rtlCol="0" anchor="t"/>
          <a:lstStyle/>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sat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encuesta </a:t>
            </a:r>
            <a:r>
              <a:rPr lang="en-US" sz="1200" dirty="0">
                <a:solidFill>
                  <a:srgbClr val="A5D8FF"/>
                </a:solidFill>
                <a:latin typeface="Courier New" pitchFamily="34" charset="0"/>
                <a:ea typeface="Courier New" pitchFamily="34" charset="-122"/>
                <a:cs typeface="Courier New" pitchFamily="34" charset="-120"/>
              </a:rPr>
              <a:t>|&gt;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select</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7DD3FC"/>
                </a:solidFill>
                <a:latin typeface="Courier New" pitchFamily="34" charset="0"/>
                <a:ea typeface="Courier New" pitchFamily="34" charset="-122"/>
                <a:cs typeface="Courier New" pitchFamily="34" charset="-120"/>
              </a:rPr>
              <a:t>starts_with</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F2C97D"/>
                </a:solidFill>
                <a:latin typeface="Courier New" pitchFamily="34" charset="0"/>
                <a:ea typeface="Courier New" pitchFamily="34" charset="-122"/>
                <a:cs typeface="Courier New" pitchFamily="34" charset="-120"/>
              </a:rPr>
              <a:t>"sat_"</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7DD3FC"/>
                </a:solidFill>
                <a:latin typeface="Courier New" pitchFamily="34" charset="0"/>
                <a:ea typeface="Courier New" pitchFamily="34" charset="-122"/>
                <a:cs typeface="Courier New" pitchFamily="34" charset="-120"/>
              </a:rPr>
              <a:t>map_dbl</a:t>
            </a:r>
            <a:r>
              <a:rPr lang="en-US" sz="1200" dirty="0">
                <a:solidFill>
                  <a:srgbClr val="E6EDF7"/>
                </a:solidFill>
                <a:latin typeface="Courier New" pitchFamily="34" charset="0"/>
                <a:ea typeface="Courier New" pitchFamily="34" charset="-122"/>
                <a:cs typeface="Courier New" pitchFamily="34" charset="-120"/>
              </a:rPr>
              <a:t>(sat, </a:t>
            </a:r>
            <a:r>
              <a:rPr lang="en-US" sz="1200" dirty="0">
                <a:solidFill>
                  <a:srgbClr val="A5D8FF"/>
                </a:solidFill>
                <a:latin typeface="Courier New" pitchFamily="34" charset="0"/>
                <a:ea typeface="Courier New" pitchFamily="34" charset="-122"/>
                <a:cs typeface="Courier New" pitchFamily="34" charset="-120"/>
              </a:rPr>
              <a:t>\(</a:t>
            </a:r>
            <a:r>
              <a:rPr lang="en-US" sz="1200" dirty="0">
                <a:solidFill>
                  <a:srgbClr val="E6EDF7"/>
                </a:solidFill>
                <a:latin typeface="Courier New" pitchFamily="34" charset="0"/>
                <a:ea typeface="Courier New" pitchFamily="34" charset="-122"/>
                <a:cs typeface="Courier New" pitchFamily="34" charset="-120"/>
              </a:rPr>
              <a:t>x) </a:t>
            </a:r>
            <a:r>
              <a:rPr lang="en-US" sz="1200" dirty="0">
                <a:solidFill>
                  <a:srgbClr val="7DD3FC"/>
                </a:solidFill>
                <a:latin typeface="Courier New" pitchFamily="34" charset="0"/>
                <a:ea typeface="Courier New" pitchFamily="34" charset="-122"/>
                <a:cs typeface="Courier New" pitchFamily="34" charset="-120"/>
              </a:rPr>
              <a:t>mean</a:t>
            </a:r>
            <a:r>
              <a:rPr lang="en-US" sz="1200" dirty="0">
                <a:solidFill>
                  <a:srgbClr val="E6EDF7"/>
                </a:solidFill>
                <a:latin typeface="Courier New" pitchFamily="34" charset="0"/>
                <a:ea typeface="Courier New" pitchFamily="34" charset="-122"/>
                <a:cs typeface="Courier New" pitchFamily="34" charset="-120"/>
              </a:rPr>
              <a:t>(x, na.rm = </a:t>
            </a:r>
            <a:r>
              <a:rPr lang="en-US" sz="1200" dirty="0">
                <a:solidFill>
                  <a:srgbClr val="C9B8FF"/>
                </a:solidFill>
                <a:latin typeface="Courier New" pitchFamily="34" charset="0"/>
                <a:ea typeface="Courier New" pitchFamily="34" charset="-122"/>
                <a:cs typeface="Courier New" pitchFamily="34" charset="-120"/>
              </a:rPr>
              <a:t>TRUE</a:t>
            </a: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10"/>
          <p:cNvSpPr/>
          <p:nvPr/>
        </p:nvSpPr>
        <p:spPr>
          <a:xfrm>
            <a:off x="6355080" y="3200400"/>
            <a:ext cx="5285232" cy="1737360"/>
          </a:xfrm>
          <a:prstGeom prst="roundRect">
            <a:avLst>
              <a:gd name="adj" fmla="val 3684"/>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4" name="Text 11"/>
          <p:cNvSpPr txBox="1"/>
          <p:nvPr/>
        </p:nvSpPr>
        <p:spPr>
          <a:xfrm>
            <a:off x="6583680" y="3337560"/>
            <a:ext cx="45720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RESULTADO: UN NÚMERO POR COLUMNA, CON SU NOMBRE</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583680" y="3657600"/>
          <a:ext cx="4526280" cy="914400"/>
        </p:xfrm>
        <a:graphic>
          <a:graphicData uri="http://schemas.openxmlformats.org/drawingml/2006/table">
            <a:tbl>
              <a:tblPr/>
              <a:tblGrid>
                <a:gridCol w="905256">
                  <a:extLst>
                    <a:ext uri="{9D8B030D-6E8A-4147-A177-3AD203B41FA5}">
                      <a16:colId xmlns:a16="http://schemas.microsoft.com/office/drawing/2014/main" val="20000"/>
                    </a:ext>
                  </a:extLst>
                </a:gridCol>
                <a:gridCol w="946404">
                  <a:extLst>
                    <a:ext uri="{9D8B030D-6E8A-4147-A177-3AD203B41FA5}">
                      <a16:colId xmlns:a16="http://schemas.microsoft.com/office/drawing/2014/main" val="20001"/>
                    </a:ext>
                  </a:extLst>
                </a:gridCol>
                <a:gridCol w="905256">
                  <a:extLst>
                    <a:ext uri="{9D8B030D-6E8A-4147-A177-3AD203B41FA5}">
                      <a16:colId xmlns:a16="http://schemas.microsoft.com/office/drawing/2014/main" val="20002"/>
                    </a:ext>
                  </a:extLst>
                </a:gridCol>
                <a:gridCol w="864108">
                  <a:extLst>
                    <a:ext uri="{9D8B030D-6E8A-4147-A177-3AD203B41FA5}">
                      <a16:colId xmlns:a16="http://schemas.microsoft.com/office/drawing/2014/main" val="20003"/>
                    </a:ext>
                  </a:extLst>
                </a:gridCol>
                <a:gridCol w="905256">
                  <a:extLst>
                    <a:ext uri="{9D8B030D-6E8A-4147-A177-3AD203B41FA5}">
                      <a16:colId xmlns:a16="http://schemas.microsoft.com/office/drawing/2014/main" val="20004"/>
                    </a:ext>
                  </a:extLst>
                </a:gridCol>
              </a:tblGrid>
              <a:tr h="347472">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supervisión</a:t>
                      </a:r>
                      <a:endParaRPr lang="en-US" sz="10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infraest.</a:t>
                      </a:r>
                      <a:endParaRPr lang="en-US" sz="10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financ.</a:t>
                      </a:r>
                      <a:endParaRPr lang="en-US" sz="10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biblioteca</a:t>
                      </a:r>
                      <a:endParaRPr lang="en-US" sz="10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conectiv.</a:t>
                      </a:r>
                      <a:endParaRPr lang="en-US" sz="10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47472">
                <a:tc>
                  <a:txBody>
                    <a:bodyPr/>
                    <a:lstStyle/>
                    <a:p>
                      <a:pPr marL="0" indent="0" algn="ctr">
                        <a:buNone/>
                      </a:pPr>
                      <a:r>
                        <a:rPr lang="en-US" sz="1100" dirty="0">
                          <a:solidFill>
                            <a:srgbClr val="1E2A44"/>
                          </a:solidFill>
                          <a:latin typeface="Calibri" pitchFamily="34" charset="0"/>
                          <a:ea typeface="Calibri" pitchFamily="34" charset="-122"/>
                          <a:cs typeface="Calibri" pitchFamily="34" charset="-120"/>
                        </a:rPr>
                        <a:t>3.74</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A44"/>
                          </a:solidFill>
                          <a:latin typeface="Calibri" pitchFamily="34" charset="0"/>
                          <a:ea typeface="Calibri" pitchFamily="34" charset="-122"/>
                          <a:cs typeface="Calibri" pitchFamily="34" charset="-120"/>
                        </a:rPr>
                        <a:t>3.41</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A44"/>
                          </a:solidFill>
                          <a:latin typeface="Calibri" pitchFamily="34" charset="0"/>
                          <a:ea typeface="Calibri" pitchFamily="34" charset="-122"/>
                          <a:cs typeface="Calibri" pitchFamily="34" charset="-120"/>
                        </a:rPr>
                        <a:t>3.14</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A44"/>
                          </a:solidFill>
                          <a:latin typeface="Calibri" pitchFamily="34" charset="0"/>
                          <a:ea typeface="Calibri" pitchFamily="34" charset="-122"/>
                          <a:cs typeface="Calibri" pitchFamily="34" charset="-120"/>
                        </a:rPr>
                        <a:t>3.79</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A44"/>
                          </a:solidFill>
                          <a:latin typeface="Calibri" pitchFamily="34" charset="0"/>
                          <a:ea typeface="Calibri" pitchFamily="34" charset="-122"/>
                          <a:cs typeface="Calibri" pitchFamily="34" charset="-120"/>
                        </a:rPr>
                        <a:t>3.19</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6" name="Shape 12"/>
          <p:cNvSpPr/>
          <p:nvPr/>
        </p:nvSpPr>
        <p:spPr>
          <a:xfrm>
            <a:off x="548640" y="5212080"/>
            <a:ext cx="11091672" cy="685800"/>
          </a:xfrm>
          <a:prstGeom prst="rect">
            <a:avLst/>
          </a:prstGeom>
          <a:solidFill>
            <a:srgbClr val="E4EEF2"/>
          </a:solidFill>
          <a:ln w="12700">
            <a:solidFill>
              <a:srgbClr val="E4EEF2"/>
            </a:solidFill>
            <a:prstDash val="solid"/>
          </a:ln>
        </p:spPr>
        <p:txBody>
          <a:bodyPr/>
          <a:lstStyle/>
          <a:p>
            <a:endParaRPr lang="es-CL"/>
          </a:p>
        </p:txBody>
      </p:sp>
      <p:sp>
        <p:nvSpPr>
          <p:cNvPr id="17" name="Shape 13"/>
          <p:cNvSpPr/>
          <p:nvPr/>
        </p:nvSpPr>
        <p:spPr>
          <a:xfrm>
            <a:off x="548640" y="5212080"/>
            <a:ext cx="64008" cy="685800"/>
          </a:xfrm>
          <a:prstGeom prst="rect">
            <a:avLst/>
          </a:prstGeom>
          <a:solidFill>
            <a:srgbClr val="1C7293"/>
          </a:solidFill>
          <a:ln w="12700">
            <a:solidFill>
              <a:srgbClr val="1C7293"/>
            </a:solidFill>
            <a:prstDash val="solid"/>
          </a:ln>
        </p:spPr>
        <p:txBody>
          <a:bodyPr/>
          <a:lstStyle/>
          <a:p>
            <a:endParaRPr lang="es-CL"/>
          </a:p>
        </p:txBody>
      </p:sp>
      <p:sp>
        <p:nvSpPr>
          <p:cNvPr id="6" name="Text 14"/>
          <p:cNvSpPr txBox="1"/>
          <p:nvPr/>
        </p:nvSpPr>
        <p:spPr>
          <a:xfrm>
            <a:off x="749808" y="5212080"/>
            <a:ext cx="10771632" cy="685800"/>
          </a:xfrm>
          <a:prstGeom prst="rect">
            <a:avLst/>
          </a:prstGeom>
          <a:noFill/>
          <a:ln/>
        </p:spPr>
        <p:txBody>
          <a:bodyPr wrap="square" lIns="0" tIns="0" rIns="0" bIns="0" rtlCol="0" anchor="ctr"/>
          <a:lstStyle/>
          <a:p>
            <a:pPr marL="0" indent="0">
              <a:buNone/>
            </a:pPr>
            <a:r>
              <a:rPr lang="en-US" sz="1350" i="1" dirty="0">
                <a:solidFill>
                  <a:srgbClr val="1E2A44"/>
                </a:solidFill>
                <a:latin typeface="Calibri" pitchFamily="34" charset="0"/>
                <a:ea typeface="Calibri" pitchFamily="34" charset="-122"/>
                <a:cs typeface="Calibri" pitchFamily="34" charset="-120"/>
              </a:rPr>
              <a:t>Mismo resultado, menos ruido: map_dbl() expresa la intención («aplica esto a cada columna») sin el andamiaje del bucle.</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2 · ITERACIÓN CON PURRR</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Anatomía de map()</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18</a:t>
            </a:r>
            <a:endParaRPr lang="en-US" sz="800" dirty="0"/>
          </a:p>
        </p:txBody>
      </p:sp>
      <p:sp>
        <p:nvSpPr>
          <p:cNvPr id="7" name="Shape 4"/>
          <p:cNvSpPr/>
          <p:nvPr/>
        </p:nvSpPr>
        <p:spPr>
          <a:xfrm>
            <a:off x="548640" y="1463040"/>
            <a:ext cx="11091672" cy="777240"/>
          </a:xfrm>
          <a:prstGeom prst="roundRect">
            <a:avLst>
              <a:gd name="adj" fmla="val 7059"/>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822960" y="1463040"/>
            <a:ext cx="10515600" cy="777240"/>
          </a:xfrm>
          <a:prstGeom prst="rect">
            <a:avLst/>
          </a:prstGeom>
          <a:noFill/>
          <a:ln/>
        </p:spPr>
        <p:txBody>
          <a:bodyPr wrap="square" lIns="0" tIns="0" rIns="0" bIns="0" rtlCol="0" anchor="ctr"/>
          <a:lstStyle/>
          <a:p>
            <a:pPr marL="0" indent="0">
              <a:buNone/>
            </a:pPr>
            <a:r>
              <a:rPr lang="en-US" sz="2600" dirty="0">
                <a:solidFill>
                  <a:srgbClr val="7DD3FC"/>
                </a:solidFill>
                <a:latin typeface="Courier New" pitchFamily="34" charset="0"/>
                <a:ea typeface="Courier New" pitchFamily="34" charset="-122"/>
                <a:cs typeface="Courier New" pitchFamily="34" charset="-120"/>
              </a:rPr>
              <a:t>map</a:t>
            </a:r>
            <a:r>
              <a:rPr lang="en-US" sz="2600" dirty="0">
                <a:solidFill>
                  <a:srgbClr val="E6EDF7"/>
                </a:solidFill>
                <a:latin typeface="Courier New" pitchFamily="34" charset="0"/>
                <a:ea typeface="Courier New" pitchFamily="34" charset="-122"/>
                <a:cs typeface="Courier New" pitchFamily="34" charset="-120"/>
              </a:rPr>
              <a:t>(.x, .f, ...)</a:t>
            </a:r>
            <a:endParaRPr lang="en-US" sz="2600" dirty="0"/>
          </a:p>
        </p:txBody>
      </p:sp>
      <p:sp>
        <p:nvSpPr>
          <p:cNvPr id="9" name="Shape 6"/>
          <p:cNvSpPr/>
          <p:nvPr/>
        </p:nvSpPr>
        <p:spPr>
          <a:xfrm>
            <a:off x="548640" y="2514600"/>
            <a:ext cx="3584448" cy="1783080"/>
          </a:xfrm>
          <a:prstGeom prst="roundRect">
            <a:avLst>
              <a:gd name="adj" fmla="val 3590"/>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0" name="Text 7"/>
          <p:cNvSpPr txBox="1"/>
          <p:nvPr/>
        </p:nvSpPr>
        <p:spPr>
          <a:xfrm>
            <a:off x="822960" y="2651760"/>
            <a:ext cx="3108960" cy="411480"/>
          </a:xfrm>
          <a:prstGeom prst="rect">
            <a:avLst/>
          </a:prstGeom>
          <a:noFill/>
          <a:ln/>
        </p:spPr>
        <p:txBody>
          <a:bodyPr wrap="square" lIns="0" tIns="0" rIns="0" bIns="0" rtlCol="0" anchor="ctr"/>
          <a:lstStyle/>
          <a:p>
            <a:pPr marL="0" indent="0">
              <a:buNone/>
            </a:pPr>
            <a:r>
              <a:rPr lang="en-US" sz="2000" b="1" dirty="0">
                <a:solidFill>
                  <a:srgbClr val="065A82"/>
                </a:solidFill>
                <a:latin typeface="Courier New" pitchFamily="34" charset="0"/>
                <a:ea typeface="Courier New" pitchFamily="34" charset="-122"/>
                <a:cs typeface="Courier New" pitchFamily="34" charset="-120"/>
              </a:rPr>
              <a:t>.x</a:t>
            </a:r>
            <a:endParaRPr lang="en-US" sz="2000" dirty="0"/>
          </a:p>
        </p:txBody>
      </p:sp>
      <p:sp>
        <p:nvSpPr>
          <p:cNvPr id="11" name="Text 8"/>
          <p:cNvSpPr txBox="1"/>
          <p:nvPr/>
        </p:nvSpPr>
        <p:spPr>
          <a:xfrm>
            <a:off x="822960" y="3108960"/>
            <a:ext cx="3108960" cy="274320"/>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¿Qué recorro?</a:t>
            </a:r>
            <a:endParaRPr lang="en-US" sz="1300" dirty="0"/>
          </a:p>
        </p:txBody>
      </p:sp>
      <p:sp>
        <p:nvSpPr>
          <p:cNvPr id="12" name="Text 9"/>
          <p:cNvSpPr txBox="1"/>
          <p:nvPr/>
        </p:nvSpPr>
        <p:spPr>
          <a:xfrm>
            <a:off x="822960" y="3429000"/>
            <a:ext cx="3108960" cy="77724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Un vector, una lista o las columnas de un data frame.</a:t>
            </a:r>
            <a:endParaRPr lang="en-US" sz="1250" dirty="0"/>
          </a:p>
        </p:txBody>
      </p:sp>
      <p:sp>
        <p:nvSpPr>
          <p:cNvPr id="13" name="Shape 10"/>
          <p:cNvSpPr/>
          <p:nvPr/>
        </p:nvSpPr>
        <p:spPr>
          <a:xfrm>
            <a:off x="4297680" y="2514600"/>
            <a:ext cx="3584448" cy="1783080"/>
          </a:xfrm>
          <a:prstGeom prst="roundRect">
            <a:avLst>
              <a:gd name="adj" fmla="val 3590"/>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4" name="Text 11"/>
          <p:cNvSpPr txBox="1"/>
          <p:nvPr/>
        </p:nvSpPr>
        <p:spPr>
          <a:xfrm>
            <a:off x="4572000" y="2651760"/>
            <a:ext cx="3108960" cy="411480"/>
          </a:xfrm>
          <a:prstGeom prst="rect">
            <a:avLst/>
          </a:prstGeom>
          <a:noFill/>
          <a:ln/>
        </p:spPr>
        <p:txBody>
          <a:bodyPr wrap="square" lIns="0" tIns="0" rIns="0" bIns="0" rtlCol="0" anchor="ctr"/>
          <a:lstStyle/>
          <a:p>
            <a:pPr marL="0" indent="0">
              <a:buNone/>
            </a:pPr>
            <a:r>
              <a:rPr lang="en-US" sz="2000" b="1" dirty="0">
                <a:solidFill>
                  <a:srgbClr val="065A82"/>
                </a:solidFill>
                <a:latin typeface="Courier New" pitchFamily="34" charset="0"/>
                <a:ea typeface="Courier New" pitchFamily="34" charset="-122"/>
                <a:cs typeface="Courier New" pitchFamily="34" charset="-120"/>
              </a:rPr>
              <a:t>.f</a:t>
            </a:r>
            <a:endParaRPr lang="en-US" sz="2000" dirty="0"/>
          </a:p>
        </p:txBody>
      </p:sp>
      <p:sp>
        <p:nvSpPr>
          <p:cNvPr id="15" name="Text 12"/>
          <p:cNvSpPr txBox="1"/>
          <p:nvPr/>
        </p:nvSpPr>
        <p:spPr>
          <a:xfrm>
            <a:off x="4572000" y="3108960"/>
            <a:ext cx="3108960" cy="274320"/>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¿Qué función aplico?</a:t>
            </a:r>
            <a:endParaRPr lang="en-US" sz="1300" dirty="0"/>
          </a:p>
        </p:txBody>
      </p:sp>
      <p:sp>
        <p:nvSpPr>
          <p:cNvPr id="16" name="Text 13"/>
          <p:cNvSpPr txBox="1"/>
          <p:nvPr/>
        </p:nvSpPr>
        <p:spPr>
          <a:xfrm>
            <a:off x="4572000" y="3429000"/>
            <a:ext cx="3108960" cy="77724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Su nombre (error_estandar) o una función anónima \(x) …</a:t>
            </a:r>
            <a:endParaRPr lang="en-US" sz="1250" dirty="0"/>
          </a:p>
        </p:txBody>
      </p:sp>
      <p:sp>
        <p:nvSpPr>
          <p:cNvPr id="17" name="Shape 14"/>
          <p:cNvSpPr/>
          <p:nvPr/>
        </p:nvSpPr>
        <p:spPr>
          <a:xfrm>
            <a:off x="8046720" y="2514600"/>
            <a:ext cx="3584448" cy="1783080"/>
          </a:xfrm>
          <a:prstGeom prst="roundRect">
            <a:avLst>
              <a:gd name="adj" fmla="val 3590"/>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8" name="Text 15"/>
          <p:cNvSpPr txBox="1"/>
          <p:nvPr/>
        </p:nvSpPr>
        <p:spPr>
          <a:xfrm>
            <a:off x="8321040" y="2651760"/>
            <a:ext cx="3108960" cy="411480"/>
          </a:xfrm>
          <a:prstGeom prst="rect">
            <a:avLst/>
          </a:prstGeom>
          <a:noFill/>
          <a:ln/>
        </p:spPr>
        <p:txBody>
          <a:bodyPr wrap="square" lIns="0" tIns="0" rIns="0" bIns="0" rtlCol="0" anchor="ctr"/>
          <a:lstStyle/>
          <a:p>
            <a:pPr marL="0" indent="0">
              <a:buNone/>
            </a:pPr>
            <a:r>
              <a:rPr lang="en-US" sz="2000" b="1" dirty="0">
                <a:solidFill>
                  <a:srgbClr val="065A82"/>
                </a:solidFill>
                <a:latin typeface="Courier New" pitchFamily="34" charset="0"/>
                <a:ea typeface="Courier New" pitchFamily="34" charset="-122"/>
                <a:cs typeface="Courier New" pitchFamily="34" charset="-120"/>
              </a:rPr>
              <a:t>...</a:t>
            </a:r>
            <a:endParaRPr lang="en-US" sz="2000" dirty="0"/>
          </a:p>
        </p:txBody>
      </p:sp>
      <p:sp>
        <p:nvSpPr>
          <p:cNvPr id="19" name="Text 16"/>
          <p:cNvSpPr txBox="1"/>
          <p:nvPr/>
        </p:nvSpPr>
        <p:spPr>
          <a:xfrm>
            <a:off x="8321040" y="3108960"/>
            <a:ext cx="3108960" cy="274320"/>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¿Argumentos extra?</a:t>
            </a:r>
            <a:endParaRPr lang="en-US" sz="1300" dirty="0"/>
          </a:p>
        </p:txBody>
      </p:sp>
      <p:sp>
        <p:nvSpPr>
          <p:cNvPr id="20" name="Text 17"/>
          <p:cNvSpPr txBox="1"/>
          <p:nvPr/>
        </p:nvSpPr>
        <p:spPr>
          <a:xfrm>
            <a:off x="8321040" y="3429000"/>
            <a:ext cx="3108960" cy="77724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Se pasan a .f en cada llamada.</a:t>
            </a:r>
            <a:endParaRPr lang="en-US" sz="1250" dirty="0"/>
          </a:p>
        </p:txBody>
      </p:sp>
      <p:sp>
        <p:nvSpPr>
          <p:cNvPr id="21" name="Shape 18"/>
          <p:cNvSpPr/>
          <p:nvPr/>
        </p:nvSpPr>
        <p:spPr>
          <a:xfrm>
            <a:off x="548640" y="4526280"/>
            <a:ext cx="11091672" cy="779780"/>
          </a:xfrm>
          <a:prstGeom prst="roundRect">
            <a:avLst>
              <a:gd name="adj" fmla="val 7036"/>
            </a:avLst>
          </a:prstGeom>
          <a:solidFill>
            <a:srgbClr val="162044"/>
          </a:solidFill>
          <a:ln w="12700">
            <a:solidFill>
              <a:srgbClr val="162044"/>
            </a:solidFill>
            <a:prstDash val="solid"/>
          </a:ln>
        </p:spPr>
        <p:txBody>
          <a:bodyPr/>
          <a:lstStyle/>
          <a:p>
            <a:endParaRPr lang="es-CL"/>
          </a:p>
        </p:txBody>
      </p:sp>
      <p:sp>
        <p:nvSpPr>
          <p:cNvPr id="22" name="Text 19"/>
          <p:cNvSpPr txBox="1"/>
          <p:nvPr/>
        </p:nvSpPr>
        <p:spPr>
          <a:xfrm>
            <a:off x="731520" y="4654296"/>
            <a:ext cx="10725912" cy="468884"/>
          </a:xfrm>
          <a:prstGeom prst="rect">
            <a:avLst/>
          </a:prstGeom>
          <a:noFill/>
          <a:ln/>
        </p:spPr>
        <p:txBody>
          <a:bodyPr wrap="square" lIns="0" tIns="0" rIns="0" bIns="0" rtlCol="0" anchor="t"/>
          <a:lstStyle/>
          <a:p>
            <a:pPr marL="0" indent="0">
              <a:lnSpc>
                <a:spcPts val="1846"/>
              </a:lnSpc>
              <a:buNone/>
            </a:pPr>
            <a:r>
              <a:rPr lang="en-US" sz="1300" dirty="0">
                <a:solidFill>
                  <a:srgbClr val="7DD3FC"/>
                </a:solidFill>
                <a:latin typeface="Courier New" pitchFamily="34" charset="0"/>
                <a:ea typeface="Courier New" pitchFamily="34" charset="-122"/>
                <a:cs typeface="Courier New" pitchFamily="34" charset="-120"/>
              </a:rPr>
              <a:t>map</a:t>
            </a:r>
            <a:r>
              <a:rPr lang="en-US" sz="1300" dirty="0">
                <a:solidFill>
                  <a:srgbClr val="E6EDF7"/>
                </a:solidFill>
                <a:latin typeface="Courier New" pitchFamily="34" charset="0"/>
                <a:ea typeface="Courier New" pitchFamily="34" charset="-122"/>
                <a:cs typeface="Courier New" pitchFamily="34" charset="-120"/>
              </a:rPr>
              <a:t>(sat, error_estandar)                       </a:t>
            </a:r>
            <a:r>
              <a:rPr lang="en-US" sz="1300" i="1" dirty="0">
                <a:solidFill>
                  <a:srgbClr val="8196BC"/>
                </a:solidFill>
                <a:latin typeface="Courier New" pitchFamily="34" charset="0"/>
                <a:ea typeface="Courier New" pitchFamily="34" charset="-122"/>
                <a:cs typeface="Courier New" pitchFamily="34" charset="-120"/>
              </a:rPr>
              <a:t># por nombre</a:t>
            </a:r>
            <a:endParaRPr lang="en-US" sz="1300" dirty="0"/>
          </a:p>
          <a:p>
            <a:pPr marL="0" indent="0">
              <a:lnSpc>
                <a:spcPts val="1846"/>
              </a:lnSpc>
              <a:buNone/>
            </a:pPr>
            <a:r>
              <a:rPr lang="en-US" sz="1300" dirty="0">
                <a:solidFill>
                  <a:srgbClr val="7DD3FC"/>
                </a:solidFill>
                <a:latin typeface="Courier New" pitchFamily="34" charset="0"/>
                <a:ea typeface="Courier New" pitchFamily="34" charset="-122"/>
                <a:cs typeface="Courier New" pitchFamily="34" charset="-120"/>
              </a:rPr>
              <a:t>map</a:t>
            </a:r>
            <a:r>
              <a:rPr lang="en-US" sz="1300" dirty="0">
                <a:solidFill>
                  <a:srgbClr val="E6EDF7"/>
                </a:solidFill>
                <a:latin typeface="Courier New" pitchFamily="34" charset="0"/>
                <a:ea typeface="Courier New" pitchFamily="34" charset="-122"/>
                <a:cs typeface="Courier New" pitchFamily="34" charset="-120"/>
              </a:rPr>
              <a:t>(sat, </a:t>
            </a:r>
            <a:r>
              <a:rPr lang="en-US" sz="1300" dirty="0">
                <a:solidFill>
                  <a:srgbClr val="A5D8FF"/>
                </a:solidFill>
                <a:latin typeface="Courier New" pitchFamily="34" charset="0"/>
                <a:ea typeface="Courier New" pitchFamily="34" charset="-122"/>
                <a:cs typeface="Courier New" pitchFamily="34" charset="-120"/>
              </a:rPr>
              <a:t>\(</a:t>
            </a:r>
            <a:r>
              <a:rPr lang="en-US" sz="1300" dirty="0">
                <a:solidFill>
                  <a:srgbClr val="E6EDF7"/>
                </a:solidFill>
                <a:latin typeface="Courier New" pitchFamily="34" charset="0"/>
                <a:ea typeface="Courier New" pitchFamily="34" charset="-122"/>
                <a:cs typeface="Courier New" pitchFamily="34" charset="-120"/>
              </a:rPr>
              <a:t>x) </a:t>
            </a:r>
            <a:r>
              <a:rPr lang="en-US" sz="1300" dirty="0">
                <a:solidFill>
                  <a:srgbClr val="7DD3FC"/>
                </a:solidFill>
                <a:latin typeface="Courier New" pitchFamily="34" charset="0"/>
                <a:ea typeface="Courier New" pitchFamily="34" charset="-122"/>
                <a:cs typeface="Courier New" pitchFamily="34" charset="-120"/>
              </a:rPr>
              <a:t>mean</a:t>
            </a:r>
            <a:r>
              <a:rPr lang="en-US" sz="1300" dirty="0">
                <a:solidFill>
                  <a:srgbClr val="E6EDF7"/>
                </a:solidFill>
                <a:latin typeface="Courier New" pitchFamily="34" charset="0"/>
                <a:ea typeface="Courier New" pitchFamily="34" charset="-122"/>
                <a:cs typeface="Courier New" pitchFamily="34" charset="-120"/>
              </a:rPr>
              <a:t>(x, na.rm = </a:t>
            </a:r>
            <a:r>
              <a:rPr lang="en-US" sz="1300" dirty="0">
                <a:solidFill>
                  <a:srgbClr val="C9B8FF"/>
                </a:solidFill>
                <a:latin typeface="Courier New" pitchFamily="34" charset="0"/>
                <a:ea typeface="Courier New" pitchFamily="34" charset="-122"/>
                <a:cs typeface="Courier New" pitchFamily="34" charset="-120"/>
              </a:rPr>
              <a:t>TRUE</a:t>
            </a:r>
            <a:r>
              <a:rPr lang="en-US" sz="1300" dirty="0">
                <a:solidFill>
                  <a:srgbClr val="E6EDF7"/>
                </a:solidFill>
                <a:latin typeface="Courier New" pitchFamily="34" charset="0"/>
                <a:ea typeface="Courier New" pitchFamily="34" charset="-122"/>
                <a:cs typeface="Courier New" pitchFamily="34" charset="-120"/>
              </a:rPr>
              <a:t>))           </a:t>
            </a:r>
            <a:r>
              <a:rPr lang="en-US" sz="1300" i="1" dirty="0">
                <a:solidFill>
                  <a:srgbClr val="8196BC"/>
                </a:solidFill>
                <a:latin typeface="Courier New" pitchFamily="34" charset="0"/>
                <a:ea typeface="Courier New" pitchFamily="34" charset="-122"/>
                <a:cs typeface="Courier New" pitchFamily="34" charset="-120"/>
              </a:rPr>
              <a:t># función anónima</a:t>
            </a:r>
            <a:endParaRPr lang="en-US" sz="1300" dirty="0"/>
          </a:p>
        </p:txBody>
      </p:sp>
      <p:sp>
        <p:nvSpPr>
          <p:cNvPr id="23" name="Shape 20"/>
          <p:cNvSpPr/>
          <p:nvPr/>
        </p:nvSpPr>
        <p:spPr>
          <a:xfrm>
            <a:off x="548640" y="5440680"/>
            <a:ext cx="11091672" cy="548640"/>
          </a:xfrm>
          <a:prstGeom prst="rect">
            <a:avLst/>
          </a:prstGeom>
          <a:solidFill>
            <a:srgbClr val="E4EEF2"/>
          </a:solidFill>
          <a:ln w="12700">
            <a:solidFill>
              <a:srgbClr val="E4EEF2"/>
            </a:solidFill>
            <a:prstDash val="solid"/>
          </a:ln>
        </p:spPr>
        <p:txBody>
          <a:bodyPr/>
          <a:lstStyle/>
          <a:p>
            <a:endParaRPr lang="es-CL"/>
          </a:p>
        </p:txBody>
      </p:sp>
      <p:sp>
        <p:nvSpPr>
          <p:cNvPr id="24" name="Shape 21"/>
          <p:cNvSpPr/>
          <p:nvPr/>
        </p:nvSpPr>
        <p:spPr>
          <a:xfrm>
            <a:off x="548640" y="5440680"/>
            <a:ext cx="64008" cy="548640"/>
          </a:xfrm>
          <a:prstGeom prst="rect">
            <a:avLst/>
          </a:prstGeom>
          <a:solidFill>
            <a:srgbClr val="1C7293"/>
          </a:solidFill>
          <a:ln w="12700">
            <a:solidFill>
              <a:srgbClr val="1C7293"/>
            </a:solidFill>
            <a:prstDash val="solid"/>
          </a:ln>
        </p:spPr>
        <p:txBody>
          <a:bodyPr/>
          <a:lstStyle/>
          <a:p>
            <a:endParaRPr lang="es-CL"/>
          </a:p>
        </p:txBody>
      </p:sp>
      <p:sp>
        <p:nvSpPr>
          <p:cNvPr id="25" name="Text 22"/>
          <p:cNvSpPr txBox="1"/>
          <p:nvPr/>
        </p:nvSpPr>
        <p:spPr>
          <a:xfrm>
            <a:off x="749808" y="5440680"/>
            <a:ext cx="10771632" cy="548640"/>
          </a:xfrm>
          <a:prstGeom prst="rect">
            <a:avLst/>
          </a:prstGeom>
          <a:noFill/>
          <a:ln/>
        </p:spPr>
        <p:txBody>
          <a:bodyPr wrap="square" lIns="0" tIns="0" rIns="0" bIns="0" rtlCol="0" anchor="ctr"/>
          <a:lstStyle/>
          <a:p>
            <a:pPr marL="0" indent="0">
              <a:buNone/>
            </a:pPr>
            <a:r>
              <a:rPr lang="en-US" sz="1400" b="1" dirty="0">
                <a:solidFill>
                  <a:srgbClr val="1E2A44"/>
                </a:solidFill>
                <a:latin typeface="Calibri" pitchFamily="34" charset="0"/>
                <a:ea typeface="Calibri" pitchFamily="34" charset="-122"/>
                <a:cs typeface="Calibri" pitchFamily="34" charset="-120"/>
              </a:rPr>
              <a:t>map() siempre devuelve una lista: un elemento de salida por cada elemento de entrada.</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2 · ITERACIÓN CON PURRR</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Variantes tipadas: map_dbl(), map_chr()…</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19</a:t>
            </a:r>
            <a:endParaRPr lang="en-US" sz="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832104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45720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Función</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Devuelve</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Ejemplo</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57200">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map()</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una lista</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map(sat, error_estandar)</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map_dbl()</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vector numérico</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map_dbl(sat, error_estandar)</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457200">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map_int()</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vector de enteros</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map_int(olas, nrow)</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map_chr()</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vector de texto</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map_chr(sat, \(x) class(x))</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4"/>
                  </a:ext>
                </a:extLst>
              </a:tr>
              <a:tr h="457200">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map_lgl()</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vector TRUE/FALSE</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map_lgl(encuesta, is.numeric)</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hape 4"/>
          <p:cNvSpPr/>
          <p:nvPr/>
        </p:nvSpPr>
        <p:spPr>
          <a:xfrm>
            <a:off x="9235440" y="1463040"/>
            <a:ext cx="2404872" cy="2743200"/>
          </a:xfrm>
          <a:prstGeom prst="roundRect">
            <a:avLst>
              <a:gd name="adj" fmla="val 266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9" name="Text 5"/>
          <p:cNvSpPr txBox="1"/>
          <p:nvPr/>
        </p:nvSpPr>
        <p:spPr>
          <a:xfrm>
            <a:off x="9418320" y="1600200"/>
            <a:ext cx="2057400" cy="2468880"/>
          </a:xfrm>
          <a:prstGeom prst="rect">
            <a:avLst/>
          </a:prstGeom>
          <a:noFill/>
          <a:ln/>
        </p:spPr>
        <p:txBody>
          <a:bodyPr wrap="square" lIns="0" tIns="0" rIns="0" bIns="0" rtlCol="0" anchor="ctr"/>
          <a:lstStyle/>
          <a:p>
            <a:pPr marL="0" indent="0">
              <a:buNone/>
            </a:pPr>
            <a:r>
              <a:rPr lang="en-US" sz="1250" i="1" dirty="0">
                <a:solidFill>
                  <a:srgbClr val="5B6B7F"/>
                </a:solidFill>
                <a:latin typeface="Calibri" pitchFamily="34" charset="0"/>
                <a:ea typeface="Calibri" pitchFamily="34" charset="-122"/>
                <a:cs typeface="Calibri" pitchFamily="34" charset="-120"/>
              </a:rPr>
              <a:t>Si el tipo o el largo no coinciden, fallan con un mensaje claro: es una comprobación gratis.</a:t>
            </a:r>
            <a:endParaRPr lang="en-US" sz="1250" dirty="0"/>
          </a:p>
        </p:txBody>
      </p:sp>
      <p:sp>
        <p:nvSpPr>
          <p:cNvPr id="10" name="Shape 6"/>
          <p:cNvSpPr/>
          <p:nvPr/>
        </p:nvSpPr>
        <p:spPr>
          <a:xfrm>
            <a:off x="548640" y="4480560"/>
            <a:ext cx="7680960" cy="960120"/>
          </a:xfrm>
          <a:prstGeom prst="roundRect">
            <a:avLst>
              <a:gd name="adj" fmla="val 5714"/>
            </a:avLst>
          </a:prstGeom>
          <a:solidFill>
            <a:srgbClr val="162044"/>
          </a:solidFill>
          <a:ln w="12700">
            <a:solidFill>
              <a:srgbClr val="162044"/>
            </a:solidFill>
            <a:prstDash val="solid"/>
          </a:ln>
        </p:spPr>
        <p:txBody>
          <a:bodyPr/>
          <a:lstStyle/>
          <a:p>
            <a:endParaRPr lang="es-CL"/>
          </a:p>
        </p:txBody>
      </p:sp>
      <p:sp>
        <p:nvSpPr>
          <p:cNvPr id="11" name="Text 7"/>
          <p:cNvSpPr txBox="1"/>
          <p:nvPr/>
        </p:nvSpPr>
        <p:spPr>
          <a:xfrm>
            <a:off x="731520" y="4608576"/>
            <a:ext cx="7315200" cy="649224"/>
          </a:xfrm>
          <a:prstGeom prst="rect">
            <a:avLst/>
          </a:prstGeom>
          <a:noFill/>
          <a:ln/>
        </p:spPr>
        <p:txBody>
          <a:bodyPr wrap="square" lIns="0" tIns="0" rIns="0" bIns="0" rtlCol="0" anchor="t"/>
          <a:lstStyle/>
          <a:p>
            <a:pPr marL="0" indent="0">
              <a:lnSpc>
                <a:spcPts val="1704"/>
              </a:lnSpc>
              <a:buNone/>
            </a:pPr>
            <a:r>
              <a:rPr lang="en-US" sz="1200" dirty="0">
                <a:solidFill>
                  <a:srgbClr val="7DD3FC"/>
                </a:solidFill>
                <a:latin typeface="Courier New" pitchFamily="34" charset="0"/>
                <a:ea typeface="Courier New" pitchFamily="34" charset="-122"/>
                <a:cs typeface="Courier New" pitchFamily="34" charset="-120"/>
              </a:rPr>
              <a:t>map_dbl</a:t>
            </a:r>
            <a:r>
              <a:rPr lang="en-US" sz="1200" dirty="0">
                <a:solidFill>
                  <a:srgbClr val="E6EDF7"/>
                </a:solidFill>
                <a:latin typeface="Courier New" pitchFamily="34" charset="0"/>
                <a:ea typeface="Courier New" pitchFamily="34" charset="-122"/>
                <a:cs typeface="Courier New" pitchFamily="34" charset="-120"/>
              </a:rPr>
              <a:t>(sat, resumen_num)</a:t>
            </a:r>
            <a:endParaRPr lang="en-US" sz="1200" dirty="0"/>
          </a:p>
          <a:p>
            <a:pPr marL="0" indent="0">
              <a:lnSpc>
                <a:spcPts val="1704"/>
              </a:lnSpc>
              <a:buNone/>
            </a:pPr>
            <a:r>
              <a:rPr lang="en-US" sz="1200" dirty="0">
                <a:solidFill>
                  <a:srgbClr val="8FD5B0"/>
                </a:solidFill>
                <a:latin typeface="Courier New" pitchFamily="34" charset="0"/>
                <a:ea typeface="Courier New" pitchFamily="34" charset="-122"/>
                <a:cs typeface="Courier New" pitchFamily="34" charset="-120"/>
              </a:rPr>
              <a:t>#&gt; Error in map_dbl(sat, resumen_num):</a:t>
            </a:r>
            <a:endParaRPr lang="en-US" sz="1200" dirty="0"/>
          </a:p>
          <a:p>
            <a:pPr marL="0" indent="0">
              <a:lnSpc>
                <a:spcPts val="1704"/>
              </a:lnSpc>
              <a:buNone/>
            </a:pPr>
            <a:r>
              <a:rPr lang="en-US" sz="1200" dirty="0">
                <a:solidFill>
                  <a:srgbClr val="8FD5B0"/>
                </a:solidFill>
                <a:latin typeface="Courier New" pitchFamily="34" charset="0"/>
                <a:ea typeface="Courier New" pitchFamily="34" charset="-122"/>
                <a:cs typeface="Courier New" pitchFamily="34" charset="-120"/>
              </a:rPr>
              <a:t>#&gt; ! Result must be length 1, not 4.</a:t>
            </a:r>
            <a:endParaRPr lang="en-US" sz="1200" dirty="0"/>
          </a:p>
        </p:txBody>
      </p:sp>
      <p:sp>
        <p:nvSpPr>
          <p:cNvPr id="12" name="Shape 8"/>
          <p:cNvSpPr/>
          <p:nvPr/>
        </p:nvSpPr>
        <p:spPr>
          <a:xfrm>
            <a:off x="8412480" y="4480560"/>
            <a:ext cx="3227832" cy="960120"/>
          </a:xfrm>
          <a:prstGeom prst="rect">
            <a:avLst/>
          </a:prstGeom>
          <a:solidFill>
            <a:srgbClr val="FBF1DC"/>
          </a:solidFill>
          <a:ln w="12700">
            <a:solidFill>
              <a:srgbClr val="FBF1DC"/>
            </a:solidFill>
            <a:prstDash val="solid"/>
          </a:ln>
        </p:spPr>
        <p:txBody>
          <a:bodyPr/>
          <a:lstStyle/>
          <a:p>
            <a:endParaRPr lang="es-CL"/>
          </a:p>
        </p:txBody>
      </p:sp>
      <p:sp>
        <p:nvSpPr>
          <p:cNvPr id="13" name="Shape 9"/>
          <p:cNvSpPr/>
          <p:nvPr/>
        </p:nvSpPr>
        <p:spPr>
          <a:xfrm>
            <a:off x="8412480" y="4480560"/>
            <a:ext cx="64008" cy="960120"/>
          </a:xfrm>
          <a:prstGeom prst="rect">
            <a:avLst/>
          </a:prstGeom>
          <a:solidFill>
            <a:srgbClr val="B7791F"/>
          </a:solidFill>
          <a:ln w="12700">
            <a:solidFill>
              <a:srgbClr val="B7791F"/>
            </a:solidFill>
            <a:prstDash val="solid"/>
          </a:ln>
        </p:spPr>
        <p:txBody>
          <a:bodyPr/>
          <a:lstStyle/>
          <a:p>
            <a:endParaRPr lang="es-CL"/>
          </a:p>
        </p:txBody>
      </p:sp>
      <p:sp>
        <p:nvSpPr>
          <p:cNvPr id="14" name="Text 10"/>
          <p:cNvSpPr txBox="1"/>
          <p:nvPr/>
        </p:nvSpPr>
        <p:spPr>
          <a:xfrm>
            <a:off x="8613648" y="4480560"/>
            <a:ext cx="2907792" cy="9601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La función devuelve una tabla: usa map() + list_rbind().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2 · ITERACIÓN CON PURRR</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Combinar resultados con list_rbind()</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20</a:t>
            </a:r>
            <a:endParaRPr lang="en-US" sz="800" dirty="0"/>
          </a:p>
        </p:txBody>
      </p:sp>
      <p:sp>
        <p:nvSpPr>
          <p:cNvPr id="7" name="Shape 4"/>
          <p:cNvSpPr/>
          <p:nvPr/>
        </p:nvSpPr>
        <p:spPr>
          <a:xfrm>
            <a:off x="548640" y="1463040"/>
            <a:ext cx="4572000" cy="960120"/>
          </a:xfrm>
          <a:prstGeom prst="roundRect">
            <a:avLst>
              <a:gd name="adj" fmla="val 5714"/>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4206240" cy="649224"/>
          </a:xfrm>
          <a:prstGeom prst="rect">
            <a:avLst/>
          </a:prstGeom>
          <a:noFill/>
          <a:ln/>
        </p:spPr>
        <p:txBody>
          <a:bodyPr wrap="square" lIns="0" tIns="0" rIns="0" bIns="0" rtlCol="0" anchor="t"/>
          <a:lstStyle/>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sat </a:t>
            </a:r>
            <a:r>
              <a:rPr lang="en-US" sz="1200" dirty="0">
                <a:solidFill>
                  <a:srgbClr val="A5D8FF"/>
                </a:solidFill>
                <a:latin typeface="Courier New" pitchFamily="34" charset="0"/>
                <a:ea typeface="Courier New" pitchFamily="34" charset="-122"/>
                <a:cs typeface="Courier New" pitchFamily="34" charset="-120"/>
              </a:rPr>
              <a:t>|&gt;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map</a:t>
            </a:r>
            <a:r>
              <a:rPr lang="en-US" sz="1200" dirty="0">
                <a:solidFill>
                  <a:srgbClr val="E6EDF7"/>
                </a:solidFill>
                <a:latin typeface="Courier New" pitchFamily="34" charset="0"/>
                <a:ea typeface="Courier New" pitchFamily="34" charset="-122"/>
                <a:cs typeface="Courier New" pitchFamily="34" charset="-120"/>
              </a:rPr>
              <a:t>(resumen_num) </a:t>
            </a:r>
            <a:r>
              <a:rPr lang="en-US" sz="1200" dirty="0">
                <a:solidFill>
                  <a:srgbClr val="A5D8FF"/>
                </a:solidFill>
                <a:latin typeface="Courier New" pitchFamily="34" charset="0"/>
                <a:ea typeface="Courier New" pitchFamily="34" charset="-122"/>
                <a:cs typeface="Courier New" pitchFamily="34" charset="-120"/>
              </a:rPr>
              <a:t>|&gt;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list_rbind</a:t>
            </a:r>
            <a:r>
              <a:rPr lang="en-US" sz="1200" dirty="0">
                <a:solidFill>
                  <a:srgbClr val="E6EDF7"/>
                </a:solidFill>
                <a:latin typeface="Courier New" pitchFamily="34" charset="0"/>
                <a:ea typeface="Courier New" pitchFamily="34" charset="-122"/>
                <a:cs typeface="Courier New" pitchFamily="34" charset="-120"/>
              </a:rPr>
              <a:t>(names_to = </a:t>
            </a:r>
            <a:r>
              <a:rPr lang="en-US" sz="1200" dirty="0">
                <a:solidFill>
                  <a:srgbClr val="F2C97D"/>
                </a:solidFill>
                <a:latin typeface="Courier New" pitchFamily="34" charset="0"/>
                <a:ea typeface="Courier New" pitchFamily="34" charset="-122"/>
                <a:cs typeface="Courier New" pitchFamily="34" charset="-120"/>
              </a:rPr>
              <a:t>"dimension"</a:t>
            </a: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9" name="Text 6"/>
          <p:cNvSpPr txBox="1"/>
          <p:nvPr/>
        </p:nvSpPr>
        <p:spPr>
          <a:xfrm>
            <a:off x="548640" y="2697480"/>
            <a:ext cx="4572000" cy="640080"/>
          </a:xfrm>
          <a:prstGeom prst="rect">
            <a:avLst/>
          </a:prstGeom>
          <a:noFill/>
          <a:ln/>
        </p:spPr>
        <p:txBody>
          <a:bodyPr wrap="square" lIns="0" tIns="0" rIns="0" bIns="0" rtlCol="0" anchor="t"/>
          <a:lstStyle/>
          <a:p>
            <a:pPr marL="0" indent="0">
              <a:buNone/>
            </a:pPr>
            <a:r>
              <a:rPr lang="en-US" sz="1300" dirty="0">
                <a:solidFill>
                  <a:srgbClr val="1E2A44"/>
                </a:solidFill>
                <a:latin typeface="Calibri" pitchFamily="34" charset="0"/>
                <a:ea typeface="Calibri" pitchFamily="34" charset="-122"/>
                <a:cs typeface="Calibri" pitchFamily="34" charset="-120"/>
              </a:rPr>
              <a:t>map() devuelve una lista de tablas; list_rbind() las apila en una sola.</a:t>
            </a:r>
            <a:endParaRPr lang="en-US" sz="1300" dirty="0"/>
          </a:p>
        </p:txBody>
      </p:sp>
      <p:sp>
        <p:nvSpPr>
          <p:cNvPr id="10" name="Shape 7"/>
          <p:cNvSpPr/>
          <p:nvPr/>
        </p:nvSpPr>
        <p:spPr>
          <a:xfrm>
            <a:off x="548640" y="3520440"/>
            <a:ext cx="4572000" cy="1005840"/>
          </a:xfrm>
          <a:prstGeom prst="rect">
            <a:avLst/>
          </a:prstGeom>
          <a:solidFill>
            <a:srgbClr val="E4EEF2"/>
          </a:solidFill>
          <a:ln w="12700">
            <a:solidFill>
              <a:srgbClr val="E4EEF2"/>
            </a:solidFill>
            <a:prstDash val="solid"/>
          </a:ln>
        </p:spPr>
        <p:txBody>
          <a:bodyPr/>
          <a:lstStyle/>
          <a:p>
            <a:endParaRPr lang="es-CL"/>
          </a:p>
        </p:txBody>
      </p:sp>
      <p:sp>
        <p:nvSpPr>
          <p:cNvPr id="11" name="Shape 8"/>
          <p:cNvSpPr/>
          <p:nvPr/>
        </p:nvSpPr>
        <p:spPr>
          <a:xfrm>
            <a:off x="548640" y="3520440"/>
            <a:ext cx="64008" cy="1005840"/>
          </a:xfrm>
          <a:prstGeom prst="rect">
            <a:avLst/>
          </a:prstGeom>
          <a:solidFill>
            <a:srgbClr val="1C7293"/>
          </a:solidFill>
          <a:ln w="12700">
            <a:solidFill>
              <a:srgbClr val="1C7293"/>
            </a:solidFill>
            <a:prstDash val="solid"/>
          </a:ln>
        </p:spPr>
        <p:txBody>
          <a:bodyPr/>
          <a:lstStyle/>
          <a:p>
            <a:endParaRPr lang="es-CL"/>
          </a:p>
        </p:txBody>
      </p:sp>
      <p:sp>
        <p:nvSpPr>
          <p:cNvPr id="12" name="Text 9"/>
          <p:cNvSpPr txBox="1"/>
          <p:nvPr/>
        </p:nvSpPr>
        <p:spPr>
          <a:xfrm>
            <a:off x="749808" y="3520440"/>
            <a:ext cx="4251960" cy="100584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names_to guarda el nombre de cada elemento de la lista en una columna.</a:t>
            </a:r>
            <a:endParaRPr lang="en-US" sz="1300" dirty="0"/>
          </a:p>
        </p:txBody>
      </p:sp>
      <p:sp>
        <p:nvSpPr>
          <p:cNvPr id="13" name="Shape 10"/>
          <p:cNvSpPr/>
          <p:nvPr/>
        </p:nvSpPr>
        <p:spPr>
          <a:xfrm>
            <a:off x="5486400" y="1463040"/>
            <a:ext cx="6153912" cy="3291840"/>
          </a:xfrm>
          <a:prstGeom prst="roundRect">
            <a:avLst>
              <a:gd name="adj" fmla="val 1944"/>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4" name="Text 11"/>
          <p:cNvSpPr txBox="1"/>
          <p:nvPr/>
        </p:nvSpPr>
        <p:spPr>
          <a:xfrm>
            <a:off x="5760720" y="1627632"/>
            <a:ext cx="54864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RESULTADO</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760720" y="1965960"/>
          <a:ext cx="507492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8404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dimension</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media</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de</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ee</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84048">
                <a:tc>
                  <a:txBody>
                    <a:bodyPr/>
                    <a:lstStyle/>
                    <a:p>
                      <a:pPr marL="0" indent="0" algn="l">
                        <a:buNone/>
                      </a:pPr>
                      <a:r>
                        <a:rPr lang="en-US" sz="1050" dirty="0">
                          <a:solidFill>
                            <a:srgbClr val="065A82"/>
                          </a:solidFill>
                          <a:latin typeface="Courier New" pitchFamily="34" charset="0"/>
                          <a:ea typeface="Courier New" pitchFamily="34" charset="-122"/>
                          <a:cs typeface="Courier New" pitchFamily="34" charset="-120"/>
                        </a:rPr>
                        <a:t>sat_supervision</a:t>
                      </a:r>
                      <a:endParaRPr lang="en-US" sz="10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150</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3.74</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0.930</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0.0759</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50" dirty="0">
                          <a:solidFill>
                            <a:srgbClr val="065A82"/>
                          </a:solidFill>
                          <a:latin typeface="Courier New" pitchFamily="34" charset="0"/>
                          <a:ea typeface="Courier New" pitchFamily="34" charset="-122"/>
                          <a:cs typeface="Courier New" pitchFamily="34" charset="-120"/>
                        </a:rPr>
                        <a:t>sat_infraestructura</a:t>
                      </a:r>
                      <a:endParaRPr lang="en-US" sz="10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150</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3.41</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1.07</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0.0873</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384048">
                <a:tc>
                  <a:txBody>
                    <a:bodyPr/>
                    <a:lstStyle/>
                    <a:p>
                      <a:pPr marL="0" indent="0" algn="l">
                        <a:buNone/>
                      </a:pPr>
                      <a:r>
                        <a:rPr lang="en-US" sz="1050" dirty="0">
                          <a:solidFill>
                            <a:srgbClr val="065A82"/>
                          </a:solidFill>
                          <a:latin typeface="Courier New" pitchFamily="34" charset="0"/>
                          <a:ea typeface="Courier New" pitchFamily="34" charset="-122"/>
                          <a:cs typeface="Courier New" pitchFamily="34" charset="-120"/>
                        </a:rPr>
                        <a:t>sat_financiamiento</a:t>
                      </a:r>
                      <a:endParaRPr lang="en-US" sz="10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144</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3.14</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1.01</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0.0846</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50" dirty="0">
                          <a:solidFill>
                            <a:srgbClr val="065A82"/>
                          </a:solidFill>
                          <a:latin typeface="Courier New" pitchFamily="34" charset="0"/>
                          <a:ea typeface="Courier New" pitchFamily="34" charset="-122"/>
                          <a:cs typeface="Courier New" pitchFamily="34" charset="-120"/>
                        </a:rPr>
                        <a:t>sat_biblioteca</a:t>
                      </a:r>
                      <a:endParaRPr lang="en-US" sz="10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150</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3.79</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0.887</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0.0724</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4"/>
                  </a:ext>
                </a:extLst>
              </a:tr>
              <a:tr h="384048">
                <a:tc>
                  <a:txBody>
                    <a:bodyPr/>
                    <a:lstStyle/>
                    <a:p>
                      <a:pPr marL="0" indent="0" algn="l">
                        <a:buNone/>
                      </a:pPr>
                      <a:r>
                        <a:rPr lang="en-US" sz="1050" dirty="0">
                          <a:solidFill>
                            <a:srgbClr val="065A82"/>
                          </a:solidFill>
                          <a:latin typeface="Courier New" pitchFamily="34" charset="0"/>
                          <a:ea typeface="Courier New" pitchFamily="34" charset="-122"/>
                          <a:cs typeface="Courier New" pitchFamily="34" charset="-120"/>
                        </a:rPr>
                        <a:t>sat_conectividad</a:t>
                      </a:r>
                      <a:endParaRPr lang="en-US" sz="10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144</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3.19</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1.15</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E2A44"/>
                          </a:solidFill>
                          <a:latin typeface="Calibri" pitchFamily="34" charset="0"/>
                          <a:ea typeface="Calibri" pitchFamily="34" charset="-122"/>
                          <a:cs typeface="Calibri" pitchFamily="34" charset="-120"/>
                        </a:rPr>
                        <a:t>0.0960</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6" name="Text 12"/>
          <p:cNvSpPr txBox="1"/>
          <p:nvPr/>
        </p:nvSpPr>
        <p:spPr>
          <a:xfrm>
            <a:off x="548640" y="5029200"/>
            <a:ext cx="11091672" cy="365760"/>
          </a:xfrm>
          <a:prstGeom prst="rect">
            <a:avLst/>
          </a:prstGeom>
          <a:noFill/>
          <a:ln/>
        </p:spPr>
        <p:txBody>
          <a:bodyPr wrap="square" lIns="0" tIns="0" rIns="0" bIns="0" rtlCol="0" anchor="ctr"/>
          <a:lstStyle/>
          <a:p>
            <a:pPr marL="0" indent="0">
              <a:buNone/>
            </a:pPr>
            <a:r>
              <a:rPr lang="en-US" sz="1200" i="1" dirty="0">
                <a:solidFill>
                  <a:srgbClr val="5B6B7F"/>
                </a:solidFill>
                <a:latin typeface="Calibri" pitchFamily="34" charset="0"/>
                <a:ea typeface="Calibri" pitchFamily="34" charset="-122"/>
                <a:cs typeface="Calibri" pitchFamily="34" charset="-120"/>
              </a:rPr>
              <a:t>En versiones antiguas de purrr: map_dfr(). Hoy se prefiere map() + list_rbind().</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2 · ITERACIÓN CON PURRR</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Leer muchos archivos de una vez</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21</a:t>
            </a:r>
            <a:endParaRPr lang="en-US" sz="800" dirty="0"/>
          </a:p>
        </p:txBody>
      </p:sp>
      <p:sp>
        <p:nvSpPr>
          <p:cNvPr id="7" name="Shape 4"/>
          <p:cNvSpPr/>
          <p:nvPr/>
        </p:nvSpPr>
        <p:spPr>
          <a:xfrm>
            <a:off x="548640" y="1463040"/>
            <a:ext cx="6949440" cy="2474976"/>
          </a:xfrm>
          <a:prstGeom prst="roundRect">
            <a:avLst>
              <a:gd name="adj" fmla="val 2217"/>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6583680" cy="2164080"/>
          </a:xfrm>
          <a:prstGeom prst="rect">
            <a:avLst/>
          </a:prstGeom>
          <a:noFill/>
          <a:ln/>
        </p:spPr>
        <p:txBody>
          <a:bodyPr wrap="square" lIns="0" tIns="0" rIns="0" bIns="0" rtlCol="0" anchor="t"/>
          <a:lstStyle/>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archivos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list.files</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here</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F2C97D"/>
                </a:solidFill>
                <a:latin typeface="Courier New" pitchFamily="34" charset="0"/>
                <a:ea typeface="Courier New" pitchFamily="34" charset="-122"/>
                <a:cs typeface="Courier New" pitchFamily="34" charset="-120"/>
              </a:rPr>
              <a:t>"data"</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F2C97D"/>
                </a:solidFill>
                <a:latin typeface="Courier New" pitchFamily="34" charset="0"/>
                <a:ea typeface="Courier New" pitchFamily="34" charset="-122"/>
                <a:cs typeface="Courier New" pitchFamily="34" charset="-120"/>
              </a:rPr>
              <a:t>"raw"</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F2C97D"/>
                </a:solidFill>
                <a:latin typeface="Courier New" pitchFamily="34" charset="0"/>
                <a:ea typeface="Courier New" pitchFamily="34" charset="-122"/>
                <a:cs typeface="Courier New" pitchFamily="34" charset="-120"/>
              </a:rPr>
              <a:t>"olas"</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pattern = </a:t>
            </a:r>
            <a:r>
              <a:rPr lang="en-US" sz="1200" dirty="0">
                <a:solidFill>
                  <a:srgbClr val="F2C97D"/>
                </a:solidFill>
                <a:latin typeface="Courier New" pitchFamily="34" charset="0"/>
                <a:ea typeface="Courier New" pitchFamily="34" charset="-122"/>
                <a:cs typeface="Courier New" pitchFamily="34" charset="-120"/>
              </a:rPr>
              <a:t>"\\.csv$"</a:t>
            </a:r>
            <a:r>
              <a:rPr lang="en-US" sz="1200" dirty="0">
                <a:solidFill>
                  <a:srgbClr val="E6EDF7"/>
                </a:solidFill>
                <a:latin typeface="Courier New" pitchFamily="34" charset="0"/>
                <a:ea typeface="Courier New" pitchFamily="34" charset="-122"/>
                <a:cs typeface="Courier New" pitchFamily="34" charset="-120"/>
              </a:rPr>
              <a:t>, full.names = </a:t>
            </a:r>
            <a:r>
              <a:rPr lang="en-US" sz="1200" dirty="0">
                <a:solidFill>
                  <a:srgbClr val="C9B8FF"/>
                </a:solidFill>
                <a:latin typeface="Courier New" pitchFamily="34" charset="0"/>
                <a:ea typeface="Courier New" pitchFamily="34" charset="-122"/>
                <a:cs typeface="Courier New" pitchFamily="34" charset="-120"/>
              </a:rPr>
              <a:t>TRUE</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olas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archivos </a:t>
            </a:r>
            <a:r>
              <a:rPr lang="en-US" sz="1200" dirty="0">
                <a:solidFill>
                  <a:srgbClr val="A5D8FF"/>
                </a:solidFill>
                <a:latin typeface="Courier New" pitchFamily="34" charset="0"/>
                <a:ea typeface="Courier New" pitchFamily="34" charset="-122"/>
                <a:cs typeface="Courier New" pitchFamily="34" charset="-120"/>
              </a:rPr>
              <a:t>|&gt;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set_names</a:t>
            </a:r>
            <a:r>
              <a:rPr lang="en-US" sz="1200" dirty="0">
                <a:solidFill>
                  <a:srgbClr val="E6EDF7"/>
                </a:solidFill>
                <a:latin typeface="Courier New" pitchFamily="34" charset="0"/>
                <a:ea typeface="Courier New" pitchFamily="34" charset="-122"/>
                <a:cs typeface="Courier New" pitchFamily="34" charset="-120"/>
              </a:rPr>
              <a:t>(basename) </a:t>
            </a:r>
            <a:r>
              <a:rPr lang="en-US" sz="1200" dirty="0">
                <a:solidFill>
                  <a:srgbClr val="A5D8FF"/>
                </a:solidFill>
                <a:latin typeface="Courier New" pitchFamily="34" charset="0"/>
                <a:ea typeface="Courier New" pitchFamily="34" charset="-122"/>
                <a:cs typeface="Courier New" pitchFamily="34" charset="-120"/>
              </a:rPr>
              <a:t>|&gt;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map</a:t>
            </a:r>
            <a:r>
              <a:rPr lang="en-US" sz="1200" dirty="0">
                <a:solidFill>
                  <a:srgbClr val="E6EDF7"/>
                </a:solidFill>
                <a:latin typeface="Courier New" pitchFamily="34" charset="0"/>
                <a:ea typeface="Courier New" pitchFamily="34" charset="-122"/>
                <a:cs typeface="Courier New" pitchFamily="34" charset="-120"/>
              </a:rPr>
              <a:t>(read_csv, show_col_types = </a:t>
            </a:r>
            <a:r>
              <a:rPr lang="en-US" sz="1200" dirty="0">
                <a:solidFill>
                  <a:srgbClr val="C9B8FF"/>
                </a:solidFill>
                <a:latin typeface="Courier New" pitchFamily="34" charset="0"/>
                <a:ea typeface="Courier New" pitchFamily="34" charset="-122"/>
                <a:cs typeface="Courier New" pitchFamily="34" charset="-120"/>
              </a:rPr>
              <a:t>FALSE</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7DD3FC"/>
                </a:solidFill>
                <a:latin typeface="Courier New" pitchFamily="34" charset="0"/>
                <a:ea typeface="Courier New" pitchFamily="34" charset="-122"/>
                <a:cs typeface="Courier New" pitchFamily="34" charset="-120"/>
              </a:rPr>
              <a:t>map_int</a:t>
            </a:r>
            <a:r>
              <a:rPr lang="en-US" sz="1200" dirty="0">
                <a:solidFill>
                  <a:srgbClr val="E6EDF7"/>
                </a:solidFill>
                <a:latin typeface="Courier New" pitchFamily="34" charset="0"/>
                <a:ea typeface="Courier New" pitchFamily="34" charset="-122"/>
                <a:cs typeface="Courier New" pitchFamily="34" charset="-120"/>
              </a:rPr>
              <a:t>(olas, ncol)</a:t>
            </a:r>
            <a:endParaRPr lang="en-US" sz="1200" dirty="0"/>
          </a:p>
        </p:txBody>
      </p:sp>
      <p:sp>
        <p:nvSpPr>
          <p:cNvPr id="9" name="Shape 6"/>
          <p:cNvSpPr/>
          <p:nvPr/>
        </p:nvSpPr>
        <p:spPr>
          <a:xfrm>
            <a:off x="7818120" y="1463040"/>
            <a:ext cx="3822192" cy="3108960"/>
          </a:xfrm>
          <a:prstGeom prst="roundRect">
            <a:avLst>
              <a:gd name="adj" fmla="val 2059"/>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0" name="Text 7"/>
          <p:cNvSpPr txBox="1"/>
          <p:nvPr/>
        </p:nvSpPr>
        <p:spPr>
          <a:xfrm>
            <a:off x="8046720" y="1627632"/>
            <a:ext cx="347472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COLUMNAS DE CADA ARCHIVO</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046720" y="1965960"/>
          <a:ext cx="329184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tblGrid>
              <a:tr h="36576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archivo</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columnas</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65760">
                <a:tc>
                  <a:txBody>
                    <a:bodyPr/>
                    <a:lstStyle/>
                    <a:p>
                      <a:pPr marL="0" indent="0" algn="l">
                        <a:buNone/>
                      </a:pPr>
                      <a:r>
                        <a:rPr lang="en-US" sz="1000" dirty="0">
                          <a:solidFill>
                            <a:srgbClr val="065A82"/>
                          </a:solidFill>
                          <a:latin typeface="Courier New" pitchFamily="34" charset="0"/>
                          <a:ea typeface="Courier New" pitchFamily="34" charset="-122"/>
                          <a:cs typeface="Courier New" pitchFamily="34" charset="-120"/>
                        </a:rPr>
                        <a:t>encuesta_2022.csv</a:t>
                      </a:r>
                      <a:endParaRPr lang="en-US" sz="10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44"/>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000" dirty="0">
                          <a:solidFill>
                            <a:srgbClr val="065A82"/>
                          </a:solidFill>
                          <a:latin typeface="Courier New" pitchFamily="34" charset="0"/>
                          <a:ea typeface="Courier New" pitchFamily="34" charset="-122"/>
                          <a:cs typeface="Courier New" pitchFamily="34" charset="-120"/>
                        </a:rPr>
                        <a:t>encuesta_2023.csv</a:t>
                      </a:r>
                      <a:endParaRPr lang="en-US" sz="10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100" dirty="0">
                          <a:solidFill>
                            <a:srgbClr val="1E2A44"/>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365760">
                <a:tc>
                  <a:txBody>
                    <a:bodyPr/>
                    <a:lstStyle/>
                    <a:p>
                      <a:pPr marL="0" indent="0" algn="l">
                        <a:buNone/>
                      </a:pPr>
                      <a:r>
                        <a:rPr lang="en-US" sz="1000" dirty="0">
                          <a:solidFill>
                            <a:srgbClr val="065A82"/>
                          </a:solidFill>
                          <a:latin typeface="Courier New" pitchFamily="34" charset="0"/>
                          <a:ea typeface="Courier New" pitchFamily="34" charset="-122"/>
                          <a:cs typeface="Courier New" pitchFamily="34" charset="-120"/>
                        </a:rPr>
                        <a:t>encuesta_2024.csv</a:t>
                      </a:r>
                      <a:endParaRPr lang="en-US" sz="10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44"/>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000" dirty="0">
                          <a:solidFill>
                            <a:srgbClr val="8A5A00"/>
                          </a:solidFill>
                          <a:latin typeface="Courier New" pitchFamily="34" charset="0"/>
                          <a:ea typeface="Courier New" pitchFamily="34" charset="-122"/>
                          <a:cs typeface="Courier New" pitchFamily="34" charset="-120"/>
                        </a:rPr>
                        <a:t>encuesta_2025.csv</a:t>
                      </a:r>
                      <a:endParaRPr lang="en-US" sz="10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9E3B4"/>
                    </a:solidFill>
                  </a:tcPr>
                </a:tc>
                <a:tc>
                  <a:txBody>
                    <a:bodyPr/>
                    <a:lstStyle/>
                    <a:p>
                      <a:pPr marL="0" indent="0" algn="r">
                        <a:buNone/>
                      </a:pPr>
                      <a:r>
                        <a:rPr lang="en-US" sz="1100" dirty="0">
                          <a:solidFill>
                            <a:srgbClr val="8A5A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9E3B4"/>
                    </a:solidFill>
                  </a:tcPr>
                </a:tc>
                <a:extLst>
                  <a:ext uri="{0D108BD9-81ED-4DB2-BD59-A6C34878D82A}">
                    <a16:rowId xmlns:a16="http://schemas.microsoft.com/office/drawing/2014/main" val="10004"/>
                  </a:ext>
                </a:extLst>
              </a:tr>
              <a:tr h="365760">
                <a:tc>
                  <a:txBody>
                    <a:bodyPr/>
                    <a:lstStyle/>
                    <a:p>
                      <a:pPr marL="0" indent="0" algn="l">
                        <a:buNone/>
                      </a:pPr>
                      <a:r>
                        <a:rPr lang="en-US" sz="1000" dirty="0">
                          <a:solidFill>
                            <a:srgbClr val="065A82"/>
                          </a:solidFill>
                          <a:latin typeface="Courier New" pitchFamily="34" charset="0"/>
                          <a:ea typeface="Courier New" pitchFamily="34" charset="-122"/>
                          <a:cs typeface="Courier New" pitchFamily="34" charset="-120"/>
                        </a:rPr>
                        <a:t>encuesta_2026.csv</a:t>
                      </a:r>
                      <a:endParaRPr lang="en-US" sz="10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44"/>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Shape 8"/>
          <p:cNvSpPr/>
          <p:nvPr/>
        </p:nvSpPr>
        <p:spPr>
          <a:xfrm>
            <a:off x="548640" y="4892040"/>
            <a:ext cx="11091672" cy="868680"/>
          </a:xfrm>
          <a:prstGeom prst="rect">
            <a:avLst/>
          </a:prstGeom>
          <a:solidFill>
            <a:srgbClr val="FBF1DC"/>
          </a:solidFill>
          <a:ln w="12700">
            <a:solidFill>
              <a:srgbClr val="FBF1DC"/>
            </a:solidFill>
            <a:prstDash val="solid"/>
          </a:ln>
        </p:spPr>
        <p:txBody>
          <a:bodyPr/>
          <a:lstStyle/>
          <a:p>
            <a:endParaRPr lang="es-CL"/>
          </a:p>
        </p:txBody>
      </p:sp>
      <p:sp>
        <p:nvSpPr>
          <p:cNvPr id="13" name="Shape 9"/>
          <p:cNvSpPr/>
          <p:nvPr/>
        </p:nvSpPr>
        <p:spPr>
          <a:xfrm>
            <a:off x="548640" y="4892040"/>
            <a:ext cx="64008" cy="868680"/>
          </a:xfrm>
          <a:prstGeom prst="rect">
            <a:avLst/>
          </a:prstGeom>
          <a:solidFill>
            <a:srgbClr val="B7791F"/>
          </a:solidFill>
          <a:ln w="12700">
            <a:solidFill>
              <a:srgbClr val="B7791F"/>
            </a:solidFill>
            <a:prstDash val="solid"/>
          </a:ln>
        </p:spPr>
        <p:txBody>
          <a:bodyPr/>
          <a:lstStyle/>
          <a:p>
            <a:endParaRPr lang="es-CL"/>
          </a:p>
        </p:txBody>
      </p:sp>
      <p:sp>
        <p:nvSpPr>
          <p:cNvPr id="14" name="Text 10"/>
          <p:cNvSpPr txBox="1"/>
          <p:nvPr/>
        </p:nvSpPr>
        <p:spPr>
          <a:xfrm>
            <a:off x="749808" y="4892040"/>
            <a:ext cx="10771632" cy="86868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¡Cuidado con 2025! Tiene 1 sola columna: se exportó con «;» como separador (típico de Excel en español) y read_csv() no lo entendió. Revisa siempre ncol y nrow.</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2 · ITERACIÓN CON PURRR</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Cuando una iteración falla: safely() y possibly()</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22</a:t>
            </a:r>
            <a:endParaRPr lang="en-US" sz="800" dirty="0"/>
          </a:p>
        </p:txBody>
      </p:sp>
      <p:sp>
        <p:nvSpPr>
          <p:cNvPr id="7" name="Shape 4"/>
          <p:cNvSpPr/>
          <p:nvPr/>
        </p:nvSpPr>
        <p:spPr>
          <a:xfrm>
            <a:off x="548640" y="1463040"/>
            <a:ext cx="6675120" cy="2592197"/>
          </a:xfrm>
          <a:prstGeom prst="roundRect">
            <a:avLst>
              <a:gd name="adj" fmla="val 2117"/>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6309360" cy="2281301"/>
          </a:xfrm>
          <a:prstGeom prst="rect">
            <a:avLst/>
          </a:prstGeom>
          <a:noFill/>
          <a:ln/>
        </p:spPr>
        <p:txBody>
          <a:bodyPr wrap="square" lIns="0" tIns="0" rIns="0" bIns="0" rtlCol="0" anchor="t"/>
          <a:lstStyle/>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resumir_ola </a:t>
            </a:r>
            <a:r>
              <a:rPr lang="en-US" sz="1150" dirty="0">
                <a:solidFill>
                  <a:srgbClr val="A5D8FF"/>
                </a:solidFill>
                <a:latin typeface="Courier New" pitchFamily="34" charset="0"/>
                <a:ea typeface="Courier New" pitchFamily="34" charset="-122"/>
                <a:cs typeface="Courier New" pitchFamily="34" charset="-120"/>
              </a:rPr>
              <a:t>&lt;-</a:t>
            </a: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C9B8FF"/>
                </a:solidFill>
                <a:latin typeface="Courier New" pitchFamily="34" charset="0"/>
                <a:ea typeface="Courier New" pitchFamily="34" charset="-122"/>
                <a:cs typeface="Courier New" pitchFamily="34" charset="-120"/>
              </a:rPr>
              <a:t>function</a:t>
            </a:r>
            <a:r>
              <a:rPr lang="en-US" sz="1150" dirty="0">
                <a:solidFill>
                  <a:srgbClr val="E6EDF7"/>
                </a:solidFill>
                <a:latin typeface="Courier New" pitchFamily="34" charset="0"/>
                <a:ea typeface="Courier New" pitchFamily="34" charset="-122"/>
                <a:cs typeface="Courier New" pitchFamily="34" charset="-120"/>
              </a:rPr>
              <a:t>(d) {</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d </a:t>
            </a:r>
            <a:r>
              <a:rPr lang="en-US" sz="1150" dirty="0">
                <a:solidFill>
                  <a:srgbClr val="A5D8FF"/>
                </a:solidFill>
                <a:latin typeface="Courier New" pitchFamily="34" charset="0"/>
                <a:ea typeface="Courier New" pitchFamily="34" charset="-122"/>
                <a:cs typeface="Courier New" pitchFamily="34" charset="-120"/>
              </a:rPr>
              <a:t>|&gt;</a:t>
            </a: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7DD3FC"/>
                </a:solidFill>
                <a:latin typeface="Courier New" pitchFamily="34" charset="0"/>
                <a:ea typeface="Courier New" pitchFamily="34" charset="-122"/>
                <a:cs typeface="Courier New" pitchFamily="34" charset="-120"/>
              </a:rPr>
              <a:t>summarise</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n   = </a:t>
            </a:r>
            <a:r>
              <a:rPr lang="en-US" sz="1150" dirty="0">
                <a:solidFill>
                  <a:srgbClr val="7DD3FC"/>
                </a:solidFill>
                <a:latin typeface="Courier New" pitchFamily="34" charset="0"/>
                <a:ea typeface="Courier New" pitchFamily="34" charset="-122"/>
                <a:cs typeface="Courier New" pitchFamily="34" charset="-120"/>
              </a:rPr>
              <a:t>n</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sup = </a:t>
            </a:r>
            <a:r>
              <a:rPr lang="en-US" sz="1150" dirty="0">
                <a:solidFill>
                  <a:srgbClr val="7DD3FC"/>
                </a:solidFill>
                <a:latin typeface="Courier New" pitchFamily="34" charset="0"/>
                <a:ea typeface="Courier New" pitchFamily="34" charset="-122"/>
                <a:cs typeface="Courier New" pitchFamily="34" charset="-120"/>
              </a:rPr>
              <a:t>mean</a:t>
            </a:r>
            <a:r>
              <a:rPr lang="en-US" sz="1150" dirty="0">
                <a:solidFill>
                  <a:srgbClr val="E6EDF7"/>
                </a:solidFill>
                <a:latin typeface="Courier New" pitchFamily="34" charset="0"/>
                <a:ea typeface="Courier New" pitchFamily="34" charset="-122"/>
                <a:cs typeface="Courier New" pitchFamily="34" charset="-120"/>
              </a:rPr>
              <a:t>(sat_supervision, na.rm = </a:t>
            </a:r>
            <a:r>
              <a:rPr lang="en-US" sz="1150" dirty="0">
                <a:solidFill>
                  <a:srgbClr val="C9B8FF"/>
                </a:solidFill>
                <a:latin typeface="Courier New" pitchFamily="34" charset="0"/>
                <a:ea typeface="Courier New" pitchFamily="34" charset="-122"/>
                <a:cs typeface="Courier New" pitchFamily="34" charset="-120"/>
              </a:rPr>
              <a:t>TRUE</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con = </a:t>
            </a:r>
            <a:r>
              <a:rPr lang="en-US" sz="1150" dirty="0">
                <a:solidFill>
                  <a:srgbClr val="7DD3FC"/>
                </a:solidFill>
                <a:latin typeface="Courier New" pitchFamily="34" charset="0"/>
                <a:ea typeface="Courier New" pitchFamily="34" charset="-122"/>
                <a:cs typeface="Courier New" pitchFamily="34" charset="-120"/>
              </a:rPr>
              <a:t>mean</a:t>
            </a:r>
            <a:r>
              <a:rPr lang="en-US" sz="1150" dirty="0">
                <a:solidFill>
                  <a:srgbClr val="E6EDF7"/>
                </a:solidFill>
                <a:latin typeface="Courier New" pitchFamily="34" charset="0"/>
                <a:ea typeface="Courier New" pitchFamily="34" charset="-122"/>
                <a:cs typeface="Courier New" pitchFamily="34" charset="-120"/>
              </a:rPr>
              <a:t>(sat_conectividad, na.rm = </a:t>
            </a:r>
            <a:r>
              <a:rPr lang="en-US" sz="1150" dirty="0">
                <a:solidFill>
                  <a:srgbClr val="C9B8FF"/>
                </a:solidFill>
                <a:latin typeface="Courier New" pitchFamily="34" charset="0"/>
                <a:ea typeface="Courier New" pitchFamily="34" charset="-122"/>
                <a:cs typeface="Courier New" pitchFamily="34" charset="-120"/>
              </a:rPr>
              <a:t>TRUE</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olas </a:t>
            </a:r>
            <a:r>
              <a:rPr lang="en-US" sz="1150" dirty="0">
                <a:solidFill>
                  <a:srgbClr val="A5D8FF"/>
                </a:solidFill>
                <a:latin typeface="Courier New" pitchFamily="34" charset="0"/>
                <a:ea typeface="Courier New" pitchFamily="34" charset="-122"/>
                <a:cs typeface="Courier New" pitchFamily="34" charset="-120"/>
              </a:rPr>
              <a:t>|&gt;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7DD3FC"/>
                </a:solidFill>
                <a:latin typeface="Courier New" pitchFamily="34" charset="0"/>
                <a:ea typeface="Courier New" pitchFamily="34" charset="-122"/>
                <a:cs typeface="Courier New" pitchFamily="34" charset="-120"/>
              </a:rPr>
              <a:t>map</a:t>
            </a:r>
            <a:r>
              <a:rPr lang="en-US" sz="1150" dirty="0">
                <a:solidFill>
                  <a:srgbClr val="E6EDF7"/>
                </a:solidFill>
                <a:latin typeface="Courier New" pitchFamily="34" charset="0"/>
                <a:ea typeface="Courier New" pitchFamily="34" charset="-122"/>
                <a:cs typeface="Courier New" pitchFamily="34" charset="-120"/>
              </a:rPr>
              <a:t>(</a:t>
            </a:r>
            <a:r>
              <a:rPr lang="en-US" sz="1150" dirty="0">
                <a:solidFill>
                  <a:srgbClr val="7DD3FC"/>
                </a:solidFill>
                <a:latin typeface="Courier New" pitchFamily="34" charset="0"/>
                <a:ea typeface="Courier New" pitchFamily="34" charset="-122"/>
                <a:cs typeface="Courier New" pitchFamily="34" charset="-120"/>
              </a:rPr>
              <a:t>possibly</a:t>
            </a:r>
            <a:r>
              <a:rPr lang="en-US" sz="1150" dirty="0">
                <a:solidFill>
                  <a:srgbClr val="E6EDF7"/>
                </a:solidFill>
                <a:latin typeface="Courier New" pitchFamily="34" charset="0"/>
                <a:ea typeface="Courier New" pitchFamily="34" charset="-122"/>
                <a:cs typeface="Courier New" pitchFamily="34" charset="-120"/>
              </a:rPr>
              <a:t>(resumir_ola, otherwise = </a:t>
            </a:r>
            <a:r>
              <a:rPr lang="en-US" sz="1150" dirty="0">
                <a:solidFill>
                  <a:srgbClr val="C9B8FF"/>
                </a:solidFill>
                <a:latin typeface="Courier New" pitchFamily="34" charset="0"/>
                <a:ea typeface="Courier New" pitchFamily="34" charset="-122"/>
                <a:cs typeface="Courier New" pitchFamily="34" charset="-120"/>
              </a:rPr>
              <a:t>NULL</a:t>
            </a: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A5D8FF"/>
                </a:solidFill>
                <a:latin typeface="Courier New" pitchFamily="34" charset="0"/>
                <a:ea typeface="Courier New" pitchFamily="34" charset="-122"/>
                <a:cs typeface="Courier New" pitchFamily="34" charset="-120"/>
              </a:rPr>
              <a:t>|&gt;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7DD3FC"/>
                </a:solidFill>
                <a:latin typeface="Courier New" pitchFamily="34" charset="0"/>
                <a:ea typeface="Courier New" pitchFamily="34" charset="-122"/>
                <a:cs typeface="Courier New" pitchFamily="34" charset="-120"/>
              </a:rPr>
              <a:t>list_rbind</a:t>
            </a:r>
            <a:r>
              <a:rPr lang="en-US" sz="1150" dirty="0">
                <a:solidFill>
                  <a:srgbClr val="E6EDF7"/>
                </a:solidFill>
                <a:latin typeface="Courier New" pitchFamily="34" charset="0"/>
                <a:ea typeface="Courier New" pitchFamily="34" charset="-122"/>
                <a:cs typeface="Courier New" pitchFamily="34" charset="-120"/>
              </a:rPr>
              <a:t>(names_to = </a:t>
            </a:r>
            <a:r>
              <a:rPr lang="en-US" sz="1150" dirty="0">
                <a:solidFill>
                  <a:srgbClr val="F2C97D"/>
                </a:solidFill>
                <a:latin typeface="Courier New" pitchFamily="34" charset="0"/>
                <a:ea typeface="Courier New" pitchFamily="34" charset="-122"/>
                <a:cs typeface="Courier New" pitchFamily="34" charset="-120"/>
              </a:rPr>
              <a:t>"archivo"</a:t>
            </a:r>
            <a:r>
              <a:rPr lang="en-US" sz="1150" dirty="0">
                <a:solidFill>
                  <a:srgbClr val="E6EDF7"/>
                </a:solidFill>
                <a:latin typeface="Courier New" pitchFamily="34" charset="0"/>
                <a:ea typeface="Courier New" pitchFamily="34" charset="-122"/>
                <a:cs typeface="Courier New" pitchFamily="34" charset="-120"/>
              </a:rPr>
              <a:t>)</a:t>
            </a:r>
            <a:endParaRPr lang="en-US" sz="1150" dirty="0"/>
          </a:p>
        </p:txBody>
      </p:sp>
      <p:sp>
        <p:nvSpPr>
          <p:cNvPr id="9" name="Text 6"/>
          <p:cNvSpPr txBox="1"/>
          <p:nvPr/>
        </p:nvSpPr>
        <p:spPr>
          <a:xfrm>
            <a:off x="548640" y="4238117"/>
            <a:ext cx="54864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LA CAUSA REAL: UN LECTOR QUE REVISA EL SEPARADOR</a:t>
            </a:r>
            <a:endParaRPr lang="en-US" sz="900" dirty="0"/>
          </a:p>
        </p:txBody>
      </p:sp>
      <p:sp>
        <p:nvSpPr>
          <p:cNvPr id="10" name="Shape 7"/>
          <p:cNvSpPr/>
          <p:nvPr/>
        </p:nvSpPr>
        <p:spPr>
          <a:xfrm>
            <a:off x="548640" y="4512437"/>
            <a:ext cx="6675120" cy="1302766"/>
          </a:xfrm>
          <a:prstGeom prst="roundRect">
            <a:avLst>
              <a:gd name="adj" fmla="val 4211"/>
            </a:avLst>
          </a:prstGeom>
          <a:solidFill>
            <a:srgbClr val="162044"/>
          </a:solidFill>
          <a:ln w="12700">
            <a:solidFill>
              <a:srgbClr val="162044"/>
            </a:solidFill>
            <a:prstDash val="solid"/>
          </a:ln>
        </p:spPr>
        <p:txBody>
          <a:bodyPr/>
          <a:lstStyle/>
          <a:p>
            <a:endParaRPr lang="es-CL"/>
          </a:p>
        </p:txBody>
      </p:sp>
      <p:sp>
        <p:nvSpPr>
          <p:cNvPr id="11" name="Text 8"/>
          <p:cNvSpPr txBox="1"/>
          <p:nvPr/>
        </p:nvSpPr>
        <p:spPr>
          <a:xfrm>
            <a:off x="731520" y="4640453"/>
            <a:ext cx="6309360" cy="991870"/>
          </a:xfrm>
          <a:prstGeom prst="rect">
            <a:avLst/>
          </a:prstGeom>
          <a:noFill/>
          <a:ln/>
        </p:spPr>
        <p:txBody>
          <a:bodyPr wrap="square" lIns="0" tIns="0" rIns="0" bIns="0" rtlCol="0" anchor="t"/>
          <a:lstStyle/>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leer_ola </a:t>
            </a:r>
            <a:r>
              <a:rPr lang="en-US" sz="1100" dirty="0">
                <a:solidFill>
                  <a:srgbClr val="A5D8FF"/>
                </a:solidFill>
                <a:latin typeface="Courier New" pitchFamily="34" charset="0"/>
                <a:ea typeface="Courier New" pitchFamily="34" charset="-122"/>
                <a:cs typeface="Courier New" pitchFamily="34" charset="-120"/>
              </a:rPr>
              <a:t>&lt;-</a:t>
            </a: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C9B8FF"/>
                </a:solidFill>
                <a:latin typeface="Courier New" pitchFamily="34" charset="0"/>
                <a:ea typeface="Courier New" pitchFamily="34" charset="-122"/>
                <a:cs typeface="Courier New" pitchFamily="34" charset="-120"/>
              </a:rPr>
              <a:t>function</a:t>
            </a:r>
            <a:r>
              <a:rPr lang="en-US" sz="1100" dirty="0">
                <a:solidFill>
                  <a:srgbClr val="E6EDF7"/>
                </a:solidFill>
                <a:latin typeface="Courier New" pitchFamily="34" charset="0"/>
                <a:ea typeface="Courier New" pitchFamily="34" charset="-122"/>
                <a:cs typeface="Courier New" pitchFamily="34" charset="-120"/>
              </a:rPr>
              <a:t>(ruta) {</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d </a:t>
            </a:r>
            <a:r>
              <a:rPr lang="en-US" sz="1100" dirty="0">
                <a:solidFill>
                  <a:srgbClr val="A5D8FF"/>
                </a:solidFill>
                <a:latin typeface="Courier New" pitchFamily="34" charset="0"/>
                <a:ea typeface="Courier New" pitchFamily="34" charset="-122"/>
                <a:cs typeface="Courier New" pitchFamily="34" charset="-120"/>
              </a:rPr>
              <a:t>&lt;-</a:t>
            </a: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read_csv</a:t>
            </a:r>
            <a:r>
              <a:rPr lang="en-US" sz="1100" dirty="0">
                <a:solidFill>
                  <a:srgbClr val="E6EDF7"/>
                </a:solidFill>
                <a:latin typeface="Courier New" pitchFamily="34" charset="0"/>
                <a:ea typeface="Courier New" pitchFamily="34" charset="-122"/>
                <a:cs typeface="Courier New" pitchFamily="34" charset="-120"/>
              </a:rPr>
              <a:t>(ruta, show_col_types = </a:t>
            </a:r>
            <a:r>
              <a:rPr lang="en-US" sz="1100" dirty="0">
                <a:solidFill>
                  <a:srgbClr val="C9B8FF"/>
                </a:solidFill>
                <a:latin typeface="Courier New" pitchFamily="34" charset="0"/>
                <a:ea typeface="Courier New" pitchFamily="34" charset="-122"/>
                <a:cs typeface="Courier New" pitchFamily="34" charset="-120"/>
              </a:rPr>
              <a:t>FALSE</a:t>
            </a: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C9B8FF"/>
                </a:solidFill>
                <a:latin typeface="Courier New" pitchFamily="34" charset="0"/>
                <a:ea typeface="Courier New" pitchFamily="34" charset="-122"/>
                <a:cs typeface="Courier New" pitchFamily="34" charset="-120"/>
              </a:rPr>
              <a:t>if</a:t>
            </a: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ncol</a:t>
            </a:r>
            <a:r>
              <a:rPr lang="en-US" sz="1100" dirty="0">
                <a:solidFill>
                  <a:srgbClr val="E6EDF7"/>
                </a:solidFill>
                <a:latin typeface="Courier New" pitchFamily="34" charset="0"/>
                <a:ea typeface="Courier New" pitchFamily="34" charset="-122"/>
                <a:cs typeface="Courier New" pitchFamily="34" charset="-120"/>
              </a:rPr>
              <a:t>(d) == </a:t>
            </a:r>
            <a:r>
              <a:rPr lang="en-US" sz="1100" dirty="0">
                <a:solidFill>
                  <a:srgbClr val="F2C97D"/>
                </a:solidFill>
                <a:latin typeface="Courier New" pitchFamily="34" charset="0"/>
                <a:ea typeface="Courier New" pitchFamily="34" charset="-122"/>
                <a:cs typeface="Courier New" pitchFamily="34" charset="-120"/>
              </a:rPr>
              <a:t>1</a:t>
            </a:r>
            <a:r>
              <a:rPr lang="en-US" sz="1100" dirty="0">
                <a:solidFill>
                  <a:srgbClr val="E6EDF7"/>
                </a:solidFill>
                <a:latin typeface="Courier New" pitchFamily="34" charset="0"/>
                <a:ea typeface="Courier New" pitchFamily="34" charset="-122"/>
                <a:cs typeface="Courier New" pitchFamily="34" charset="-120"/>
              </a:rPr>
              <a:t>) d </a:t>
            </a:r>
            <a:r>
              <a:rPr lang="en-US" sz="1100" dirty="0">
                <a:solidFill>
                  <a:srgbClr val="A5D8FF"/>
                </a:solidFill>
                <a:latin typeface="Courier New" pitchFamily="34" charset="0"/>
                <a:ea typeface="Courier New" pitchFamily="34" charset="-122"/>
                <a:cs typeface="Courier New" pitchFamily="34" charset="-120"/>
              </a:rPr>
              <a:t>&lt;-</a:t>
            </a: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read_csv2</a:t>
            </a:r>
            <a:r>
              <a:rPr lang="en-US" sz="1100" dirty="0">
                <a:solidFill>
                  <a:srgbClr val="E6EDF7"/>
                </a:solidFill>
                <a:latin typeface="Courier New" pitchFamily="34" charset="0"/>
                <a:ea typeface="Courier New" pitchFamily="34" charset="-122"/>
                <a:cs typeface="Courier New" pitchFamily="34" charset="-120"/>
              </a:rPr>
              <a:t>(ruta, show_col_types = </a:t>
            </a:r>
            <a:r>
              <a:rPr lang="en-US" sz="1100" dirty="0">
                <a:solidFill>
                  <a:srgbClr val="C9B8FF"/>
                </a:solidFill>
                <a:latin typeface="Courier New" pitchFamily="34" charset="0"/>
                <a:ea typeface="Courier New" pitchFamily="34" charset="-122"/>
                <a:cs typeface="Courier New" pitchFamily="34" charset="-120"/>
              </a:rPr>
              <a:t>FALSE</a:t>
            </a: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d</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p:txBody>
      </p:sp>
      <p:sp>
        <p:nvSpPr>
          <p:cNvPr id="12" name="Shape 9"/>
          <p:cNvSpPr/>
          <p:nvPr/>
        </p:nvSpPr>
        <p:spPr>
          <a:xfrm>
            <a:off x="7543800" y="1463040"/>
            <a:ext cx="4096512" cy="2514600"/>
          </a:xfrm>
          <a:prstGeom prst="roundRect">
            <a:avLst>
              <a:gd name="adj" fmla="val 2545"/>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3" name="Text 10"/>
          <p:cNvSpPr txBox="1"/>
          <p:nvPr/>
        </p:nvSpPr>
        <p:spPr>
          <a:xfrm>
            <a:off x="7772400" y="1627632"/>
            <a:ext cx="3657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RESULTADO CON POSSIBLY()</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772400" y="1938528"/>
          <a:ext cx="338328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tblGrid>
              <a:tr h="329184">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archivo</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050" b="1" dirty="0">
                          <a:solidFill>
                            <a:srgbClr val="FFFFFF"/>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050" b="1" dirty="0">
                          <a:solidFill>
                            <a:srgbClr val="FFFFFF"/>
                          </a:solidFill>
                          <a:latin typeface="Calibri" pitchFamily="34" charset="0"/>
                          <a:ea typeface="Calibri" pitchFamily="34" charset="-122"/>
                          <a:cs typeface="Calibri" pitchFamily="34" charset="-120"/>
                        </a:rPr>
                        <a:t>sup</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050" b="1" dirty="0">
                          <a:solidFill>
                            <a:srgbClr val="FFFFFF"/>
                          </a:solidFill>
                          <a:latin typeface="Calibri" pitchFamily="34" charset="0"/>
                          <a:ea typeface="Calibri" pitchFamily="34" charset="-122"/>
                          <a:cs typeface="Calibri" pitchFamily="34" charset="-120"/>
                        </a:rPr>
                        <a:t>con</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29184">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encuesta_2022</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58</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3.53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2.96</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encuesta_2023</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64</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3.56</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3.03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329184">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encuesta_2024</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71</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3.51</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2.96</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encuesta_2026</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83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3.63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3.63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4"/>
                  </a:ext>
                </a:extLst>
              </a:tr>
            </a:tbl>
          </a:graphicData>
        </a:graphic>
      </p:graphicFrame>
      <p:sp>
        <p:nvSpPr>
          <p:cNvPr id="15" name="Shape 11"/>
          <p:cNvSpPr/>
          <p:nvPr/>
        </p:nvSpPr>
        <p:spPr>
          <a:xfrm>
            <a:off x="7543800" y="4206240"/>
            <a:ext cx="4096512" cy="914400"/>
          </a:xfrm>
          <a:prstGeom prst="rect">
            <a:avLst/>
          </a:prstGeom>
          <a:solidFill>
            <a:srgbClr val="FBF1DC"/>
          </a:solidFill>
          <a:ln w="12700">
            <a:solidFill>
              <a:srgbClr val="FBF1DC"/>
            </a:solidFill>
            <a:prstDash val="solid"/>
          </a:ln>
        </p:spPr>
        <p:txBody>
          <a:bodyPr/>
          <a:lstStyle/>
          <a:p>
            <a:endParaRPr lang="es-CL"/>
          </a:p>
        </p:txBody>
      </p:sp>
      <p:sp>
        <p:nvSpPr>
          <p:cNvPr id="16" name="Shape 12"/>
          <p:cNvSpPr/>
          <p:nvPr/>
        </p:nvSpPr>
        <p:spPr>
          <a:xfrm>
            <a:off x="7543800" y="4206240"/>
            <a:ext cx="64008" cy="914400"/>
          </a:xfrm>
          <a:prstGeom prst="rect">
            <a:avLst/>
          </a:prstGeom>
          <a:solidFill>
            <a:srgbClr val="B7791F"/>
          </a:solidFill>
          <a:ln w="12700">
            <a:solidFill>
              <a:srgbClr val="B7791F"/>
            </a:solidFill>
            <a:prstDash val="solid"/>
          </a:ln>
        </p:spPr>
        <p:txBody>
          <a:bodyPr/>
          <a:lstStyle/>
          <a:p>
            <a:endParaRPr lang="es-CL"/>
          </a:p>
        </p:txBody>
      </p:sp>
      <p:sp>
        <p:nvSpPr>
          <p:cNvPr id="17" name="Text 13"/>
          <p:cNvSpPr txBox="1"/>
          <p:nvPr/>
        </p:nvSpPr>
        <p:spPr>
          <a:xfrm>
            <a:off x="7744968" y="4206240"/>
            <a:ext cx="3776472" cy="914400"/>
          </a:xfrm>
          <a:prstGeom prst="rect">
            <a:avLst/>
          </a:prstGeom>
          <a:noFill/>
          <a:ln/>
        </p:spPr>
        <p:txBody>
          <a:bodyPr wrap="square" lIns="0" tIns="0" rIns="0" bIns="0" rtlCol="0" anchor="ctr"/>
          <a:lstStyle/>
          <a:p>
            <a:pPr marL="0" indent="0">
              <a:buNone/>
            </a:pPr>
            <a:r>
              <a:rPr lang="en-US" sz="1350" b="1" dirty="0">
                <a:solidFill>
                  <a:srgbClr val="1E2A44"/>
                </a:solidFill>
                <a:latin typeface="Calibri" pitchFamily="34" charset="0"/>
                <a:ea typeface="Calibri" pitchFamily="34" charset="-122"/>
                <a:cs typeface="Calibri" pitchFamily="34" charset="-120"/>
              </a:rPr>
              <a:t>Faltan los datos de 2025 y nadie avisó.</a:t>
            </a:r>
            <a:endParaRPr lang="en-US" sz="1350" dirty="0"/>
          </a:p>
        </p:txBody>
      </p:sp>
      <p:sp>
        <p:nvSpPr>
          <p:cNvPr id="18" name="Shape 14"/>
          <p:cNvSpPr/>
          <p:nvPr/>
        </p:nvSpPr>
        <p:spPr>
          <a:xfrm>
            <a:off x="7543800" y="5257800"/>
            <a:ext cx="4096512" cy="868680"/>
          </a:xfrm>
          <a:prstGeom prst="rect">
            <a:avLst/>
          </a:prstGeom>
          <a:solidFill>
            <a:srgbClr val="E4EEF2"/>
          </a:solidFill>
          <a:ln w="12700">
            <a:solidFill>
              <a:srgbClr val="E4EEF2"/>
            </a:solidFill>
            <a:prstDash val="solid"/>
          </a:ln>
        </p:spPr>
        <p:txBody>
          <a:bodyPr/>
          <a:lstStyle/>
          <a:p>
            <a:endParaRPr lang="es-CL"/>
          </a:p>
        </p:txBody>
      </p:sp>
      <p:sp>
        <p:nvSpPr>
          <p:cNvPr id="19" name="Shape 15"/>
          <p:cNvSpPr/>
          <p:nvPr/>
        </p:nvSpPr>
        <p:spPr>
          <a:xfrm>
            <a:off x="7543800" y="5257800"/>
            <a:ext cx="64008" cy="868680"/>
          </a:xfrm>
          <a:prstGeom prst="rect">
            <a:avLst/>
          </a:prstGeom>
          <a:solidFill>
            <a:srgbClr val="1C7293"/>
          </a:solidFill>
          <a:ln w="12700">
            <a:solidFill>
              <a:srgbClr val="1C7293"/>
            </a:solidFill>
            <a:prstDash val="solid"/>
          </a:ln>
        </p:spPr>
        <p:txBody>
          <a:bodyPr/>
          <a:lstStyle/>
          <a:p>
            <a:endParaRPr lang="es-CL"/>
          </a:p>
        </p:txBody>
      </p:sp>
      <p:sp>
        <p:nvSpPr>
          <p:cNvPr id="20" name="Text 16"/>
          <p:cNvSpPr txBox="1"/>
          <p:nvPr/>
        </p:nvSpPr>
        <p:spPr>
          <a:xfrm>
            <a:off x="7744968" y="5257800"/>
            <a:ext cx="3776472" cy="868680"/>
          </a:xfrm>
          <a:prstGeom prst="rect">
            <a:avLst/>
          </a:prstGeom>
          <a:noFill/>
          <a:ln/>
        </p:spPr>
        <p:txBody>
          <a:bodyPr wrap="square" lIns="0" tIns="0" rIns="0" bIns="0" rtlCol="0" anchor="ctr"/>
          <a:lstStyle/>
          <a:p>
            <a:pPr marL="0" indent="0">
              <a:buNone/>
            </a:pPr>
            <a:r>
              <a:rPr lang="en-US" sz="1250" b="1" dirty="0">
                <a:solidFill>
                  <a:srgbClr val="1E2A44"/>
                </a:solidFill>
                <a:latin typeface="Calibri" pitchFamily="34" charset="0"/>
                <a:ea typeface="Calibri" pitchFamily="34" charset="-122"/>
                <a:cs typeface="Calibri" pitchFamily="34" charset="-120"/>
              </a:rPr>
              <a:t>Mejor: revisa safely() → $error, o corrige la causa.</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2 · ITERACIÓN CON PURRR</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map2() y pmap(): varias entradas en paralelo</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23</a:t>
            </a:r>
            <a:endParaRPr lang="en-US" sz="800" dirty="0"/>
          </a:p>
        </p:txBody>
      </p:sp>
      <p:sp>
        <p:nvSpPr>
          <p:cNvPr id="7" name="Shape 4"/>
          <p:cNvSpPr/>
          <p:nvPr/>
        </p:nvSpPr>
        <p:spPr>
          <a:xfrm>
            <a:off x="548640" y="1463040"/>
            <a:ext cx="6949440" cy="3006979"/>
          </a:xfrm>
          <a:prstGeom prst="roundRect">
            <a:avLst>
              <a:gd name="adj" fmla="val 1825"/>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6583680" cy="2696083"/>
          </a:xfrm>
          <a:prstGeom prst="rect">
            <a:avLst/>
          </a:prstGeom>
          <a:noFill/>
          <a:ln/>
        </p:spPr>
        <p:txBody>
          <a:bodyPr wrap="square" lIns="0" tIns="0" rIns="0" bIns="0" rtlCol="0" anchor="t"/>
          <a:lstStyle/>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pares </a:t>
            </a:r>
            <a:r>
              <a:rPr lang="en-US" sz="1150" dirty="0">
                <a:solidFill>
                  <a:srgbClr val="A5D8FF"/>
                </a:solidFill>
                <a:latin typeface="Courier New" pitchFamily="34" charset="0"/>
                <a:ea typeface="Courier New" pitchFamily="34" charset="-122"/>
                <a:cs typeface="Courier New" pitchFamily="34" charset="-120"/>
              </a:rPr>
              <a:t>&lt;-</a:t>
            </a: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7DD3FC"/>
                </a:solidFill>
                <a:latin typeface="Courier New" pitchFamily="34" charset="0"/>
                <a:ea typeface="Courier New" pitchFamily="34" charset="-122"/>
                <a:cs typeface="Courier New" pitchFamily="34" charset="-120"/>
              </a:rPr>
              <a:t>tibble</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x = </a:t>
            </a:r>
            <a:r>
              <a:rPr lang="en-US" sz="1150" dirty="0">
                <a:solidFill>
                  <a:srgbClr val="7DD3FC"/>
                </a:solidFill>
                <a:latin typeface="Courier New" pitchFamily="34" charset="0"/>
                <a:ea typeface="Courier New" pitchFamily="34" charset="-122"/>
                <a:cs typeface="Courier New" pitchFamily="34" charset="-120"/>
              </a:rPr>
              <a:t>c</a:t>
            </a:r>
            <a:r>
              <a:rPr lang="en-US" sz="1150" dirty="0">
                <a:solidFill>
                  <a:srgbClr val="E6EDF7"/>
                </a:solidFill>
                <a:latin typeface="Courier New" pitchFamily="34" charset="0"/>
                <a:ea typeface="Courier New" pitchFamily="34" charset="-122"/>
                <a:cs typeface="Courier New" pitchFamily="34" charset="-120"/>
              </a:rPr>
              <a:t>(</a:t>
            </a:r>
            <a:r>
              <a:rPr lang="en-US" sz="1150" dirty="0">
                <a:solidFill>
                  <a:srgbClr val="F2C97D"/>
                </a:solidFill>
                <a:latin typeface="Courier New" pitchFamily="34" charset="0"/>
                <a:ea typeface="Courier New" pitchFamily="34" charset="-122"/>
                <a:cs typeface="Courier New" pitchFamily="34" charset="-120"/>
              </a:rPr>
              <a:t>"horas_investigacion_sem"</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F2C97D"/>
                </a:solidFill>
                <a:latin typeface="Courier New" pitchFamily="34" charset="0"/>
                <a:ea typeface="Courier New" pitchFamily="34" charset="-122"/>
                <a:cs typeface="Courier New" pitchFamily="34" charset="-120"/>
              </a:rPr>
              <a:t>"horas_investigacion_sem"</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F2C97D"/>
                </a:solidFill>
                <a:latin typeface="Courier New" pitchFamily="34" charset="0"/>
                <a:ea typeface="Courier New" pitchFamily="34" charset="-122"/>
                <a:cs typeface="Courier New" pitchFamily="34" charset="-120"/>
              </a:rPr>
              <a:t>"sat_supervision"</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y = </a:t>
            </a:r>
            <a:r>
              <a:rPr lang="en-US" sz="1150" dirty="0">
                <a:solidFill>
                  <a:srgbClr val="7DD3FC"/>
                </a:solidFill>
                <a:latin typeface="Courier New" pitchFamily="34" charset="0"/>
                <a:ea typeface="Courier New" pitchFamily="34" charset="-122"/>
                <a:cs typeface="Courier New" pitchFamily="34" charset="-120"/>
              </a:rPr>
              <a:t>c</a:t>
            </a:r>
            <a:r>
              <a:rPr lang="en-US" sz="1150" dirty="0">
                <a:solidFill>
                  <a:srgbClr val="E6EDF7"/>
                </a:solidFill>
                <a:latin typeface="Courier New" pitchFamily="34" charset="0"/>
                <a:ea typeface="Courier New" pitchFamily="34" charset="-122"/>
                <a:cs typeface="Courier New" pitchFamily="34" charset="-120"/>
              </a:rPr>
              <a:t>(</a:t>
            </a:r>
            <a:r>
              <a:rPr lang="en-US" sz="1150" dirty="0">
                <a:solidFill>
                  <a:srgbClr val="F2C97D"/>
                </a:solidFill>
                <a:latin typeface="Courier New" pitchFamily="34" charset="0"/>
                <a:ea typeface="Courier New" pitchFamily="34" charset="-122"/>
                <a:cs typeface="Courier New" pitchFamily="34" charset="-120"/>
              </a:rPr>
              <a:t>"n_publicaciones"</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F2C97D"/>
                </a:solidFill>
                <a:latin typeface="Courier New" pitchFamily="34" charset="0"/>
                <a:ea typeface="Courier New" pitchFamily="34" charset="-122"/>
                <a:cs typeface="Courier New" pitchFamily="34" charset="-120"/>
              </a:rPr>
              <a:t>"sat_supervision"</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F2C97D"/>
                </a:solidFill>
                <a:latin typeface="Courier New" pitchFamily="34" charset="0"/>
                <a:ea typeface="Courier New" pitchFamily="34" charset="-122"/>
                <a:cs typeface="Courier New" pitchFamily="34" charset="-120"/>
              </a:rPr>
              <a:t>"sat_infraestructura"</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pares$r </a:t>
            </a:r>
            <a:r>
              <a:rPr lang="en-US" sz="1150" dirty="0">
                <a:solidFill>
                  <a:srgbClr val="A5D8FF"/>
                </a:solidFill>
                <a:latin typeface="Courier New" pitchFamily="34" charset="0"/>
                <a:ea typeface="Courier New" pitchFamily="34" charset="-122"/>
                <a:cs typeface="Courier New" pitchFamily="34" charset="-120"/>
              </a:rPr>
              <a:t>&lt;-</a:t>
            </a: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7DD3FC"/>
                </a:solidFill>
                <a:latin typeface="Courier New" pitchFamily="34" charset="0"/>
                <a:ea typeface="Courier New" pitchFamily="34" charset="-122"/>
                <a:cs typeface="Courier New" pitchFamily="34" charset="-120"/>
              </a:rPr>
              <a:t>map2_dbl</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pares$x, pares$y,</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A5D8FF"/>
                </a:solidFill>
                <a:latin typeface="Courier New" pitchFamily="34" charset="0"/>
                <a:ea typeface="Courier New" pitchFamily="34" charset="-122"/>
                <a:cs typeface="Courier New" pitchFamily="34" charset="-120"/>
              </a:rPr>
              <a:t>\(</a:t>
            </a:r>
            <a:r>
              <a:rPr lang="en-US" sz="1150" dirty="0">
                <a:solidFill>
                  <a:srgbClr val="E6EDF7"/>
                </a:solidFill>
                <a:latin typeface="Courier New" pitchFamily="34" charset="0"/>
                <a:ea typeface="Courier New" pitchFamily="34" charset="-122"/>
                <a:cs typeface="Courier New" pitchFamily="34" charset="-120"/>
              </a:rPr>
              <a:t>a, b) </a:t>
            </a:r>
            <a:r>
              <a:rPr lang="en-US" sz="1150" dirty="0">
                <a:solidFill>
                  <a:srgbClr val="7DD3FC"/>
                </a:solidFill>
                <a:latin typeface="Courier New" pitchFamily="34" charset="0"/>
                <a:ea typeface="Courier New" pitchFamily="34" charset="-122"/>
                <a:cs typeface="Courier New" pitchFamily="34" charset="-120"/>
              </a:rPr>
              <a:t>cor</a:t>
            </a:r>
            <a:r>
              <a:rPr lang="en-US" sz="1150" dirty="0">
                <a:solidFill>
                  <a:srgbClr val="E6EDF7"/>
                </a:solidFill>
                <a:latin typeface="Courier New" pitchFamily="34" charset="0"/>
                <a:ea typeface="Courier New" pitchFamily="34" charset="-122"/>
                <a:cs typeface="Courier New" pitchFamily="34" charset="-120"/>
              </a:rPr>
              <a:t>(encuesta[[a]], encuesta[[b]], use = </a:t>
            </a:r>
            <a:r>
              <a:rPr lang="en-US" sz="1150" dirty="0">
                <a:solidFill>
                  <a:srgbClr val="F2C97D"/>
                </a:solidFill>
                <a:latin typeface="Courier New" pitchFamily="34" charset="0"/>
                <a:ea typeface="Courier New" pitchFamily="34" charset="-122"/>
                <a:cs typeface="Courier New" pitchFamily="34" charset="-120"/>
              </a:rPr>
              <a:t>"complete.obs"</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p:txBody>
      </p:sp>
      <p:sp>
        <p:nvSpPr>
          <p:cNvPr id="9" name="Shape 6"/>
          <p:cNvSpPr/>
          <p:nvPr/>
        </p:nvSpPr>
        <p:spPr>
          <a:xfrm>
            <a:off x="7818120" y="1463040"/>
            <a:ext cx="3822192" cy="2148840"/>
          </a:xfrm>
          <a:prstGeom prst="roundRect">
            <a:avLst>
              <a:gd name="adj" fmla="val 2979"/>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0" name="Text 7"/>
          <p:cNvSpPr txBox="1"/>
          <p:nvPr/>
        </p:nvSpPr>
        <p:spPr>
          <a:xfrm>
            <a:off x="8046720" y="1627632"/>
            <a:ext cx="347472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CORRELACIÓN DE CADA PAR</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046720" y="1938528"/>
          <a:ext cx="324612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36576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x</a:t>
                      </a:r>
                      <a:endParaRPr lang="en-US" sz="10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y</a:t>
                      </a:r>
                      <a:endParaRPr lang="en-US" sz="10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000" b="1" dirty="0">
                          <a:solidFill>
                            <a:srgbClr val="FFFFFF"/>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65760">
                <a:tc>
                  <a:txBody>
                    <a:bodyPr/>
                    <a:lstStyle/>
                    <a:p>
                      <a:pPr marL="0" indent="0" algn="l">
                        <a:buNone/>
                      </a:pPr>
                      <a:r>
                        <a:rPr lang="en-US" sz="850" dirty="0">
                          <a:solidFill>
                            <a:srgbClr val="1E2A44"/>
                          </a:solidFill>
                          <a:latin typeface="Calibri" pitchFamily="34" charset="0"/>
                          <a:ea typeface="Calibri" pitchFamily="34" charset="-122"/>
                          <a:cs typeface="Calibri" pitchFamily="34" charset="-120"/>
                        </a:rPr>
                        <a:t>horas_investigacion_sem</a:t>
                      </a:r>
                      <a:endParaRPr lang="en-US" sz="8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850" dirty="0">
                          <a:solidFill>
                            <a:srgbClr val="1E2A44"/>
                          </a:solidFill>
                          <a:latin typeface="Calibri" pitchFamily="34" charset="0"/>
                          <a:ea typeface="Calibri" pitchFamily="34" charset="-122"/>
                          <a:cs typeface="Calibri" pitchFamily="34" charset="-120"/>
                        </a:rPr>
                        <a:t>n_publicaciones</a:t>
                      </a:r>
                      <a:endParaRPr lang="en-US" sz="8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E2A44"/>
                          </a:solidFill>
                          <a:latin typeface="Calibri" pitchFamily="34" charset="0"/>
                          <a:ea typeface="Calibri" pitchFamily="34" charset="-122"/>
                          <a:cs typeface="Calibri" pitchFamily="34" charset="-120"/>
                        </a:rPr>
                        <a:t>0.39</a:t>
                      </a:r>
                      <a:endParaRPr lang="en-US" sz="8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850" dirty="0">
                          <a:solidFill>
                            <a:srgbClr val="1E2A44"/>
                          </a:solidFill>
                          <a:latin typeface="Calibri" pitchFamily="34" charset="0"/>
                          <a:ea typeface="Calibri" pitchFamily="34" charset="-122"/>
                          <a:cs typeface="Calibri" pitchFamily="34" charset="-120"/>
                        </a:rPr>
                        <a:t>horas_investigacion_sem</a:t>
                      </a:r>
                      <a:endParaRPr lang="en-US" sz="8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850" dirty="0">
                          <a:solidFill>
                            <a:srgbClr val="1E2A44"/>
                          </a:solidFill>
                          <a:latin typeface="Calibri" pitchFamily="34" charset="0"/>
                          <a:ea typeface="Calibri" pitchFamily="34" charset="-122"/>
                          <a:cs typeface="Calibri" pitchFamily="34" charset="-120"/>
                        </a:rPr>
                        <a:t>sat_supervision</a:t>
                      </a:r>
                      <a:endParaRPr lang="en-US" sz="8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850" dirty="0">
                          <a:solidFill>
                            <a:srgbClr val="1E2A44"/>
                          </a:solidFill>
                          <a:latin typeface="Calibri" pitchFamily="34" charset="0"/>
                          <a:ea typeface="Calibri" pitchFamily="34" charset="-122"/>
                          <a:cs typeface="Calibri" pitchFamily="34" charset="-120"/>
                        </a:rPr>
                        <a:t>0.06</a:t>
                      </a:r>
                      <a:endParaRPr lang="en-US" sz="8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365760">
                <a:tc>
                  <a:txBody>
                    <a:bodyPr/>
                    <a:lstStyle/>
                    <a:p>
                      <a:pPr marL="0" indent="0" algn="l">
                        <a:buNone/>
                      </a:pPr>
                      <a:r>
                        <a:rPr lang="en-US" sz="850" dirty="0">
                          <a:solidFill>
                            <a:srgbClr val="1E2A44"/>
                          </a:solidFill>
                          <a:latin typeface="Calibri" pitchFamily="34" charset="0"/>
                          <a:ea typeface="Calibri" pitchFamily="34" charset="-122"/>
                          <a:cs typeface="Calibri" pitchFamily="34" charset="-120"/>
                        </a:rPr>
                        <a:t>sat_supervision</a:t>
                      </a:r>
                      <a:endParaRPr lang="en-US" sz="8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850" dirty="0">
                          <a:solidFill>
                            <a:srgbClr val="1E2A44"/>
                          </a:solidFill>
                          <a:latin typeface="Calibri" pitchFamily="34" charset="0"/>
                          <a:ea typeface="Calibri" pitchFamily="34" charset="-122"/>
                          <a:cs typeface="Calibri" pitchFamily="34" charset="-120"/>
                        </a:rPr>
                        <a:t>sat_infraestructura</a:t>
                      </a:r>
                      <a:endParaRPr lang="en-US" sz="8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E2A44"/>
                          </a:solidFill>
                          <a:latin typeface="Calibri" pitchFamily="34" charset="0"/>
                          <a:ea typeface="Calibri" pitchFamily="34" charset="-122"/>
                          <a:cs typeface="Calibri" pitchFamily="34" charset="-120"/>
                        </a:rPr>
                        <a:t>0.38</a:t>
                      </a:r>
                      <a:endParaRPr lang="en-US" sz="8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Shape 8"/>
          <p:cNvSpPr/>
          <p:nvPr/>
        </p:nvSpPr>
        <p:spPr>
          <a:xfrm>
            <a:off x="7818120" y="3840480"/>
            <a:ext cx="3822192" cy="868680"/>
          </a:xfrm>
          <a:prstGeom prst="roundRect">
            <a:avLst>
              <a:gd name="adj" fmla="val 7368"/>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3" name="Text 9"/>
          <p:cNvSpPr txBox="1"/>
          <p:nvPr/>
        </p:nvSpPr>
        <p:spPr>
          <a:xfrm>
            <a:off x="8046720" y="3886200"/>
            <a:ext cx="1005840" cy="777240"/>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map2()</a:t>
            </a:r>
            <a:endParaRPr lang="en-US" sz="1300" dirty="0"/>
          </a:p>
        </p:txBody>
      </p:sp>
      <p:sp>
        <p:nvSpPr>
          <p:cNvPr id="14" name="Text 10"/>
          <p:cNvSpPr txBox="1"/>
          <p:nvPr/>
        </p:nvSpPr>
        <p:spPr>
          <a:xfrm>
            <a:off x="9052560" y="3886200"/>
            <a:ext cx="2468880" cy="777240"/>
          </a:xfrm>
          <a:prstGeom prst="rect">
            <a:avLst/>
          </a:prstGeom>
          <a:noFill/>
          <a:ln/>
        </p:spPr>
        <p:txBody>
          <a:bodyPr wrap="square" lIns="0" tIns="0" rIns="0" bIns="0" rtlCol="0" anchor="ctr"/>
          <a:lstStyle/>
          <a:p>
            <a:pPr marL="0" indent="0">
              <a:buNone/>
            </a:pPr>
            <a:r>
              <a:rPr lang="en-US" sz="1150" dirty="0">
                <a:solidFill>
                  <a:srgbClr val="1E2A44"/>
                </a:solidFill>
                <a:latin typeface="Calibri" pitchFamily="34" charset="0"/>
                <a:ea typeface="Calibri" pitchFamily="34" charset="-122"/>
                <a:cs typeface="Calibri" pitchFamily="34" charset="-120"/>
              </a:rPr>
              <a:t>Recorre dos entradas a la vez.</a:t>
            </a:r>
            <a:endParaRPr lang="en-US" sz="1150" dirty="0"/>
          </a:p>
        </p:txBody>
      </p:sp>
      <p:sp>
        <p:nvSpPr>
          <p:cNvPr id="15" name="Shape 11"/>
          <p:cNvSpPr/>
          <p:nvPr/>
        </p:nvSpPr>
        <p:spPr>
          <a:xfrm>
            <a:off x="7818120" y="4846320"/>
            <a:ext cx="3822192" cy="868680"/>
          </a:xfrm>
          <a:prstGeom prst="roundRect">
            <a:avLst>
              <a:gd name="adj" fmla="val 7368"/>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6" name="Text 12"/>
          <p:cNvSpPr txBox="1"/>
          <p:nvPr/>
        </p:nvSpPr>
        <p:spPr>
          <a:xfrm>
            <a:off x="8046720" y="4892040"/>
            <a:ext cx="1005840" cy="777240"/>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pmap()</a:t>
            </a:r>
            <a:endParaRPr lang="en-US" sz="1300" dirty="0"/>
          </a:p>
        </p:txBody>
      </p:sp>
      <p:sp>
        <p:nvSpPr>
          <p:cNvPr id="17" name="Text 13"/>
          <p:cNvSpPr txBox="1"/>
          <p:nvPr/>
        </p:nvSpPr>
        <p:spPr>
          <a:xfrm>
            <a:off x="9052560" y="4892040"/>
            <a:ext cx="2468880" cy="777240"/>
          </a:xfrm>
          <a:prstGeom prst="rect">
            <a:avLst/>
          </a:prstGeom>
          <a:noFill/>
          <a:ln/>
        </p:spPr>
        <p:txBody>
          <a:bodyPr wrap="square" lIns="0" tIns="0" rIns="0" bIns="0" rtlCol="0" anchor="ctr"/>
          <a:lstStyle/>
          <a:p>
            <a:pPr marL="0" indent="0">
              <a:buNone/>
            </a:pPr>
            <a:r>
              <a:rPr lang="en-US" sz="1150" dirty="0">
                <a:solidFill>
                  <a:srgbClr val="1E2A44"/>
                </a:solidFill>
                <a:latin typeface="Calibri" pitchFamily="34" charset="0"/>
                <a:ea typeface="Calibri" pitchFamily="34" charset="-122"/>
                <a:cs typeface="Calibri" pitchFamily="34" charset="-120"/>
              </a:rPr>
              <a:t>Recorre una lista de n entradas (p. ej., las columnas de una tabla de parámetros).</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2 · ITERACIÓN CON PURRR</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Chequeo rápido: responde en el chat</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24</a:t>
            </a:r>
            <a:endParaRPr lang="en-US" sz="800" dirty="0"/>
          </a:p>
        </p:txBody>
      </p:sp>
      <p:sp>
        <p:nvSpPr>
          <p:cNvPr id="7" name="Shape 4"/>
          <p:cNvSpPr/>
          <p:nvPr/>
        </p:nvSpPr>
        <p:spPr>
          <a:xfrm>
            <a:off x="548640" y="1600200"/>
            <a:ext cx="3584448" cy="3200400"/>
          </a:xfrm>
          <a:prstGeom prst="roundRect">
            <a:avLst>
              <a:gd name="adj" fmla="val 2000"/>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8" name="Shape 5"/>
          <p:cNvSpPr/>
          <p:nvPr/>
        </p:nvSpPr>
        <p:spPr>
          <a:xfrm>
            <a:off x="777240" y="1783080"/>
            <a:ext cx="457200" cy="457200"/>
          </a:xfrm>
          <a:prstGeom prst="ellipse">
            <a:avLst/>
          </a:prstGeom>
          <a:solidFill>
            <a:srgbClr val="21295C"/>
          </a:solidFill>
          <a:ln w="12700">
            <a:solidFill>
              <a:srgbClr val="21295C"/>
            </a:solidFill>
            <a:prstDash val="solid"/>
          </a:ln>
        </p:spPr>
        <p:txBody>
          <a:bodyPr/>
          <a:lstStyle/>
          <a:p>
            <a:endParaRPr lang="es-CL"/>
          </a:p>
        </p:txBody>
      </p:sp>
      <p:sp>
        <p:nvSpPr>
          <p:cNvPr id="9" name="Text 6"/>
          <p:cNvSpPr txBox="1"/>
          <p:nvPr/>
        </p:nvSpPr>
        <p:spPr>
          <a:xfrm>
            <a:off x="777240" y="1783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Shape 7"/>
          <p:cNvSpPr/>
          <p:nvPr/>
        </p:nvSpPr>
        <p:spPr>
          <a:xfrm>
            <a:off x="777240" y="2514600"/>
            <a:ext cx="3127248" cy="914400"/>
          </a:xfrm>
          <a:prstGeom prst="roundRect">
            <a:avLst>
              <a:gd name="adj" fmla="val 5000"/>
            </a:avLst>
          </a:prstGeom>
          <a:solidFill>
            <a:srgbClr val="162044"/>
          </a:solidFill>
          <a:ln w="12700">
            <a:solidFill>
              <a:srgbClr val="162044"/>
            </a:solidFill>
            <a:prstDash val="solid"/>
          </a:ln>
        </p:spPr>
        <p:txBody>
          <a:bodyPr/>
          <a:lstStyle/>
          <a:p>
            <a:endParaRPr lang="es-CL"/>
          </a:p>
        </p:txBody>
      </p:sp>
      <p:sp>
        <p:nvSpPr>
          <p:cNvPr id="11" name="Text 8"/>
          <p:cNvSpPr txBox="1"/>
          <p:nvPr/>
        </p:nvSpPr>
        <p:spPr>
          <a:xfrm>
            <a:off x="914400" y="2514600"/>
            <a:ext cx="2926080" cy="914400"/>
          </a:xfrm>
          <a:prstGeom prst="rect">
            <a:avLst/>
          </a:prstGeom>
          <a:noFill/>
          <a:ln/>
        </p:spPr>
        <p:txBody>
          <a:bodyPr wrap="square" lIns="0" tIns="0" rIns="0" bIns="0" rtlCol="0" anchor="ctr"/>
          <a:lstStyle/>
          <a:p>
            <a:pPr marL="0" indent="0">
              <a:lnSpc>
                <a:spcPts val="1800"/>
              </a:lnSpc>
              <a:buNone/>
            </a:pPr>
            <a:r>
              <a:rPr lang="en-US" sz="1250" dirty="0">
                <a:solidFill>
                  <a:srgbClr val="7DD3FC"/>
                </a:solidFill>
                <a:latin typeface="Courier New" pitchFamily="34" charset="0"/>
                <a:ea typeface="Courier New" pitchFamily="34" charset="-122"/>
                <a:cs typeface="Courier New" pitchFamily="34" charset="-120"/>
              </a:rPr>
              <a:t>map</a:t>
            </a:r>
            <a:r>
              <a:rPr lang="en-US" sz="1250" dirty="0">
                <a:solidFill>
                  <a:srgbClr val="E6EDF7"/>
                </a:solidFill>
                <a:latin typeface="Courier New" pitchFamily="34" charset="0"/>
                <a:ea typeface="Courier New" pitchFamily="34" charset="-122"/>
                <a:cs typeface="Courier New" pitchFamily="34" charset="-120"/>
              </a:rPr>
              <a:t>(</a:t>
            </a:r>
            <a:r>
              <a:rPr lang="en-US" sz="1250" dirty="0">
                <a:solidFill>
                  <a:srgbClr val="F2C97D"/>
                </a:solidFill>
                <a:latin typeface="Courier New" pitchFamily="34" charset="0"/>
                <a:ea typeface="Courier New" pitchFamily="34" charset="-122"/>
                <a:cs typeface="Courier New" pitchFamily="34" charset="-120"/>
              </a:rPr>
              <a:t>1</a:t>
            </a:r>
            <a:r>
              <a:rPr lang="en-US" sz="1250" dirty="0">
                <a:solidFill>
                  <a:srgbClr val="E6EDF7"/>
                </a:solidFill>
                <a:latin typeface="Courier New" pitchFamily="34" charset="0"/>
                <a:ea typeface="Courier New" pitchFamily="34" charset="-122"/>
                <a:cs typeface="Courier New" pitchFamily="34" charset="-120"/>
              </a:rPr>
              <a:t>:</a:t>
            </a:r>
            <a:r>
              <a:rPr lang="en-US" sz="1250" dirty="0">
                <a:solidFill>
                  <a:srgbClr val="F2C97D"/>
                </a:solidFill>
                <a:latin typeface="Courier New" pitchFamily="34" charset="0"/>
                <a:ea typeface="Courier New" pitchFamily="34" charset="-122"/>
                <a:cs typeface="Courier New" pitchFamily="34" charset="-120"/>
              </a:rPr>
              <a:t>3</a:t>
            </a:r>
            <a:r>
              <a:rPr lang="en-US" sz="1250" dirty="0">
                <a:solidFill>
                  <a:srgbClr val="E6EDF7"/>
                </a:solidFill>
                <a:latin typeface="Courier New" pitchFamily="34" charset="0"/>
                <a:ea typeface="Courier New" pitchFamily="34" charset="-122"/>
                <a:cs typeface="Courier New" pitchFamily="34" charset="-120"/>
              </a:rPr>
              <a:t>, </a:t>
            </a:r>
            <a:r>
              <a:rPr lang="en-US" sz="1250" dirty="0">
                <a:solidFill>
                  <a:srgbClr val="A5D8FF"/>
                </a:solidFill>
                <a:latin typeface="Courier New" pitchFamily="34" charset="0"/>
                <a:ea typeface="Courier New" pitchFamily="34" charset="-122"/>
                <a:cs typeface="Courier New" pitchFamily="34" charset="-120"/>
              </a:rPr>
              <a:t>\(</a:t>
            </a:r>
            <a:r>
              <a:rPr lang="en-US" sz="1250" dirty="0">
                <a:solidFill>
                  <a:srgbClr val="E6EDF7"/>
                </a:solidFill>
                <a:latin typeface="Courier New" pitchFamily="34" charset="0"/>
                <a:ea typeface="Courier New" pitchFamily="34" charset="-122"/>
                <a:cs typeface="Courier New" pitchFamily="34" charset="-120"/>
              </a:rPr>
              <a:t>x) x^</a:t>
            </a:r>
            <a:r>
              <a:rPr lang="en-US" sz="1250" dirty="0">
                <a:solidFill>
                  <a:srgbClr val="F2C97D"/>
                </a:solidFill>
                <a:latin typeface="Courier New" pitchFamily="34" charset="0"/>
                <a:ea typeface="Courier New" pitchFamily="34" charset="-122"/>
                <a:cs typeface="Courier New" pitchFamily="34" charset="-120"/>
              </a:rPr>
              <a:t>2</a:t>
            </a: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2" name="Text 9"/>
          <p:cNvSpPr txBox="1"/>
          <p:nvPr/>
        </p:nvSpPr>
        <p:spPr>
          <a:xfrm>
            <a:off x="777240" y="3611880"/>
            <a:ext cx="3108960" cy="1371600"/>
          </a:xfrm>
          <a:prstGeom prst="rect">
            <a:avLst/>
          </a:prstGeom>
          <a:noFill/>
          <a:ln/>
        </p:spPr>
        <p:txBody>
          <a:bodyPr wrap="square" lIns="0" tIns="0" rIns="0" bIns="0" rtlCol="0" anchor="t"/>
          <a:lstStyle/>
          <a:p>
            <a:pPr marL="0" indent="0">
              <a:buNone/>
            </a:pPr>
            <a:r>
              <a:rPr lang="en-US" sz="1450" b="1" dirty="0">
                <a:solidFill>
                  <a:srgbClr val="21295C"/>
                </a:solidFill>
                <a:latin typeface="Calibri" pitchFamily="34" charset="0"/>
                <a:ea typeface="Calibri" pitchFamily="34" charset="-122"/>
                <a:cs typeface="Calibri" pitchFamily="34" charset="-120"/>
              </a:rPr>
              <a:t>¿Qué tipo de objeto devuelve?</a:t>
            </a:r>
            <a:endParaRPr lang="en-US" sz="1450" dirty="0"/>
          </a:p>
        </p:txBody>
      </p:sp>
      <p:sp>
        <p:nvSpPr>
          <p:cNvPr id="13" name="Shape 10"/>
          <p:cNvSpPr/>
          <p:nvPr/>
        </p:nvSpPr>
        <p:spPr>
          <a:xfrm>
            <a:off x="4297680" y="1600200"/>
            <a:ext cx="3584448" cy="3200400"/>
          </a:xfrm>
          <a:prstGeom prst="roundRect">
            <a:avLst>
              <a:gd name="adj" fmla="val 2000"/>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4" name="Shape 11"/>
          <p:cNvSpPr/>
          <p:nvPr/>
        </p:nvSpPr>
        <p:spPr>
          <a:xfrm>
            <a:off x="4526280" y="1783080"/>
            <a:ext cx="457200" cy="457200"/>
          </a:xfrm>
          <a:prstGeom prst="ellipse">
            <a:avLst/>
          </a:prstGeom>
          <a:solidFill>
            <a:srgbClr val="065A82"/>
          </a:solidFill>
          <a:ln w="12700">
            <a:solidFill>
              <a:srgbClr val="065A82"/>
            </a:solidFill>
            <a:prstDash val="solid"/>
          </a:ln>
        </p:spPr>
        <p:txBody>
          <a:bodyPr/>
          <a:lstStyle/>
          <a:p>
            <a:endParaRPr lang="es-CL"/>
          </a:p>
        </p:txBody>
      </p:sp>
      <p:sp>
        <p:nvSpPr>
          <p:cNvPr id="15" name="Text 12"/>
          <p:cNvSpPr txBox="1"/>
          <p:nvPr/>
        </p:nvSpPr>
        <p:spPr>
          <a:xfrm>
            <a:off x="4526280" y="1783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Shape 13"/>
          <p:cNvSpPr/>
          <p:nvPr/>
        </p:nvSpPr>
        <p:spPr>
          <a:xfrm>
            <a:off x="4526280" y="2514600"/>
            <a:ext cx="3127248" cy="914400"/>
          </a:xfrm>
          <a:prstGeom prst="roundRect">
            <a:avLst>
              <a:gd name="adj" fmla="val 5000"/>
            </a:avLst>
          </a:prstGeom>
          <a:solidFill>
            <a:srgbClr val="162044"/>
          </a:solidFill>
          <a:ln w="12700">
            <a:solidFill>
              <a:srgbClr val="162044"/>
            </a:solidFill>
            <a:prstDash val="solid"/>
          </a:ln>
        </p:spPr>
        <p:txBody>
          <a:bodyPr/>
          <a:lstStyle/>
          <a:p>
            <a:endParaRPr lang="es-CL"/>
          </a:p>
        </p:txBody>
      </p:sp>
      <p:sp>
        <p:nvSpPr>
          <p:cNvPr id="17" name="Text 14"/>
          <p:cNvSpPr txBox="1"/>
          <p:nvPr/>
        </p:nvSpPr>
        <p:spPr>
          <a:xfrm>
            <a:off x="4663440" y="2514600"/>
            <a:ext cx="2926080" cy="914400"/>
          </a:xfrm>
          <a:prstGeom prst="rect">
            <a:avLst/>
          </a:prstGeom>
          <a:noFill/>
          <a:ln/>
        </p:spPr>
        <p:txBody>
          <a:bodyPr wrap="square" lIns="0" tIns="0" rIns="0" bIns="0" rtlCol="0" anchor="ctr"/>
          <a:lstStyle/>
          <a:p>
            <a:pPr marL="0" indent="0">
              <a:lnSpc>
                <a:spcPts val="1800"/>
              </a:lnSpc>
              <a:buNone/>
            </a:pPr>
            <a:r>
              <a:rPr lang="en-US" sz="1250" dirty="0">
                <a:solidFill>
                  <a:srgbClr val="7DD3FC"/>
                </a:solidFill>
                <a:latin typeface="Courier New" pitchFamily="34" charset="0"/>
                <a:ea typeface="Courier New" pitchFamily="34" charset="-122"/>
                <a:cs typeface="Courier New" pitchFamily="34" charset="-120"/>
              </a:rPr>
              <a:t>map</a:t>
            </a:r>
            <a:r>
              <a:rPr lang="en-US" sz="1250" dirty="0">
                <a:solidFill>
                  <a:srgbClr val="E6EDF7"/>
                </a:solidFill>
                <a:latin typeface="Courier New" pitchFamily="34" charset="0"/>
                <a:ea typeface="Courier New" pitchFamily="34" charset="-122"/>
                <a:cs typeface="Courier New" pitchFamily="34" charset="-120"/>
              </a:rPr>
              <a:t>(</a:t>
            </a:r>
            <a:r>
              <a:rPr lang="en-US" sz="1250" dirty="0">
                <a:solidFill>
                  <a:srgbClr val="F2C97D"/>
                </a:solidFill>
                <a:latin typeface="Courier New" pitchFamily="34" charset="0"/>
                <a:ea typeface="Courier New" pitchFamily="34" charset="-122"/>
                <a:cs typeface="Courier New" pitchFamily="34" charset="-120"/>
              </a:rPr>
              <a:t>1</a:t>
            </a:r>
            <a:r>
              <a:rPr lang="en-US" sz="1250" dirty="0">
                <a:solidFill>
                  <a:srgbClr val="E6EDF7"/>
                </a:solidFill>
                <a:latin typeface="Courier New" pitchFamily="34" charset="0"/>
                <a:ea typeface="Courier New" pitchFamily="34" charset="-122"/>
                <a:cs typeface="Courier New" pitchFamily="34" charset="-120"/>
              </a:rPr>
              <a:t>:</a:t>
            </a:r>
            <a:r>
              <a:rPr lang="en-US" sz="1250" dirty="0">
                <a:solidFill>
                  <a:srgbClr val="F2C97D"/>
                </a:solidFill>
                <a:latin typeface="Courier New" pitchFamily="34" charset="0"/>
                <a:ea typeface="Courier New" pitchFamily="34" charset="-122"/>
                <a:cs typeface="Courier New" pitchFamily="34" charset="-120"/>
              </a:rPr>
              <a:t>3</a:t>
            </a:r>
            <a:r>
              <a:rPr lang="en-US" sz="1250" dirty="0">
                <a:solidFill>
                  <a:srgbClr val="E6EDF7"/>
                </a:solidFill>
                <a:latin typeface="Courier New" pitchFamily="34" charset="0"/>
                <a:ea typeface="Courier New" pitchFamily="34" charset="-122"/>
                <a:cs typeface="Courier New" pitchFamily="34" charset="-120"/>
              </a:rPr>
              <a:t>, </a:t>
            </a:r>
            <a:r>
              <a:rPr lang="en-US" sz="1250" dirty="0">
                <a:solidFill>
                  <a:srgbClr val="A5D8FF"/>
                </a:solidFill>
                <a:latin typeface="Courier New" pitchFamily="34" charset="0"/>
                <a:ea typeface="Courier New" pitchFamily="34" charset="-122"/>
                <a:cs typeface="Courier New" pitchFamily="34" charset="-120"/>
              </a:rPr>
              <a:t>\(</a:t>
            </a:r>
            <a:r>
              <a:rPr lang="en-US" sz="1250" dirty="0">
                <a:solidFill>
                  <a:srgbClr val="E6EDF7"/>
                </a:solidFill>
                <a:latin typeface="Courier New" pitchFamily="34" charset="0"/>
                <a:ea typeface="Courier New" pitchFamily="34" charset="-122"/>
                <a:cs typeface="Courier New" pitchFamily="34" charset="-120"/>
              </a:rPr>
              <a:t>x) x^</a:t>
            </a:r>
            <a:r>
              <a:rPr lang="en-US" sz="1250" dirty="0">
                <a:solidFill>
                  <a:srgbClr val="F2C97D"/>
                </a:solidFill>
                <a:latin typeface="Courier New" pitchFamily="34" charset="0"/>
                <a:ea typeface="Courier New" pitchFamily="34" charset="-122"/>
                <a:cs typeface="Courier New" pitchFamily="34" charset="-120"/>
              </a:rPr>
              <a:t>2</a:t>
            </a: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8" name="Text 15"/>
          <p:cNvSpPr txBox="1"/>
          <p:nvPr/>
        </p:nvSpPr>
        <p:spPr>
          <a:xfrm>
            <a:off x="4526280" y="3611880"/>
            <a:ext cx="3108960" cy="1371600"/>
          </a:xfrm>
          <a:prstGeom prst="rect">
            <a:avLst/>
          </a:prstGeom>
          <a:noFill/>
          <a:ln/>
        </p:spPr>
        <p:txBody>
          <a:bodyPr wrap="square" lIns="0" tIns="0" rIns="0" bIns="0" rtlCol="0" anchor="t"/>
          <a:lstStyle/>
          <a:p>
            <a:pPr marL="0" indent="0">
              <a:buNone/>
            </a:pPr>
            <a:r>
              <a:rPr lang="en-US" sz="1450" b="1" dirty="0">
                <a:solidFill>
                  <a:srgbClr val="21295C"/>
                </a:solidFill>
                <a:latin typeface="Calibri" pitchFamily="34" charset="0"/>
                <a:ea typeface="Calibri" pitchFamily="34" charset="-122"/>
                <a:cs typeface="Calibri" pitchFamily="34" charset="-120"/>
              </a:rPr>
              <a:t>¿Qué función uso para obtener directamente el vector 1, 4, 9?</a:t>
            </a:r>
            <a:endParaRPr lang="en-US" sz="1450" dirty="0"/>
          </a:p>
        </p:txBody>
      </p:sp>
      <p:sp>
        <p:nvSpPr>
          <p:cNvPr id="19" name="Shape 16"/>
          <p:cNvSpPr/>
          <p:nvPr/>
        </p:nvSpPr>
        <p:spPr>
          <a:xfrm>
            <a:off x="8046720" y="1600200"/>
            <a:ext cx="3584448" cy="3200400"/>
          </a:xfrm>
          <a:prstGeom prst="roundRect">
            <a:avLst>
              <a:gd name="adj" fmla="val 2000"/>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0" name="Shape 17"/>
          <p:cNvSpPr/>
          <p:nvPr/>
        </p:nvSpPr>
        <p:spPr>
          <a:xfrm>
            <a:off x="8275320" y="1783080"/>
            <a:ext cx="457200" cy="457200"/>
          </a:xfrm>
          <a:prstGeom prst="ellipse">
            <a:avLst/>
          </a:prstGeom>
          <a:solidFill>
            <a:srgbClr val="1C7293"/>
          </a:solidFill>
          <a:ln w="12700">
            <a:solidFill>
              <a:srgbClr val="1C7293"/>
            </a:solidFill>
            <a:prstDash val="solid"/>
          </a:ln>
        </p:spPr>
        <p:txBody>
          <a:bodyPr/>
          <a:lstStyle/>
          <a:p>
            <a:endParaRPr lang="es-CL"/>
          </a:p>
        </p:txBody>
      </p:sp>
      <p:sp>
        <p:nvSpPr>
          <p:cNvPr id="21" name="Text 18"/>
          <p:cNvSpPr txBox="1"/>
          <p:nvPr/>
        </p:nvSpPr>
        <p:spPr>
          <a:xfrm>
            <a:off x="8275320" y="1783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2" name="Shape 19"/>
          <p:cNvSpPr/>
          <p:nvPr/>
        </p:nvSpPr>
        <p:spPr>
          <a:xfrm>
            <a:off x="8275320" y="2514600"/>
            <a:ext cx="3127248" cy="914400"/>
          </a:xfrm>
          <a:prstGeom prst="roundRect">
            <a:avLst>
              <a:gd name="adj" fmla="val 5000"/>
            </a:avLst>
          </a:prstGeom>
          <a:solidFill>
            <a:srgbClr val="162044"/>
          </a:solidFill>
          <a:ln w="12700">
            <a:solidFill>
              <a:srgbClr val="162044"/>
            </a:solidFill>
            <a:prstDash val="solid"/>
          </a:ln>
        </p:spPr>
        <p:txBody>
          <a:bodyPr/>
          <a:lstStyle/>
          <a:p>
            <a:endParaRPr lang="es-CL"/>
          </a:p>
        </p:txBody>
      </p:sp>
      <p:sp>
        <p:nvSpPr>
          <p:cNvPr id="23" name="Text 20"/>
          <p:cNvSpPr txBox="1"/>
          <p:nvPr/>
        </p:nvSpPr>
        <p:spPr>
          <a:xfrm>
            <a:off x="8412480" y="2514600"/>
            <a:ext cx="2926080" cy="914400"/>
          </a:xfrm>
          <a:prstGeom prst="rect">
            <a:avLst/>
          </a:prstGeom>
          <a:noFill/>
          <a:ln/>
        </p:spPr>
        <p:txBody>
          <a:bodyPr wrap="square" lIns="0" tIns="0" rIns="0" bIns="0" rtlCol="0" anchor="ctr"/>
          <a:lstStyle/>
          <a:p>
            <a:pPr marL="0" indent="0">
              <a:lnSpc>
                <a:spcPts val="1800"/>
              </a:lnSpc>
              <a:buNone/>
            </a:pPr>
            <a:r>
              <a:rPr lang="en-US" sz="1250" dirty="0">
                <a:solidFill>
                  <a:srgbClr val="E6EDF7"/>
                </a:solidFill>
                <a:latin typeface="Courier New" pitchFamily="34" charset="0"/>
                <a:ea typeface="Courier New" pitchFamily="34" charset="-122"/>
                <a:cs typeface="Courier New" pitchFamily="34" charset="-120"/>
              </a:rPr>
              <a:t>lista de </a:t>
            </a:r>
            <a:r>
              <a:rPr lang="en-US" sz="1250" dirty="0">
                <a:solidFill>
                  <a:srgbClr val="F2C97D"/>
                </a:solidFill>
                <a:latin typeface="Courier New" pitchFamily="34" charset="0"/>
                <a:ea typeface="Courier New" pitchFamily="34" charset="-122"/>
                <a:cs typeface="Courier New" pitchFamily="34" charset="-120"/>
              </a:rPr>
              <a:t>5</a:t>
            </a:r>
            <a:r>
              <a:rPr lang="en-US" sz="1250" dirty="0">
                <a:solidFill>
                  <a:srgbClr val="E6EDF7"/>
                </a:solidFill>
                <a:latin typeface="Courier New" pitchFamily="34" charset="0"/>
                <a:ea typeface="Courier New" pitchFamily="34" charset="-122"/>
                <a:cs typeface="Courier New" pitchFamily="34" charset="-120"/>
              </a:rPr>
              <a:t> tablas</a:t>
            </a:r>
            <a:endParaRPr lang="en-US" sz="1250" dirty="0"/>
          </a:p>
          <a:p>
            <a:pPr marL="0" indent="0">
              <a:lnSpc>
                <a:spcPts val="1800"/>
              </a:lnSpc>
              <a:buNone/>
            </a:pPr>
            <a:r>
              <a:rPr lang="en-US" sz="1250" dirty="0">
                <a:solidFill>
                  <a:srgbClr val="E6EDF7"/>
                </a:solidFill>
                <a:latin typeface="Courier New" pitchFamily="34" charset="0"/>
                <a:ea typeface="Courier New" pitchFamily="34" charset="-122"/>
                <a:cs typeface="Courier New" pitchFamily="34" charset="-120"/>
              </a:rPr>
              <a:t>con las mismas columnas</a:t>
            </a:r>
            <a:endParaRPr lang="en-US" sz="1250" dirty="0"/>
          </a:p>
        </p:txBody>
      </p:sp>
      <p:sp>
        <p:nvSpPr>
          <p:cNvPr id="24" name="Text 21"/>
          <p:cNvSpPr txBox="1"/>
          <p:nvPr/>
        </p:nvSpPr>
        <p:spPr>
          <a:xfrm>
            <a:off x="8275320" y="3611880"/>
            <a:ext cx="3108960" cy="1371600"/>
          </a:xfrm>
          <a:prstGeom prst="rect">
            <a:avLst/>
          </a:prstGeom>
          <a:noFill/>
          <a:ln/>
        </p:spPr>
        <p:txBody>
          <a:bodyPr wrap="square" lIns="0" tIns="0" rIns="0" bIns="0" rtlCol="0" anchor="t"/>
          <a:lstStyle/>
          <a:p>
            <a:pPr marL="0" indent="0">
              <a:buNone/>
            </a:pPr>
            <a:r>
              <a:rPr lang="en-US" sz="1450" b="1" dirty="0">
                <a:solidFill>
                  <a:srgbClr val="21295C"/>
                </a:solidFill>
                <a:latin typeface="Calibri" pitchFamily="34" charset="0"/>
                <a:ea typeface="Calibri" pitchFamily="34" charset="-122"/>
                <a:cs typeface="Calibri" pitchFamily="34" charset="-120"/>
              </a:rPr>
              <a:t>¿Cómo las convierto en una sola tabla, con una columna que diga de qué archivo viene cada fila?</a:t>
            </a:r>
            <a:endParaRPr lang="en-US" sz="1450" dirty="0"/>
          </a:p>
        </p:txBody>
      </p:sp>
      <p:sp>
        <p:nvSpPr>
          <p:cNvPr id="25" name="Shape 22"/>
          <p:cNvSpPr/>
          <p:nvPr/>
        </p:nvSpPr>
        <p:spPr>
          <a:xfrm>
            <a:off x="548640" y="5074920"/>
            <a:ext cx="11091672" cy="502920"/>
          </a:xfrm>
          <a:prstGeom prst="rect">
            <a:avLst/>
          </a:prstGeom>
          <a:solidFill>
            <a:srgbClr val="E4EEF2"/>
          </a:solidFill>
          <a:ln w="12700">
            <a:solidFill>
              <a:srgbClr val="E4EEF2"/>
            </a:solidFill>
            <a:prstDash val="solid"/>
          </a:ln>
        </p:spPr>
        <p:txBody>
          <a:bodyPr/>
          <a:lstStyle/>
          <a:p>
            <a:endParaRPr lang="es-CL"/>
          </a:p>
        </p:txBody>
      </p:sp>
      <p:sp>
        <p:nvSpPr>
          <p:cNvPr id="26" name="Shape 23"/>
          <p:cNvSpPr/>
          <p:nvPr/>
        </p:nvSpPr>
        <p:spPr>
          <a:xfrm>
            <a:off x="548640" y="5074920"/>
            <a:ext cx="64008" cy="502920"/>
          </a:xfrm>
          <a:prstGeom prst="rect">
            <a:avLst/>
          </a:prstGeom>
          <a:solidFill>
            <a:srgbClr val="1C7293"/>
          </a:solidFill>
          <a:ln w="12700">
            <a:solidFill>
              <a:srgbClr val="1C7293"/>
            </a:solidFill>
            <a:prstDash val="solid"/>
          </a:ln>
        </p:spPr>
        <p:txBody>
          <a:bodyPr/>
          <a:lstStyle/>
          <a:p>
            <a:endParaRPr lang="es-CL"/>
          </a:p>
        </p:txBody>
      </p:sp>
      <p:sp>
        <p:nvSpPr>
          <p:cNvPr id="27" name="Text 24"/>
          <p:cNvSpPr txBox="1"/>
          <p:nvPr/>
        </p:nvSpPr>
        <p:spPr>
          <a:xfrm>
            <a:off x="749808" y="5074920"/>
            <a:ext cx="10771632" cy="502920"/>
          </a:xfrm>
          <a:prstGeom prst="rect">
            <a:avLst/>
          </a:prstGeom>
          <a:noFill/>
          <a:ln/>
        </p:spPr>
        <p:txBody>
          <a:bodyPr wrap="square" lIns="0" tIns="0" rIns="0" bIns="0" rtlCol="0" anchor="ctr"/>
          <a:lstStyle/>
          <a:p>
            <a:pPr marL="0" indent="0">
              <a:buNone/>
            </a:pPr>
            <a:r>
              <a:rPr lang="en-US" sz="1250" i="1" dirty="0">
                <a:solidFill>
                  <a:srgbClr val="1E2A44"/>
                </a:solidFill>
                <a:latin typeface="Calibri" pitchFamily="34" charset="0"/>
                <a:ea typeface="Calibri" pitchFamily="34" charset="-122"/>
                <a:cs typeface="Calibri" pitchFamily="34" charset="-120"/>
              </a:rPr>
              <a:t>Escribe tus respuestas en el chat. Las comentamos juntos.</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2 · ITERACIÓN CON PURRR</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nest() + map(): un modelo por grupo</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25</a:t>
            </a:r>
            <a:endParaRPr lang="en-US" sz="800" dirty="0"/>
          </a:p>
        </p:txBody>
      </p:sp>
      <p:sp>
        <p:nvSpPr>
          <p:cNvPr id="7" name="Shape 4"/>
          <p:cNvSpPr/>
          <p:nvPr/>
        </p:nvSpPr>
        <p:spPr>
          <a:xfrm>
            <a:off x="548640" y="1417320"/>
            <a:ext cx="7086600" cy="2294636"/>
          </a:xfrm>
          <a:prstGeom prst="roundRect">
            <a:avLst>
              <a:gd name="adj" fmla="val 2391"/>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45336"/>
            <a:ext cx="6720840" cy="1983740"/>
          </a:xfrm>
          <a:prstGeom prst="rect">
            <a:avLst/>
          </a:prstGeom>
          <a:noFill/>
          <a:ln/>
        </p:spPr>
        <p:txBody>
          <a:bodyPr wrap="square" lIns="0" tIns="0" rIns="0" bIns="0" rtlCol="0" anchor="t"/>
          <a:lstStyle/>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enc_prog </a:t>
            </a:r>
            <a:r>
              <a:rPr lang="en-US" sz="1100" dirty="0">
                <a:solidFill>
                  <a:srgbClr val="A5D8FF"/>
                </a:solidFill>
                <a:latin typeface="Courier New" pitchFamily="34" charset="0"/>
                <a:ea typeface="Courier New" pitchFamily="34" charset="-122"/>
                <a:cs typeface="Courier New" pitchFamily="34" charset="-120"/>
              </a:rPr>
              <a:t>&lt;-</a:t>
            </a:r>
            <a:r>
              <a:rPr lang="en-US" sz="1100" dirty="0">
                <a:solidFill>
                  <a:srgbClr val="E6EDF7"/>
                </a:solidFill>
                <a:latin typeface="Courier New" pitchFamily="34" charset="0"/>
                <a:ea typeface="Courier New" pitchFamily="34" charset="-122"/>
                <a:cs typeface="Courier New" pitchFamily="34" charset="-120"/>
              </a:rPr>
              <a:t> encuesta </a:t>
            </a:r>
            <a:r>
              <a:rPr lang="en-US" sz="1100" dirty="0">
                <a:solidFill>
                  <a:srgbClr val="A5D8FF"/>
                </a:solidFill>
                <a:latin typeface="Courier New" pitchFamily="34" charset="0"/>
                <a:ea typeface="Courier New" pitchFamily="34" charset="-122"/>
                <a:cs typeface="Courier New" pitchFamily="34" charset="-120"/>
              </a:rPr>
              <a:t>|&gt;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left_join</a:t>
            </a:r>
            <a:r>
              <a:rPr lang="en-US" sz="1100" dirty="0">
                <a:solidFill>
                  <a:srgbClr val="E6EDF7"/>
                </a:solidFill>
                <a:latin typeface="Courier New" pitchFamily="34" charset="0"/>
                <a:ea typeface="Courier New" pitchFamily="34" charset="-122"/>
                <a:cs typeface="Courier New" pitchFamily="34" charset="-120"/>
              </a:rPr>
              <a:t>(programas, by = </a:t>
            </a:r>
            <a:r>
              <a:rPr lang="en-US" sz="1100" dirty="0">
                <a:solidFill>
                  <a:srgbClr val="F2C97D"/>
                </a:solidFill>
                <a:latin typeface="Courier New" pitchFamily="34" charset="0"/>
                <a:ea typeface="Courier New" pitchFamily="34" charset="-122"/>
                <a:cs typeface="Courier New" pitchFamily="34" charset="-120"/>
              </a:rPr>
              <a:t>"programa_id"</a:t>
            </a: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modelos </a:t>
            </a:r>
            <a:r>
              <a:rPr lang="en-US" sz="1100" dirty="0">
                <a:solidFill>
                  <a:srgbClr val="A5D8FF"/>
                </a:solidFill>
                <a:latin typeface="Courier New" pitchFamily="34" charset="0"/>
                <a:ea typeface="Courier New" pitchFamily="34" charset="-122"/>
                <a:cs typeface="Courier New" pitchFamily="34" charset="-120"/>
              </a:rPr>
              <a:t>&lt;-</a:t>
            </a:r>
            <a:r>
              <a:rPr lang="en-US" sz="1100" dirty="0">
                <a:solidFill>
                  <a:srgbClr val="E6EDF7"/>
                </a:solidFill>
                <a:latin typeface="Courier New" pitchFamily="34" charset="0"/>
                <a:ea typeface="Courier New" pitchFamily="34" charset="-122"/>
                <a:cs typeface="Courier New" pitchFamily="34" charset="-120"/>
              </a:rPr>
              <a:t> enc_prog </a:t>
            </a:r>
            <a:r>
              <a:rPr lang="en-US" sz="1100" dirty="0">
                <a:solidFill>
                  <a:srgbClr val="A5D8FF"/>
                </a:solidFill>
                <a:latin typeface="Courier New" pitchFamily="34" charset="0"/>
                <a:ea typeface="Courier New" pitchFamily="34" charset="-122"/>
                <a:cs typeface="Courier New" pitchFamily="34" charset="-120"/>
              </a:rPr>
              <a:t>|&gt;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nest</a:t>
            </a:r>
            <a:r>
              <a:rPr lang="en-US" sz="1100" dirty="0">
                <a:solidFill>
                  <a:srgbClr val="E6EDF7"/>
                </a:solidFill>
                <a:latin typeface="Courier New" pitchFamily="34" charset="0"/>
                <a:ea typeface="Courier New" pitchFamily="34" charset="-122"/>
                <a:cs typeface="Courier New" pitchFamily="34" charset="-120"/>
              </a:rPr>
              <a:t>(.by = area) </a:t>
            </a:r>
            <a:r>
              <a:rPr lang="en-US" sz="1100" dirty="0">
                <a:solidFill>
                  <a:srgbClr val="A5D8FF"/>
                </a:solidFill>
                <a:latin typeface="Courier New" pitchFamily="34" charset="0"/>
                <a:ea typeface="Courier New" pitchFamily="34" charset="-122"/>
                <a:cs typeface="Courier New" pitchFamily="34" charset="-120"/>
              </a:rPr>
              <a:t>|&gt;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mutate</a:t>
            </a: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modelo = </a:t>
            </a:r>
            <a:r>
              <a:rPr lang="en-US" sz="1100" dirty="0">
                <a:solidFill>
                  <a:srgbClr val="7DD3FC"/>
                </a:solidFill>
                <a:latin typeface="Courier New" pitchFamily="34" charset="0"/>
                <a:ea typeface="Courier New" pitchFamily="34" charset="-122"/>
                <a:cs typeface="Courier New" pitchFamily="34" charset="-120"/>
              </a:rPr>
              <a:t>map</a:t>
            </a:r>
            <a:r>
              <a:rPr lang="en-US" sz="1100" dirty="0">
                <a:solidFill>
                  <a:srgbClr val="E6EDF7"/>
                </a:solidFill>
                <a:latin typeface="Courier New" pitchFamily="34" charset="0"/>
                <a:ea typeface="Courier New" pitchFamily="34" charset="-122"/>
                <a:cs typeface="Courier New" pitchFamily="34" charset="-120"/>
              </a:rPr>
              <a:t>(data, </a:t>
            </a:r>
            <a:r>
              <a:rPr lang="en-US" sz="1100" dirty="0">
                <a:solidFill>
                  <a:srgbClr val="A5D8FF"/>
                </a:solidFill>
                <a:latin typeface="Courier New" pitchFamily="34" charset="0"/>
                <a:ea typeface="Courier New" pitchFamily="34" charset="-122"/>
                <a:cs typeface="Courier New" pitchFamily="34" charset="-120"/>
              </a:rPr>
              <a:t>\(</a:t>
            </a:r>
            <a:r>
              <a:rPr lang="en-US" sz="1100" dirty="0">
                <a:solidFill>
                  <a:srgbClr val="E6EDF7"/>
                </a:solidFill>
                <a:latin typeface="Courier New" pitchFamily="34" charset="0"/>
                <a:ea typeface="Courier New" pitchFamily="34" charset="-122"/>
                <a:cs typeface="Courier New" pitchFamily="34" charset="-120"/>
              </a:rPr>
              <a:t>d) </a:t>
            </a:r>
            <a:r>
              <a:rPr lang="en-US" sz="1100" dirty="0">
                <a:solidFill>
                  <a:srgbClr val="7DD3FC"/>
                </a:solidFill>
                <a:latin typeface="Courier New" pitchFamily="34" charset="0"/>
                <a:ea typeface="Courier New" pitchFamily="34" charset="-122"/>
                <a:cs typeface="Courier New" pitchFamily="34" charset="-120"/>
              </a:rPr>
              <a:t>lm</a:t>
            </a:r>
            <a:r>
              <a:rPr lang="en-US" sz="1100" dirty="0">
                <a:solidFill>
                  <a:srgbClr val="E6EDF7"/>
                </a:solidFill>
                <a:latin typeface="Courier New" pitchFamily="34" charset="0"/>
                <a:ea typeface="Courier New" pitchFamily="34" charset="-122"/>
                <a:cs typeface="Courier New" pitchFamily="34" charset="-120"/>
              </a:rPr>
              <a:t>(horas_investigacion_sem </a:t>
            </a:r>
            <a:r>
              <a:rPr lang="en-US" sz="1100" dirty="0">
                <a:solidFill>
                  <a:srgbClr val="A5D8FF"/>
                </a:solidFill>
                <a:latin typeface="Courier New" pitchFamily="34" charset="0"/>
                <a:ea typeface="Courier New" pitchFamily="34" charset="-122"/>
                <a:cs typeface="Courier New" pitchFamily="34" charset="-120"/>
              </a:rPr>
              <a:t>~</a:t>
            </a:r>
            <a:r>
              <a:rPr lang="en-US" sz="1100" dirty="0">
                <a:solidFill>
                  <a:srgbClr val="E6EDF7"/>
                </a:solidFill>
                <a:latin typeface="Courier New" pitchFamily="34" charset="0"/>
                <a:ea typeface="Courier New" pitchFamily="34" charset="-122"/>
                <a:cs typeface="Courier New" pitchFamily="34" charset="-120"/>
              </a:rPr>
              <a:t> nivel, data = d)),</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coefs  = </a:t>
            </a:r>
            <a:r>
              <a:rPr lang="en-US" sz="1100" dirty="0">
                <a:solidFill>
                  <a:srgbClr val="7DD3FC"/>
                </a:solidFill>
                <a:latin typeface="Courier New" pitchFamily="34" charset="0"/>
                <a:ea typeface="Courier New" pitchFamily="34" charset="-122"/>
                <a:cs typeface="Courier New" pitchFamily="34" charset="-120"/>
              </a:rPr>
              <a:t>map</a:t>
            </a:r>
            <a:r>
              <a:rPr lang="en-US" sz="1100" dirty="0">
                <a:solidFill>
                  <a:srgbClr val="E6EDF7"/>
                </a:solidFill>
                <a:latin typeface="Courier New" pitchFamily="34" charset="0"/>
                <a:ea typeface="Courier New" pitchFamily="34" charset="-122"/>
                <a:cs typeface="Courier New" pitchFamily="34" charset="-120"/>
              </a:rPr>
              <a:t>(modelo, broom::tidy),</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r2     = </a:t>
            </a:r>
            <a:r>
              <a:rPr lang="en-US" sz="1100" dirty="0">
                <a:solidFill>
                  <a:srgbClr val="7DD3FC"/>
                </a:solidFill>
                <a:latin typeface="Courier New" pitchFamily="34" charset="0"/>
                <a:ea typeface="Courier New" pitchFamily="34" charset="-122"/>
                <a:cs typeface="Courier New" pitchFamily="34" charset="-120"/>
              </a:rPr>
              <a:t>map_dbl</a:t>
            </a:r>
            <a:r>
              <a:rPr lang="en-US" sz="1100" dirty="0">
                <a:solidFill>
                  <a:srgbClr val="E6EDF7"/>
                </a:solidFill>
                <a:latin typeface="Courier New" pitchFamily="34" charset="0"/>
                <a:ea typeface="Courier New" pitchFamily="34" charset="-122"/>
                <a:cs typeface="Courier New" pitchFamily="34" charset="-120"/>
              </a:rPr>
              <a:t>(modelo, </a:t>
            </a:r>
            <a:r>
              <a:rPr lang="en-US" sz="1100" dirty="0">
                <a:solidFill>
                  <a:srgbClr val="A5D8FF"/>
                </a:solidFill>
                <a:latin typeface="Courier New" pitchFamily="34" charset="0"/>
                <a:ea typeface="Courier New" pitchFamily="34" charset="-122"/>
                <a:cs typeface="Courier New" pitchFamily="34" charset="-120"/>
              </a:rPr>
              <a:t>\(</a:t>
            </a:r>
            <a:r>
              <a:rPr lang="en-US" sz="1100" dirty="0">
                <a:solidFill>
                  <a:srgbClr val="E6EDF7"/>
                </a:solidFill>
                <a:latin typeface="Courier New" pitchFamily="34" charset="0"/>
                <a:ea typeface="Courier New" pitchFamily="34" charset="-122"/>
                <a:cs typeface="Courier New" pitchFamily="34" charset="-120"/>
              </a:rPr>
              <a:t>m) </a:t>
            </a:r>
            <a:r>
              <a:rPr lang="en-US" sz="1100" dirty="0">
                <a:solidFill>
                  <a:srgbClr val="7DD3FC"/>
                </a:solidFill>
                <a:latin typeface="Courier New" pitchFamily="34" charset="0"/>
                <a:ea typeface="Courier New" pitchFamily="34" charset="-122"/>
                <a:cs typeface="Courier New" pitchFamily="34" charset="-120"/>
              </a:rPr>
              <a:t>summary</a:t>
            </a:r>
            <a:r>
              <a:rPr lang="en-US" sz="1100" dirty="0">
                <a:solidFill>
                  <a:srgbClr val="E6EDF7"/>
                </a:solidFill>
                <a:latin typeface="Courier New" pitchFamily="34" charset="0"/>
                <a:ea typeface="Courier New" pitchFamily="34" charset="-122"/>
                <a:cs typeface="Courier New" pitchFamily="34" charset="-120"/>
              </a:rPr>
              <a:t>(m)$r.squared)</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p:txBody>
      </p:sp>
      <p:sp>
        <p:nvSpPr>
          <p:cNvPr id="9" name="Shape 6"/>
          <p:cNvSpPr/>
          <p:nvPr/>
        </p:nvSpPr>
        <p:spPr>
          <a:xfrm>
            <a:off x="548640" y="3894836"/>
            <a:ext cx="7086600" cy="906018"/>
          </a:xfrm>
          <a:prstGeom prst="roundRect">
            <a:avLst>
              <a:gd name="adj" fmla="val 6056"/>
            </a:avLst>
          </a:prstGeom>
          <a:solidFill>
            <a:srgbClr val="162044"/>
          </a:solidFill>
          <a:ln w="12700">
            <a:solidFill>
              <a:srgbClr val="162044"/>
            </a:solidFill>
            <a:prstDash val="solid"/>
          </a:ln>
        </p:spPr>
        <p:txBody>
          <a:bodyPr/>
          <a:lstStyle/>
          <a:p>
            <a:endParaRPr lang="es-CL"/>
          </a:p>
        </p:txBody>
      </p:sp>
      <p:sp>
        <p:nvSpPr>
          <p:cNvPr id="10" name="Text 7"/>
          <p:cNvSpPr txBox="1"/>
          <p:nvPr/>
        </p:nvSpPr>
        <p:spPr>
          <a:xfrm>
            <a:off x="731520" y="4022852"/>
            <a:ext cx="6720840" cy="595122"/>
          </a:xfrm>
          <a:prstGeom prst="rect">
            <a:avLst/>
          </a:prstGeom>
          <a:noFill/>
          <a:ln/>
        </p:spPr>
        <p:txBody>
          <a:bodyPr wrap="square" lIns="0" tIns="0" rIns="0" bIns="0" rtlCol="0" anchor="t"/>
          <a:lstStyle/>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modelos </a:t>
            </a:r>
            <a:r>
              <a:rPr lang="en-US" sz="1100" dirty="0">
                <a:solidFill>
                  <a:srgbClr val="A5D8FF"/>
                </a:solidFill>
                <a:latin typeface="Courier New" pitchFamily="34" charset="0"/>
                <a:ea typeface="Courier New" pitchFamily="34" charset="-122"/>
                <a:cs typeface="Courier New" pitchFamily="34" charset="-120"/>
              </a:rPr>
              <a:t>|&gt;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select</a:t>
            </a:r>
            <a:r>
              <a:rPr lang="en-US" sz="1100" dirty="0">
                <a:solidFill>
                  <a:srgbClr val="E6EDF7"/>
                </a:solidFill>
                <a:latin typeface="Courier New" pitchFamily="34" charset="0"/>
                <a:ea typeface="Courier New" pitchFamily="34" charset="-122"/>
                <a:cs typeface="Courier New" pitchFamily="34" charset="-120"/>
              </a:rPr>
              <a:t>(area, coefs) </a:t>
            </a:r>
            <a:r>
              <a:rPr lang="en-US" sz="1100" dirty="0">
                <a:solidFill>
                  <a:srgbClr val="A5D8FF"/>
                </a:solidFill>
                <a:latin typeface="Courier New" pitchFamily="34" charset="0"/>
                <a:ea typeface="Courier New" pitchFamily="34" charset="-122"/>
                <a:cs typeface="Courier New" pitchFamily="34" charset="-120"/>
              </a:rPr>
              <a:t>|&gt;</a:t>
            </a: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unnest</a:t>
            </a:r>
            <a:r>
              <a:rPr lang="en-US" sz="1100" dirty="0">
                <a:solidFill>
                  <a:srgbClr val="E6EDF7"/>
                </a:solidFill>
                <a:latin typeface="Courier New" pitchFamily="34" charset="0"/>
                <a:ea typeface="Courier New" pitchFamily="34" charset="-122"/>
                <a:cs typeface="Courier New" pitchFamily="34" charset="-120"/>
              </a:rPr>
              <a:t>(coefs) </a:t>
            </a:r>
            <a:r>
              <a:rPr lang="en-US" sz="1100" dirty="0">
                <a:solidFill>
                  <a:srgbClr val="A5D8FF"/>
                </a:solidFill>
                <a:latin typeface="Courier New" pitchFamily="34" charset="0"/>
                <a:ea typeface="Courier New" pitchFamily="34" charset="-122"/>
                <a:cs typeface="Courier New" pitchFamily="34" charset="-120"/>
              </a:rPr>
              <a:t>|&gt;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filter</a:t>
            </a:r>
            <a:r>
              <a:rPr lang="en-US" sz="1100" dirty="0">
                <a:solidFill>
                  <a:srgbClr val="E6EDF7"/>
                </a:solidFill>
                <a:latin typeface="Courier New" pitchFamily="34" charset="0"/>
                <a:ea typeface="Courier New" pitchFamily="34" charset="-122"/>
                <a:cs typeface="Courier New" pitchFamily="34" charset="-120"/>
              </a:rPr>
              <a:t>(term == </a:t>
            </a:r>
            <a:r>
              <a:rPr lang="en-US" sz="1100" dirty="0">
                <a:solidFill>
                  <a:srgbClr val="F2C97D"/>
                </a:solidFill>
                <a:latin typeface="Courier New" pitchFamily="34" charset="0"/>
                <a:ea typeface="Courier New" pitchFamily="34" charset="-122"/>
                <a:cs typeface="Courier New" pitchFamily="34" charset="-120"/>
              </a:rPr>
              <a:t>"nivelMagíster"</a:t>
            </a:r>
            <a:r>
              <a:rPr lang="en-US" sz="1100" dirty="0">
                <a:solidFill>
                  <a:srgbClr val="E6EDF7"/>
                </a:solidFill>
                <a:latin typeface="Courier New" pitchFamily="34" charset="0"/>
                <a:ea typeface="Courier New" pitchFamily="34" charset="-122"/>
                <a:cs typeface="Courier New" pitchFamily="34" charset="-120"/>
              </a:rPr>
              <a:t>)</a:t>
            </a:r>
            <a:endParaRPr lang="en-US" sz="1100" dirty="0"/>
          </a:p>
        </p:txBody>
      </p:sp>
      <p:sp>
        <p:nvSpPr>
          <p:cNvPr id="11" name="Shape 8"/>
          <p:cNvSpPr/>
          <p:nvPr/>
        </p:nvSpPr>
        <p:spPr>
          <a:xfrm>
            <a:off x="7955280" y="1417320"/>
            <a:ext cx="3685032" cy="2743200"/>
          </a:xfrm>
          <a:prstGeom prst="roundRect">
            <a:avLst>
              <a:gd name="adj" fmla="val 2333"/>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2" name="Text 9"/>
          <p:cNvSpPr txBox="1"/>
          <p:nvPr/>
        </p:nvSpPr>
        <p:spPr>
          <a:xfrm>
            <a:off x="8183880" y="1572768"/>
            <a:ext cx="329184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MAGÍSTER VS. DOCTORADO (H/SEM)</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8183880" y="1901952"/>
          <a:ext cx="32004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tblGrid>
              <a:tr h="384048">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área</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050" b="1" dirty="0">
                          <a:solidFill>
                            <a:srgbClr val="FFFFFF"/>
                          </a:solidFill>
                          <a:latin typeface="Calibri" pitchFamily="34" charset="0"/>
                          <a:ea typeface="Calibri" pitchFamily="34" charset="-122"/>
                          <a:cs typeface="Calibri" pitchFamily="34" charset="-120"/>
                        </a:rPr>
                        <a:t>dif.</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050" b="1" dirty="0">
                          <a:solidFill>
                            <a:srgbClr val="FFFFFF"/>
                          </a:solidFill>
                          <a:latin typeface="Calibri" pitchFamily="34" charset="0"/>
                          <a:ea typeface="Calibri" pitchFamily="34" charset="-122"/>
                          <a:cs typeface="Calibri" pitchFamily="34" charset="-120"/>
                        </a:rPr>
                        <a:t>EE</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050" b="1" dirty="0">
                          <a:solidFill>
                            <a:srgbClr val="FFFFFF"/>
                          </a:solidFill>
                          <a:latin typeface="Calibri" pitchFamily="34" charset="0"/>
                          <a:ea typeface="Calibri" pitchFamily="34" charset="-122"/>
                          <a:cs typeface="Calibri" pitchFamily="34" charset="-120"/>
                        </a:rPr>
                        <a:t>R²</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84048">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Ingeniería</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−11.4</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1.63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0.43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C. Naturales</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2.18</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0.38</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384048">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C. Sociales</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−11.8</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1.93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0.48</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4" name="Text 10"/>
          <p:cNvSpPr txBox="1"/>
          <p:nvPr/>
        </p:nvSpPr>
        <p:spPr>
          <a:xfrm>
            <a:off x="8183880" y="3566160"/>
            <a:ext cx="3291840" cy="457200"/>
          </a:xfrm>
          <a:prstGeom prst="rect">
            <a:avLst/>
          </a:prstGeom>
          <a:noFill/>
          <a:ln/>
        </p:spPr>
        <p:txBody>
          <a:bodyPr wrap="square" lIns="0" tIns="0" rIns="0" bIns="0" rtlCol="0" anchor="t"/>
          <a:lstStyle/>
          <a:p>
            <a:pPr marL="0" indent="0">
              <a:buNone/>
            </a:pPr>
            <a:r>
              <a:rPr lang="en-US" sz="1100" i="1" dirty="0">
                <a:solidFill>
                  <a:srgbClr val="5B6B7F"/>
                </a:solidFill>
                <a:latin typeface="Calibri" pitchFamily="34" charset="0"/>
                <a:ea typeface="Calibri" pitchFamily="34" charset="-122"/>
                <a:cs typeface="Calibri" pitchFamily="34" charset="-120"/>
              </a:rPr>
              <a:t>Referencia: Doctorado. Todos con p &lt; 0.001.</a:t>
            </a:r>
            <a:endParaRPr lang="en-US" sz="1100" dirty="0"/>
          </a:p>
        </p:txBody>
      </p:sp>
      <p:sp>
        <p:nvSpPr>
          <p:cNvPr id="15" name="Shape 11"/>
          <p:cNvSpPr/>
          <p:nvPr/>
        </p:nvSpPr>
        <p:spPr>
          <a:xfrm>
            <a:off x="548640" y="5166360"/>
            <a:ext cx="11091672" cy="777240"/>
          </a:xfrm>
          <a:prstGeom prst="rect">
            <a:avLst/>
          </a:prstGeom>
          <a:solidFill>
            <a:srgbClr val="E4EEF2"/>
          </a:solidFill>
          <a:ln w="12700">
            <a:solidFill>
              <a:srgbClr val="E4EEF2"/>
            </a:solidFill>
            <a:prstDash val="solid"/>
          </a:ln>
        </p:spPr>
        <p:txBody>
          <a:bodyPr/>
          <a:lstStyle/>
          <a:p>
            <a:endParaRPr lang="es-CL"/>
          </a:p>
        </p:txBody>
      </p:sp>
      <p:sp>
        <p:nvSpPr>
          <p:cNvPr id="16" name="Shape 12"/>
          <p:cNvSpPr/>
          <p:nvPr/>
        </p:nvSpPr>
        <p:spPr>
          <a:xfrm>
            <a:off x="548640" y="5166360"/>
            <a:ext cx="64008" cy="777240"/>
          </a:xfrm>
          <a:prstGeom prst="rect">
            <a:avLst/>
          </a:prstGeom>
          <a:solidFill>
            <a:srgbClr val="1C7293"/>
          </a:solidFill>
          <a:ln w="12700">
            <a:solidFill>
              <a:srgbClr val="1C7293"/>
            </a:solidFill>
            <a:prstDash val="solid"/>
          </a:ln>
        </p:spPr>
        <p:txBody>
          <a:bodyPr/>
          <a:lstStyle/>
          <a:p>
            <a:endParaRPr lang="es-CL"/>
          </a:p>
        </p:txBody>
      </p:sp>
      <p:sp>
        <p:nvSpPr>
          <p:cNvPr id="17" name="Text 13"/>
          <p:cNvSpPr txBox="1"/>
          <p:nvPr/>
        </p:nvSpPr>
        <p:spPr>
          <a:xfrm>
            <a:off x="749808" y="5166360"/>
            <a:ext cx="10771632" cy="777240"/>
          </a:xfrm>
          <a:prstGeom prst="rect">
            <a:avLst/>
          </a:prstGeom>
          <a:noFill/>
          <a:ln/>
        </p:spPr>
        <p:txBody>
          <a:bodyPr wrap="square" lIns="0" tIns="0" rIns="0" bIns="0" rtlCol="0" anchor="ctr"/>
          <a:lstStyle/>
          <a:p>
            <a:pPr marL="0" indent="0">
              <a:buNone/>
            </a:pPr>
            <a:r>
              <a:rPr lang="en-US" sz="1350" b="1" dirty="0">
                <a:solidFill>
                  <a:srgbClr val="1E2A44"/>
                </a:solidFill>
                <a:latin typeface="Calibri" pitchFamily="34" charset="0"/>
                <a:ea typeface="Calibri" pitchFamily="34" charset="-122"/>
                <a:cs typeface="Calibri" pitchFamily="34" charset="-120"/>
              </a:rPr>
              <a:t>nest() deja una tabla completa dentro de cada fila (una list-column); map() trabaja sobre esa columna. Resultado: una fila por grupo, con su modelo.</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2 · ITERACIÓN CON PURRR</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walk(): guardar figuras y tablas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26</a:t>
            </a:r>
            <a:endParaRPr lang="en-US" sz="800" dirty="0"/>
          </a:p>
        </p:txBody>
      </p:sp>
      <p:sp>
        <p:nvSpPr>
          <p:cNvPr id="7" name="Shape 4"/>
          <p:cNvSpPr/>
          <p:nvPr/>
        </p:nvSpPr>
        <p:spPr>
          <a:xfrm>
            <a:off x="548640" y="1371600"/>
            <a:ext cx="7223760" cy="3881628"/>
          </a:xfrm>
          <a:prstGeom prst="roundRect">
            <a:avLst>
              <a:gd name="adj" fmla="val 1413"/>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499616"/>
            <a:ext cx="6858000" cy="3570732"/>
          </a:xfrm>
          <a:prstGeom prst="rect">
            <a:avLst/>
          </a:prstGeom>
          <a:noFill/>
          <a:ln/>
        </p:spPr>
        <p:txBody>
          <a:bodyPr wrap="square" lIns="0" tIns="0" rIns="0" bIns="0" rtlCol="0" anchor="t"/>
          <a:lstStyle/>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graficar_area </a:t>
            </a:r>
            <a:r>
              <a:rPr lang="en-US" sz="1100" dirty="0">
                <a:solidFill>
                  <a:srgbClr val="A5D8FF"/>
                </a:solidFill>
                <a:latin typeface="Courier New" pitchFamily="34" charset="0"/>
                <a:ea typeface="Courier New" pitchFamily="34" charset="-122"/>
                <a:cs typeface="Courier New" pitchFamily="34" charset="-120"/>
              </a:rPr>
              <a:t>&lt;-</a:t>
            </a: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C9B8FF"/>
                </a:solidFill>
                <a:latin typeface="Courier New" pitchFamily="34" charset="0"/>
                <a:ea typeface="Courier New" pitchFamily="34" charset="-122"/>
                <a:cs typeface="Courier New" pitchFamily="34" charset="-120"/>
              </a:rPr>
              <a:t>function</a:t>
            </a:r>
            <a:r>
              <a:rPr lang="en-US" sz="1100" dirty="0">
                <a:solidFill>
                  <a:srgbClr val="E6EDF7"/>
                </a:solidFill>
                <a:latin typeface="Courier New" pitchFamily="34" charset="0"/>
                <a:ea typeface="Courier New" pitchFamily="34" charset="-122"/>
                <a:cs typeface="Courier New" pitchFamily="34" charset="-120"/>
              </a:rPr>
              <a:t>(d, titulo) {</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d </a:t>
            </a:r>
            <a:r>
              <a:rPr lang="en-US" sz="1100" dirty="0">
                <a:solidFill>
                  <a:srgbClr val="A5D8FF"/>
                </a:solidFill>
                <a:latin typeface="Courier New" pitchFamily="34" charset="0"/>
                <a:ea typeface="Courier New" pitchFamily="34" charset="-122"/>
                <a:cs typeface="Courier New" pitchFamily="34" charset="-120"/>
              </a:rPr>
              <a:t>|&gt;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drop_na</a:t>
            </a:r>
            <a:r>
              <a:rPr lang="en-US" sz="1100" dirty="0">
                <a:solidFill>
                  <a:srgbClr val="E6EDF7"/>
                </a:solidFill>
                <a:latin typeface="Courier New" pitchFamily="34" charset="0"/>
                <a:ea typeface="Courier New" pitchFamily="34" charset="-122"/>
                <a:cs typeface="Courier New" pitchFamily="34" charset="-120"/>
              </a:rPr>
              <a:t>(horas_investigacion_sem) </a:t>
            </a:r>
            <a:r>
              <a:rPr lang="en-US" sz="1100" dirty="0">
                <a:solidFill>
                  <a:srgbClr val="A5D8FF"/>
                </a:solidFill>
                <a:latin typeface="Courier New" pitchFamily="34" charset="0"/>
                <a:ea typeface="Courier New" pitchFamily="34" charset="-122"/>
                <a:cs typeface="Courier New" pitchFamily="34" charset="-120"/>
              </a:rPr>
              <a:t>|&gt;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ggplot</a:t>
            </a:r>
            <a:r>
              <a:rPr lang="en-US" sz="1100" dirty="0">
                <a:solidFill>
                  <a:srgbClr val="E6EDF7"/>
                </a:solidFill>
                <a:latin typeface="Courier New" pitchFamily="34" charset="0"/>
                <a:ea typeface="Courier New" pitchFamily="34" charset="-122"/>
                <a:cs typeface="Courier New" pitchFamily="34" charset="-120"/>
              </a:rPr>
              <a:t>(</a:t>
            </a:r>
            <a:r>
              <a:rPr lang="en-US" sz="1100" dirty="0">
                <a:solidFill>
                  <a:srgbClr val="7DD3FC"/>
                </a:solidFill>
                <a:latin typeface="Courier New" pitchFamily="34" charset="0"/>
                <a:ea typeface="Courier New" pitchFamily="34" charset="-122"/>
                <a:cs typeface="Courier New" pitchFamily="34" charset="-120"/>
              </a:rPr>
              <a:t>aes</a:t>
            </a:r>
            <a:r>
              <a:rPr lang="en-US" sz="1100" dirty="0">
                <a:solidFill>
                  <a:srgbClr val="E6EDF7"/>
                </a:solidFill>
                <a:latin typeface="Courier New" pitchFamily="34" charset="0"/>
                <a:ea typeface="Courier New" pitchFamily="34" charset="-122"/>
                <a:cs typeface="Courier New" pitchFamily="34" charset="-120"/>
              </a:rPr>
              <a:t>(nivel, horas_investigacion_sem)) +</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geom_boxplot</a:t>
            </a:r>
            <a:r>
              <a:rPr lang="en-US" sz="1100" dirty="0">
                <a:solidFill>
                  <a:srgbClr val="E6EDF7"/>
                </a:solidFill>
                <a:latin typeface="Courier New" pitchFamily="34" charset="0"/>
                <a:ea typeface="Courier New" pitchFamily="34" charset="-122"/>
                <a:cs typeface="Courier New" pitchFamily="34" charset="-120"/>
              </a:rPr>
              <a:t>(fill = </a:t>
            </a:r>
            <a:r>
              <a:rPr lang="en-US" sz="1100" dirty="0">
                <a:solidFill>
                  <a:srgbClr val="F2C97D"/>
                </a:solidFill>
                <a:latin typeface="Courier New" pitchFamily="34" charset="0"/>
                <a:ea typeface="Courier New" pitchFamily="34" charset="-122"/>
                <a:cs typeface="Courier New" pitchFamily="34" charset="-120"/>
              </a:rPr>
              <a:t>"#DCEAF0"</a:t>
            </a: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labs</a:t>
            </a:r>
            <a:r>
              <a:rPr lang="en-US" sz="1100" dirty="0">
                <a:solidFill>
                  <a:srgbClr val="E6EDF7"/>
                </a:solidFill>
                <a:latin typeface="Courier New" pitchFamily="34" charset="0"/>
                <a:ea typeface="Courier New" pitchFamily="34" charset="-122"/>
                <a:cs typeface="Courier New" pitchFamily="34" charset="-120"/>
              </a:rPr>
              <a:t>(title = titulo, x = </a:t>
            </a:r>
            <a:r>
              <a:rPr lang="en-US" sz="1100" dirty="0">
                <a:solidFill>
                  <a:srgbClr val="C9B8FF"/>
                </a:solidFill>
                <a:latin typeface="Courier New" pitchFamily="34" charset="0"/>
                <a:ea typeface="Courier New" pitchFamily="34" charset="-122"/>
                <a:cs typeface="Courier New" pitchFamily="34" charset="-120"/>
              </a:rPr>
              <a:t>NULL</a:t>
            </a:r>
            <a:r>
              <a:rPr lang="en-US" sz="1100" dirty="0">
                <a:solidFill>
                  <a:srgbClr val="E6EDF7"/>
                </a:solidFill>
                <a:latin typeface="Courier New" pitchFamily="34" charset="0"/>
                <a:ea typeface="Courier New" pitchFamily="34" charset="-122"/>
                <a:cs typeface="Courier New" pitchFamily="34" charset="-120"/>
              </a:rPr>
              <a:t>, y = </a:t>
            </a:r>
            <a:r>
              <a:rPr lang="en-US" sz="1100" dirty="0">
                <a:solidFill>
                  <a:srgbClr val="F2C97D"/>
                </a:solidFill>
                <a:latin typeface="Courier New" pitchFamily="34" charset="0"/>
                <a:ea typeface="Courier New" pitchFamily="34" charset="-122"/>
                <a:cs typeface="Courier New" pitchFamily="34" charset="-120"/>
              </a:rPr>
              <a:t>"Horas por semana"</a:t>
            </a: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fig </a:t>
            </a:r>
            <a:r>
              <a:rPr lang="en-US" sz="1100" dirty="0">
                <a:solidFill>
                  <a:srgbClr val="A5D8FF"/>
                </a:solidFill>
                <a:latin typeface="Courier New" pitchFamily="34" charset="0"/>
                <a:ea typeface="Courier New" pitchFamily="34" charset="-122"/>
                <a:cs typeface="Courier New" pitchFamily="34" charset="-120"/>
              </a:rPr>
              <a:t>&lt;-</a:t>
            </a:r>
            <a:r>
              <a:rPr lang="en-US" sz="1100" dirty="0">
                <a:solidFill>
                  <a:srgbClr val="E6EDF7"/>
                </a:solidFill>
                <a:latin typeface="Courier New" pitchFamily="34" charset="0"/>
                <a:ea typeface="Courier New" pitchFamily="34" charset="-122"/>
                <a:cs typeface="Courier New" pitchFamily="34" charset="-120"/>
              </a:rPr>
              <a:t> enc_prog </a:t>
            </a:r>
            <a:r>
              <a:rPr lang="en-US" sz="1100" dirty="0">
                <a:solidFill>
                  <a:srgbClr val="A5D8FF"/>
                </a:solidFill>
                <a:latin typeface="Courier New" pitchFamily="34" charset="0"/>
                <a:ea typeface="Courier New" pitchFamily="34" charset="-122"/>
                <a:cs typeface="Courier New" pitchFamily="34" charset="-120"/>
              </a:rPr>
              <a:t>|&gt;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nest</a:t>
            </a:r>
            <a:r>
              <a:rPr lang="en-US" sz="1100" dirty="0">
                <a:solidFill>
                  <a:srgbClr val="E6EDF7"/>
                </a:solidFill>
                <a:latin typeface="Courier New" pitchFamily="34" charset="0"/>
                <a:ea typeface="Courier New" pitchFamily="34" charset="-122"/>
                <a:cs typeface="Courier New" pitchFamily="34" charset="-120"/>
              </a:rPr>
              <a:t>(.by = area) </a:t>
            </a:r>
            <a:r>
              <a:rPr lang="en-US" sz="1100" dirty="0">
                <a:solidFill>
                  <a:srgbClr val="A5D8FF"/>
                </a:solidFill>
                <a:latin typeface="Courier New" pitchFamily="34" charset="0"/>
                <a:ea typeface="Courier New" pitchFamily="34" charset="-122"/>
                <a:cs typeface="Courier New" pitchFamily="34" charset="-120"/>
              </a:rPr>
              <a:t>|&gt;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mutate</a:t>
            </a: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grafico = </a:t>
            </a:r>
            <a:r>
              <a:rPr lang="en-US" sz="1100" dirty="0">
                <a:solidFill>
                  <a:srgbClr val="7DD3FC"/>
                </a:solidFill>
                <a:latin typeface="Courier New" pitchFamily="34" charset="0"/>
                <a:ea typeface="Courier New" pitchFamily="34" charset="-122"/>
                <a:cs typeface="Courier New" pitchFamily="34" charset="-120"/>
              </a:rPr>
              <a:t>map2</a:t>
            </a:r>
            <a:r>
              <a:rPr lang="en-US" sz="1100" dirty="0">
                <a:solidFill>
                  <a:srgbClr val="E6EDF7"/>
                </a:solidFill>
                <a:latin typeface="Courier New" pitchFamily="34" charset="0"/>
                <a:ea typeface="Courier New" pitchFamily="34" charset="-122"/>
                <a:cs typeface="Courier New" pitchFamily="34" charset="-120"/>
              </a:rPr>
              <a:t>(data, area, graficar_area),</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ruta = </a:t>
            </a:r>
            <a:r>
              <a:rPr lang="en-US" sz="1100" dirty="0">
                <a:solidFill>
                  <a:srgbClr val="7DD3FC"/>
                </a:solidFill>
                <a:latin typeface="Courier New" pitchFamily="34" charset="0"/>
                <a:ea typeface="Courier New" pitchFamily="34" charset="-122"/>
                <a:cs typeface="Courier New" pitchFamily="34" charset="-120"/>
              </a:rPr>
              <a:t>here</a:t>
            </a:r>
            <a:r>
              <a:rPr lang="en-US" sz="1100" dirty="0">
                <a:solidFill>
                  <a:srgbClr val="E6EDF7"/>
                </a:solidFill>
                <a:latin typeface="Courier New" pitchFamily="34" charset="0"/>
                <a:ea typeface="Courier New" pitchFamily="34" charset="-122"/>
                <a:cs typeface="Courier New" pitchFamily="34" charset="-120"/>
              </a:rPr>
              <a:t>(</a:t>
            </a:r>
            <a:r>
              <a:rPr lang="en-US" sz="1100" dirty="0">
                <a:solidFill>
                  <a:srgbClr val="F2C97D"/>
                </a:solidFill>
                <a:latin typeface="Courier New" pitchFamily="34" charset="0"/>
                <a:ea typeface="Courier New" pitchFamily="34" charset="-122"/>
                <a:cs typeface="Courier New" pitchFamily="34" charset="-120"/>
              </a:rPr>
              <a:t>"outputs"</a:t>
            </a: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F2C97D"/>
                </a:solidFill>
                <a:latin typeface="Courier New" pitchFamily="34" charset="0"/>
                <a:ea typeface="Courier New" pitchFamily="34" charset="-122"/>
                <a:cs typeface="Courier New" pitchFamily="34" charset="-120"/>
              </a:rPr>
              <a:t>"figuras"</a:t>
            </a: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paste0</a:t>
            </a:r>
            <a:r>
              <a:rPr lang="en-US" sz="1100" dirty="0">
                <a:solidFill>
                  <a:srgbClr val="E6EDF7"/>
                </a:solidFill>
                <a:latin typeface="Courier New" pitchFamily="34" charset="0"/>
                <a:ea typeface="Courier New" pitchFamily="34" charset="-122"/>
                <a:cs typeface="Courier New" pitchFamily="34" charset="-120"/>
              </a:rPr>
              <a:t>(</a:t>
            </a:r>
            <a:r>
              <a:rPr lang="en-US" sz="1100" dirty="0">
                <a:solidFill>
                  <a:srgbClr val="F2C97D"/>
                </a:solidFill>
                <a:latin typeface="Courier New" pitchFamily="34" charset="0"/>
                <a:ea typeface="Courier New" pitchFamily="34" charset="-122"/>
                <a:cs typeface="Courier New" pitchFamily="34" charset="-120"/>
              </a:rPr>
              <a:t>"horas_"</a:t>
            </a: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make.names</a:t>
            </a:r>
            <a:r>
              <a:rPr lang="en-US" sz="1100" dirty="0">
                <a:solidFill>
                  <a:srgbClr val="E6EDF7"/>
                </a:solidFill>
                <a:latin typeface="Courier New" pitchFamily="34" charset="0"/>
                <a:ea typeface="Courier New" pitchFamily="34" charset="-122"/>
                <a:cs typeface="Courier New" pitchFamily="34" charset="-120"/>
              </a:rPr>
              <a:t>(area), </a:t>
            </a:r>
            <a:r>
              <a:rPr lang="en-US" sz="1100" dirty="0">
                <a:solidFill>
                  <a:srgbClr val="F2C97D"/>
                </a:solidFill>
                <a:latin typeface="Courier New" pitchFamily="34" charset="0"/>
                <a:ea typeface="Courier New" pitchFamily="34" charset="-122"/>
                <a:cs typeface="Courier New" pitchFamily="34" charset="-120"/>
              </a:rPr>
              <a:t>".png"</a:t>
            </a: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marL="0" indent="0">
              <a:lnSpc>
                <a:spcPts val="1562"/>
              </a:lnSpc>
              <a:buNone/>
            </a:pPr>
            <a:r>
              <a:rPr lang="en-US" sz="1100" dirty="0">
                <a:solidFill>
                  <a:srgbClr val="7DD3FC"/>
                </a:solidFill>
                <a:latin typeface="Courier New" pitchFamily="34" charset="0"/>
                <a:ea typeface="Courier New" pitchFamily="34" charset="-122"/>
                <a:cs typeface="Courier New" pitchFamily="34" charset="-120"/>
              </a:rPr>
              <a:t>walk2</a:t>
            </a:r>
            <a:r>
              <a:rPr lang="en-US" sz="1100" dirty="0">
                <a:solidFill>
                  <a:srgbClr val="E6EDF7"/>
                </a:solidFill>
                <a:latin typeface="Courier New" pitchFamily="34" charset="0"/>
                <a:ea typeface="Courier New" pitchFamily="34" charset="-122"/>
                <a:cs typeface="Courier New" pitchFamily="34" charset="-120"/>
              </a:rPr>
              <a:t>(fig$grafico, fig$ruta,</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A5D8FF"/>
                </a:solidFill>
                <a:latin typeface="Courier New" pitchFamily="34" charset="0"/>
                <a:ea typeface="Courier New" pitchFamily="34" charset="-122"/>
                <a:cs typeface="Courier New" pitchFamily="34" charset="-120"/>
              </a:rPr>
              <a:t>\(</a:t>
            </a:r>
            <a:r>
              <a:rPr lang="en-US" sz="1100" dirty="0">
                <a:solidFill>
                  <a:srgbClr val="E6EDF7"/>
                </a:solidFill>
                <a:latin typeface="Courier New" pitchFamily="34" charset="0"/>
                <a:ea typeface="Courier New" pitchFamily="34" charset="-122"/>
                <a:cs typeface="Courier New" pitchFamily="34" charset="-120"/>
              </a:rPr>
              <a:t>g, r) </a:t>
            </a:r>
            <a:r>
              <a:rPr lang="en-US" sz="1100" dirty="0">
                <a:solidFill>
                  <a:srgbClr val="7DD3FC"/>
                </a:solidFill>
                <a:latin typeface="Courier New" pitchFamily="34" charset="0"/>
                <a:ea typeface="Courier New" pitchFamily="34" charset="-122"/>
                <a:cs typeface="Courier New" pitchFamily="34" charset="-120"/>
              </a:rPr>
              <a:t>ggsave</a:t>
            </a:r>
            <a:r>
              <a:rPr lang="en-US" sz="1100" dirty="0">
                <a:solidFill>
                  <a:srgbClr val="E6EDF7"/>
                </a:solidFill>
                <a:latin typeface="Courier New" pitchFamily="34" charset="0"/>
                <a:ea typeface="Courier New" pitchFamily="34" charset="-122"/>
                <a:cs typeface="Courier New" pitchFamily="34" charset="-120"/>
              </a:rPr>
              <a:t>(r, g, width = </a:t>
            </a:r>
            <a:r>
              <a:rPr lang="en-US" sz="1100" dirty="0">
                <a:solidFill>
                  <a:srgbClr val="F2C97D"/>
                </a:solidFill>
                <a:latin typeface="Courier New" pitchFamily="34" charset="0"/>
                <a:ea typeface="Courier New" pitchFamily="34" charset="-122"/>
                <a:cs typeface="Courier New" pitchFamily="34" charset="-120"/>
              </a:rPr>
              <a:t>6</a:t>
            </a:r>
            <a:r>
              <a:rPr lang="en-US" sz="1100" dirty="0">
                <a:solidFill>
                  <a:srgbClr val="E6EDF7"/>
                </a:solidFill>
                <a:latin typeface="Courier New" pitchFamily="34" charset="0"/>
                <a:ea typeface="Courier New" pitchFamily="34" charset="-122"/>
                <a:cs typeface="Courier New" pitchFamily="34" charset="-120"/>
              </a:rPr>
              <a:t>, height = </a:t>
            </a:r>
            <a:r>
              <a:rPr lang="en-US" sz="1100" dirty="0">
                <a:solidFill>
                  <a:srgbClr val="F2C97D"/>
                </a:solidFill>
                <a:latin typeface="Courier New" pitchFamily="34" charset="0"/>
                <a:ea typeface="Courier New" pitchFamily="34" charset="-122"/>
                <a:cs typeface="Courier New" pitchFamily="34" charset="-120"/>
              </a:rPr>
              <a:t>4</a:t>
            </a:r>
            <a:r>
              <a:rPr lang="en-US" sz="1100" dirty="0">
                <a:solidFill>
                  <a:srgbClr val="E6EDF7"/>
                </a:solidFill>
                <a:latin typeface="Courier New" pitchFamily="34" charset="0"/>
                <a:ea typeface="Courier New" pitchFamily="34" charset="-122"/>
                <a:cs typeface="Courier New" pitchFamily="34" charset="-120"/>
              </a:rPr>
              <a:t>))</a:t>
            </a:r>
            <a:endParaRPr lang="en-US" sz="1100" dirty="0"/>
          </a:p>
        </p:txBody>
      </p:sp>
      <p:sp>
        <p:nvSpPr>
          <p:cNvPr id="9" name="Shape 6"/>
          <p:cNvSpPr/>
          <p:nvPr/>
        </p:nvSpPr>
        <p:spPr>
          <a:xfrm>
            <a:off x="8092440" y="1371600"/>
            <a:ext cx="3547872" cy="1051560"/>
          </a:xfrm>
          <a:prstGeom prst="roundRect">
            <a:avLst>
              <a:gd name="adj" fmla="val 6087"/>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0" name="Shape 7"/>
          <p:cNvSpPr/>
          <p:nvPr/>
        </p:nvSpPr>
        <p:spPr>
          <a:xfrm>
            <a:off x="8092440" y="1371600"/>
            <a:ext cx="64008" cy="1051560"/>
          </a:xfrm>
          <a:prstGeom prst="rect">
            <a:avLst/>
          </a:prstGeom>
          <a:solidFill>
            <a:srgbClr val="065A82"/>
          </a:solidFill>
          <a:ln w="12700">
            <a:solidFill>
              <a:srgbClr val="065A82"/>
            </a:solidFill>
            <a:prstDash val="solid"/>
          </a:ln>
        </p:spPr>
        <p:txBody>
          <a:bodyPr/>
          <a:lstStyle/>
          <a:p>
            <a:endParaRPr lang="es-CL"/>
          </a:p>
        </p:txBody>
      </p:sp>
      <p:sp>
        <p:nvSpPr>
          <p:cNvPr id="11" name="Text 8"/>
          <p:cNvSpPr txBox="1"/>
          <p:nvPr/>
        </p:nvSpPr>
        <p:spPr>
          <a:xfrm>
            <a:off x="8321040" y="1417320"/>
            <a:ext cx="1097280" cy="960120"/>
          </a:xfrm>
          <a:prstGeom prst="rect">
            <a:avLst/>
          </a:prstGeom>
          <a:noFill/>
          <a:ln/>
        </p:spPr>
        <p:txBody>
          <a:bodyPr wrap="square" lIns="0" tIns="0" rIns="0" bIns="0" rtlCol="0" anchor="ctr"/>
          <a:lstStyle/>
          <a:p>
            <a:pPr marL="0" indent="0">
              <a:buNone/>
            </a:pPr>
            <a:r>
              <a:rPr lang="en-US" sz="1500" b="1" dirty="0">
                <a:solidFill>
                  <a:srgbClr val="065A82"/>
                </a:solidFill>
                <a:latin typeface="Courier New" pitchFamily="34" charset="0"/>
                <a:ea typeface="Courier New" pitchFamily="34" charset="-122"/>
                <a:cs typeface="Courier New" pitchFamily="34" charset="-120"/>
              </a:rPr>
              <a:t>map()</a:t>
            </a:r>
            <a:endParaRPr lang="en-US" sz="1500" dirty="0"/>
          </a:p>
        </p:txBody>
      </p:sp>
      <p:sp>
        <p:nvSpPr>
          <p:cNvPr id="12" name="Text 9"/>
          <p:cNvSpPr txBox="1"/>
          <p:nvPr/>
        </p:nvSpPr>
        <p:spPr>
          <a:xfrm>
            <a:off x="9418320" y="1417320"/>
            <a:ext cx="2148840" cy="960120"/>
          </a:xfrm>
          <a:prstGeom prst="rect">
            <a:avLst/>
          </a:prstGeom>
          <a:noFill/>
          <a:ln/>
        </p:spPr>
        <p:txBody>
          <a:bodyPr wrap="square" lIns="0" tIns="0" rIns="0" bIns="0" rtlCol="0" anchor="ctr"/>
          <a:lstStyle/>
          <a:p>
            <a:pPr marL="0" indent="0">
              <a:buNone/>
            </a:pPr>
            <a:r>
              <a:rPr lang="en-US" sz="1250" dirty="0">
                <a:solidFill>
                  <a:srgbClr val="1E2A44"/>
                </a:solidFill>
                <a:latin typeface="Calibri" pitchFamily="34" charset="0"/>
                <a:ea typeface="Calibri" pitchFamily="34" charset="-122"/>
                <a:cs typeface="Calibri" pitchFamily="34" charset="-120"/>
              </a:rPr>
              <a:t>Quiero los resultados.</a:t>
            </a:r>
            <a:endParaRPr lang="en-US" sz="1250" dirty="0"/>
          </a:p>
        </p:txBody>
      </p:sp>
      <p:sp>
        <p:nvSpPr>
          <p:cNvPr id="13" name="Shape 10"/>
          <p:cNvSpPr/>
          <p:nvPr/>
        </p:nvSpPr>
        <p:spPr>
          <a:xfrm>
            <a:off x="8092440" y="2560320"/>
            <a:ext cx="3547872" cy="1051560"/>
          </a:xfrm>
          <a:prstGeom prst="roundRect">
            <a:avLst>
              <a:gd name="adj" fmla="val 6087"/>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4" name="Shape 11"/>
          <p:cNvSpPr/>
          <p:nvPr/>
        </p:nvSpPr>
        <p:spPr>
          <a:xfrm>
            <a:off x="8092440" y="2560320"/>
            <a:ext cx="64008" cy="1051560"/>
          </a:xfrm>
          <a:prstGeom prst="rect">
            <a:avLst/>
          </a:prstGeom>
          <a:solidFill>
            <a:srgbClr val="1C7293"/>
          </a:solidFill>
          <a:ln w="12700">
            <a:solidFill>
              <a:srgbClr val="1C7293"/>
            </a:solidFill>
            <a:prstDash val="solid"/>
          </a:ln>
        </p:spPr>
        <p:txBody>
          <a:bodyPr/>
          <a:lstStyle/>
          <a:p>
            <a:endParaRPr lang="es-CL"/>
          </a:p>
        </p:txBody>
      </p:sp>
      <p:sp>
        <p:nvSpPr>
          <p:cNvPr id="15" name="Text 12"/>
          <p:cNvSpPr txBox="1"/>
          <p:nvPr/>
        </p:nvSpPr>
        <p:spPr>
          <a:xfrm>
            <a:off x="8321040" y="2606040"/>
            <a:ext cx="1097280" cy="960120"/>
          </a:xfrm>
          <a:prstGeom prst="rect">
            <a:avLst/>
          </a:prstGeom>
          <a:noFill/>
          <a:ln/>
        </p:spPr>
        <p:txBody>
          <a:bodyPr wrap="square" lIns="0" tIns="0" rIns="0" bIns="0" rtlCol="0" anchor="ctr"/>
          <a:lstStyle/>
          <a:p>
            <a:pPr marL="0" indent="0">
              <a:buNone/>
            </a:pPr>
            <a:r>
              <a:rPr lang="en-US" sz="1500" b="1" dirty="0">
                <a:solidFill>
                  <a:srgbClr val="1C7293"/>
                </a:solidFill>
                <a:latin typeface="Courier New" pitchFamily="34" charset="0"/>
                <a:ea typeface="Courier New" pitchFamily="34" charset="-122"/>
                <a:cs typeface="Courier New" pitchFamily="34" charset="-120"/>
              </a:rPr>
              <a:t>walk()</a:t>
            </a:r>
            <a:endParaRPr lang="en-US" sz="1500" dirty="0"/>
          </a:p>
        </p:txBody>
      </p:sp>
      <p:sp>
        <p:nvSpPr>
          <p:cNvPr id="16" name="Text 13"/>
          <p:cNvSpPr txBox="1"/>
          <p:nvPr/>
        </p:nvSpPr>
        <p:spPr>
          <a:xfrm>
            <a:off x="9418320" y="2606040"/>
            <a:ext cx="2148840" cy="960120"/>
          </a:xfrm>
          <a:prstGeom prst="rect">
            <a:avLst/>
          </a:prstGeom>
          <a:noFill/>
          <a:ln/>
        </p:spPr>
        <p:txBody>
          <a:bodyPr wrap="square" lIns="0" tIns="0" rIns="0" bIns="0" rtlCol="0" anchor="ctr"/>
          <a:lstStyle/>
          <a:p>
            <a:pPr marL="0" indent="0">
              <a:buNone/>
            </a:pPr>
            <a:r>
              <a:rPr lang="en-US" sz="1250" dirty="0">
                <a:solidFill>
                  <a:srgbClr val="1E2A44"/>
                </a:solidFill>
                <a:latin typeface="Calibri" pitchFamily="34" charset="0"/>
                <a:ea typeface="Calibri" pitchFamily="34" charset="-122"/>
                <a:cs typeface="Calibri" pitchFamily="34" charset="-120"/>
              </a:rPr>
              <a:t>Quiero los efectos: guardar, imprimir, escribir.</a:t>
            </a:r>
            <a:endParaRPr lang="en-US" sz="1250" dirty="0"/>
          </a:p>
        </p:txBody>
      </p:sp>
      <p:sp>
        <p:nvSpPr>
          <p:cNvPr id="17" name="Text 14"/>
          <p:cNvSpPr txBox="1"/>
          <p:nvPr/>
        </p:nvSpPr>
        <p:spPr>
          <a:xfrm>
            <a:off x="8092440" y="3840480"/>
            <a:ext cx="347472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ARCHIVOS CREADOS</a:t>
            </a:r>
            <a:endParaRPr lang="en-US" sz="900" dirty="0"/>
          </a:p>
        </p:txBody>
      </p:sp>
      <p:sp>
        <p:nvSpPr>
          <p:cNvPr id="18" name="Shape 15"/>
          <p:cNvSpPr/>
          <p:nvPr/>
        </p:nvSpPr>
        <p:spPr>
          <a:xfrm>
            <a:off x="8092440" y="4114800"/>
            <a:ext cx="3547872" cy="996188"/>
          </a:xfrm>
          <a:prstGeom prst="roundRect">
            <a:avLst>
              <a:gd name="adj" fmla="val 5507"/>
            </a:avLst>
          </a:prstGeom>
          <a:solidFill>
            <a:srgbClr val="162044"/>
          </a:solidFill>
          <a:ln w="12700">
            <a:solidFill>
              <a:srgbClr val="162044"/>
            </a:solidFill>
            <a:prstDash val="solid"/>
          </a:ln>
        </p:spPr>
        <p:txBody>
          <a:bodyPr/>
          <a:lstStyle/>
          <a:p>
            <a:endParaRPr lang="es-CL"/>
          </a:p>
        </p:txBody>
      </p:sp>
      <p:sp>
        <p:nvSpPr>
          <p:cNvPr id="19" name="Text 16"/>
          <p:cNvSpPr txBox="1"/>
          <p:nvPr/>
        </p:nvSpPr>
        <p:spPr>
          <a:xfrm>
            <a:off x="8229600" y="4242816"/>
            <a:ext cx="3273552" cy="685292"/>
          </a:xfrm>
          <a:prstGeom prst="rect">
            <a:avLst/>
          </a:prstGeom>
          <a:noFill/>
          <a:ln/>
        </p:spPr>
        <p:txBody>
          <a:bodyPr wrap="square" lIns="0" tIns="0" rIns="0" bIns="0" rtlCol="0" anchor="t"/>
          <a:lstStyle/>
          <a:p>
            <a:pPr marL="0" indent="0">
              <a:lnSpc>
                <a:spcPts val="1349"/>
              </a:lnSpc>
              <a:buNone/>
            </a:pPr>
            <a:r>
              <a:rPr lang="en-US" sz="950" dirty="0">
                <a:solidFill>
                  <a:srgbClr val="E6EDF7"/>
                </a:solidFill>
                <a:latin typeface="Courier New" pitchFamily="34" charset="0"/>
                <a:ea typeface="Courier New" pitchFamily="34" charset="-122"/>
                <a:cs typeface="Courier New" pitchFamily="34" charset="-120"/>
              </a:rPr>
              <a:t>outputs/figuras/</a:t>
            </a:r>
            <a:endParaRPr lang="en-US" sz="950" dirty="0"/>
          </a:p>
          <a:p>
            <a:pPr marL="0" indent="0">
              <a:lnSpc>
                <a:spcPts val="1349"/>
              </a:lnSpc>
              <a:buNone/>
            </a:pPr>
            <a:r>
              <a:rPr lang="en-US" sz="950" dirty="0">
                <a:solidFill>
                  <a:srgbClr val="E6EDF7"/>
                </a:solidFill>
                <a:latin typeface="Courier New" pitchFamily="34" charset="0"/>
                <a:ea typeface="Courier New" pitchFamily="34" charset="-122"/>
                <a:cs typeface="Courier New" pitchFamily="34" charset="-120"/>
              </a:rPr>
              <a:t>  horas_Ciencias.Naturales.png</a:t>
            </a:r>
            <a:endParaRPr lang="en-US" sz="950" dirty="0"/>
          </a:p>
          <a:p>
            <a:pPr marL="0" indent="0">
              <a:lnSpc>
                <a:spcPts val="1349"/>
              </a:lnSpc>
              <a:buNone/>
            </a:pPr>
            <a:r>
              <a:rPr lang="en-US" sz="950" dirty="0">
                <a:solidFill>
                  <a:srgbClr val="E6EDF7"/>
                </a:solidFill>
                <a:latin typeface="Courier New" pitchFamily="34" charset="0"/>
                <a:ea typeface="Courier New" pitchFamily="34" charset="-122"/>
                <a:cs typeface="Courier New" pitchFamily="34" charset="-120"/>
              </a:rPr>
              <a:t>  horas_Ciencias.Sociales.png</a:t>
            </a:r>
            <a:endParaRPr lang="en-US" sz="950" dirty="0"/>
          </a:p>
          <a:p>
            <a:pPr marL="0" indent="0">
              <a:lnSpc>
                <a:spcPts val="1349"/>
              </a:lnSpc>
              <a:buNone/>
            </a:pPr>
            <a:r>
              <a:rPr lang="en-US" sz="950" dirty="0">
                <a:solidFill>
                  <a:srgbClr val="E6EDF7"/>
                </a:solidFill>
                <a:latin typeface="Courier New" pitchFamily="34" charset="0"/>
                <a:ea typeface="Courier New" pitchFamily="34" charset="-122"/>
                <a:cs typeface="Courier New" pitchFamily="34" charset="-120"/>
              </a:rPr>
              <a:t>  horas_Ingeniería.png</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3200400"/>
            <a:ext cx="5852160" cy="5852160"/>
          </a:xfrm>
          <a:prstGeom prst="ellipse">
            <a:avLst/>
          </a:prstGeom>
          <a:solidFill>
            <a:srgbClr val="065A82">
              <a:alpha val="75000"/>
            </a:srgbClr>
          </a:solidFill>
          <a:ln w="12700">
            <a:solidFill>
              <a:srgbClr val="065A82">
                <a:alpha val="0"/>
              </a:srgbClr>
            </a:solidFill>
            <a:prstDash val="solid"/>
          </a:ln>
        </p:spPr>
        <p:txBody>
          <a:bodyPr/>
          <a:lstStyle/>
          <a:p>
            <a:endParaRPr lang="es-CL"/>
          </a:p>
        </p:txBody>
      </p:sp>
      <p:sp>
        <p:nvSpPr>
          <p:cNvPr id="3" name="Shape 1"/>
          <p:cNvSpPr/>
          <p:nvPr/>
        </p:nvSpPr>
        <p:spPr>
          <a:xfrm>
            <a:off x="10058400" y="4389120"/>
            <a:ext cx="3108960" cy="3108960"/>
          </a:xfrm>
          <a:prstGeom prst="ellipse">
            <a:avLst/>
          </a:prstGeom>
          <a:solidFill>
            <a:srgbClr val="1C7293">
              <a:alpha val="80000"/>
            </a:srgbClr>
          </a:solidFill>
          <a:ln w="12700">
            <a:solidFill>
              <a:srgbClr val="1C7293">
                <a:alpha val="0"/>
              </a:srgbClr>
            </a:solidFill>
            <a:prstDash val="solid"/>
          </a:ln>
        </p:spPr>
        <p:txBody>
          <a:bodyPr/>
          <a:lstStyle/>
          <a:p>
            <a:endParaRPr lang="es-CL"/>
          </a:p>
        </p:txBody>
      </p:sp>
      <p:sp>
        <p:nvSpPr>
          <p:cNvPr id="4" name="Text 2"/>
          <p:cNvSpPr txBox="1"/>
          <p:nvPr/>
        </p:nvSpPr>
        <p:spPr>
          <a:xfrm>
            <a:off x="731520" y="2331720"/>
            <a:ext cx="7315200" cy="274320"/>
          </a:xfrm>
          <a:prstGeom prst="rect">
            <a:avLst/>
          </a:prstGeom>
          <a:noFill/>
          <a:ln/>
        </p:spPr>
        <p:txBody>
          <a:bodyPr wrap="square" lIns="0" tIns="0" rIns="0" bIns="0" rtlCol="0" anchor="ctr"/>
          <a:lstStyle/>
          <a:p>
            <a:pPr marL="0" indent="0">
              <a:buNone/>
            </a:pPr>
            <a:r>
              <a:rPr lang="en-US" sz="1100" b="1" kern="0" spc="300" dirty="0">
                <a:solidFill>
                  <a:srgbClr val="8FB8D8"/>
                </a:solidFill>
                <a:latin typeface="Calibri" pitchFamily="34" charset="0"/>
                <a:ea typeface="Calibri" pitchFamily="34" charset="-122"/>
                <a:cs typeface="Calibri" pitchFamily="34" charset="-120"/>
              </a:rPr>
              <a:t>PARTE 3</a:t>
            </a:r>
            <a:endParaRPr lang="en-US" sz="1100" dirty="0"/>
          </a:p>
        </p:txBody>
      </p:sp>
      <p:sp>
        <p:nvSpPr>
          <p:cNvPr id="5" name="Text 3"/>
          <p:cNvSpPr txBox="1"/>
          <p:nvPr/>
        </p:nvSpPr>
        <p:spPr>
          <a:xfrm>
            <a:off x="731520" y="2697480"/>
            <a:ext cx="91440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Automatizar un análisis</a:t>
            </a:r>
            <a:endParaRPr lang="en-US" sz="4000" dirty="0"/>
          </a:p>
        </p:txBody>
      </p:sp>
      <p:sp>
        <p:nvSpPr>
          <p:cNvPr id="6" name="Text 4"/>
          <p:cNvSpPr txBox="1"/>
          <p:nvPr/>
        </p:nvSpPr>
        <p:spPr>
          <a:xfrm>
            <a:off x="731520" y="3611880"/>
            <a:ext cx="7772400" cy="365760"/>
          </a:xfrm>
          <a:prstGeom prst="rect">
            <a:avLst/>
          </a:prstGeom>
          <a:noFill/>
          <a:ln/>
        </p:spPr>
        <p:txBody>
          <a:bodyPr wrap="square" lIns="0" tIns="0" rIns="0" bIns="0" rtlCol="0" anchor="ctr"/>
          <a:lstStyle/>
          <a:p>
            <a:pPr marL="0" indent="0">
              <a:buNone/>
            </a:pPr>
            <a:r>
              <a:rPr lang="en-US" sz="1800" dirty="0">
                <a:solidFill>
                  <a:srgbClr val="C9DDEC"/>
                </a:solidFill>
                <a:latin typeface="Calibri" pitchFamily="34" charset="0"/>
                <a:ea typeface="Calibri" pitchFamily="34" charset="-122"/>
                <a:cs typeface="Calibri" pitchFamily="34" charset="-120"/>
              </a:rPr>
              <a:t>Todo junto en un caso completo</a:t>
            </a:r>
            <a:endParaRPr lang="en-US" sz="1800" dirty="0"/>
          </a:p>
        </p:txBody>
      </p:sp>
      <p:sp>
        <p:nvSpPr>
          <p:cNvPr id="7" name="Text 5"/>
          <p:cNvSpPr txBox="1"/>
          <p:nvPr/>
        </p:nvSpPr>
        <p:spPr>
          <a:xfrm>
            <a:off x="731520" y="4114800"/>
            <a:ext cx="7315200" cy="274320"/>
          </a:xfrm>
          <a:prstGeom prst="rect">
            <a:avLst/>
          </a:prstGeom>
          <a:noFill/>
          <a:ln/>
        </p:spPr>
        <p:txBody>
          <a:bodyPr wrap="square" lIns="0" tIns="0" rIns="0" bIns="0" rtlCol="0" anchor="ctr"/>
          <a:lstStyle/>
          <a:p>
            <a:pPr marL="0" indent="0">
              <a:buNone/>
            </a:pPr>
            <a:r>
              <a:rPr lang="en-US" sz="1300" dirty="0">
                <a:solidFill>
                  <a:srgbClr val="9DB8CE"/>
                </a:solidFill>
                <a:latin typeface="Calibri" pitchFamily="34" charset="0"/>
                <a:ea typeface="Calibri" pitchFamily="34" charset="-122"/>
                <a:cs typeface="Calibri" pitchFamily="34" charset="-120"/>
              </a:rPr>
              <a:t>10 minutos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3 · AUTOMATIZAR UN ANÁLISIS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La receta: una función por paso</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28</a:t>
            </a:r>
            <a:endParaRPr lang="en-US" sz="800" dirty="0"/>
          </a:p>
        </p:txBody>
      </p:sp>
      <p:sp>
        <p:nvSpPr>
          <p:cNvPr id="7" name="Shape 4"/>
          <p:cNvSpPr/>
          <p:nvPr/>
        </p:nvSpPr>
        <p:spPr>
          <a:xfrm>
            <a:off x="548640" y="1828800"/>
            <a:ext cx="1874520" cy="1371600"/>
          </a:xfrm>
          <a:prstGeom prst="roundRect">
            <a:avLst>
              <a:gd name="adj" fmla="val 5333"/>
            </a:avLst>
          </a:prstGeom>
          <a:solidFill>
            <a:srgbClr val="21295C"/>
          </a:solidFill>
          <a:ln w="12700">
            <a:solidFill>
              <a:srgbClr val="21295C"/>
            </a:solidFill>
            <a:prstDash val="solid"/>
          </a:ln>
          <a:effectLst>
            <a:outerShdw blurRad="76200" dist="25400" dir="5400000" algn="bl" rotWithShape="0">
              <a:srgbClr val="000000">
                <a:alpha val="10000"/>
              </a:srgbClr>
            </a:outerShdw>
          </a:effectLst>
        </p:spPr>
        <p:txBody>
          <a:bodyPr/>
          <a:lstStyle/>
          <a:p>
            <a:endParaRPr lang="es-CL"/>
          </a:p>
        </p:txBody>
      </p:sp>
      <p:sp>
        <p:nvSpPr>
          <p:cNvPr id="8" name="Text 5"/>
          <p:cNvSpPr txBox="1"/>
          <p:nvPr/>
        </p:nvSpPr>
        <p:spPr>
          <a:xfrm>
            <a:off x="685800" y="1901952"/>
            <a:ext cx="365760" cy="365760"/>
          </a:xfrm>
          <a:prstGeom prst="rect">
            <a:avLst/>
          </a:prstGeom>
          <a:noFill/>
          <a:ln/>
        </p:spPr>
        <p:txBody>
          <a:bodyPr wrap="square" lIns="0" tIns="0" rIns="0" bIns="0" rtlCol="0" anchor="ctr"/>
          <a:lstStyle/>
          <a:p>
            <a:pPr marL="0" indent="0">
              <a:buNone/>
            </a:pPr>
            <a:r>
              <a:rPr lang="en-US" sz="1200" b="1" dirty="0">
                <a:solidFill>
                  <a:srgbClr val="BFD8E6"/>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548640" y="2148840"/>
            <a:ext cx="187452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Leer</a:t>
            </a:r>
            <a:endParaRPr lang="en-US" sz="2000" dirty="0"/>
          </a:p>
        </p:txBody>
      </p:sp>
      <p:sp>
        <p:nvSpPr>
          <p:cNvPr id="10" name="Text 7"/>
          <p:cNvSpPr txBox="1"/>
          <p:nvPr/>
        </p:nvSpPr>
        <p:spPr>
          <a:xfrm>
            <a:off x="548640" y="3383280"/>
            <a:ext cx="1874520" cy="457200"/>
          </a:xfrm>
          <a:prstGeom prst="rect">
            <a:avLst/>
          </a:prstGeom>
          <a:noFill/>
          <a:ln/>
        </p:spPr>
        <p:txBody>
          <a:bodyPr wrap="square" lIns="0" tIns="0" rIns="0" bIns="0" rtlCol="0" anchor="t"/>
          <a:lstStyle/>
          <a:p>
            <a:pPr marL="0" indent="0" algn="ctr">
              <a:buNone/>
            </a:pPr>
            <a:r>
              <a:rPr lang="en-US" sz="1100" b="1" dirty="0">
                <a:solidFill>
                  <a:srgbClr val="065A82"/>
                </a:solidFill>
                <a:latin typeface="Courier New" pitchFamily="34" charset="0"/>
                <a:ea typeface="Courier New" pitchFamily="34" charset="-122"/>
                <a:cs typeface="Courier New" pitchFamily="34" charset="-120"/>
              </a:rPr>
              <a:t>leer_ola()</a:t>
            </a:r>
            <a:endParaRPr lang="en-US" sz="1100" dirty="0"/>
          </a:p>
        </p:txBody>
      </p:sp>
      <p:sp>
        <p:nvSpPr>
          <p:cNvPr id="11" name="Text 8"/>
          <p:cNvSpPr txBox="1"/>
          <p:nvPr/>
        </p:nvSpPr>
        <p:spPr>
          <a:xfrm>
            <a:off x="2423160" y="2194560"/>
            <a:ext cx="411480" cy="548640"/>
          </a:xfrm>
          <a:prstGeom prst="rect">
            <a:avLst/>
          </a:prstGeom>
          <a:noFill/>
          <a:ln/>
        </p:spPr>
        <p:txBody>
          <a:bodyPr wrap="square" lIns="0" tIns="0" rIns="0" bIns="0" rtlCol="0" anchor="ctr"/>
          <a:lstStyle/>
          <a:p>
            <a:pPr marL="0" indent="0" algn="ctr">
              <a:buNone/>
            </a:pPr>
            <a:r>
              <a:rPr lang="en-US" sz="2400" dirty="0">
                <a:solidFill>
                  <a:srgbClr val="5B6B7F"/>
                </a:solidFill>
                <a:latin typeface="Calibri" pitchFamily="34" charset="0"/>
                <a:ea typeface="Calibri" pitchFamily="34" charset="-122"/>
                <a:cs typeface="Calibri" pitchFamily="34" charset="-120"/>
              </a:rPr>
              <a:t>→</a:t>
            </a:r>
            <a:endParaRPr lang="en-US" sz="2400" dirty="0"/>
          </a:p>
        </p:txBody>
      </p:sp>
      <p:sp>
        <p:nvSpPr>
          <p:cNvPr id="12" name="Shape 9"/>
          <p:cNvSpPr/>
          <p:nvPr/>
        </p:nvSpPr>
        <p:spPr>
          <a:xfrm>
            <a:off x="2834640" y="1828800"/>
            <a:ext cx="1874520" cy="1371600"/>
          </a:xfrm>
          <a:prstGeom prst="roundRect">
            <a:avLst>
              <a:gd name="adj" fmla="val 5333"/>
            </a:avLst>
          </a:prstGeom>
          <a:solidFill>
            <a:srgbClr val="065A82"/>
          </a:solidFill>
          <a:ln w="12700">
            <a:solidFill>
              <a:srgbClr val="065A82"/>
            </a:solidFill>
            <a:prstDash val="solid"/>
          </a:ln>
          <a:effectLst>
            <a:outerShdw blurRad="76200" dist="25400" dir="5400000" algn="bl" rotWithShape="0">
              <a:srgbClr val="000000">
                <a:alpha val="10000"/>
              </a:srgbClr>
            </a:outerShdw>
          </a:effectLst>
        </p:spPr>
        <p:txBody>
          <a:bodyPr/>
          <a:lstStyle/>
          <a:p>
            <a:endParaRPr lang="es-CL"/>
          </a:p>
        </p:txBody>
      </p:sp>
      <p:sp>
        <p:nvSpPr>
          <p:cNvPr id="13" name="Text 10"/>
          <p:cNvSpPr txBox="1"/>
          <p:nvPr/>
        </p:nvSpPr>
        <p:spPr>
          <a:xfrm>
            <a:off x="2971800" y="1901952"/>
            <a:ext cx="365760" cy="365760"/>
          </a:xfrm>
          <a:prstGeom prst="rect">
            <a:avLst/>
          </a:prstGeom>
          <a:noFill/>
          <a:ln/>
        </p:spPr>
        <p:txBody>
          <a:bodyPr wrap="square" lIns="0" tIns="0" rIns="0" bIns="0" rtlCol="0" anchor="ctr"/>
          <a:lstStyle/>
          <a:p>
            <a:pPr marL="0" indent="0">
              <a:buNone/>
            </a:pPr>
            <a:r>
              <a:rPr lang="en-US" sz="1200" b="1" dirty="0">
                <a:solidFill>
                  <a:srgbClr val="BFD8E6"/>
                </a:solidFill>
                <a:latin typeface="Calibri" pitchFamily="34" charset="0"/>
                <a:ea typeface="Calibri" pitchFamily="34" charset="-122"/>
                <a:cs typeface="Calibri" pitchFamily="34" charset="-120"/>
              </a:rPr>
              <a:t>2</a:t>
            </a:r>
            <a:endParaRPr lang="en-US" sz="1200" dirty="0"/>
          </a:p>
        </p:txBody>
      </p:sp>
      <p:sp>
        <p:nvSpPr>
          <p:cNvPr id="14" name="Text 11"/>
          <p:cNvSpPr txBox="1"/>
          <p:nvPr/>
        </p:nvSpPr>
        <p:spPr>
          <a:xfrm>
            <a:off x="2834640" y="2148840"/>
            <a:ext cx="187452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Apilar</a:t>
            </a:r>
            <a:endParaRPr lang="en-US" sz="2000" dirty="0"/>
          </a:p>
        </p:txBody>
      </p:sp>
      <p:sp>
        <p:nvSpPr>
          <p:cNvPr id="15" name="Text 12"/>
          <p:cNvSpPr txBox="1"/>
          <p:nvPr/>
        </p:nvSpPr>
        <p:spPr>
          <a:xfrm>
            <a:off x="2834640" y="3383280"/>
            <a:ext cx="1874520" cy="457200"/>
          </a:xfrm>
          <a:prstGeom prst="rect">
            <a:avLst/>
          </a:prstGeom>
          <a:noFill/>
          <a:ln/>
        </p:spPr>
        <p:txBody>
          <a:bodyPr wrap="square" lIns="0" tIns="0" rIns="0" bIns="0" rtlCol="0" anchor="t"/>
          <a:lstStyle/>
          <a:p>
            <a:pPr marL="0" indent="0" algn="ctr">
              <a:buNone/>
            </a:pPr>
            <a:r>
              <a:rPr lang="en-US" sz="1100" b="1" dirty="0">
                <a:solidFill>
                  <a:srgbClr val="065A82"/>
                </a:solidFill>
                <a:latin typeface="Courier New" pitchFamily="34" charset="0"/>
                <a:ea typeface="Courier New" pitchFamily="34" charset="-122"/>
                <a:cs typeface="Courier New" pitchFamily="34" charset="-120"/>
              </a:rPr>
              <a:t>list_rbind()</a:t>
            </a:r>
            <a:endParaRPr lang="en-US" sz="1100" dirty="0"/>
          </a:p>
        </p:txBody>
      </p:sp>
      <p:sp>
        <p:nvSpPr>
          <p:cNvPr id="16" name="Text 13"/>
          <p:cNvSpPr txBox="1"/>
          <p:nvPr/>
        </p:nvSpPr>
        <p:spPr>
          <a:xfrm>
            <a:off x="4709160" y="2194560"/>
            <a:ext cx="411480" cy="548640"/>
          </a:xfrm>
          <a:prstGeom prst="rect">
            <a:avLst/>
          </a:prstGeom>
          <a:noFill/>
          <a:ln/>
        </p:spPr>
        <p:txBody>
          <a:bodyPr wrap="square" lIns="0" tIns="0" rIns="0" bIns="0" rtlCol="0" anchor="ctr"/>
          <a:lstStyle/>
          <a:p>
            <a:pPr marL="0" indent="0" algn="ctr">
              <a:buNone/>
            </a:pPr>
            <a:r>
              <a:rPr lang="en-US" sz="2400" dirty="0">
                <a:solidFill>
                  <a:srgbClr val="5B6B7F"/>
                </a:solidFill>
                <a:latin typeface="Calibri" pitchFamily="34" charset="0"/>
                <a:ea typeface="Calibri" pitchFamily="34" charset="-122"/>
                <a:cs typeface="Calibri" pitchFamily="34" charset="-120"/>
              </a:rPr>
              <a:t>→</a:t>
            </a:r>
            <a:endParaRPr lang="en-US" sz="2400" dirty="0"/>
          </a:p>
        </p:txBody>
      </p:sp>
      <p:sp>
        <p:nvSpPr>
          <p:cNvPr id="17" name="Shape 14"/>
          <p:cNvSpPr/>
          <p:nvPr/>
        </p:nvSpPr>
        <p:spPr>
          <a:xfrm>
            <a:off x="5120640" y="1828800"/>
            <a:ext cx="1874520" cy="1371600"/>
          </a:xfrm>
          <a:prstGeom prst="roundRect">
            <a:avLst>
              <a:gd name="adj" fmla="val 5333"/>
            </a:avLst>
          </a:prstGeom>
          <a:solidFill>
            <a:srgbClr val="1C7293"/>
          </a:solidFill>
          <a:ln w="12700">
            <a:solidFill>
              <a:srgbClr val="1C7293"/>
            </a:solidFill>
            <a:prstDash val="solid"/>
          </a:ln>
          <a:effectLst>
            <a:outerShdw blurRad="76200" dist="25400" dir="5400000" algn="bl" rotWithShape="0">
              <a:srgbClr val="000000">
                <a:alpha val="10000"/>
              </a:srgbClr>
            </a:outerShdw>
          </a:effectLst>
        </p:spPr>
        <p:txBody>
          <a:bodyPr/>
          <a:lstStyle/>
          <a:p>
            <a:endParaRPr lang="es-CL"/>
          </a:p>
        </p:txBody>
      </p:sp>
      <p:sp>
        <p:nvSpPr>
          <p:cNvPr id="18" name="Text 15"/>
          <p:cNvSpPr txBox="1"/>
          <p:nvPr/>
        </p:nvSpPr>
        <p:spPr>
          <a:xfrm>
            <a:off x="5257800" y="1901952"/>
            <a:ext cx="365760" cy="365760"/>
          </a:xfrm>
          <a:prstGeom prst="rect">
            <a:avLst/>
          </a:prstGeom>
          <a:noFill/>
          <a:ln/>
        </p:spPr>
        <p:txBody>
          <a:bodyPr wrap="square" lIns="0" tIns="0" rIns="0" bIns="0" rtlCol="0" anchor="ctr"/>
          <a:lstStyle/>
          <a:p>
            <a:pPr marL="0" indent="0">
              <a:buNone/>
            </a:pPr>
            <a:r>
              <a:rPr lang="en-US" sz="1200" b="1" dirty="0">
                <a:solidFill>
                  <a:srgbClr val="BFD8E6"/>
                </a:solidFill>
                <a:latin typeface="Calibri" pitchFamily="34" charset="0"/>
                <a:ea typeface="Calibri" pitchFamily="34" charset="-122"/>
                <a:cs typeface="Calibri" pitchFamily="34" charset="-120"/>
              </a:rPr>
              <a:t>3</a:t>
            </a:r>
            <a:endParaRPr lang="en-US" sz="1200" dirty="0"/>
          </a:p>
        </p:txBody>
      </p:sp>
      <p:sp>
        <p:nvSpPr>
          <p:cNvPr id="19" name="Text 16"/>
          <p:cNvSpPr txBox="1"/>
          <p:nvPr/>
        </p:nvSpPr>
        <p:spPr>
          <a:xfrm>
            <a:off x="5120640" y="2148840"/>
            <a:ext cx="187452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Resumir</a:t>
            </a:r>
            <a:endParaRPr lang="en-US" sz="2000" dirty="0"/>
          </a:p>
        </p:txBody>
      </p:sp>
      <p:sp>
        <p:nvSpPr>
          <p:cNvPr id="20" name="Text 17"/>
          <p:cNvSpPr txBox="1"/>
          <p:nvPr/>
        </p:nvSpPr>
        <p:spPr>
          <a:xfrm>
            <a:off x="5120640" y="3383280"/>
            <a:ext cx="1874520" cy="457200"/>
          </a:xfrm>
          <a:prstGeom prst="rect">
            <a:avLst/>
          </a:prstGeom>
          <a:noFill/>
          <a:ln/>
        </p:spPr>
        <p:txBody>
          <a:bodyPr wrap="square" lIns="0" tIns="0" rIns="0" bIns="0" rtlCol="0" anchor="t"/>
          <a:lstStyle/>
          <a:p>
            <a:pPr marL="0" indent="0" algn="ctr">
              <a:buNone/>
            </a:pPr>
            <a:r>
              <a:rPr lang="en-US" sz="1100" b="1" dirty="0">
                <a:solidFill>
                  <a:srgbClr val="065A82"/>
                </a:solidFill>
                <a:latin typeface="Courier New" pitchFamily="34" charset="0"/>
                <a:ea typeface="Courier New" pitchFamily="34" charset="-122"/>
                <a:cs typeface="Courier New" pitchFamily="34" charset="-120"/>
              </a:rPr>
              <a:t>across() · resumen_num()</a:t>
            </a:r>
            <a:endParaRPr lang="en-US" sz="1100" dirty="0"/>
          </a:p>
        </p:txBody>
      </p:sp>
      <p:sp>
        <p:nvSpPr>
          <p:cNvPr id="21" name="Text 18"/>
          <p:cNvSpPr txBox="1"/>
          <p:nvPr/>
        </p:nvSpPr>
        <p:spPr>
          <a:xfrm>
            <a:off x="6995160" y="2194560"/>
            <a:ext cx="411480" cy="548640"/>
          </a:xfrm>
          <a:prstGeom prst="rect">
            <a:avLst/>
          </a:prstGeom>
          <a:noFill/>
          <a:ln/>
        </p:spPr>
        <p:txBody>
          <a:bodyPr wrap="square" lIns="0" tIns="0" rIns="0" bIns="0" rtlCol="0" anchor="ctr"/>
          <a:lstStyle/>
          <a:p>
            <a:pPr marL="0" indent="0" algn="ctr">
              <a:buNone/>
            </a:pPr>
            <a:r>
              <a:rPr lang="en-US" sz="2400" dirty="0">
                <a:solidFill>
                  <a:srgbClr val="5B6B7F"/>
                </a:solidFill>
                <a:latin typeface="Calibri" pitchFamily="34" charset="0"/>
                <a:ea typeface="Calibri" pitchFamily="34" charset="-122"/>
                <a:cs typeface="Calibri" pitchFamily="34" charset="-120"/>
              </a:rPr>
              <a:t>→</a:t>
            </a:r>
            <a:endParaRPr lang="en-US" sz="2400" dirty="0"/>
          </a:p>
        </p:txBody>
      </p:sp>
      <p:sp>
        <p:nvSpPr>
          <p:cNvPr id="22" name="Shape 19"/>
          <p:cNvSpPr/>
          <p:nvPr/>
        </p:nvSpPr>
        <p:spPr>
          <a:xfrm>
            <a:off x="7406640" y="1828800"/>
            <a:ext cx="1874520" cy="1371600"/>
          </a:xfrm>
          <a:prstGeom prst="roundRect">
            <a:avLst>
              <a:gd name="adj" fmla="val 5333"/>
            </a:avLst>
          </a:prstGeom>
          <a:solidFill>
            <a:srgbClr val="2A8A8C"/>
          </a:solidFill>
          <a:ln w="12700">
            <a:solidFill>
              <a:srgbClr val="2A8A8C"/>
            </a:solidFill>
            <a:prstDash val="solid"/>
          </a:ln>
          <a:effectLst>
            <a:outerShdw blurRad="76200" dist="25400" dir="5400000" algn="bl" rotWithShape="0">
              <a:srgbClr val="000000">
                <a:alpha val="10000"/>
              </a:srgbClr>
            </a:outerShdw>
          </a:effectLst>
        </p:spPr>
        <p:txBody>
          <a:bodyPr/>
          <a:lstStyle/>
          <a:p>
            <a:endParaRPr lang="es-CL"/>
          </a:p>
        </p:txBody>
      </p:sp>
      <p:sp>
        <p:nvSpPr>
          <p:cNvPr id="23" name="Text 20"/>
          <p:cNvSpPr txBox="1"/>
          <p:nvPr/>
        </p:nvSpPr>
        <p:spPr>
          <a:xfrm>
            <a:off x="7543800" y="1901952"/>
            <a:ext cx="365760" cy="365760"/>
          </a:xfrm>
          <a:prstGeom prst="rect">
            <a:avLst/>
          </a:prstGeom>
          <a:noFill/>
          <a:ln/>
        </p:spPr>
        <p:txBody>
          <a:bodyPr wrap="square" lIns="0" tIns="0" rIns="0" bIns="0" rtlCol="0" anchor="ctr"/>
          <a:lstStyle/>
          <a:p>
            <a:pPr marL="0" indent="0">
              <a:buNone/>
            </a:pPr>
            <a:r>
              <a:rPr lang="en-US" sz="1200" b="1" dirty="0">
                <a:solidFill>
                  <a:srgbClr val="BFD8E6"/>
                </a:solidFill>
                <a:latin typeface="Calibri" pitchFamily="34" charset="0"/>
                <a:ea typeface="Calibri" pitchFamily="34" charset="-122"/>
                <a:cs typeface="Calibri" pitchFamily="34" charset="-120"/>
              </a:rPr>
              <a:t>4</a:t>
            </a:r>
            <a:endParaRPr lang="en-US" sz="1200" dirty="0"/>
          </a:p>
        </p:txBody>
      </p:sp>
      <p:sp>
        <p:nvSpPr>
          <p:cNvPr id="24" name="Text 21"/>
          <p:cNvSpPr txBox="1"/>
          <p:nvPr/>
        </p:nvSpPr>
        <p:spPr>
          <a:xfrm>
            <a:off x="7406640" y="2148840"/>
            <a:ext cx="187452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Modelar</a:t>
            </a:r>
            <a:endParaRPr lang="en-US" sz="2000" dirty="0"/>
          </a:p>
        </p:txBody>
      </p:sp>
      <p:sp>
        <p:nvSpPr>
          <p:cNvPr id="25" name="Text 22"/>
          <p:cNvSpPr txBox="1"/>
          <p:nvPr/>
        </p:nvSpPr>
        <p:spPr>
          <a:xfrm>
            <a:off x="7406640" y="3383280"/>
            <a:ext cx="1874520" cy="457200"/>
          </a:xfrm>
          <a:prstGeom prst="rect">
            <a:avLst/>
          </a:prstGeom>
          <a:noFill/>
          <a:ln/>
        </p:spPr>
        <p:txBody>
          <a:bodyPr wrap="square" lIns="0" tIns="0" rIns="0" bIns="0" rtlCol="0" anchor="t"/>
          <a:lstStyle/>
          <a:p>
            <a:pPr marL="0" indent="0" algn="ctr">
              <a:buNone/>
            </a:pPr>
            <a:r>
              <a:rPr lang="en-US" sz="1100" b="1" dirty="0">
                <a:solidFill>
                  <a:srgbClr val="065A82"/>
                </a:solidFill>
                <a:latin typeface="Courier New" pitchFamily="34" charset="0"/>
                <a:ea typeface="Courier New" pitchFamily="34" charset="-122"/>
                <a:cs typeface="Courier New" pitchFamily="34" charset="-120"/>
              </a:rPr>
              <a:t>nest() + map()</a:t>
            </a:r>
            <a:endParaRPr lang="en-US" sz="1100" dirty="0"/>
          </a:p>
        </p:txBody>
      </p:sp>
      <p:sp>
        <p:nvSpPr>
          <p:cNvPr id="26" name="Text 23"/>
          <p:cNvSpPr txBox="1"/>
          <p:nvPr/>
        </p:nvSpPr>
        <p:spPr>
          <a:xfrm>
            <a:off x="9281160" y="2194560"/>
            <a:ext cx="411480" cy="548640"/>
          </a:xfrm>
          <a:prstGeom prst="rect">
            <a:avLst/>
          </a:prstGeom>
          <a:noFill/>
          <a:ln/>
        </p:spPr>
        <p:txBody>
          <a:bodyPr wrap="square" lIns="0" tIns="0" rIns="0" bIns="0" rtlCol="0" anchor="ctr"/>
          <a:lstStyle/>
          <a:p>
            <a:pPr marL="0" indent="0" algn="ctr">
              <a:buNone/>
            </a:pPr>
            <a:r>
              <a:rPr lang="en-US" sz="2400" dirty="0">
                <a:solidFill>
                  <a:srgbClr val="5B6B7F"/>
                </a:solidFill>
                <a:latin typeface="Calibri" pitchFamily="34" charset="0"/>
                <a:ea typeface="Calibri" pitchFamily="34" charset="-122"/>
                <a:cs typeface="Calibri" pitchFamily="34" charset="-120"/>
              </a:rPr>
              <a:t>→</a:t>
            </a:r>
            <a:endParaRPr lang="en-US" sz="2400" dirty="0"/>
          </a:p>
        </p:txBody>
      </p:sp>
      <p:sp>
        <p:nvSpPr>
          <p:cNvPr id="27" name="Shape 24"/>
          <p:cNvSpPr/>
          <p:nvPr/>
        </p:nvSpPr>
        <p:spPr>
          <a:xfrm>
            <a:off x="9692640" y="1828800"/>
            <a:ext cx="1874520" cy="1371600"/>
          </a:xfrm>
          <a:prstGeom prst="roundRect">
            <a:avLst>
              <a:gd name="adj" fmla="val 5333"/>
            </a:avLst>
          </a:prstGeom>
          <a:solidFill>
            <a:srgbClr val="2F8F6B"/>
          </a:solidFill>
          <a:ln w="12700">
            <a:solidFill>
              <a:srgbClr val="2F8F6B"/>
            </a:solidFill>
            <a:prstDash val="solid"/>
          </a:ln>
          <a:effectLst>
            <a:outerShdw blurRad="76200" dist="25400" dir="5400000" algn="bl" rotWithShape="0">
              <a:srgbClr val="000000">
                <a:alpha val="10000"/>
              </a:srgbClr>
            </a:outerShdw>
          </a:effectLst>
        </p:spPr>
        <p:txBody>
          <a:bodyPr/>
          <a:lstStyle/>
          <a:p>
            <a:endParaRPr lang="es-CL"/>
          </a:p>
        </p:txBody>
      </p:sp>
      <p:sp>
        <p:nvSpPr>
          <p:cNvPr id="28" name="Text 25"/>
          <p:cNvSpPr txBox="1"/>
          <p:nvPr/>
        </p:nvSpPr>
        <p:spPr>
          <a:xfrm>
            <a:off x="9829800" y="1901952"/>
            <a:ext cx="365760" cy="365760"/>
          </a:xfrm>
          <a:prstGeom prst="rect">
            <a:avLst/>
          </a:prstGeom>
          <a:noFill/>
          <a:ln/>
        </p:spPr>
        <p:txBody>
          <a:bodyPr wrap="square" lIns="0" tIns="0" rIns="0" bIns="0" rtlCol="0" anchor="ctr"/>
          <a:lstStyle/>
          <a:p>
            <a:pPr marL="0" indent="0">
              <a:buNone/>
            </a:pPr>
            <a:r>
              <a:rPr lang="en-US" sz="1200" b="1" dirty="0">
                <a:solidFill>
                  <a:srgbClr val="BFD8E6"/>
                </a:solidFill>
                <a:latin typeface="Calibri" pitchFamily="34" charset="0"/>
                <a:ea typeface="Calibri" pitchFamily="34" charset="-122"/>
                <a:cs typeface="Calibri" pitchFamily="34" charset="-120"/>
              </a:rPr>
              <a:t>5</a:t>
            </a:r>
            <a:endParaRPr lang="en-US" sz="1200" dirty="0"/>
          </a:p>
        </p:txBody>
      </p:sp>
      <p:sp>
        <p:nvSpPr>
          <p:cNvPr id="29" name="Text 26"/>
          <p:cNvSpPr txBox="1"/>
          <p:nvPr/>
        </p:nvSpPr>
        <p:spPr>
          <a:xfrm>
            <a:off x="9692640" y="2148840"/>
            <a:ext cx="187452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Guardar</a:t>
            </a:r>
            <a:endParaRPr lang="en-US" sz="2000" dirty="0"/>
          </a:p>
        </p:txBody>
      </p:sp>
      <p:sp>
        <p:nvSpPr>
          <p:cNvPr id="30" name="Text 27"/>
          <p:cNvSpPr txBox="1"/>
          <p:nvPr/>
        </p:nvSpPr>
        <p:spPr>
          <a:xfrm>
            <a:off x="9692640" y="3383280"/>
            <a:ext cx="1874520" cy="457200"/>
          </a:xfrm>
          <a:prstGeom prst="rect">
            <a:avLst/>
          </a:prstGeom>
          <a:noFill/>
          <a:ln/>
        </p:spPr>
        <p:txBody>
          <a:bodyPr wrap="square" lIns="0" tIns="0" rIns="0" bIns="0" rtlCol="0" anchor="t"/>
          <a:lstStyle/>
          <a:p>
            <a:pPr marL="0" indent="0" algn="ctr">
              <a:buNone/>
            </a:pPr>
            <a:r>
              <a:rPr lang="en-US" sz="1100" b="1" dirty="0">
                <a:solidFill>
                  <a:srgbClr val="065A82"/>
                </a:solidFill>
                <a:latin typeface="Courier New" pitchFamily="34" charset="0"/>
                <a:ea typeface="Courier New" pitchFamily="34" charset="-122"/>
                <a:cs typeface="Courier New" pitchFamily="34" charset="-120"/>
              </a:rPr>
              <a:t>walk2()</a:t>
            </a:r>
            <a:endParaRPr lang="en-US" sz="1100" dirty="0"/>
          </a:p>
        </p:txBody>
      </p:sp>
      <p:sp>
        <p:nvSpPr>
          <p:cNvPr id="31" name="Shape 28"/>
          <p:cNvSpPr/>
          <p:nvPr/>
        </p:nvSpPr>
        <p:spPr>
          <a:xfrm>
            <a:off x="548640" y="4160520"/>
            <a:ext cx="11091672" cy="1325880"/>
          </a:xfrm>
          <a:prstGeom prst="roundRect">
            <a:avLst>
              <a:gd name="adj" fmla="val 4828"/>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32" name="Text 29"/>
          <p:cNvSpPr txBox="1"/>
          <p:nvPr/>
        </p:nvSpPr>
        <p:spPr>
          <a:xfrm>
            <a:off x="868680" y="4389120"/>
            <a:ext cx="5029200" cy="365760"/>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Una tarea por función</a:t>
            </a:r>
            <a:endParaRPr lang="en-US" sz="1600" dirty="0"/>
          </a:p>
        </p:txBody>
      </p:sp>
      <p:sp>
        <p:nvSpPr>
          <p:cNvPr id="33" name="Text 30"/>
          <p:cNvSpPr txBox="1"/>
          <p:nvPr/>
        </p:nvSpPr>
        <p:spPr>
          <a:xfrm>
            <a:off x="868680" y="4800600"/>
            <a:ext cx="4937760" cy="731520"/>
          </a:xfrm>
          <a:prstGeom prst="rect">
            <a:avLst/>
          </a:prstGeom>
          <a:noFill/>
          <a:ln/>
        </p:spPr>
        <p:txBody>
          <a:bodyPr wrap="square" lIns="0" tIns="0" rIns="0" bIns="0" rtlCol="0" anchor="t"/>
          <a:lstStyle/>
          <a:p>
            <a:pPr marL="0" indent="0">
              <a:buNone/>
            </a:pPr>
            <a:r>
              <a:rPr lang="en-US" sz="1350" dirty="0">
                <a:solidFill>
                  <a:srgbClr val="1E2A44"/>
                </a:solidFill>
                <a:latin typeface="Calibri" pitchFamily="34" charset="0"/>
                <a:ea typeface="Calibri" pitchFamily="34" charset="-122"/>
                <a:cs typeface="Calibri" pitchFamily="34" charset="-120"/>
              </a:rPr>
              <a:t>Cada caja se prueba, se reutiliza y se cambia por separado.</a:t>
            </a:r>
            <a:endParaRPr lang="en-US" sz="1350" dirty="0"/>
          </a:p>
        </p:txBody>
      </p:sp>
      <p:sp>
        <p:nvSpPr>
          <p:cNvPr id="34" name="Text 31"/>
          <p:cNvSpPr txBox="1"/>
          <p:nvPr/>
        </p:nvSpPr>
        <p:spPr>
          <a:xfrm>
            <a:off x="6355080" y="4389120"/>
            <a:ext cx="5029200" cy="365760"/>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La cadena se repite</a:t>
            </a:r>
            <a:endParaRPr lang="en-US" sz="1600" dirty="0"/>
          </a:p>
        </p:txBody>
      </p:sp>
      <p:sp>
        <p:nvSpPr>
          <p:cNvPr id="35" name="Text 32"/>
          <p:cNvSpPr txBox="1"/>
          <p:nvPr/>
        </p:nvSpPr>
        <p:spPr>
          <a:xfrm>
            <a:off x="6355080" y="4800600"/>
            <a:ext cx="4937760" cy="731520"/>
          </a:xfrm>
          <a:prstGeom prst="rect">
            <a:avLst/>
          </a:prstGeom>
          <a:noFill/>
          <a:ln/>
        </p:spPr>
        <p:txBody>
          <a:bodyPr wrap="square" lIns="0" tIns="0" rIns="0" bIns="0" rtlCol="0" anchor="t"/>
          <a:lstStyle/>
          <a:p>
            <a:pPr marL="0" indent="0">
              <a:buNone/>
            </a:pPr>
            <a:r>
              <a:rPr lang="en-US" sz="1350" dirty="0">
                <a:solidFill>
                  <a:srgbClr val="1E2A44"/>
                </a:solidFill>
                <a:latin typeface="Calibri" pitchFamily="34" charset="0"/>
                <a:ea typeface="Calibri" pitchFamily="34" charset="-122"/>
                <a:cs typeface="Calibri" pitchFamily="34" charset="-120"/>
              </a:rPr>
              <a:t>Si llega una sexta ola, el análisis corre sin tocar el código.</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3 · AUTOMATIZAR UN ANÁLISIS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Caso: de cinco archivos a una tendencia</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29</a:t>
            </a:r>
            <a:endParaRPr lang="en-US" sz="800" dirty="0"/>
          </a:p>
        </p:txBody>
      </p:sp>
      <p:sp>
        <p:nvSpPr>
          <p:cNvPr id="7" name="Shape 4"/>
          <p:cNvSpPr/>
          <p:nvPr/>
        </p:nvSpPr>
        <p:spPr>
          <a:xfrm>
            <a:off x="548640" y="1463040"/>
            <a:ext cx="5852160" cy="2691384"/>
          </a:xfrm>
          <a:prstGeom prst="roundRect">
            <a:avLst>
              <a:gd name="adj" fmla="val 2039"/>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5486400" cy="2380488"/>
          </a:xfrm>
          <a:prstGeom prst="rect">
            <a:avLst/>
          </a:prstGeom>
          <a:noFill/>
          <a:ln/>
        </p:spPr>
        <p:txBody>
          <a:bodyPr wrap="square" lIns="0" tIns="0" rIns="0" bIns="0" rtlCol="0" anchor="t"/>
          <a:lstStyle/>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tendencia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archivos </a:t>
            </a:r>
            <a:r>
              <a:rPr lang="en-US" sz="1200" dirty="0">
                <a:solidFill>
                  <a:srgbClr val="A5D8FF"/>
                </a:solidFill>
                <a:latin typeface="Courier New" pitchFamily="34" charset="0"/>
                <a:ea typeface="Courier New" pitchFamily="34" charset="-122"/>
                <a:cs typeface="Courier New" pitchFamily="34" charset="-120"/>
              </a:rPr>
              <a:t>|&gt;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set_names</a:t>
            </a:r>
            <a:r>
              <a:rPr lang="en-US" sz="1200" dirty="0">
                <a:solidFill>
                  <a:srgbClr val="E6EDF7"/>
                </a:solidFill>
                <a:latin typeface="Courier New" pitchFamily="34" charset="0"/>
                <a:ea typeface="Courier New" pitchFamily="34" charset="-122"/>
                <a:cs typeface="Courier New" pitchFamily="34" charset="-120"/>
              </a:rPr>
              <a:t>(basename) </a:t>
            </a:r>
            <a:r>
              <a:rPr lang="en-US" sz="1200" dirty="0">
                <a:solidFill>
                  <a:srgbClr val="A5D8FF"/>
                </a:solidFill>
                <a:latin typeface="Courier New" pitchFamily="34" charset="0"/>
                <a:ea typeface="Courier New" pitchFamily="34" charset="-122"/>
                <a:cs typeface="Courier New" pitchFamily="34" charset="-120"/>
              </a:rPr>
              <a:t>|&gt;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map</a:t>
            </a:r>
            <a:r>
              <a:rPr lang="en-US" sz="1200" dirty="0">
                <a:solidFill>
                  <a:srgbClr val="E6EDF7"/>
                </a:solidFill>
                <a:latin typeface="Courier New" pitchFamily="34" charset="0"/>
                <a:ea typeface="Courier New" pitchFamily="34" charset="-122"/>
                <a:cs typeface="Courier New" pitchFamily="34" charset="-120"/>
              </a:rPr>
              <a:t>(leer_ola) </a:t>
            </a:r>
            <a:r>
              <a:rPr lang="en-US" sz="1200" dirty="0">
                <a:solidFill>
                  <a:srgbClr val="A5D8FF"/>
                </a:solidFill>
                <a:latin typeface="Courier New" pitchFamily="34" charset="0"/>
                <a:ea typeface="Courier New" pitchFamily="34" charset="-122"/>
                <a:cs typeface="Courier New" pitchFamily="34" charset="-120"/>
              </a:rPr>
              <a:t>|&gt;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list_rbind</a:t>
            </a:r>
            <a:r>
              <a:rPr lang="en-US" sz="1200" dirty="0">
                <a:solidFill>
                  <a:srgbClr val="E6EDF7"/>
                </a:solidFill>
                <a:latin typeface="Courier New" pitchFamily="34" charset="0"/>
                <a:ea typeface="Courier New" pitchFamily="34" charset="-122"/>
                <a:cs typeface="Courier New" pitchFamily="34" charset="-120"/>
              </a:rPr>
              <a:t>(names_to = </a:t>
            </a:r>
            <a:r>
              <a:rPr lang="en-US" sz="1200" dirty="0">
                <a:solidFill>
                  <a:srgbClr val="F2C97D"/>
                </a:solidFill>
                <a:latin typeface="Courier New" pitchFamily="34" charset="0"/>
                <a:ea typeface="Courier New" pitchFamily="34" charset="-122"/>
                <a:cs typeface="Courier New" pitchFamily="34" charset="-120"/>
              </a:rPr>
              <a:t>"archivo"</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A5D8FF"/>
                </a:solidFill>
                <a:latin typeface="Courier New" pitchFamily="34" charset="0"/>
                <a:ea typeface="Courier New" pitchFamily="34" charset="-122"/>
                <a:cs typeface="Courier New" pitchFamily="34" charset="-120"/>
              </a:rPr>
              <a:t>|&gt;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summarise</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n = </a:t>
            </a:r>
            <a:r>
              <a:rPr lang="en-US" sz="1200" dirty="0">
                <a:solidFill>
                  <a:srgbClr val="7DD3FC"/>
                </a:solidFill>
                <a:latin typeface="Courier New" pitchFamily="34" charset="0"/>
                <a:ea typeface="Courier New" pitchFamily="34" charset="-122"/>
                <a:cs typeface="Courier New" pitchFamily="34" charset="-120"/>
              </a:rPr>
              <a:t>n</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across</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7DD3FC"/>
                </a:solidFill>
                <a:latin typeface="Courier New" pitchFamily="34" charset="0"/>
                <a:ea typeface="Courier New" pitchFamily="34" charset="-122"/>
                <a:cs typeface="Courier New" pitchFamily="34" charset="-120"/>
              </a:rPr>
              <a:t>starts_with</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F2C97D"/>
                </a:solidFill>
                <a:latin typeface="Courier New" pitchFamily="34" charset="0"/>
                <a:ea typeface="Courier New" pitchFamily="34" charset="-122"/>
                <a:cs typeface="Courier New" pitchFamily="34" charset="-120"/>
              </a:rPr>
              <a:t>"sat_"</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A5D8FF"/>
                </a:solidFill>
                <a:latin typeface="Courier New" pitchFamily="34" charset="0"/>
                <a:ea typeface="Courier New" pitchFamily="34" charset="-122"/>
                <a:cs typeface="Courier New" pitchFamily="34" charset="-120"/>
              </a:rPr>
              <a:t>\(</a:t>
            </a:r>
            <a:r>
              <a:rPr lang="en-US" sz="1200" dirty="0">
                <a:solidFill>
                  <a:srgbClr val="E6EDF7"/>
                </a:solidFill>
                <a:latin typeface="Courier New" pitchFamily="34" charset="0"/>
                <a:ea typeface="Courier New" pitchFamily="34" charset="-122"/>
                <a:cs typeface="Courier New" pitchFamily="34" charset="-120"/>
              </a:rPr>
              <a:t>x) </a:t>
            </a:r>
            <a:r>
              <a:rPr lang="en-US" sz="1200" dirty="0">
                <a:solidFill>
                  <a:srgbClr val="7DD3FC"/>
                </a:solidFill>
                <a:latin typeface="Courier New" pitchFamily="34" charset="0"/>
                <a:ea typeface="Courier New" pitchFamily="34" charset="-122"/>
                <a:cs typeface="Courier New" pitchFamily="34" charset="-120"/>
              </a:rPr>
              <a:t>mean</a:t>
            </a:r>
            <a:r>
              <a:rPr lang="en-US" sz="1200" dirty="0">
                <a:solidFill>
                  <a:srgbClr val="E6EDF7"/>
                </a:solidFill>
                <a:latin typeface="Courier New" pitchFamily="34" charset="0"/>
                <a:ea typeface="Courier New" pitchFamily="34" charset="-122"/>
                <a:cs typeface="Courier New" pitchFamily="34" charset="-120"/>
              </a:rPr>
              <a:t>(x, na.rm = </a:t>
            </a:r>
            <a:r>
              <a:rPr lang="en-US" sz="1200" dirty="0">
                <a:solidFill>
                  <a:srgbClr val="C9B8FF"/>
                </a:solidFill>
                <a:latin typeface="Courier New" pitchFamily="34" charset="0"/>
                <a:ea typeface="Courier New" pitchFamily="34" charset="-122"/>
                <a:cs typeface="Courier New" pitchFamily="34" charset="-120"/>
              </a:rPr>
              <a:t>TRUE</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.by = anio</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 </a:t>
            </a:r>
            <a:r>
              <a:rPr lang="en-US" sz="1200" dirty="0">
                <a:solidFill>
                  <a:srgbClr val="A5D8FF"/>
                </a:solidFill>
                <a:latin typeface="Courier New" pitchFamily="34" charset="0"/>
                <a:ea typeface="Courier New" pitchFamily="34" charset="-122"/>
                <a:cs typeface="Courier New" pitchFamily="34" charset="-120"/>
              </a:rPr>
              <a:t>|&gt;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arrange</a:t>
            </a:r>
            <a:r>
              <a:rPr lang="en-US" sz="1200" dirty="0">
                <a:solidFill>
                  <a:srgbClr val="E6EDF7"/>
                </a:solidFill>
                <a:latin typeface="Courier New" pitchFamily="34" charset="0"/>
                <a:ea typeface="Courier New" pitchFamily="34" charset="-122"/>
                <a:cs typeface="Courier New" pitchFamily="34" charset="-120"/>
              </a:rPr>
              <a:t>(anio)</a:t>
            </a:r>
            <a:endParaRPr lang="en-US" sz="1200" dirty="0"/>
          </a:p>
        </p:txBody>
      </p:sp>
      <p:sp>
        <p:nvSpPr>
          <p:cNvPr id="9" name="Shape 6"/>
          <p:cNvSpPr/>
          <p:nvPr/>
        </p:nvSpPr>
        <p:spPr>
          <a:xfrm>
            <a:off x="6675120" y="1463040"/>
            <a:ext cx="4965192" cy="3063240"/>
          </a:xfrm>
          <a:prstGeom prst="roundRect">
            <a:avLst>
              <a:gd name="adj" fmla="val 2090"/>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0" name="Text 7"/>
          <p:cNvSpPr txBox="1"/>
          <p:nvPr/>
        </p:nvSpPr>
        <p:spPr>
          <a:xfrm>
            <a:off x="6903720" y="1627632"/>
            <a:ext cx="45720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MEDIA DE SATISFACCIÓN POR AÑO</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903720" y="1938528"/>
          <a:ext cx="4371015" cy="914400"/>
        </p:xfrm>
        <a:graphic>
          <a:graphicData uri="http://schemas.openxmlformats.org/drawingml/2006/table">
            <a:tbl>
              <a:tblPr/>
              <a:tblGrid>
                <a:gridCol w="510235">
                  <a:extLst>
                    <a:ext uri="{9D8B030D-6E8A-4147-A177-3AD203B41FA5}">
                      <a16:colId xmlns:a16="http://schemas.microsoft.com/office/drawing/2014/main" val="20000"/>
                    </a:ext>
                  </a:extLst>
                </a:gridCol>
                <a:gridCol w="425196">
                  <a:extLst>
                    <a:ext uri="{9D8B030D-6E8A-4147-A177-3AD203B41FA5}">
                      <a16:colId xmlns:a16="http://schemas.microsoft.com/office/drawing/2014/main" val="20001"/>
                    </a:ext>
                  </a:extLst>
                </a:gridCol>
                <a:gridCol w="697321">
                  <a:extLst>
                    <a:ext uri="{9D8B030D-6E8A-4147-A177-3AD203B41FA5}">
                      <a16:colId xmlns:a16="http://schemas.microsoft.com/office/drawing/2014/main" val="20002"/>
                    </a:ext>
                  </a:extLst>
                </a:gridCol>
                <a:gridCol w="697321">
                  <a:extLst>
                    <a:ext uri="{9D8B030D-6E8A-4147-A177-3AD203B41FA5}">
                      <a16:colId xmlns:a16="http://schemas.microsoft.com/office/drawing/2014/main" val="20003"/>
                    </a:ext>
                  </a:extLst>
                </a:gridCol>
                <a:gridCol w="663306">
                  <a:extLst>
                    <a:ext uri="{9D8B030D-6E8A-4147-A177-3AD203B41FA5}">
                      <a16:colId xmlns:a16="http://schemas.microsoft.com/office/drawing/2014/main" val="20004"/>
                    </a:ext>
                  </a:extLst>
                </a:gridCol>
                <a:gridCol w="697321">
                  <a:extLst>
                    <a:ext uri="{9D8B030D-6E8A-4147-A177-3AD203B41FA5}">
                      <a16:colId xmlns:a16="http://schemas.microsoft.com/office/drawing/2014/main" val="20005"/>
                    </a:ext>
                  </a:extLst>
                </a:gridCol>
                <a:gridCol w="680314">
                  <a:extLst>
                    <a:ext uri="{9D8B030D-6E8A-4147-A177-3AD203B41FA5}">
                      <a16:colId xmlns:a16="http://schemas.microsoft.com/office/drawing/2014/main" val="20006"/>
                    </a:ext>
                  </a:extLst>
                </a:gridCol>
              </a:tblGrid>
              <a:tr h="384048">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año</a:t>
                      </a:r>
                      <a:endParaRPr lang="en-US" sz="9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950" b="1" dirty="0">
                          <a:solidFill>
                            <a:srgbClr val="FFFFFF"/>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950" b="1" dirty="0">
                          <a:solidFill>
                            <a:srgbClr val="FFFFFF"/>
                          </a:solidFill>
                          <a:latin typeface="Calibri" pitchFamily="34" charset="0"/>
                          <a:ea typeface="Calibri" pitchFamily="34" charset="-122"/>
                          <a:cs typeface="Calibri" pitchFamily="34" charset="-120"/>
                        </a:rPr>
                        <a:t>superv.</a:t>
                      </a:r>
                      <a:endParaRPr lang="en-US" sz="9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950" b="1" dirty="0">
                          <a:solidFill>
                            <a:srgbClr val="FFFFFF"/>
                          </a:solidFill>
                          <a:latin typeface="Calibri" pitchFamily="34" charset="0"/>
                          <a:ea typeface="Calibri" pitchFamily="34" charset="-122"/>
                          <a:cs typeface="Calibri" pitchFamily="34" charset="-120"/>
                        </a:rPr>
                        <a:t>infraest.</a:t>
                      </a:r>
                      <a:endParaRPr lang="en-US" sz="9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950" b="1" dirty="0">
                          <a:solidFill>
                            <a:srgbClr val="FFFFFF"/>
                          </a:solidFill>
                          <a:latin typeface="Calibri" pitchFamily="34" charset="0"/>
                          <a:ea typeface="Calibri" pitchFamily="34" charset="-122"/>
                          <a:cs typeface="Calibri" pitchFamily="34" charset="-120"/>
                        </a:rPr>
                        <a:t>financ.</a:t>
                      </a:r>
                      <a:endParaRPr lang="en-US" sz="9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950" b="1" dirty="0">
                          <a:solidFill>
                            <a:srgbClr val="FFFFFF"/>
                          </a:solidFill>
                          <a:latin typeface="Calibri" pitchFamily="34" charset="0"/>
                          <a:ea typeface="Calibri" pitchFamily="34" charset="-122"/>
                          <a:cs typeface="Calibri" pitchFamily="34" charset="-120"/>
                        </a:rPr>
                        <a:t>bibliot.</a:t>
                      </a:r>
                      <a:endParaRPr lang="en-US" sz="9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950" b="1" dirty="0">
                          <a:solidFill>
                            <a:srgbClr val="FFFFFF"/>
                          </a:solidFill>
                          <a:latin typeface="Calibri" pitchFamily="34" charset="0"/>
                          <a:ea typeface="Calibri" pitchFamily="34" charset="-122"/>
                          <a:cs typeface="Calibri" pitchFamily="34" charset="-120"/>
                        </a:rPr>
                        <a:t>conectiv.</a:t>
                      </a:r>
                      <a:endParaRPr lang="en-US" sz="9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84048">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2022</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58</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3.53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3.09</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2.93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3.38</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065A82"/>
                          </a:solidFill>
                          <a:latin typeface="Calibri" pitchFamily="34" charset="0"/>
                          <a:ea typeface="Calibri" pitchFamily="34" charset="-122"/>
                          <a:cs typeface="Calibri" pitchFamily="34" charset="-120"/>
                        </a:rPr>
                        <a:t>2.96</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2023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64</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3.56</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3.44</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3.16</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3.52</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b="1" dirty="0">
                          <a:solidFill>
                            <a:srgbClr val="065A82"/>
                          </a:solidFill>
                          <a:latin typeface="Calibri" pitchFamily="34" charset="0"/>
                          <a:ea typeface="Calibri" pitchFamily="34" charset="-122"/>
                          <a:cs typeface="Calibri" pitchFamily="34" charset="-120"/>
                        </a:rPr>
                        <a:t>3.03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384048">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2024</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71</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3.51</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2.92</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3.46</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065A82"/>
                          </a:solidFill>
                          <a:latin typeface="Calibri" pitchFamily="34" charset="0"/>
                          <a:ea typeface="Calibri" pitchFamily="34" charset="-122"/>
                          <a:cs typeface="Calibri" pitchFamily="34" charset="-120"/>
                        </a:rPr>
                        <a:t>2.96</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2025</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77</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3.69</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3.43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2.93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3.47</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b="1" dirty="0">
                          <a:solidFill>
                            <a:srgbClr val="065A82"/>
                          </a:solidFill>
                          <a:latin typeface="Calibri" pitchFamily="34" charset="0"/>
                          <a:ea typeface="Calibri" pitchFamily="34" charset="-122"/>
                          <a:cs typeface="Calibri" pitchFamily="34" charset="-120"/>
                        </a:rPr>
                        <a:t>3.37</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4"/>
                  </a:ext>
                </a:extLst>
              </a:tr>
              <a:tr h="384048">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2026</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83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3.63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3.36</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2.98</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3.45</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065A82"/>
                          </a:solidFill>
                          <a:latin typeface="Calibri" pitchFamily="34" charset="0"/>
                          <a:ea typeface="Calibri" pitchFamily="34" charset="-122"/>
                          <a:cs typeface="Calibri" pitchFamily="34" charset="-120"/>
                        </a:rPr>
                        <a:t>3.63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Shape 8"/>
          <p:cNvSpPr/>
          <p:nvPr/>
        </p:nvSpPr>
        <p:spPr>
          <a:xfrm>
            <a:off x="548640" y="4800600"/>
            <a:ext cx="11091672" cy="777240"/>
          </a:xfrm>
          <a:prstGeom prst="rect">
            <a:avLst/>
          </a:prstGeom>
          <a:solidFill>
            <a:srgbClr val="E4EEF2"/>
          </a:solidFill>
          <a:ln w="12700">
            <a:solidFill>
              <a:srgbClr val="E4EEF2"/>
            </a:solidFill>
            <a:prstDash val="solid"/>
          </a:ln>
        </p:spPr>
        <p:txBody>
          <a:bodyPr/>
          <a:lstStyle/>
          <a:p>
            <a:endParaRPr lang="es-CL"/>
          </a:p>
        </p:txBody>
      </p:sp>
      <p:sp>
        <p:nvSpPr>
          <p:cNvPr id="13" name="Shape 9"/>
          <p:cNvSpPr/>
          <p:nvPr/>
        </p:nvSpPr>
        <p:spPr>
          <a:xfrm>
            <a:off x="548640" y="4800600"/>
            <a:ext cx="64008" cy="777240"/>
          </a:xfrm>
          <a:prstGeom prst="rect">
            <a:avLst/>
          </a:prstGeom>
          <a:solidFill>
            <a:srgbClr val="1C7293"/>
          </a:solidFill>
          <a:ln w="12700">
            <a:solidFill>
              <a:srgbClr val="1C7293"/>
            </a:solidFill>
            <a:prstDash val="solid"/>
          </a:ln>
        </p:spPr>
        <p:txBody>
          <a:bodyPr/>
          <a:lstStyle/>
          <a:p>
            <a:endParaRPr lang="es-CL"/>
          </a:p>
        </p:txBody>
      </p:sp>
      <p:sp>
        <p:nvSpPr>
          <p:cNvPr id="14" name="Text 10"/>
          <p:cNvSpPr txBox="1"/>
          <p:nvPr/>
        </p:nvSpPr>
        <p:spPr>
          <a:xfrm>
            <a:off x="749808" y="4800600"/>
            <a:ext cx="10771632" cy="777240"/>
          </a:xfrm>
          <a:prstGeom prst="rect">
            <a:avLst/>
          </a:prstGeom>
          <a:noFill/>
          <a:ln/>
        </p:spPr>
        <p:txBody>
          <a:bodyPr wrap="square" lIns="0" tIns="0" rIns="0" bIns="0" rtlCol="0" anchor="ctr"/>
          <a:lstStyle/>
          <a:p>
            <a:pPr marL="0" indent="0">
              <a:buNone/>
            </a:pPr>
            <a:r>
              <a:rPr lang="en-US" sz="1350" b="1" dirty="0">
                <a:solidFill>
                  <a:srgbClr val="1E2A44"/>
                </a:solidFill>
                <a:latin typeface="Calibri" pitchFamily="34" charset="0"/>
                <a:ea typeface="Calibri" pitchFamily="34" charset="-122"/>
                <a:cs typeface="Calibri" pitchFamily="34" charset="-120"/>
              </a:rPr>
              <a:t>Hallazgo: la satisfacción con la conectividad sube de 2.96 (2022) a 3.63 (2026); las demás dimensiones cambian poco. Datos simulados.</a:t>
            </a:r>
            <a:endParaRPr lang="en-US" sz="1350" dirty="0"/>
          </a:p>
        </p:txBody>
      </p:sp>
      <p:sp>
        <p:nvSpPr>
          <p:cNvPr id="15" name="Text 11"/>
          <p:cNvSpPr txBox="1"/>
          <p:nvPr/>
        </p:nvSpPr>
        <p:spPr>
          <a:xfrm>
            <a:off x="548640" y="5760720"/>
            <a:ext cx="7315200" cy="274320"/>
          </a:xfrm>
          <a:prstGeom prst="rect">
            <a:avLst/>
          </a:prstGeom>
          <a:noFill/>
          <a:ln/>
        </p:spPr>
        <p:txBody>
          <a:bodyPr wrap="square" lIns="0" tIns="0" rIns="0" bIns="0" rtlCol="0" anchor="ctr"/>
          <a:lstStyle/>
          <a:p>
            <a:pPr marL="0" indent="0">
              <a:buNone/>
            </a:pPr>
            <a:r>
              <a:rPr lang="en-US" sz="1150" i="1" dirty="0">
                <a:solidFill>
                  <a:srgbClr val="5B6B7F"/>
                </a:solidFill>
                <a:latin typeface="Calibri" pitchFamily="34" charset="0"/>
                <a:ea typeface="Calibri" pitchFamily="34" charset="-122"/>
                <a:cs typeface="Calibri" pitchFamily="34" charset="-120"/>
              </a:rPr>
              <a:t>across() y .by vienen de la sesión 1.</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3 · AUTOMATIZAR UN ANÁLISIS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Caja de herramientas: ¿cuál uso?</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30</a:t>
            </a:r>
            <a:endParaRPr lang="en-US" sz="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45720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685032">
                  <a:extLst>
                    <a:ext uri="{9D8B030D-6E8A-4147-A177-3AD203B41FA5}">
                      <a16:colId xmlns:a16="http://schemas.microsoft.com/office/drawing/2014/main" val="20002"/>
                    </a:ext>
                  </a:extLst>
                </a:gridCol>
              </a:tblGrid>
              <a:tr h="50292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Situación</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Herramienta</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Ejemplo</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502920">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Transformar columnas dentro de dplyr</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across() · pick()</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across(starts_with("sat_"), mean)</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Aplicar una función a cada elemento</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map() · map_dbl()</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map_dbl(sat, error_estandar)</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502920">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Apilar resultados en una tabla</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list_rbind()</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list_rbind(names_to = "archivo")</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Dos o más entradas en paralelo</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map2() · pmap()</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map2_dbl(x, y, cor)</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4"/>
                  </a:ext>
                </a:extLst>
              </a:tr>
              <a:tr h="502920">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Efectos: guardar, escribir, imprimir</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walk() · walk2()</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walk2(graficos, rutas, ggsave)</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Combinar muchas tablas con joins</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reduce()</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reduce(tablas, left_join)</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6"/>
                  </a:ext>
                </a:extLst>
              </a:tr>
              <a:tr h="502920">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Tolerar errores sin ocultarlos</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safely() · possibly()</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65A82"/>
                          </a:solidFill>
                          <a:latin typeface="Courier New" pitchFamily="34" charset="0"/>
                          <a:ea typeface="Courier New" pitchFamily="34" charset="-122"/>
                          <a:cs typeface="Courier New" pitchFamily="34" charset="-120"/>
                        </a:rPr>
                        <a:t>map(x, safely(f))</a:t>
                      </a:r>
                      <a:endParaRPr lang="en-US" sz="11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3 · AUTOMATIZAR UN ANÁLISIS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reduce(): unir muchas tablas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31</a:t>
            </a:r>
            <a:endParaRPr lang="en-US" sz="800" dirty="0"/>
          </a:p>
        </p:txBody>
      </p:sp>
      <p:sp>
        <p:nvSpPr>
          <p:cNvPr id="7" name="Shape 4"/>
          <p:cNvSpPr/>
          <p:nvPr/>
        </p:nvSpPr>
        <p:spPr>
          <a:xfrm>
            <a:off x="548640" y="1463040"/>
            <a:ext cx="7223760" cy="2294636"/>
          </a:xfrm>
          <a:prstGeom prst="roundRect">
            <a:avLst>
              <a:gd name="adj" fmla="val 2391"/>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6858000" cy="1983740"/>
          </a:xfrm>
          <a:prstGeom prst="rect">
            <a:avLst/>
          </a:prstGeom>
          <a:noFill/>
          <a:ln/>
        </p:spPr>
        <p:txBody>
          <a:bodyPr wrap="square" lIns="0" tIns="0" rIns="0" bIns="0" rtlCol="0" anchor="t"/>
          <a:lstStyle/>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tablas </a:t>
            </a:r>
            <a:r>
              <a:rPr lang="en-US" sz="1100" dirty="0">
                <a:solidFill>
                  <a:srgbClr val="A5D8FF"/>
                </a:solidFill>
                <a:latin typeface="Courier New" pitchFamily="34" charset="0"/>
                <a:ea typeface="Courier New" pitchFamily="34" charset="-122"/>
                <a:cs typeface="Courier New" pitchFamily="34" charset="-120"/>
              </a:rPr>
              <a:t>&lt;-</a:t>
            </a: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list</a:t>
            </a: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encuesta </a:t>
            </a:r>
            <a:r>
              <a:rPr lang="en-US" sz="1100" dirty="0">
                <a:solidFill>
                  <a:srgbClr val="A5D8FF"/>
                </a:solidFill>
                <a:latin typeface="Courier New" pitchFamily="34" charset="0"/>
                <a:ea typeface="Courier New" pitchFamily="34" charset="-122"/>
                <a:cs typeface="Courier New" pitchFamily="34" charset="-120"/>
              </a:rPr>
              <a:t>|&gt;</a:t>
            </a: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summarise</a:t>
            </a: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sat = </a:t>
            </a:r>
            <a:r>
              <a:rPr lang="en-US" sz="1100" dirty="0">
                <a:solidFill>
                  <a:srgbClr val="7DD3FC"/>
                </a:solidFill>
                <a:latin typeface="Courier New" pitchFamily="34" charset="0"/>
                <a:ea typeface="Courier New" pitchFamily="34" charset="-122"/>
                <a:cs typeface="Courier New" pitchFamily="34" charset="-120"/>
              </a:rPr>
              <a:t>mean</a:t>
            </a:r>
            <a:r>
              <a:rPr lang="en-US" sz="1100" dirty="0">
                <a:solidFill>
                  <a:srgbClr val="E6EDF7"/>
                </a:solidFill>
                <a:latin typeface="Courier New" pitchFamily="34" charset="0"/>
                <a:ea typeface="Courier New" pitchFamily="34" charset="-122"/>
                <a:cs typeface="Courier New" pitchFamily="34" charset="-120"/>
              </a:rPr>
              <a:t>(sat_supervision, na.rm = </a:t>
            </a:r>
            <a:r>
              <a:rPr lang="en-US" sz="1100" dirty="0">
                <a:solidFill>
                  <a:srgbClr val="C9B8FF"/>
                </a:solidFill>
                <a:latin typeface="Courier New" pitchFamily="34" charset="0"/>
                <a:ea typeface="Courier New" pitchFamily="34" charset="-122"/>
                <a:cs typeface="Courier New" pitchFamily="34" charset="-120"/>
              </a:rPr>
              <a:t>TRUE</a:t>
            </a:r>
            <a:r>
              <a:rPr lang="en-US" sz="1100" dirty="0">
                <a:solidFill>
                  <a:srgbClr val="E6EDF7"/>
                </a:solidFill>
                <a:latin typeface="Courier New" pitchFamily="34" charset="0"/>
                <a:ea typeface="Courier New" pitchFamily="34" charset="-122"/>
                <a:cs typeface="Courier New" pitchFamily="34" charset="-120"/>
              </a:rPr>
              <a:t>), .by = programa_id),</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encuesta </a:t>
            </a:r>
            <a:r>
              <a:rPr lang="en-US" sz="1100" dirty="0">
                <a:solidFill>
                  <a:srgbClr val="A5D8FF"/>
                </a:solidFill>
                <a:latin typeface="Courier New" pitchFamily="34" charset="0"/>
                <a:ea typeface="Courier New" pitchFamily="34" charset="-122"/>
                <a:cs typeface="Courier New" pitchFamily="34" charset="-120"/>
              </a:rPr>
              <a:t>|&gt;</a:t>
            </a: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summarise</a:t>
            </a: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horas = </a:t>
            </a:r>
            <a:r>
              <a:rPr lang="en-US" sz="1100" dirty="0">
                <a:solidFill>
                  <a:srgbClr val="7DD3FC"/>
                </a:solidFill>
                <a:latin typeface="Courier New" pitchFamily="34" charset="0"/>
                <a:ea typeface="Courier New" pitchFamily="34" charset="-122"/>
                <a:cs typeface="Courier New" pitchFamily="34" charset="-120"/>
              </a:rPr>
              <a:t>mean</a:t>
            </a:r>
            <a:r>
              <a:rPr lang="en-US" sz="1100" dirty="0">
                <a:solidFill>
                  <a:srgbClr val="E6EDF7"/>
                </a:solidFill>
                <a:latin typeface="Courier New" pitchFamily="34" charset="0"/>
                <a:ea typeface="Courier New" pitchFamily="34" charset="-122"/>
                <a:cs typeface="Courier New" pitchFamily="34" charset="-120"/>
              </a:rPr>
              <a:t>(horas_investigacion_sem, na.rm = </a:t>
            </a:r>
            <a:r>
              <a:rPr lang="en-US" sz="1100" dirty="0">
                <a:solidFill>
                  <a:srgbClr val="C9B8FF"/>
                </a:solidFill>
                <a:latin typeface="Courier New" pitchFamily="34" charset="0"/>
                <a:ea typeface="Courier New" pitchFamily="34" charset="-122"/>
                <a:cs typeface="Courier New" pitchFamily="34" charset="-120"/>
              </a:rPr>
              <a:t>TRUE</a:t>
            </a:r>
            <a:r>
              <a:rPr lang="en-US" sz="1100" dirty="0">
                <a:solidFill>
                  <a:srgbClr val="E6EDF7"/>
                </a:solidFill>
                <a:latin typeface="Courier New" pitchFamily="34" charset="0"/>
                <a:ea typeface="Courier New" pitchFamily="34" charset="-122"/>
                <a:cs typeface="Courier New" pitchFamily="34" charset="-120"/>
              </a:rPr>
              <a:t>), .by = programa_id),</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encuesta </a:t>
            </a:r>
            <a:r>
              <a:rPr lang="en-US" sz="1100" dirty="0">
                <a:solidFill>
                  <a:srgbClr val="A5D8FF"/>
                </a:solidFill>
                <a:latin typeface="Courier New" pitchFamily="34" charset="0"/>
                <a:ea typeface="Courier New" pitchFamily="34" charset="-122"/>
                <a:cs typeface="Courier New" pitchFamily="34" charset="-120"/>
              </a:rPr>
              <a:t>|&gt;</a:t>
            </a: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7DD3FC"/>
                </a:solidFill>
                <a:latin typeface="Courier New" pitchFamily="34" charset="0"/>
                <a:ea typeface="Courier New" pitchFamily="34" charset="-122"/>
                <a:cs typeface="Courier New" pitchFamily="34" charset="-120"/>
              </a:rPr>
              <a:t>summarise</a:t>
            </a: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pubs = </a:t>
            </a:r>
            <a:r>
              <a:rPr lang="en-US" sz="1100" dirty="0">
                <a:solidFill>
                  <a:srgbClr val="7DD3FC"/>
                </a:solidFill>
                <a:latin typeface="Courier New" pitchFamily="34" charset="0"/>
                <a:ea typeface="Courier New" pitchFamily="34" charset="-122"/>
                <a:cs typeface="Courier New" pitchFamily="34" charset="-120"/>
              </a:rPr>
              <a:t>mean</a:t>
            </a:r>
            <a:r>
              <a:rPr lang="en-US" sz="1100" dirty="0">
                <a:solidFill>
                  <a:srgbClr val="E6EDF7"/>
                </a:solidFill>
                <a:latin typeface="Courier New" pitchFamily="34" charset="0"/>
                <a:ea typeface="Courier New" pitchFamily="34" charset="-122"/>
                <a:cs typeface="Courier New" pitchFamily="34" charset="-120"/>
              </a:rPr>
              <a:t>(n_publicaciones, na.rm = </a:t>
            </a:r>
            <a:r>
              <a:rPr lang="en-US" sz="1100" dirty="0">
                <a:solidFill>
                  <a:srgbClr val="C9B8FF"/>
                </a:solidFill>
                <a:latin typeface="Courier New" pitchFamily="34" charset="0"/>
                <a:ea typeface="Courier New" pitchFamily="34" charset="-122"/>
                <a:cs typeface="Courier New" pitchFamily="34" charset="-120"/>
              </a:rPr>
              <a:t>TRUE</a:t>
            </a:r>
            <a:r>
              <a:rPr lang="en-US" sz="1100" dirty="0">
                <a:solidFill>
                  <a:srgbClr val="E6EDF7"/>
                </a:solidFill>
                <a:latin typeface="Courier New" pitchFamily="34" charset="0"/>
                <a:ea typeface="Courier New" pitchFamily="34" charset="-122"/>
                <a:cs typeface="Courier New" pitchFamily="34" charset="-120"/>
              </a:rPr>
              <a:t>), .by = programa_id)</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marL="0" indent="0">
              <a:lnSpc>
                <a:spcPts val="1562"/>
              </a:lnSpc>
              <a:buNone/>
            </a:pPr>
            <a:r>
              <a:rPr lang="en-US" sz="1100" dirty="0">
                <a:solidFill>
                  <a:srgbClr val="7DD3FC"/>
                </a:solidFill>
                <a:latin typeface="Courier New" pitchFamily="34" charset="0"/>
                <a:ea typeface="Courier New" pitchFamily="34" charset="-122"/>
                <a:cs typeface="Courier New" pitchFamily="34" charset="-120"/>
              </a:rPr>
              <a:t>reduce</a:t>
            </a:r>
            <a:r>
              <a:rPr lang="en-US" sz="1100" dirty="0">
                <a:solidFill>
                  <a:srgbClr val="E6EDF7"/>
                </a:solidFill>
                <a:latin typeface="Courier New" pitchFamily="34" charset="0"/>
                <a:ea typeface="Courier New" pitchFamily="34" charset="-122"/>
                <a:cs typeface="Courier New" pitchFamily="34" charset="-120"/>
              </a:rPr>
              <a:t>(tablas, </a:t>
            </a:r>
            <a:r>
              <a:rPr lang="en-US" sz="1100" dirty="0">
                <a:solidFill>
                  <a:srgbClr val="A5D8FF"/>
                </a:solidFill>
                <a:latin typeface="Courier New" pitchFamily="34" charset="0"/>
                <a:ea typeface="Courier New" pitchFamily="34" charset="-122"/>
                <a:cs typeface="Courier New" pitchFamily="34" charset="-120"/>
              </a:rPr>
              <a:t>\(</a:t>
            </a:r>
            <a:r>
              <a:rPr lang="en-US" sz="1100" dirty="0">
                <a:solidFill>
                  <a:srgbClr val="E6EDF7"/>
                </a:solidFill>
                <a:latin typeface="Courier New" pitchFamily="34" charset="0"/>
                <a:ea typeface="Courier New" pitchFamily="34" charset="-122"/>
                <a:cs typeface="Courier New" pitchFamily="34" charset="-120"/>
              </a:rPr>
              <a:t>x, y) </a:t>
            </a:r>
            <a:r>
              <a:rPr lang="en-US" sz="1100" dirty="0">
                <a:solidFill>
                  <a:srgbClr val="7DD3FC"/>
                </a:solidFill>
                <a:latin typeface="Courier New" pitchFamily="34" charset="0"/>
                <a:ea typeface="Courier New" pitchFamily="34" charset="-122"/>
                <a:cs typeface="Courier New" pitchFamily="34" charset="-120"/>
              </a:rPr>
              <a:t>left_join</a:t>
            </a:r>
            <a:r>
              <a:rPr lang="en-US" sz="1100" dirty="0">
                <a:solidFill>
                  <a:srgbClr val="E6EDF7"/>
                </a:solidFill>
                <a:latin typeface="Courier New" pitchFamily="34" charset="0"/>
                <a:ea typeface="Courier New" pitchFamily="34" charset="-122"/>
                <a:cs typeface="Courier New" pitchFamily="34" charset="-120"/>
              </a:rPr>
              <a:t>(x, y, by = </a:t>
            </a:r>
            <a:r>
              <a:rPr lang="en-US" sz="1100" dirty="0">
                <a:solidFill>
                  <a:srgbClr val="F2C97D"/>
                </a:solidFill>
                <a:latin typeface="Courier New" pitchFamily="34" charset="0"/>
                <a:ea typeface="Courier New" pitchFamily="34" charset="-122"/>
                <a:cs typeface="Courier New" pitchFamily="34" charset="-120"/>
              </a:rPr>
              <a:t>"programa_id"</a:t>
            </a:r>
            <a:r>
              <a:rPr lang="en-US" sz="1100" dirty="0">
                <a:solidFill>
                  <a:srgbClr val="E6EDF7"/>
                </a:solidFill>
                <a:latin typeface="Courier New" pitchFamily="34" charset="0"/>
                <a:ea typeface="Courier New" pitchFamily="34" charset="-122"/>
                <a:cs typeface="Courier New" pitchFamily="34" charset="-120"/>
              </a:rPr>
              <a:t>))</a:t>
            </a:r>
            <a:endParaRPr lang="en-US" sz="1100" dirty="0"/>
          </a:p>
        </p:txBody>
      </p:sp>
      <p:sp>
        <p:nvSpPr>
          <p:cNvPr id="9" name="Shape 6"/>
          <p:cNvSpPr/>
          <p:nvPr/>
        </p:nvSpPr>
        <p:spPr>
          <a:xfrm>
            <a:off x="8092440" y="1463040"/>
            <a:ext cx="3547872" cy="3246120"/>
          </a:xfrm>
          <a:prstGeom prst="roundRect">
            <a:avLst>
              <a:gd name="adj" fmla="val 197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0" name="Text 7"/>
          <p:cNvSpPr txBox="1"/>
          <p:nvPr/>
        </p:nvSpPr>
        <p:spPr>
          <a:xfrm>
            <a:off x="8321040" y="1627632"/>
            <a:ext cx="310896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UNA FILA POR PROGRAMA</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8321040" y="1938528"/>
          <a:ext cx="2852928" cy="914400"/>
        </p:xfrm>
        <a:graphic>
          <a:graphicData uri="http://schemas.openxmlformats.org/drawingml/2006/table">
            <a:tbl>
              <a:tblPr/>
              <a:tblGrid>
                <a:gridCol w="790042">
                  <a:extLst>
                    <a:ext uri="{9D8B030D-6E8A-4147-A177-3AD203B41FA5}">
                      <a16:colId xmlns:a16="http://schemas.microsoft.com/office/drawing/2014/main" val="20000"/>
                    </a:ext>
                  </a:extLst>
                </a:gridCol>
                <a:gridCol w="702259">
                  <a:extLst>
                    <a:ext uri="{9D8B030D-6E8A-4147-A177-3AD203B41FA5}">
                      <a16:colId xmlns:a16="http://schemas.microsoft.com/office/drawing/2014/main" val="20001"/>
                    </a:ext>
                  </a:extLst>
                </a:gridCol>
                <a:gridCol w="702259">
                  <a:extLst>
                    <a:ext uri="{9D8B030D-6E8A-4147-A177-3AD203B41FA5}">
                      <a16:colId xmlns:a16="http://schemas.microsoft.com/office/drawing/2014/main" val="20002"/>
                    </a:ext>
                  </a:extLst>
                </a:gridCol>
                <a:gridCol w="658368">
                  <a:extLst>
                    <a:ext uri="{9D8B030D-6E8A-4147-A177-3AD203B41FA5}">
                      <a16:colId xmlns:a16="http://schemas.microsoft.com/office/drawing/2014/main" val="20003"/>
                    </a:ext>
                  </a:extLst>
                </a:gridCol>
              </a:tblGrid>
              <a:tr h="329184">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programa</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050" b="1" dirty="0">
                          <a:solidFill>
                            <a:srgbClr val="FFFFFF"/>
                          </a:solidFill>
                          <a:latin typeface="Calibri" pitchFamily="34" charset="0"/>
                          <a:ea typeface="Calibri" pitchFamily="34" charset="-122"/>
                          <a:cs typeface="Calibri" pitchFamily="34" charset="-120"/>
                        </a:rPr>
                        <a:t>sat</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050" b="1" dirty="0">
                          <a:solidFill>
                            <a:srgbClr val="FFFFFF"/>
                          </a:solidFill>
                          <a:latin typeface="Calibri" pitchFamily="34" charset="0"/>
                          <a:ea typeface="Calibri" pitchFamily="34" charset="-122"/>
                          <a:cs typeface="Calibri" pitchFamily="34" charset="-120"/>
                        </a:rPr>
                        <a:t>horas</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r">
                        <a:buNone/>
                      </a:pPr>
                      <a:r>
                        <a:rPr lang="en-US" sz="1050" b="1" dirty="0">
                          <a:solidFill>
                            <a:srgbClr val="FFFFFF"/>
                          </a:solidFill>
                          <a:latin typeface="Calibri" pitchFamily="34" charset="0"/>
                          <a:ea typeface="Calibri" pitchFamily="34" charset="-122"/>
                          <a:cs typeface="Calibri" pitchFamily="34" charset="-120"/>
                        </a:rPr>
                        <a:t>pubs</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29184">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P06</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3.70</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33.0</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2.33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P01</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3.88</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20.1</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0.71</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329184">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P05</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3.67</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21.6</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0.76</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P03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3.67</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18.5</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0.71</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4"/>
                  </a:ext>
                </a:extLst>
              </a:tr>
              <a:tr h="329184">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P02</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3.85</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30.2</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2.17</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P04</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3.91</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30.3</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r">
                        <a:buNone/>
                      </a:pPr>
                      <a:r>
                        <a:rPr lang="en-US" sz="1050" dirty="0">
                          <a:solidFill>
                            <a:srgbClr val="1E2A44"/>
                          </a:solidFill>
                          <a:latin typeface="Calibri" pitchFamily="34" charset="0"/>
                          <a:ea typeface="Calibri" pitchFamily="34" charset="-122"/>
                          <a:cs typeface="Calibri" pitchFamily="34" charset="-120"/>
                        </a:rPr>
                        <a:t>2.50</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6"/>
                  </a:ext>
                </a:extLst>
              </a:tr>
            </a:tbl>
          </a:graphicData>
        </a:graphic>
      </p:graphicFrame>
      <p:sp>
        <p:nvSpPr>
          <p:cNvPr id="12" name="Shape 8"/>
          <p:cNvSpPr/>
          <p:nvPr/>
        </p:nvSpPr>
        <p:spPr>
          <a:xfrm>
            <a:off x="548640" y="5029200"/>
            <a:ext cx="11091672" cy="731520"/>
          </a:xfrm>
          <a:prstGeom prst="rect">
            <a:avLst/>
          </a:prstGeom>
          <a:solidFill>
            <a:srgbClr val="E4EEF2"/>
          </a:solidFill>
          <a:ln w="12700">
            <a:solidFill>
              <a:srgbClr val="E4EEF2"/>
            </a:solidFill>
            <a:prstDash val="solid"/>
          </a:ln>
        </p:spPr>
        <p:txBody>
          <a:bodyPr/>
          <a:lstStyle/>
          <a:p>
            <a:endParaRPr lang="es-CL"/>
          </a:p>
        </p:txBody>
      </p:sp>
      <p:sp>
        <p:nvSpPr>
          <p:cNvPr id="13" name="Shape 9"/>
          <p:cNvSpPr/>
          <p:nvPr/>
        </p:nvSpPr>
        <p:spPr>
          <a:xfrm>
            <a:off x="548640" y="5029200"/>
            <a:ext cx="64008" cy="731520"/>
          </a:xfrm>
          <a:prstGeom prst="rect">
            <a:avLst/>
          </a:prstGeom>
          <a:solidFill>
            <a:srgbClr val="1C7293"/>
          </a:solidFill>
          <a:ln w="12700">
            <a:solidFill>
              <a:srgbClr val="1C7293"/>
            </a:solidFill>
            <a:prstDash val="solid"/>
          </a:ln>
        </p:spPr>
        <p:txBody>
          <a:bodyPr/>
          <a:lstStyle/>
          <a:p>
            <a:endParaRPr lang="es-CL"/>
          </a:p>
        </p:txBody>
      </p:sp>
      <p:sp>
        <p:nvSpPr>
          <p:cNvPr id="14" name="Text 10"/>
          <p:cNvSpPr txBox="1"/>
          <p:nvPr/>
        </p:nvSpPr>
        <p:spPr>
          <a:xfrm>
            <a:off x="749808" y="5029200"/>
            <a:ext cx="10771632" cy="731520"/>
          </a:xfrm>
          <a:prstGeom prst="rect">
            <a:avLst/>
          </a:prstGeom>
          <a:noFill/>
          <a:ln/>
        </p:spPr>
        <p:txBody>
          <a:bodyPr wrap="square" lIns="0" tIns="0" rIns="0" bIns="0" rtlCol="0" anchor="ctr"/>
          <a:lstStyle/>
          <a:p>
            <a:pPr marL="0" indent="0">
              <a:buNone/>
            </a:pPr>
            <a:r>
              <a:rPr lang="en-US" sz="1350" b="1" dirty="0">
                <a:solidFill>
                  <a:srgbClr val="1E2A44"/>
                </a:solidFill>
                <a:latin typeface="Calibri" pitchFamily="34" charset="0"/>
                <a:ea typeface="Calibri" pitchFamily="34" charset="-122"/>
                <a:cs typeface="Calibri" pitchFamily="34" charset="-120"/>
              </a:rPr>
              <a:t>reduce() aplica una función de a dos, acumulando el resultado: ideal para unir tres o más tablas por la misma llave.</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3 · AUTOMATIZAR UN ANÁLISIS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Errores frecuentes y buenas prácticas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32</a:t>
            </a:r>
            <a:endParaRPr lang="en-US" sz="800" dirty="0"/>
          </a:p>
        </p:txBody>
      </p:sp>
      <p:sp>
        <p:nvSpPr>
          <p:cNvPr id="7" name="Shape 4"/>
          <p:cNvSpPr/>
          <p:nvPr/>
        </p:nvSpPr>
        <p:spPr>
          <a:xfrm>
            <a:off x="548640" y="1463040"/>
            <a:ext cx="5468112" cy="1508760"/>
          </a:xfrm>
          <a:prstGeom prst="roundRect">
            <a:avLst>
              <a:gd name="adj" fmla="val 424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8" name="Shape 5"/>
          <p:cNvSpPr/>
          <p:nvPr/>
        </p:nvSpPr>
        <p:spPr>
          <a:xfrm>
            <a:off x="777240" y="1691640"/>
            <a:ext cx="457200" cy="457200"/>
          </a:xfrm>
          <a:prstGeom prst="ellipse">
            <a:avLst/>
          </a:prstGeom>
          <a:solidFill>
            <a:srgbClr val="B7791F"/>
          </a:solidFill>
          <a:ln w="12700">
            <a:solidFill>
              <a:srgbClr val="B7791F"/>
            </a:solidFill>
            <a:prstDash val="solid"/>
          </a:ln>
        </p:spPr>
        <p:txBody>
          <a:bodyPr/>
          <a:lstStyle/>
          <a:p>
            <a:endParaRPr lang="es-CL"/>
          </a:p>
        </p:txBody>
      </p:sp>
      <p:sp>
        <p:nvSpPr>
          <p:cNvPr id="9" name="Text 6"/>
          <p:cNvSpPr txBox="1"/>
          <p:nvPr/>
        </p:nvSpPr>
        <p:spPr>
          <a:xfrm>
            <a:off x="777240" y="16916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1417320" y="1645920"/>
            <a:ext cx="4389120" cy="365760"/>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Variables globales escondidas</a:t>
            </a:r>
            <a:endParaRPr lang="en-US" sz="1600" dirty="0"/>
          </a:p>
        </p:txBody>
      </p:sp>
      <p:sp>
        <p:nvSpPr>
          <p:cNvPr id="11" name="Text 8"/>
          <p:cNvSpPr txBox="1"/>
          <p:nvPr/>
        </p:nvSpPr>
        <p:spPr>
          <a:xfrm>
            <a:off x="1417320" y="2057400"/>
            <a:ext cx="4389120" cy="777240"/>
          </a:xfrm>
          <a:prstGeom prst="rect">
            <a:avLst/>
          </a:prstGeom>
          <a:noFill/>
          <a:ln/>
        </p:spPr>
        <p:txBody>
          <a:bodyPr wrap="square" lIns="0" tIns="0" rIns="0" bIns="0" rtlCol="0" anchor="t"/>
          <a:lstStyle/>
          <a:p>
            <a:pPr marL="0" indent="0">
              <a:buNone/>
            </a:pPr>
            <a:r>
              <a:rPr lang="en-US" sz="1300" dirty="0">
                <a:solidFill>
                  <a:srgbClr val="1E2A44"/>
                </a:solidFill>
                <a:latin typeface="Calibri" pitchFamily="34" charset="0"/>
                <a:ea typeface="Calibri" pitchFamily="34" charset="-122"/>
                <a:cs typeface="Calibri" pitchFamily="34" charset="-120"/>
              </a:rPr>
              <a:t>Todo lo que la función necesita debe entrar como argumento.</a:t>
            </a:r>
            <a:endParaRPr lang="en-US" sz="1300" dirty="0"/>
          </a:p>
        </p:txBody>
      </p:sp>
      <p:sp>
        <p:nvSpPr>
          <p:cNvPr id="12" name="Shape 9"/>
          <p:cNvSpPr/>
          <p:nvPr/>
        </p:nvSpPr>
        <p:spPr>
          <a:xfrm>
            <a:off x="6172200" y="1463040"/>
            <a:ext cx="5468112" cy="1508760"/>
          </a:xfrm>
          <a:prstGeom prst="roundRect">
            <a:avLst>
              <a:gd name="adj" fmla="val 424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3" name="Shape 10"/>
          <p:cNvSpPr/>
          <p:nvPr/>
        </p:nvSpPr>
        <p:spPr>
          <a:xfrm>
            <a:off x="6400800" y="1691640"/>
            <a:ext cx="457200" cy="457200"/>
          </a:xfrm>
          <a:prstGeom prst="ellipse">
            <a:avLst/>
          </a:prstGeom>
          <a:solidFill>
            <a:srgbClr val="B7791F"/>
          </a:solidFill>
          <a:ln w="12700">
            <a:solidFill>
              <a:srgbClr val="B7791F"/>
            </a:solidFill>
            <a:prstDash val="solid"/>
          </a:ln>
        </p:spPr>
        <p:txBody>
          <a:bodyPr/>
          <a:lstStyle/>
          <a:p>
            <a:endParaRPr lang="es-CL"/>
          </a:p>
        </p:txBody>
      </p:sp>
      <p:sp>
        <p:nvSpPr>
          <p:cNvPr id="14" name="Text 11"/>
          <p:cNvSpPr txBox="1"/>
          <p:nvPr/>
        </p:nvSpPr>
        <p:spPr>
          <a:xfrm>
            <a:off x="6400800" y="16916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7040880" y="1645920"/>
            <a:ext cx="4389120" cy="365760"/>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map_dbl() con una tabla</a:t>
            </a:r>
            <a:endParaRPr lang="en-US" sz="1600" dirty="0"/>
          </a:p>
        </p:txBody>
      </p:sp>
      <p:sp>
        <p:nvSpPr>
          <p:cNvPr id="16" name="Text 13"/>
          <p:cNvSpPr txBox="1"/>
          <p:nvPr/>
        </p:nvSpPr>
        <p:spPr>
          <a:xfrm>
            <a:off x="7040880" y="2057400"/>
            <a:ext cx="4389120" cy="777240"/>
          </a:xfrm>
          <a:prstGeom prst="rect">
            <a:avLst/>
          </a:prstGeom>
          <a:noFill/>
          <a:ln/>
        </p:spPr>
        <p:txBody>
          <a:bodyPr wrap="square" lIns="0" tIns="0" rIns="0" bIns="0" rtlCol="0" anchor="t"/>
          <a:lstStyle/>
          <a:p>
            <a:pPr marL="0" indent="0">
              <a:buNone/>
            </a:pPr>
            <a:r>
              <a:rPr lang="en-US" sz="1300" dirty="0">
                <a:solidFill>
                  <a:srgbClr val="1E2A44"/>
                </a:solidFill>
                <a:latin typeface="Calibri" pitchFamily="34" charset="0"/>
                <a:ea typeface="Calibri" pitchFamily="34" charset="-122"/>
                <a:cs typeface="Calibri" pitchFamily="34" charset="-120"/>
              </a:rPr>
              <a:t>Si la función devuelve más de un valor, usa map() + list_rbind().</a:t>
            </a:r>
            <a:endParaRPr lang="en-US" sz="1300" dirty="0"/>
          </a:p>
        </p:txBody>
      </p:sp>
      <p:sp>
        <p:nvSpPr>
          <p:cNvPr id="17" name="Shape 14"/>
          <p:cNvSpPr/>
          <p:nvPr/>
        </p:nvSpPr>
        <p:spPr>
          <a:xfrm>
            <a:off x="548640" y="3154680"/>
            <a:ext cx="5468112" cy="1508760"/>
          </a:xfrm>
          <a:prstGeom prst="roundRect">
            <a:avLst>
              <a:gd name="adj" fmla="val 424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8" name="Shape 15"/>
          <p:cNvSpPr/>
          <p:nvPr/>
        </p:nvSpPr>
        <p:spPr>
          <a:xfrm>
            <a:off x="777240" y="3383280"/>
            <a:ext cx="457200" cy="457200"/>
          </a:xfrm>
          <a:prstGeom prst="ellipse">
            <a:avLst/>
          </a:prstGeom>
          <a:solidFill>
            <a:srgbClr val="B7791F"/>
          </a:solidFill>
          <a:ln w="12700">
            <a:solidFill>
              <a:srgbClr val="B7791F"/>
            </a:solidFill>
            <a:prstDash val="solid"/>
          </a:ln>
        </p:spPr>
        <p:txBody>
          <a:bodyPr/>
          <a:lstStyle/>
          <a:p>
            <a:endParaRPr lang="es-CL"/>
          </a:p>
        </p:txBody>
      </p:sp>
      <p:sp>
        <p:nvSpPr>
          <p:cNvPr id="19" name="Text 16"/>
          <p:cNvSpPr txBox="1"/>
          <p:nvPr/>
        </p:nvSpPr>
        <p:spPr>
          <a:xfrm>
            <a:off x="777240" y="33832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txBox="1"/>
          <p:nvPr/>
        </p:nvSpPr>
        <p:spPr>
          <a:xfrm>
            <a:off x="1417320" y="3337560"/>
            <a:ext cx="4389120" cy="365760"/>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Errores silenciados</a:t>
            </a:r>
            <a:endParaRPr lang="en-US" sz="1600" dirty="0"/>
          </a:p>
        </p:txBody>
      </p:sp>
      <p:sp>
        <p:nvSpPr>
          <p:cNvPr id="21" name="Text 18"/>
          <p:cNvSpPr txBox="1"/>
          <p:nvPr/>
        </p:nvSpPr>
        <p:spPr>
          <a:xfrm>
            <a:off x="1417320" y="3749040"/>
            <a:ext cx="4389120" cy="777240"/>
          </a:xfrm>
          <a:prstGeom prst="rect">
            <a:avLst/>
          </a:prstGeom>
          <a:noFill/>
          <a:ln/>
        </p:spPr>
        <p:txBody>
          <a:bodyPr wrap="square" lIns="0" tIns="0" rIns="0" bIns="0" rtlCol="0" anchor="t"/>
          <a:lstStyle/>
          <a:p>
            <a:pPr marL="0" indent="0">
              <a:buNone/>
            </a:pPr>
            <a:r>
              <a:rPr lang="en-US" sz="1300" dirty="0">
                <a:solidFill>
                  <a:srgbClr val="1E2A44"/>
                </a:solidFill>
                <a:latin typeface="Calibri" pitchFamily="34" charset="0"/>
                <a:ea typeface="Calibri" pitchFamily="34" charset="-122"/>
                <a:cs typeface="Calibri" pitchFamily="34" charset="-120"/>
              </a:rPr>
              <a:t>possibly() puede ocultar datos faltantes: cuenta qué esperabas y qué obtuviste.</a:t>
            </a:r>
            <a:endParaRPr lang="en-US" sz="1300" dirty="0"/>
          </a:p>
        </p:txBody>
      </p:sp>
      <p:sp>
        <p:nvSpPr>
          <p:cNvPr id="22" name="Shape 19"/>
          <p:cNvSpPr/>
          <p:nvPr/>
        </p:nvSpPr>
        <p:spPr>
          <a:xfrm>
            <a:off x="6172200" y="3154680"/>
            <a:ext cx="5468112" cy="1508760"/>
          </a:xfrm>
          <a:prstGeom prst="roundRect">
            <a:avLst>
              <a:gd name="adj" fmla="val 424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3" name="Shape 20"/>
          <p:cNvSpPr/>
          <p:nvPr/>
        </p:nvSpPr>
        <p:spPr>
          <a:xfrm>
            <a:off x="6400800" y="3383280"/>
            <a:ext cx="457200" cy="457200"/>
          </a:xfrm>
          <a:prstGeom prst="ellipse">
            <a:avLst/>
          </a:prstGeom>
          <a:solidFill>
            <a:srgbClr val="B7791F"/>
          </a:solidFill>
          <a:ln w="12700">
            <a:solidFill>
              <a:srgbClr val="B7791F"/>
            </a:solidFill>
            <a:prstDash val="solid"/>
          </a:ln>
        </p:spPr>
        <p:txBody>
          <a:bodyPr/>
          <a:lstStyle/>
          <a:p>
            <a:endParaRPr lang="es-CL"/>
          </a:p>
        </p:txBody>
      </p:sp>
      <p:sp>
        <p:nvSpPr>
          <p:cNvPr id="24" name="Text 21"/>
          <p:cNvSpPr txBox="1"/>
          <p:nvPr/>
        </p:nvSpPr>
        <p:spPr>
          <a:xfrm>
            <a:off x="6400800" y="33832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2"/>
          <p:cNvSpPr txBox="1"/>
          <p:nvPr/>
        </p:nvSpPr>
        <p:spPr>
          <a:xfrm>
            <a:off x="7040880" y="3337560"/>
            <a:ext cx="4389120" cy="365760"/>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Iterar sin probar</a:t>
            </a:r>
            <a:endParaRPr lang="en-US" sz="1600" dirty="0"/>
          </a:p>
        </p:txBody>
      </p:sp>
      <p:sp>
        <p:nvSpPr>
          <p:cNvPr id="26" name="Text 23"/>
          <p:cNvSpPr txBox="1"/>
          <p:nvPr/>
        </p:nvSpPr>
        <p:spPr>
          <a:xfrm>
            <a:off x="7040880" y="3749040"/>
            <a:ext cx="4389120" cy="777240"/>
          </a:xfrm>
          <a:prstGeom prst="rect">
            <a:avLst/>
          </a:prstGeom>
          <a:noFill/>
          <a:ln/>
        </p:spPr>
        <p:txBody>
          <a:bodyPr wrap="square" lIns="0" tIns="0" rIns="0" bIns="0" rtlCol="0" anchor="t"/>
          <a:lstStyle/>
          <a:p>
            <a:pPr marL="0" indent="0">
              <a:buNone/>
            </a:pPr>
            <a:r>
              <a:rPr lang="en-US" sz="1300" dirty="0">
                <a:solidFill>
                  <a:srgbClr val="1E2A44"/>
                </a:solidFill>
                <a:latin typeface="Calibri" pitchFamily="34" charset="0"/>
                <a:ea typeface="Calibri" pitchFamily="34" charset="-122"/>
                <a:cs typeface="Calibri" pitchFamily="34" charset="-120"/>
              </a:rPr>
              <a:t>Primero prueba la función con un caso cuya respuesta conoces; luego con todos.</a:t>
            </a:r>
            <a:endParaRPr lang="en-US" sz="1300" dirty="0"/>
          </a:p>
        </p:txBody>
      </p:sp>
      <p:sp>
        <p:nvSpPr>
          <p:cNvPr id="27" name="Shape 24"/>
          <p:cNvSpPr/>
          <p:nvPr/>
        </p:nvSpPr>
        <p:spPr>
          <a:xfrm>
            <a:off x="548640" y="5029200"/>
            <a:ext cx="11091672" cy="777240"/>
          </a:xfrm>
          <a:prstGeom prst="rect">
            <a:avLst/>
          </a:prstGeom>
          <a:solidFill>
            <a:srgbClr val="E4EEF2"/>
          </a:solidFill>
          <a:ln w="12700">
            <a:solidFill>
              <a:srgbClr val="E4EEF2"/>
            </a:solidFill>
            <a:prstDash val="solid"/>
          </a:ln>
        </p:spPr>
        <p:txBody>
          <a:bodyPr/>
          <a:lstStyle/>
          <a:p>
            <a:endParaRPr lang="es-CL"/>
          </a:p>
        </p:txBody>
      </p:sp>
      <p:sp>
        <p:nvSpPr>
          <p:cNvPr id="28" name="Shape 25"/>
          <p:cNvSpPr/>
          <p:nvPr/>
        </p:nvSpPr>
        <p:spPr>
          <a:xfrm>
            <a:off x="548640" y="5029200"/>
            <a:ext cx="64008" cy="777240"/>
          </a:xfrm>
          <a:prstGeom prst="rect">
            <a:avLst/>
          </a:prstGeom>
          <a:solidFill>
            <a:srgbClr val="1C7293"/>
          </a:solidFill>
          <a:ln w="12700">
            <a:solidFill>
              <a:srgbClr val="1C7293"/>
            </a:solidFill>
            <a:prstDash val="solid"/>
          </a:ln>
        </p:spPr>
        <p:txBody>
          <a:bodyPr/>
          <a:lstStyle/>
          <a:p>
            <a:endParaRPr lang="es-CL"/>
          </a:p>
        </p:txBody>
      </p:sp>
      <p:sp>
        <p:nvSpPr>
          <p:cNvPr id="29" name="Text 26"/>
          <p:cNvSpPr txBox="1"/>
          <p:nvPr/>
        </p:nvSpPr>
        <p:spPr>
          <a:xfrm>
            <a:off x="749808" y="5029200"/>
            <a:ext cx="10771632" cy="777240"/>
          </a:xfrm>
          <a:prstGeom prst="rect">
            <a:avLst/>
          </a:prstGeom>
          <a:noFill/>
          <a:ln/>
        </p:spPr>
        <p:txBody>
          <a:bodyPr wrap="square" lIns="0" tIns="0" rIns="0" bIns="0" rtlCol="0" anchor="ctr"/>
          <a:lstStyle/>
          <a:p>
            <a:pPr marL="0" indent="0">
              <a:buNone/>
            </a:pPr>
            <a:r>
              <a:rPr lang="en-US" sz="1400" b="1" dirty="0">
                <a:solidFill>
                  <a:srgbClr val="1E2A44"/>
                </a:solidFill>
                <a:latin typeface="Calibri" pitchFamily="34" charset="0"/>
                <a:ea typeface="Calibri" pitchFamily="34" charset="-122"/>
                <a:cs typeface="Calibri" pitchFamily="34" charset="-120"/>
              </a:rPr>
              <a:t>Buenas prácticas: nombres claros · una tarea por función · un commit de Git por cada función nueva.</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CIERRE DE LA CHARLA</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Ahora, a practicar (60 minutos)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33</a:t>
            </a:r>
            <a:endParaRPr lang="en-US" sz="800" dirty="0"/>
          </a:p>
        </p:txBody>
      </p:sp>
      <p:sp>
        <p:nvSpPr>
          <p:cNvPr id="7" name="Shape 4"/>
          <p:cNvSpPr/>
          <p:nvPr/>
        </p:nvSpPr>
        <p:spPr>
          <a:xfrm>
            <a:off x="548640" y="1463040"/>
            <a:ext cx="2651760" cy="2240280"/>
          </a:xfrm>
          <a:prstGeom prst="roundRect">
            <a:avLst>
              <a:gd name="adj" fmla="val 2857"/>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8" name="Shape 5"/>
          <p:cNvSpPr/>
          <p:nvPr/>
        </p:nvSpPr>
        <p:spPr>
          <a:xfrm>
            <a:off x="749808" y="1645920"/>
            <a:ext cx="457200" cy="457200"/>
          </a:xfrm>
          <a:prstGeom prst="ellipse">
            <a:avLst/>
          </a:prstGeom>
          <a:solidFill>
            <a:srgbClr val="21295C"/>
          </a:solidFill>
          <a:ln w="12700">
            <a:solidFill>
              <a:srgbClr val="21295C"/>
            </a:solidFill>
            <a:prstDash val="solid"/>
          </a:ln>
        </p:spPr>
        <p:txBody>
          <a:bodyPr/>
          <a:lstStyle/>
          <a:p>
            <a:endParaRPr lang="es-CL"/>
          </a:p>
        </p:txBody>
      </p:sp>
      <p:sp>
        <p:nvSpPr>
          <p:cNvPr id="9" name="Text 6"/>
          <p:cNvSpPr txBox="1"/>
          <p:nvPr/>
        </p:nvSpPr>
        <p:spPr>
          <a:xfrm>
            <a:off x="749808" y="16459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a:t>
            </a:r>
            <a:endParaRPr lang="en-US" sz="1600" dirty="0"/>
          </a:p>
        </p:txBody>
      </p:sp>
      <p:sp>
        <p:nvSpPr>
          <p:cNvPr id="10" name="Text 7"/>
          <p:cNvSpPr txBox="1"/>
          <p:nvPr/>
        </p:nvSpPr>
        <p:spPr>
          <a:xfrm>
            <a:off x="749808" y="2240280"/>
            <a:ext cx="2286000" cy="365760"/>
          </a:xfrm>
          <a:prstGeom prst="rect">
            <a:avLst/>
          </a:prstGeom>
          <a:noFill/>
          <a:ln/>
        </p:spPr>
        <p:txBody>
          <a:bodyPr wrap="square" lIns="0" tIns="0" rIns="0" bIns="0"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Preparación</a:t>
            </a:r>
            <a:endParaRPr lang="en-US" sz="1550" dirty="0"/>
          </a:p>
        </p:txBody>
      </p:sp>
      <p:sp>
        <p:nvSpPr>
          <p:cNvPr id="11" name="Text 8"/>
          <p:cNvSpPr txBox="1"/>
          <p:nvPr/>
        </p:nvSpPr>
        <p:spPr>
          <a:xfrm>
            <a:off x="749808" y="2606040"/>
            <a:ext cx="2286000" cy="274320"/>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5 min</a:t>
            </a:r>
            <a:endParaRPr lang="en-US" sz="1150" dirty="0"/>
          </a:p>
        </p:txBody>
      </p:sp>
      <p:sp>
        <p:nvSpPr>
          <p:cNvPr id="12" name="Text 9"/>
          <p:cNvSpPr txBox="1"/>
          <p:nvPr/>
        </p:nvSpPr>
        <p:spPr>
          <a:xfrm>
            <a:off x="749808" y="2926080"/>
            <a:ext cx="2286000" cy="685800"/>
          </a:xfrm>
          <a:prstGeom prst="rect">
            <a:avLst/>
          </a:prstGeom>
          <a:noFill/>
          <a:ln/>
        </p:spPr>
        <p:txBody>
          <a:bodyPr wrap="square" lIns="0" tIns="0" rIns="0" bIns="0" rtlCol="0" anchor="t"/>
          <a:lstStyle/>
          <a:p>
            <a:pPr marL="0" indent="0">
              <a:buNone/>
            </a:pPr>
            <a:r>
              <a:rPr lang="en-US" sz="1150" dirty="0">
                <a:solidFill>
                  <a:srgbClr val="5B6B7F"/>
                </a:solidFill>
                <a:latin typeface="Calibri" pitchFamily="34" charset="0"/>
                <a:ea typeface="Calibri" pitchFamily="34" charset="-122"/>
                <a:cs typeface="Calibri" pitchFamily="34" charset="-120"/>
              </a:rPr>
              <a:t>R/funciones.R, carpetas y datos nuevos</a:t>
            </a:r>
            <a:endParaRPr lang="en-US" sz="1150" dirty="0"/>
          </a:p>
        </p:txBody>
      </p:sp>
      <p:sp>
        <p:nvSpPr>
          <p:cNvPr id="13" name="Shape 10"/>
          <p:cNvSpPr/>
          <p:nvPr/>
        </p:nvSpPr>
        <p:spPr>
          <a:xfrm>
            <a:off x="3364992" y="1463040"/>
            <a:ext cx="2651760" cy="2240280"/>
          </a:xfrm>
          <a:prstGeom prst="roundRect">
            <a:avLst>
              <a:gd name="adj" fmla="val 2857"/>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4" name="Shape 11"/>
          <p:cNvSpPr/>
          <p:nvPr/>
        </p:nvSpPr>
        <p:spPr>
          <a:xfrm>
            <a:off x="3566160" y="1645920"/>
            <a:ext cx="457200" cy="457200"/>
          </a:xfrm>
          <a:prstGeom prst="ellipse">
            <a:avLst/>
          </a:prstGeom>
          <a:solidFill>
            <a:srgbClr val="065A82"/>
          </a:solidFill>
          <a:ln w="12700">
            <a:solidFill>
              <a:srgbClr val="065A82"/>
            </a:solidFill>
            <a:prstDash val="solid"/>
          </a:ln>
        </p:spPr>
        <p:txBody>
          <a:bodyPr/>
          <a:lstStyle/>
          <a:p>
            <a:endParaRPr lang="es-CL"/>
          </a:p>
        </p:txBody>
      </p:sp>
      <p:sp>
        <p:nvSpPr>
          <p:cNvPr id="15" name="Text 12"/>
          <p:cNvSpPr txBox="1"/>
          <p:nvPr/>
        </p:nvSpPr>
        <p:spPr>
          <a:xfrm>
            <a:off x="3566160" y="16459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6" name="Text 13"/>
          <p:cNvSpPr txBox="1"/>
          <p:nvPr/>
        </p:nvSpPr>
        <p:spPr>
          <a:xfrm>
            <a:off x="3566160" y="2240280"/>
            <a:ext cx="2286000" cy="365760"/>
          </a:xfrm>
          <a:prstGeom prst="rect">
            <a:avLst/>
          </a:prstGeom>
          <a:noFill/>
          <a:ln/>
        </p:spPr>
        <p:txBody>
          <a:bodyPr wrap="square" lIns="0" tIns="0" rIns="0" bIns="0"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Funciones propias</a:t>
            </a:r>
            <a:endParaRPr lang="en-US" sz="1550" dirty="0"/>
          </a:p>
        </p:txBody>
      </p:sp>
      <p:sp>
        <p:nvSpPr>
          <p:cNvPr id="17" name="Text 14"/>
          <p:cNvSpPr txBox="1"/>
          <p:nvPr/>
        </p:nvSpPr>
        <p:spPr>
          <a:xfrm>
            <a:off x="3566160" y="2606040"/>
            <a:ext cx="2286000" cy="274320"/>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15 min</a:t>
            </a:r>
            <a:endParaRPr lang="en-US" sz="1150" dirty="0"/>
          </a:p>
        </p:txBody>
      </p:sp>
      <p:sp>
        <p:nvSpPr>
          <p:cNvPr id="18" name="Text 15"/>
          <p:cNvSpPr txBox="1"/>
          <p:nvPr/>
        </p:nvSpPr>
        <p:spPr>
          <a:xfrm>
            <a:off x="3566160" y="2926080"/>
            <a:ext cx="2286000" cy="685800"/>
          </a:xfrm>
          <a:prstGeom prst="rect">
            <a:avLst/>
          </a:prstGeom>
          <a:noFill/>
          <a:ln/>
        </p:spPr>
        <p:txBody>
          <a:bodyPr wrap="square" lIns="0" tIns="0" rIns="0" bIns="0" rtlCol="0" anchor="t"/>
          <a:lstStyle/>
          <a:p>
            <a:pPr marL="0" indent="0">
              <a:buNone/>
            </a:pPr>
            <a:r>
              <a:rPr lang="en-US" sz="1150" dirty="0">
                <a:solidFill>
                  <a:srgbClr val="5B6B7F"/>
                </a:solidFill>
                <a:latin typeface="Calibri" pitchFamily="34" charset="0"/>
                <a:ea typeface="Calibri" pitchFamily="34" charset="-122"/>
                <a:cs typeface="Calibri" pitchFamily="34" charset="-120"/>
              </a:rPr>
              <a:t>error_estandar(), validaciones, {{ }}</a:t>
            </a:r>
            <a:endParaRPr lang="en-US" sz="1150" dirty="0"/>
          </a:p>
        </p:txBody>
      </p:sp>
      <p:sp>
        <p:nvSpPr>
          <p:cNvPr id="19" name="Shape 16"/>
          <p:cNvSpPr/>
          <p:nvPr/>
        </p:nvSpPr>
        <p:spPr>
          <a:xfrm>
            <a:off x="6181344" y="1463040"/>
            <a:ext cx="2651760" cy="2240280"/>
          </a:xfrm>
          <a:prstGeom prst="roundRect">
            <a:avLst>
              <a:gd name="adj" fmla="val 2857"/>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0" name="Shape 17"/>
          <p:cNvSpPr/>
          <p:nvPr/>
        </p:nvSpPr>
        <p:spPr>
          <a:xfrm>
            <a:off x="6382512" y="1645920"/>
            <a:ext cx="457200" cy="457200"/>
          </a:xfrm>
          <a:prstGeom prst="ellipse">
            <a:avLst/>
          </a:prstGeom>
          <a:solidFill>
            <a:srgbClr val="1C7293"/>
          </a:solidFill>
          <a:ln w="12700">
            <a:solidFill>
              <a:srgbClr val="1C7293"/>
            </a:solidFill>
            <a:prstDash val="solid"/>
          </a:ln>
        </p:spPr>
        <p:txBody>
          <a:bodyPr/>
          <a:lstStyle/>
          <a:p>
            <a:endParaRPr lang="es-CL"/>
          </a:p>
        </p:txBody>
      </p:sp>
      <p:sp>
        <p:nvSpPr>
          <p:cNvPr id="21" name="Text 18"/>
          <p:cNvSpPr txBox="1"/>
          <p:nvPr/>
        </p:nvSpPr>
        <p:spPr>
          <a:xfrm>
            <a:off x="6382512" y="16459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2" name="Text 19"/>
          <p:cNvSpPr txBox="1"/>
          <p:nvPr/>
        </p:nvSpPr>
        <p:spPr>
          <a:xfrm>
            <a:off x="6382512" y="2240280"/>
            <a:ext cx="2286000" cy="365760"/>
          </a:xfrm>
          <a:prstGeom prst="rect">
            <a:avLst/>
          </a:prstGeom>
          <a:noFill/>
          <a:ln/>
        </p:spPr>
        <p:txBody>
          <a:bodyPr wrap="square" lIns="0" tIns="0" rIns="0" bIns="0"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Iteración con purrr</a:t>
            </a:r>
            <a:endParaRPr lang="en-US" sz="1550" dirty="0"/>
          </a:p>
        </p:txBody>
      </p:sp>
      <p:sp>
        <p:nvSpPr>
          <p:cNvPr id="23" name="Text 20"/>
          <p:cNvSpPr txBox="1"/>
          <p:nvPr/>
        </p:nvSpPr>
        <p:spPr>
          <a:xfrm>
            <a:off x="6382512" y="2606040"/>
            <a:ext cx="2286000" cy="274320"/>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15 min</a:t>
            </a:r>
            <a:endParaRPr lang="en-US" sz="1150" dirty="0"/>
          </a:p>
        </p:txBody>
      </p:sp>
      <p:sp>
        <p:nvSpPr>
          <p:cNvPr id="24" name="Text 21"/>
          <p:cNvSpPr txBox="1"/>
          <p:nvPr/>
        </p:nvSpPr>
        <p:spPr>
          <a:xfrm>
            <a:off x="6382512" y="2926080"/>
            <a:ext cx="2286000" cy="685800"/>
          </a:xfrm>
          <a:prstGeom prst="rect">
            <a:avLst/>
          </a:prstGeom>
          <a:noFill/>
          <a:ln/>
        </p:spPr>
        <p:txBody>
          <a:bodyPr wrap="square" lIns="0" tIns="0" rIns="0" bIns="0" rtlCol="0" anchor="t"/>
          <a:lstStyle/>
          <a:p>
            <a:pPr marL="0" indent="0">
              <a:buNone/>
            </a:pPr>
            <a:r>
              <a:rPr lang="en-US" sz="1150" dirty="0">
                <a:solidFill>
                  <a:srgbClr val="5B6B7F"/>
                </a:solidFill>
                <a:latin typeface="Calibri" pitchFamily="34" charset="0"/>
                <a:ea typeface="Calibri" pitchFamily="34" charset="-122"/>
                <a:cs typeface="Calibri" pitchFamily="34" charset="-120"/>
              </a:rPr>
              <a:t>map(), list_rbind(), safely()</a:t>
            </a:r>
            <a:endParaRPr lang="en-US" sz="1150" dirty="0"/>
          </a:p>
        </p:txBody>
      </p:sp>
      <p:sp>
        <p:nvSpPr>
          <p:cNvPr id="25" name="Shape 22"/>
          <p:cNvSpPr/>
          <p:nvPr/>
        </p:nvSpPr>
        <p:spPr>
          <a:xfrm>
            <a:off x="8997696" y="1463040"/>
            <a:ext cx="2651760" cy="2240280"/>
          </a:xfrm>
          <a:prstGeom prst="roundRect">
            <a:avLst>
              <a:gd name="adj" fmla="val 2857"/>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6" name="Shape 23"/>
          <p:cNvSpPr/>
          <p:nvPr/>
        </p:nvSpPr>
        <p:spPr>
          <a:xfrm>
            <a:off x="9198864" y="1645920"/>
            <a:ext cx="457200" cy="457200"/>
          </a:xfrm>
          <a:prstGeom prst="ellipse">
            <a:avLst/>
          </a:prstGeom>
          <a:solidFill>
            <a:srgbClr val="2F8F6B"/>
          </a:solidFill>
          <a:ln w="12700">
            <a:solidFill>
              <a:srgbClr val="2F8F6B"/>
            </a:solidFill>
            <a:prstDash val="solid"/>
          </a:ln>
        </p:spPr>
        <p:txBody>
          <a:bodyPr/>
          <a:lstStyle/>
          <a:p>
            <a:endParaRPr lang="es-CL"/>
          </a:p>
        </p:txBody>
      </p:sp>
      <p:sp>
        <p:nvSpPr>
          <p:cNvPr id="27" name="Text 24"/>
          <p:cNvSpPr txBox="1"/>
          <p:nvPr/>
        </p:nvSpPr>
        <p:spPr>
          <a:xfrm>
            <a:off x="9198864" y="16459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8" name="Text 25"/>
          <p:cNvSpPr txBox="1"/>
          <p:nvPr/>
        </p:nvSpPr>
        <p:spPr>
          <a:xfrm>
            <a:off x="9198864" y="2240280"/>
            <a:ext cx="2286000" cy="365760"/>
          </a:xfrm>
          <a:prstGeom prst="rect">
            <a:avLst/>
          </a:prstGeom>
          <a:noFill/>
          <a:ln/>
        </p:spPr>
        <p:txBody>
          <a:bodyPr wrap="square" lIns="0" tIns="0" rIns="0" bIns="0" rtlCol="0" anchor="ctr"/>
          <a:lstStyle/>
          <a:p>
            <a:pPr marL="0" indent="0">
              <a:buNone/>
            </a:pPr>
            <a:r>
              <a:rPr lang="en-US" sz="1550" b="1" dirty="0">
                <a:solidFill>
                  <a:srgbClr val="21295C"/>
                </a:solidFill>
                <a:latin typeface="Cambria" pitchFamily="34" charset="0"/>
                <a:ea typeface="Cambria" pitchFamily="34" charset="-122"/>
                <a:cs typeface="Cambria" pitchFamily="34" charset="-120"/>
              </a:rPr>
              <a:t>Automatizar un análisis</a:t>
            </a:r>
            <a:endParaRPr lang="en-US" sz="1550" dirty="0"/>
          </a:p>
        </p:txBody>
      </p:sp>
      <p:sp>
        <p:nvSpPr>
          <p:cNvPr id="29" name="Text 26"/>
          <p:cNvSpPr txBox="1"/>
          <p:nvPr/>
        </p:nvSpPr>
        <p:spPr>
          <a:xfrm>
            <a:off x="9198864" y="2606040"/>
            <a:ext cx="2286000" cy="274320"/>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20 min</a:t>
            </a:r>
            <a:endParaRPr lang="en-US" sz="1150" dirty="0"/>
          </a:p>
        </p:txBody>
      </p:sp>
      <p:sp>
        <p:nvSpPr>
          <p:cNvPr id="30" name="Text 27"/>
          <p:cNvSpPr txBox="1"/>
          <p:nvPr/>
        </p:nvSpPr>
        <p:spPr>
          <a:xfrm>
            <a:off x="9198864" y="2926080"/>
            <a:ext cx="2286000" cy="685800"/>
          </a:xfrm>
          <a:prstGeom prst="rect">
            <a:avLst/>
          </a:prstGeom>
          <a:noFill/>
          <a:ln/>
        </p:spPr>
        <p:txBody>
          <a:bodyPr wrap="square" lIns="0" tIns="0" rIns="0" bIns="0" rtlCol="0" anchor="t"/>
          <a:lstStyle/>
          <a:p>
            <a:pPr marL="0" indent="0">
              <a:buNone/>
            </a:pPr>
            <a:r>
              <a:rPr lang="en-US" sz="1150" dirty="0">
                <a:solidFill>
                  <a:srgbClr val="5B6B7F"/>
                </a:solidFill>
                <a:latin typeface="Calibri" pitchFamily="34" charset="0"/>
                <a:ea typeface="Calibri" pitchFamily="34" charset="-122"/>
                <a:cs typeface="Calibri" pitchFamily="34" charset="-120"/>
              </a:rPr>
              <a:t>Cinco archivos → tendencia, modelos y figuras</a:t>
            </a:r>
            <a:endParaRPr lang="en-US" sz="1150" dirty="0"/>
          </a:p>
        </p:txBody>
      </p:sp>
      <p:sp>
        <p:nvSpPr>
          <p:cNvPr id="31" name="Shape 28"/>
          <p:cNvSpPr/>
          <p:nvPr/>
        </p:nvSpPr>
        <p:spPr>
          <a:xfrm>
            <a:off x="548640" y="3977640"/>
            <a:ext cx="11091672" cy="1828800"/>
          </a:xfrm>
          <a:prstGeom prst="rect">
            <a:avLst/>
          </a:prstGeom>
          <a:solidFill>
            <a:srgbClr val="E4EEF2"/>
          </a:solidFill>
          <a:ln w="12700">
            <a:solidFill>
              <a:srgbClr val="E4EEF2"/>
            </a:solidFill>
            <a:prstDash val="solid"/>
          </a:ln>
        </p:spPr>
        <p:txBody>
          <a:bodyPr/>
          <a:lstStyle/>
          <a:p>
            <a:endParaRPr lang="es-CL"/>
          </a:p>
        </p:txBody>
      </p:sp>
      <p:sp>
        <p:nvSpPr>
          <p:cNvPr id="32" name="Text 29"/>
          <p:cNvSpPr txBox="1"/>
          <p:nvPr/>
        </p:nvSpPr>
        <p:spPr>
          <a:xfrm>
            <a:off x="822960" y="4023360"/>
            <a:ext cx="10607040" cy="17373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E2A44"/>
                </a:solidFill>
                <a:latin typeface="Calibri" pitchFamily="34" charset="0"/>
                <a:ea typeface="Calibri" pitchFamily="34" charset="-122"/>
                <a:cs typeface="Calibri" pitchFamily="34" charset="-120"/>
              </a:rPr>
              <a:t>Material: guía de práctica (.qmd y .html), carpeta datos/ (encuesta_limpia.csv, programas.csv y olas/). Datos simulados.</a:t>
            </a:r>
            <a:endParaRPr lang="en-US" sz="1300" dirty="0"/>
          </a:p>
          <a:p>
            <a:pPr marL="342900" indent="-342900">
              <a:spcAft>
                <a:spcPts val="600"/>
              </a:spcAft>
              <a:buSzPct val="100000"/>
              <a:buChar char="•"/>
            </a:pPr>
            <a:r>
              <a:rPr lang="en-US" sz="1300" dirty="0">
                <a:solidFill>
                  <a:srgbClr val="1E2A44"/>
                </a:solidFill>
                <a:latin typeface="Calibri" pitchFamily="34" charset="0"/>
                <a:ea typeface="Calibri" pitchFamily="34" charset="-122"/>
                <a:cs typeface="Calibri" pitchFamily="34" charset="-120"/>
              </a:rPr>
              <a:t>Escribe tu código en tu propio script (R/funciones.R y R/analisis.R); la guía solo te orienta.</a:t>
            </a:r>
            <a:endParaRPr lang="en-US" sz="1300" dirty="0"/>
          </a:p>
          <a:p>
            <a:pPr marL="342900" indent="-342900">
              <a:spcAft>
                <a:spcPts val="600"/>
              </a:spcAft>
              <a:buSzPct val="100000"/>
              <a:buChar char="•"/>
            </a:pPr>
            <a:r>
              <a:rPr lang="en-US" sz="1300" dirty="0">
                <a:solidFill>
                  <a:srgbClr val="1E2A44"/>
                </a:solidFill>
                <a:latin typeface="Calibri" pitchFamily="34" charset="0"/>
                <a:ea typeface="Calibri" pitchFamily="34" charset="-122"/>
                <a:cs typeface="Calibri" pitchFamily="34" charset="-120"/>
              </a:rPr>
              <a:t>Si te trabas más de 3 minutos, pasa al siguiente ejercicio y pregunta en el chat.</a:t>
            </a:r>
            <a:endParaRPr lang="en-US" sz="1300" dirty="0"/>
          </a:p>
          <a:p>
            <a:pPr marL="342900" indent="-342900">
              <a:spcAft>
                <a:spcPts val="600"/>
              </a:spcAft>
              <a:buSzPct val="100000"/>
              <a:buChar char="•"/>
            </a:pPr>
            <a:r>
              <a:rPr lang="en-US" sz="1300" dirty="0">
                <a:solidFill>
                  <a:srgbClr val="1E2A44"/>
                </a:solidFill>
                <a:latin typeface="Calibri" pitchFamily="34" charset="0"/>
                <a:ea typeface="Calibri" pitchFamily="34" charset="-122"/>
                <a:cs typeface="Calibri" pitchFamily="34" charset="-120"/>
              </a:rPr>
              <a:t>Al terminar, haz un commit de Git con tus funciones.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CIERRE DE LA CHARLA</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Lo esencial y dónde seguir</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2</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34</a:t>
            </a:r>
            <a:endParaRPr lang="en-US" sz="800" dirty="0"/>
          </a:p>
        </p:txBody>
      </p:sp>
      <p:sp>
        <p:nvSpPr>
          <p:cNvPr id="7" name="Shape 4"/>
          <p:cNvSpPr/>
          <p:nvPr/>
        </p:nvSpPr>
        <p:spPr>
          <a:xfrm>
            <a:off x="548640" y="1463040"/>
            <a:ext cx="6583680" cy="4297680"/>
          </a:xfrm>
          <a:prstGeom prst="roundRect">
            <a:avLst>
              <a:gd name="adj" fmla="val 1489"/>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8" name="Text 5"/>
          <p:cNvSpPr txBox="1"/>
          <p:nvPr/>
        </p:nvSpPr>
        <p:spPr>
          <a:xfrm>
            <a:off x="822960" y="1627632"/>
            <a:ext cx="54864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PARA LLEVAR</a:t>
            </a:r>
            <a:endParaRPr lang="en-US" sz="900" dirty="0"/>
          </a:p>
        </p:txBody>
      </p:sp>
      <p:sp>
        <p:nvSpPr>
          <p:cNvPr id="9" name="Shape 6"/>
          <p:cNvSpPr/>
          <p:nvPr/>
        </p:nvSpPr>
        <p:spPr>
          <a:xfrm>
            <a:off x="822960" y="2011680"/>
            <a:ext cx="365760" cy="365760"/>
          </a:xfrm>
          <a:prstGeom prst="ellipse">
            <a:avLst/>
          </a:prstGeom>
          <a:solidFill>
            <a:srgbClr val="065A82"/>
          </a:solidFill>
          <a:ln w="12700">
            <a:solidFill>
              <a:srgbClr val="065A82"/>
            </a:solidFill>
            <a:prstDash val="solid"/>
          </a:ln>
        </p:spPr>
        <p:txBody>
          <a:bodyPr/>
          <a:lstStyle/>
          <a:p>
            <a:endParaRPr lang="es-CL"/>
          </a:p>
        </p:txBody>
      </p:sp>
      <p:sp>
        <p:nvSpPr>
          <p:cNvPr id="10" name="Text 7"/>
          <p:cNvSpPr txBox="1"/>
          <p:nvPr/>
        </p:nvSpPr>
        <p:spPr>
          <a:xfrm>
            <a:off x="822960" y="20116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8"/>
          <p:cNvSpPr txBox="1"/>
          <p:nvPr/>
        </p:nvSpPr>
        <p:spPr>
          <a:xfrm>
            <a:off x="1371600" y="1938528"/>
            <a:ext cx="5486400" cy="640080"/>
          </a:xfrm>
          <a:prstGeom prst="rect">
            <a:avLst/>
          </a:prstGeom>
          <a:noFill/>
          <a:ln/>
        </p:spPr>
        <p:txBody>
          <a:bodyPr wrap="square" lIns="0" tIns="0" rIns="0" bIns="0" rtlCol="0" anchor="ctr"/>
          <a:lstStyle/>
          <a:p>
            <a:pPr marL="0" indent="0">
              <a:buNone/>
            </a:pPr>
            <a:r>
              <a:rPr lang="en-US" sz="1250" dirty="0">
                <a:solidFill>
                  <a:srgbClr val="1E2A44"/>
                </a:solidFill>
                <a:latin typeface="Calibri" pitchFamily="34" charset="0"/>
                <a:ea typeface="Calibri" pitchFamily="34" charset="-122"/>
                <a:cs typeface="Calibri" pitchFamily="34" charset="-120"/>
              </a:rPr>
              <a:t>Una función se escribe una vez y se usa muchas; los argumentos y las validaciones la hacen segura.</a:t>
            </a:r>
            <a:endParaRPr lang="en-US" sz="1250" dirty="0"/>
          </a:p>
        </p:txBody>
      </p:sp>
      <p:sp>
        <p:nvSpPr>
          <p:cNvPr id="12" name="Shape 9"/>
          <p:cNvSpPr/>
          <p:nvPr/>
        </p:nvSpPr>
        <p:spPr>
          <a:xfrm>
            <a:off x="822960" y="2761488"/>
            <a:ext cx="365760" cy="365760"/>
          </a:xfrm>
          <a:prstGeom prst="ellipse">
            <a:avLst/>
          </a:prstGeom>
          <a:solidFill>
            <a:srgbClr val="065A82"/>
          </a:solidFill>
          <a:ln w="12700">
            <a:solidFill>
              <a:srgbClr val="065A82"/>
            </a:solidFill>
            <a:prstDash val="solid"/>
          </a:ln>
        </p:spPr>
        <p:txBody>
          <a:bodyPr/>
          <a:lstStyle/>
          <a:p>
            <a:endParaRPr lang="es-CL"/>
          </a:p>
        </p:txBody>
      </p:sp>
      <p:sp>
        <p:nvSpPr>
          <p:cNvPr id="13" name="Text 10"/>
          <p:cNvSpPr txBox="1"/>
          <p:nvPr/>
        </p:nvSpPr>
        <p:spPr>
          <a:xfrm>
            <a:off x="822960" y="276148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1"/>
          <p:cNvSpPr txBox="1"/>
          <p:nvPr/>
        </p:nvSpPr>
        <p:spPr>
          <a:xfrm>
            <a:off x="1371600" y="2688336"/>
            <a:ext cx="5486400" cy="640080"/>
          </a:xfrm>
          <a:prstGeom prst="rect">
            <a:avLst/>
          </a:prstGeom>
          <a:noFill/>
          <a:ln/>
        </p:spPr>
        <p:txBody>
          <a:bodyPr wrap="square" lIns="0" tIns="0" rIns="0" bIns="0" rtlCol="0" anchor="ctr"/>
          <a:lstStyle/>
          <a:p>
            <a:pPr marL="0" indent="0">
              <a:buNone/>
            </a:pPr>
            <a:r>
              <a:rPr lang="en-US" sz="1250" dirty="0">
                <a:solidFill>
                  <a:srgbClr val="1E2A44"/>
                </a:solidFill>
                <a:latin typeface="Calibri" pitchFamily="34" charset="0"/>
                <a:ea typeface="Calibri" pitchFamily="34" charset="-122"/>
                <a:cs typeface="Calibri" pitchFamily="34" charset="-120"/>
              </a:rPr>
              <a:t>map() aplica una función a cada elemento; las variantes tipadas comprueban el resultado.</a:t>
            </a:r>
            <a:endParaRPr lang="en-US" sz="1250" dirty="0"/>
          </a:p>
        </p:txBody>
      </p:sp>
      <p:sp>
        <p:nvSpPr>
          <p:cNvPr id="15" name="Shape 12"/>
          <p:cNvSpPr/>
          <p:nvPr/>
        </p:nvSpPr>
        <p:spPr>
          <a:xfrm>
            <a:off x="822960" y="3511296"/>
            <a:ext cx="365760" cy="365760"/>
          </a:xfrm>
          <a:prstGeom prst="ellipse">
            <a:avLst/>
          </a:prstGeom>
          <a:solidFill>
            <a:srgbClr val="065A82"/>
          </a:solidFill>
          <a:ln w="12700">
            <a:solidFill>
              <a:srgbClr val="065A82"/>
            </a:solidFill>
            <a:prstDash val="solid"/>
          </a:ln>
        </p:spPr>
        <p:txBody>
          <a:bodyPr/>
          <a:lstStyle/>
          <a:p>
            <a:endParaRPr lang="es-CL"/>
          </a:p>
        </p:txBody>
      </p:sp>
      <p:sp>
        <p:nvSpPr>
          <p:cNvPr id="16" name="Text 13"/>
          <p:cNvSpPr txBox="1"/>
          <p:nvPr/>
        </p:nvSpPr>
        <p:spPr>
          <a:xfrm>
            <a:off x="822960" y="351129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371600" y="3438144"/>
            <a:ext cx="5486400" cy="640080"/>
          </a:xfrm>
          <a:prstGeom prst="rect">
            <a:avLst/>
          </a:prstGeom>
          <a:noFill/>
          <a:ln/>
        </p:spPr>
        <p:txBody>
          <a:bodyPr wrap="square" lIns="0" tIns="0" rIns="0" bIns="0" rtlCol="0" anchor="ctr"/>
          <a:lstStyle/>
          <a:p>
            <a:pPr marL="0" indent="0">
              <a:buNone/>
            </a:pPr>
            <a:r>
              <a:rPr lang="en-US" sz="1250" dirty="0">
                <a:solidFill>
                  <a:srgbClr val="1E2A44"/>
                </a:solidFill>
                <a:latin typeface="Calibri" pitchFamily="34" charset="0"/>
                <a:ea typeface="Calibri" pitchFamily="34" charset="-122"/>
                <a:cs typeface="Calibri" pitchFamily="34" charset="-120"/>
              </a:rPr>
              <a:t>list_rbind() apila tablas; nest() + map() ajusta un modelo por grupo; walk() guarda resultados.</a:t>
            </a:r>
            <a:endParaRPr lang="en-US" sz="1250" dirty="0"/>
          </a:p>
        </p:txBody>
      </p:sp>
      <p:sp>
        <p:nvSpPr>
          <p:cNvPr id="18" name="Shape 15"/>
          <p:cNvSpPr/>
          <p:nvPr/>
        </p:nvSpPr>
        <p:spPr>
          <a:xfrm>
            <a:off x="822960" y="4261104"/>
            <a:ext cx="365760" cy="365760"/>
          </a:xfrm>
          <a:prstGeom prst="ellipse">
            <a:avLst/>
          </a:prstGeom>
          <a:solidFill>
            <a:srgbClr val="065A82"/>
          </a:solidFill>
          <a:ln w="12700">
            <a:solidFill>
              <a:srgbClr val="065A82"/>
            </a:solidFill>
            <a:prstDash val="solid"/>
          </a:ln>
        </p:spPr>
        <p:txBody>
          <a:bodyPr/>
          <a:lstStyle/>
          <a:p>
            <a:endParaRPr lang="es-CL"/>
          </a:p>
        </p:txBody>
      </p:sp>
      <p:sp>
        <p:nvSpPr>
          <p:cNvPr id="19" name="Text 16"/>
          <p:cNvSpPr txBox="1"/>
          <p:nvPr/>
        </p:nvSpPr>
        <p:spPr>
          <a:xfrm>
            <a:off x="822960" y="426110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7"/>
          <p:cNvSpPr txBox="1"/>
          <p:nvPr/>
        </p:nvSpPr>
        <p:spPr>
          <a:xfrm>
            <a:off x="1371600" y="4187952"/>
            <a:ext cx="5486400" cy="640080"/>
          </a:xfrm>
          <a:prstGeom prst="rect">
            <a:avLst/>
          </a:prstGeom>
          <a:noFill/>
          <a:ln/>
        </p:spPr>
        <p:txBody>
          <a:bodyPr wrap="square" lIns="0" tIns="0" rIns="0" bIns="0" rtlCol="0" anchor="ctr"/>
          <a:lstStyle/>
          <a:p>
            <a:pPr marL="0" indent="0">
              <a:buNone/>
            </a:pPr>
            <a:r>
              <a:rPr lang="en-US" sz="1250" dirty="0">
                <a:solidFill>
                  <a:srgbClr val="1E2A44"/>
                </a:solidFill>
                <a:latin typeface="Calibri" pitchFamily="34" charset="0"/>
                <a:ea typeface="Calibri" pitchFamily="34" charset="-122"/>
                <a:cs typeface="Calibri" pitchFamily="34" charset="-120"/>
              </a:rPr>
              <a:t>safely() y possibly() ayudan con los errores, pero no los ocultes: cuenta lo que esperabas.</a:t>
            </a:r>
            <a:endParaRPr lang="en-US" sz="1250" dirty="0"/>
          </a:p>
        </p:txBody>
      </p:sp>
      <p:sp>
        <p:nvSpPr>
          <p:cNvPr id="21" name="Shape 18"/>
          <p:cNvSpPr/>
          <p:nvPr/>
        </p:nvSpPr>
        <p:spPr>
          <a:xfrm>
            <a:off x="822960" y="5010912"/>
            <a:ext cx="365760" cy="365760"/>
          </a:xfrm>
          <a:prstGeom prst="ellipse">
            <a:avLst/>
          </a:prstGeom>
          <a:solidFill>
            <a:srgbClr val="065A82"/>
          </a:solidFill>
          <a:ln w="12700">
            <a:solidFill>
              <a:srgbClr val="065A82"/>
            </a:solidFill>
            <a:prstDash val="solid"/>
          </a:ln>
        </p:spPr>
        <p:txBody>
          <a:bodyPr/>
          <a:lstStyle/>
          <a:p>
            <a:endParaRPr lang="es-CL"/>
          </a:p>
        </p:txBody>
      </p:sp>
      <p:sp>
        <p:nvSpPr>
          <p:cNvPr id="22" name="Text 19"/>
          <p:cNvSpPr txBox="1"/>
          <p:nvPr/>
        </p:nvSpPr>
        <p:spPr>
          <a:xfrm>
            <a:off x="822960" y="501091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20"/>
          <p:cNvSpPr txBox="1"/>
          <p:nvPr/>
        </p:nvSpPr>
        <p:spPr>
          <a:xfrm>
            <a:off x="1371600" y="4937760"/>
            <a:ext cx="5486400" cy="640080"/>
          </a:xfrm>
          <a:prstGeom prst="rect">
            <a:avLst/>
          </a:prstGeom>
          <a:noFill/>
          <a:ln/>
        </p:spPr>
        <p:txBody>
          <a:bodyPr wrap="square" lIns="0" tIns="0" rIns="0" bIns="0" rtlCol="0" anchor="ctr"/>
          <a:lstStyle/>
          <a:p>
            <a:pPr marL="0" indent="0">
              <a:buNone/>
            </a:pPr>
            <a:r>
              <a:rPr lang="en-US" sz="1250" dirty="0">
                <a:solidFill>
                  <a:srgbClr val="1E2A44"/>
                </a:solidFill>
                <a:latin typeface="Calibri" pitchFamily="34" charset="0"/>
                <a:ea typeface="Calibri" pitchFamily="34" charset="-122"/>
                <a:cs typeface="Calibri" pitchFamily="34" charset="-120"/>
              </a:rPr>
              <a:t>Funciones pequeñas, una tarea cada una, y un commit por función nueva.</a:t>
            </a:r>
            <a:endParaRPr lang="en-US" sz="1250" dirty="0"/>
          </a:p>
        </p:txBody>
      </p:sp>
      <p:sp>
        <p:nvSpPr>
          <p:cNvPr id="24" name="Shape 21"/>
          <p:cNvSpPr/>
          <p:nvPr/>
        </p:nvSpPr>
        <p:spPr>
          <a:xfrm>
            <a:off x="7406640" y="1463040"/>
            <a:ext cx="4233672" cy="2743200"/>
          </a:xfrm>
          <a:prstGeom prst="roundRect">
            <a:avLst>
              <a:gd name="adj" fmla="val 2333"/>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5" name="Text 22"/>
          <p:cNvSpPr txBox="1"/>
          <p:nvPr/>
        </p:nvSpPr>
        <p:spPr>
          <a:xfrm>
            <a:off x="7635240" y="1627632"/>
            <a:ext cx="3657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PARA SEGUIR (GRATIS)</a:t>
            </a:r>
            <a:endParaRPr lang="en-US" sz="900" dirty="0"/>
          </a:p>
        </p:txBody>
      </p:sp>
      <p:sp>
        <p:nvSpPr>
          <p:cNvPr id="26" name="Text 23"/>
          <p:cNvSpPr txBox="1"/>
          <p:nvPr/>
        </p:nvSpPr>
        <p:spPr>
          <a:xfrm>
            <a:off x="7635240" y="1965960"/>
            <a:ext cx="3840480" cy="274320"/>
          </a:xfrm>
          <a:prstGeom prst="rect">
            <a:avLst/>
          </a:prstGeom>
          <a:noFill/>
          <a:ln/>
        </p:spPr>
        <p:txBody>
          <a:bodyPr wrap="square" lIns="0" tIns="0" rIns="0" bIns="0" rtlCol="0" anchor="ctr"/>
          <a:lstStyle/>
          <a:p>
            <a:pPr marL="0" indent="0">
              <a:buNone/>
            </a:pPr>
            <a:r>
              <a:rPr lang="en-US" sz="1250" b="1" dirty="0">
                <a:solidFill>
                  <a:srgbClr val="21295C"/>
                </a:solidFill>
                <a:latin typeface="Calibri" pitchFamily="34" charset="0"/>
                <a:ea typeface="Calibri" pitchFamily="34" charset="-122"/>
                <a:cs typeface="Calibri" pitchFamily="34" charset="-120"/>
              </a:rPr>
              <a:t>R para Ciencia de Datos (2.ª ed.)</a:t>
            </a:r>
            <a:endParaRPr lang="en-US" sz="1250" dirty="0"/>
          </a:p>
        </p:txBody>
      </p:sp>
      <p:sp>
        <p:nvSpPr>
          <p:cNvPr id="27" name="Text 24"/>
          <p:cNvSpPr txBox="1"/>
          <p:nvPr/>
        </p:nvSpPr>
        <p:spPr>
          <a:xfrm>
            <a:off x="7635240" y="2240280"/>
            <a:ext cx="3840480" cy="320040"/>
          </a:xfrm>
          <a:prstGeom prst="rect">
            <a:avLst/>
          </a:prstGeom>
          <a:noFill/>
          <a:ln/>
        </p:spPr>
        <p:txBody>
          <a:bodyPr wrap="square" lIns="0" tIns="0" rIns="0" bIns="0" rtlCol="0" anchor="t"/>
          <a:lstStyle/>
          <a:p>
            <a:pPr marL="0" indent="0">
              <a:buNone/>
            </a:pPr>
            <a:r>
              <a:rPr lang="en-US" sz="1100" dirty="0">
                <a:solidFill>
                  <a:srgbClr val="5B6B7F"/>
                </a:solidFill>
                <a:latin typeface="Calibri" pitchFamily="34" charset="0"/>
                <a:ea typeface="Calibri" pitchFamily="34" charset="-122"/>
                <a:cs typeface="Calibri" pitchFamily="34" charset="-120"/>
              </a:rPr>
              <a:t>capítulos «Functions» e «Iteration» · r4ds.hadley.nz</a:t>
            </a:r>
            <a:endParaRPr lang="en-US" sz="1100" dirty="0"/>
          </a:p>
        </p:txBody>
      </p:sp>
      <p:sp>
        <p:nvSpPr>
          <p:cNvPr id="28" name="Text 25"/>
          <p:cNvSpPr txBox="1"/>
          <p:nvPr/>
        </p:nvSpPr>
        <p:spPr>
          <a:xfrm>
            <a:off x="7635240" y="2697480"/>
            <a:ext cx="3840480" cy="274320"/>
          </a:xfrm>
          <a:prstGeom prst="rect">
            <a:avLst/>
          </a:prstGeom>
          <a:noFill/>
          <a:ln/>
        </p:spPr>
        <p:txBody>
          <a:bodyPr wrap="square" lIns="0" tIns="0" rIns="0" bIns="0" rtlCol="0" anchor="ctr"/>
          <a:lstStyle/>
          <a:p>
            <a:pPr marL="0" indent="0">
              <a:buNone/>
            </a:pPr>
            <a:r>
              <a:rPr lang="en-US" sz="1250" b="1" dirty="0">
                <a:solidFill>
                  <a:srgbClr val="21295C"/>
                </a:solidFill>
                <a:latin typeface="Calibri" pitchFamily="34" charset="0"/>
                <a:ea typeface="Calibri" pitchFamily="34" charset="-122"/>
                <a:cs typeface="Calibri" pitchFamily="34" charset="-120"/>
              </a:rPr>
              <a:t>Documentación de purrr</a:t>
            </a:r>
            <a:endParaRPr lang="en-US" sz="1250" dirty="0"/>
          </a:p>
        </p:txBody>
      </p:sp>
      <p:sp>
        <p:nvSpPr>
          <p:cNvPr id="29" name="Text 26"/>
          <p:cNvSpPr txBox="1"/>
          <p:nvPr/>
        </p:nvSpPr>
        <p:spPr>
          <a:xfrm>
            <a:off x="7635240" y="2971800"/>
            <a:ext cx="3840480" cy="320040"/>
          </a:xfrm>
          <a:prstGeom prst="rect">
            <a:avLst/>
          </a:prstGeom>
          <a:noFill/>
          <a:ln/>
        </p:spPr>
        <p:txBody>
          <a:bodyPr wrap="square" lIns="0" tIns="0" rIns="0" bIns="0" rtlCol="0" anchor="t"/>
          <a:lstStyle/>
          <a:p>
            <a:pPr marL="0" indent="0">
              <a:buNone/>
            </a:pPr>
            <a:r>
              <a:rPr lang="en-US" sz="1100" dirty="0">
                <a:solidFill>
                  <a:srgbClr val="5B6B7F"/>
                </a:solidFill>
                <a:latin typeface="Calibri" pitchFamily="34" charset="0"/>
                <a:ea typeface="Calibri" pitchFamily="34" charset="-122"/>
                <a:cs typeface="Calibri" pitchFamily="34" charset="-120"/>
              </a:rPr>
              <a:t>purrr.tidyverse.org</a:t>
            </a:r>
            <a:endParaRPr lang="en-US" sz="1100" dirty="0"/>
          </a:p>
        </p:txBody>
      </p:sp>
      <p:sp>
        <p:nvSpPr>
          <p:cNvPr id="30" name="Text 27"/>
          <p:cNvSpPr txBox="1"/>
          <p:nvPr/>
        </p:nvSpPr>
        <p:spPr>
          <a:xfrm>
            <a:off x="7635240" y="3429000"/>
            <a:ext cx="3840480" cy="274320"/>
          </a:xfrm>
          <a:prstGeom prst="rect">
            <a:avLst/>
          </a:prstGeom>
          <a:noFill/>
          <a:ln/>
        </p:spPr>
        <p:txBody>
          <a:bodyPr wrap="square" lIns="0" tIns="0" rIns="0" bIns="0" rtlCol="0" anchor="ctr"/>
          <a:lstStyle/>
          <a:p>
            <a:pPr marL="0" indent="0">
              <a:buNone/>
            </a:pPr>
            <a:r>
              <a:rPr lang="en-US" sz="1250" b="1" dirty="0">
                <a:solidFill>
                  <a:srgbClr val="21295C"/>
                </a:solidFill>
                <a:latin typeface="Calibri" pitchFamily="34" charset="0"/>
                <a:ea typeface="Calibri" pitchFamily="34" charset="-122"/>
                <a:cs typeface="Calibri" pitchFamily="34" charset="-120"/>
              </a:rPr>
              <a:t>Advanced R · «Functionals»</a:t>
            </a:r>
            <a:endParaRPr lang="en-US" sz="1250" dirty="0"/>
          </a:p>
        </p:txBody>
      </p:sp>
      <p:sp>
        <p:nvSpPr>
          <p:cNvPr id="31" name="Text 28"/>
          <p:cNvSpPr txBox="1"/>
          <p:nvPr/>
        </p:nvSpPr>
        <p:spPr>
          <a:xfrm>
            <a:off x="7635240" y="3703320"/>
            <a:ext cx="3840480" cy="320040"/>
          </a:xfrm>
          <a:prstGeom prst="rect">
            <a:avLst/>
          </a:prstGeom>
          <a:noFill/>
          <a:ln/>
        </p:spPr>
        <p:txBody>
          <a:bodyPr wrap="square" lIns="0" tIns="0" rIns="0" bIns="0" rtlCol="0" anchor="t"/>
          <a:lstStyle/>
          <a:p>
            <a:pPr marL="0" indent="0">
              <a:buNone/>
            </a:pPr>
            <a:r>
              <a:rPr lang="en-US" sz="1100" dirty="0">
                <a:solidFill>
                  <a:srgbClr val="5B6B7F"/>
                </a:solidFill>
                <a:latin typeface="Calibri" pitchFamily="34" charset="0"/>
                <a:ea typeface="Calibri" pitchFamily="34" charset="-122"/>
                <a:cs typeface="Calibri" pitchFamily="34" charset="-120"/>
              </a:rPr>
              <a:t>adv-r.hadley.nz</a:t>
            </a:r>
            <a:endParaRPr lang="en-US" sz="1100" dirty="0"/>
          </a:p>
        </p:txBody>
      </p:sp>
      <p:sp>
        <p:nvSpPr>
          <p:cNvPr id="32" name="Shape 29"/>
          <p:cNvSpPr/>
          <p:nvPr/>
        </p:nvSpPr>
        <p:spPr>
          <a:xfrm>
            <a:off x="7406640" y="4434840"/>
            <a:ext cx="4233672" cy="1325880"/>
          </a:xfrm>
          <a:prstGeom prst="roundRect">
            <a:avLst>
              <a:gd name="adj" fmla="val 4828"/>
            </a:avLst>
          </a:prstGeom>
          <a:solidFill>
            <a:srgbClr val="21295C"/>
          </a:solidFill>
          <a:ln w="12700">
            <a:solidFill>
              <a:srgbClr val="21295C"/>
            </a:solidFill>
            <a:prstDash val="solid"/>
          </a:ln>
        </p:spPr>
        <p:txBody>
          <a:bodyPr/>
          <a:lstStyle/>
          <a:p>
            <a:endParaRPr lang="es-CL"/>
          </a:p>
        </p:txBody>
      </p:sp>
      <p:sp>
        <p:nvSpPr>
          <p:cNvPr id="33" name="Text 30"/>
          <p:cNvSpPr txBox="1"/>
          <p:nvPr/>
        </p:nvSpPr>
        <p:spPr>
          <a:xfrm>
            <a:off x="7680960" y="4572000"/>
            <a:ext cx="3657600" cy="228600"/>
          </a:xfrm>
          <a:prstGeom prst="rect">
            <a:avLst/>
          </a:prstGeom>
          <a:noFill/>
          <a:ln/>
        </p:spPr>
        <p:txBody>
          <a:bodyPr wrap="square" lIns="0" tIns="0" rIns="0" bIns="0" rtlCol="0" anchor="ctr"/>
          <a:lstStyle/>
          <a:p>
            <a:pPr marL="0" indent="0">
              <a:buNone/>
            </a:pPr>
            <a:r>
              <a:rPr lang="en-US" sz="900" b="1" kern="0" spc="200" dirty="0">
                <a:solidFill>
                  <a:srgbClr val="8FB8D8"/>
                </a:solidFill>
                <a:latin typeface="Calibri" pitchFamily="34" charset="0"/>
                <a:ea typeface="Calibri" pitchFamily="34" charset="-122"/>
                <a:cs typeface="Calibri" pitchFamily="34" charset="-120"/>
              </a:rPr>
              <a:t>PRÓXIMA SESIÓN</a:t>
            </a:r>
            <a:endParaRPr lang="en-US" sz="900" dirty="0"/>
          </a:p>
        </p:txBody>
      </p:sp>
      <p:sp>
        <p:nvSpPr>
          <p:cNvPr id="34" name="Text 31"/>
          <p:cNvSpPr txBox="1"/>
          <p:nvPr/>
        </p:nvSpPr>
        <p:spPr>
          <a:xfrm>
            <a:off x="7680960" y="4846320"/>
            <a:ext cx="374904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Sesión 3 · Visualización avanzada</a:t>
            </a:r>
            <a:endParaRPr lang="en-US" sz="1600" dirty="0"/>
          </a:p>
        </p:txBody>
      </p:sp>
      <p:sp>
        <p:nvSpPr>
          <p:cNvPr id="35" name="Text 32"/>
          <p:cNvSpPr txBox="1"/>
          <p:nvPr/>
        </p:nvSpPr>
        <p:spPr>
          <a:xfrm>
            <a:off x="7680960" y="5257800"/>
            <a:ext cx="3749040" cy="365760"/>
          </a:xfrm>
          <a:prstGeom prst="rect">
            <a:avLst/>
          </a:prstGeom>
          <a:noFill/>
          <a:ln/>
        </p:spPr>
        <p:txBody>
          <a:bodyPr wrap="square" lIns="0" tIns="0" rIns="0" bIns="0" rtlCol="0" anchor="ctr"/>
          <a:lstStyle/>
          <a:p>
            <a:pPr marL="0" indent="0">
              <a:buNone/>
            </a:pPr>
            <a:r>
              <a:rPr lang="en-US" sz="1200" dirty="0">
                <a:solidFill>
                  <a:srgbClr val="C9DDEC"/>
                </a:solidFill>
                <a:latin typeface="Calibri" pitchFamily="34" charset="0"/>
                <a:ea typeface="Calibri" pitchFamily="34" charset="-122"/>
                <a:cs typeface="Calibri" pitchFamily="34" charset="-120"/>
              </a:rPr>
              <a:t>ggplot2 avanzado y gráficos interactivos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10271</Words>
  <Application>Microsoft Office PowerPoint</Application>
  <PresentationFormat>Panorámica</PresentationFormat>
  <Paragraphs>911</Paragraphs>
  <Slides>34</Slides>
  <Notes>34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34</vt:i4>
      </vt:variant>
    </vt:vector>
  </HeadingPairs>
  <TitlesOfParts>
    <vt:vector size="39"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2 · Programación funcional</dc:title>
  <dc:subject>PptxGenJS Presentation</dc:subject>
  <dc:creator>Pablo Lemus</dc:creator>
  <cp:lastModifiedBy>PABLO  LEMUS HENRIQUEZ</cp:lastModifiedBy>
  <cp:revision>2</cp:revision>
  <dcterms:created xsi:type="dcterms:W3CDTF">2026-10-15T02:02:35Z</dcterms:created>
  <dcterms:modified xsi:type="dcterms:W3CDTF">2026-10-17T02:38:10Z</dcterms:modified>
</cp:coreProperties>
</file>