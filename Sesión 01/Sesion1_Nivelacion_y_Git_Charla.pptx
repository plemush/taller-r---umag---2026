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Bienvenida. Presentarse y pedir que cada persona escriba en el chat su nombre, su área de investigación y su nivel de experiencia con R (1 a 5). Esto sirve para calibrar el ritmo. Recordar que la sesión tiene dos partes: una hora de charla y una hora de práctica con ejercicios.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3:00] Mostrar cómo se reparte el tiempo. La charla da el marco y los conceptos; la práctica es donde se aprende de verdad. Avisar que la charla queda grabada y que el material (guía, datos y diapositivas) se entrega al final de la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4:00] Tres objetivos, uno por cada parte de la charla. Subrayar que Git no es "cosa de informáticos": en investigación es la forma más simple de garantizar que se pueda reconstruir qué código produjo qué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5:00] Esta primera parte no es una clase nueva: es un repaso rápido y un diagnóstico. Si alguien se siente perdido, que lo avise por el chat; la práctica incluye ejercicios de nivelación para consolidar.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7:30] Insistir en la idea de proyecto: es la base de todo lo que viene (también de Git, porque el repositorio será esta carpeta). Preguntar quién sigue usando setwd() y explicar el problema: la ruta de tu computador no existe en el del colega ni en el tuyo dentro de un año. La estructura mostrada es una recomendación, no una obligación.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9:30] Repaso muy breve. El mensaje clave está en el recuadro: una tabla es un conjunto de columnas y cada columna es un vector con un único tipo de dato. Esa idea hace que across() sea natural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11:30] Mostrar el flujo: cargar paquetes, importar con rutas construidas por here(), mirar con glimpse(). Mencionar el problema de codificación de caracteres: es muy común con archivos que vienen de Excel en español y genera columnas con tildes rotas. En la práctica usarán read_csv() con los datos de la encuesta simulada.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 – 13:30] No leer la tabla: dejar que la lean ellos. Preguntar cuál de estos verbos aún les genera dudas. Aclarar que %&gt;% (de magrittr) y |&gt; (nativo) hacen prácticamente lo mismo en los usos de este curso; usaremos el nativo.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15:30] Leer el código en voz alta como una receta: "toma la tabla, luego filtra, luego crea, luego agrupa...". Es la forma más rápida de que entiendan qué hace un pipeline largo. Este mismo código lo harán en la práctica, ejercicio 1.5 y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 17:30] Dos fuentes frecuentes de errores silenciosos. Primero los NA: na.rm = TRUE es cómodo, pero omitir casos tiene consecuencias en la interpretación; conviene reportar cuántos se omitieron. Segundo, case_when(): el orden importa, y el caso NA debe ir primero para que no caiga en la categoría por defecto. El argumento .default requiere dplyr 1.1 o superior.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[17:30 – 19:30] (OPCIONAL: si vas atrasado, resumir en 30 segundos.) Mostrar la idea de ancho vs. largo con el ejemplo mínimo. Para los joins, la advertencia más útil: comparar el número de filas antes y después. Si aumenta, hay llaves duplicadas en la tabla de la derecha.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 22:00] Dar 30 segundos por pregunta y pedir respuestas por el chat. RESPUESTAS: (1) Devuelve NA porque hay un valor faltante; con na.rm = TRUE devuelve 6. (2) La coma equivale a Y (ambas condiciones deben cumplirse); la barra | equivale a O (basta una). (3) La fila se conserva y las columnas que vienen de y quedan en NA. Si más de un tercio falla alguna, detenerse un minuto a repasar ese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[22:00 – 23:00] Transición. Pregunta de enganche: "¿Cuántas veces han copiado y pegado una línea de código cambiando solo el nombre de la columna?". Eso es lo que vamos a eliminar.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 25:00] Mostrar ambos bloques lado a lado. Lo importante no es solo escribir menos: es reducir el riesgo de errores de copia y pegado, que en análisis de datos son silenciosos. Aclarar la sintaxis \(x) (función anónima, R &gt;= 4.1): es equivalente a function(x).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 27:30] Los tres argumentos que realmente importan: .cols, .fns y .names. La nota del pie es un detalle técnico pero útil: en tutoriales antiguos verán across(cols, mean, na.rm = TRUE); en versiones actuales de dplyr eso genera una advertencia, y la forma recomendada es la función anónima.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 – 29:30] (OPCIONAL: si vas atrasado, mostrar solo starts_with() y where().) Estos selectores son de tidyselect y funcionan igual en select(), across(), pivot_longer() y otras funciones. Un buen hábito de nombres de columnas (prefijos como sat_) vuelve muy cómodo todo este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[29:30 – 32:00] Aquí se ve el poder de .fns como lista y de .names. La tabla es la salida real con los datos simulados de la práctica (los nombres se abrevian solo para que quepan en la diapositiva). Preguntar: "¿cuántas líneas habría que escribir sin across()?" Respuesta: cuatro (una por cada combinación de variable y función); con las cinco dimensiones serían diez.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 – 34:30] Mismo patrón, ahora dentro de mutate(). La trampa es real y la verán en la práctica (ejercicio 2.3): si los nombres nuevos comparten prefijo con el selector, el siguiente across() o pick() los recoge sin avisar. Es un buen ejemplo de por qué conviene convenciones de nombres.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 – 37:30] Tres herramientas que resuelven problemas por fila. pick() entrega columnas a una función que las necesita juntas (aquí rowMeans). if_all() e if_any() son el equivalente de across() para filter(). Los resultados (16 y 12 personas) son los reales de los datos de la práctica. Ojo: if_all() deja fuera a quienes tienen NA en alguna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[37:30 – 40:00] .by es una de las novedades más cómodas de dplyr 1.1: evita el clásico error de dejar una tabla agrupada sin darse cuenta. Mencionar join_by() como bonus. Cerrar la parte 2 recordando que en la práctica verán todo esto con la encuesta simulada.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 – 41:00] Transición a Git. Pregunta de enganche: "¿Cuántos archivos tienen en su computador con nombres como informe_final_v3_ahora_si.docx?".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[41:00 – 42:30] Aquí no hay que convencer a nadie: todos reconocen la columna de la izquierda. Git reemplaza esa práctica por un historial ordenado dentro de un único archivo. Para investigadores, el argumento más fuerte es la reproducibilidad: poder decir con certeza qué código generó la tabla 2 del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[42:30 – 43:30] Aclarar la confusión más común. Se puede usar Git sin GitHub (hoy lo haremos así en la práctica, y GitHub queda como actividad opcional). Lo contrario no: GitHub aloja repositorios de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[43:30 – 46:00] La diapositiva más importante de la parte de Git. Recorrerla de izquierda a derecha: editas, preparas con add, registras con commit, y (opcionalmente) subes con push. pull trae los cambios del remoto. restore deshace cambios no confirmados. Si la audiencia entiende que el commit es una acción explícita, el resto de Git se vuelve lógico.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[46:00 – 47:00] (OPCIONAL: si vas atrasado, saltar a la siguiente.) El historial es una cadena de commits. Cada uno tiene un identificador único (hash) y un mensaje. HEAD indica dónde estamos parados. Los hashes de la diapositiva son ilustrativos.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[47:00 – 49:00] No explicar uno por uno: es la tabla de referencia que usarán en la práctica. Destacar git status y git diff como los comandos que más conviene correr antes de cada commit. Se puede hacer lo mismo con los botones de la pestaña Git de RStudio, pero entender los comandos ayuda a no perderse cuando algo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[49:00 – 50:30] Los mensajes de commit son documentación de tu proceso de análisis. Un buen mensaje responde "¿qué cambió y por qué?". Un ejemplo útil para investigadores: registrar en el mensaje decisiones metodológicas (por qué se excluyeron ciertos casos), porque eso suele olvidarse.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[50:30 – 52:30] Punto crítico para investigación con personas: datos confidenciales o sujetos a un consentimiento informado nunca deben llegar a un repositorio, ni siquiera a uno privado. El archivo .gitignore le dice a Git qué ignorar. En la práctica crearán uno y comprobarán con git check-ignore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[52:30 – 54:00] (OPCIONAL: si vas atrasado, mencionar solo la idea y mostrar los comandos.) Una rama es un espacio para probar sin tocar main. Si el experimento funciona, se fusiona; si no, se descarta. Aclarar que --no-ff fuerza un commit de fusión visible en el historial; sin esa opción, si main no avanzó, Git "adelanta" la rama y el historial queda lineal.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 – 57:00] El ciclo diario es corto: traer, trabajar, registrar, subir. La conexión con GitHub suele ser lo más frustrante para quienes empiezan (autenticación), por eso en esta sesión queda como actividad opcional y se retoma después. Sugerir a quienes quieran adelantarse la guía "Happy Git with R" (ver última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[57:00 – 59:00] Transición a la práctica. Verificar que todos tengan los archivos, R, RStudio y Git instalado (git --version en la terminal). Compartir el enlace al material. Explicar que durante la práctica estarás disponible para consultas. Quien termine antes puede intentar el Reto del Bloque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[59:00 – 60:00] Cierre de la charla; dejar esta diapositiva visible mientras comienzan la práctica. Los cuatro recursos son gratuitos y en línea. La próxima sesión es Programación funcional: funciones propias e iteración con purrr. Tarea sugerida: terminar el reto del Bloque 2 y, opcionalmente, subir el repositorio a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95360" y="3566160"/>
            <a:ext cx="5120640" cy="5120640"/>
          </a:xfrm>
          <a:prstGeom prst="ellipse">
            <a:avLst/>
          </a:prstGeom>
          <a:solidFill>
            <a:srgbClr val="065A82">
              <a:alpha val="45000"/>
            </a:srgbClr>
          </a:solidFill>
          <a:ln/>
        </p:spPr>
      </p:sp>
      <p:sp>
        <p:nvSpPr>
          <p:cNvPr id="3" name="Shape 1"/>
          <p:cNvSpPr/>
          <p:nvPr/>
        </p:nvSpPr>
        <p:spPr>
          <a:xfrm>
            <a:off x="10058400" y="4937760"/>
            <a:ext cx="2926080" cy="2926080"/>
          </a:xfrm>
          <a:prstGeom prst="ellipse">
            <a:avLst/>
          </a:prstGeom>
          <a:solidFill>
            <a:srgbClr val="1C7293">
              <a:alpha val="55000"/>
            </a:srgbClr>
          </a:solidFill>
          <a:ln/>
        </p:spPr>
      </p:sp>
      <p:sp>
        <p:nvSpPr>
          <p:cNvPr id="4" name="Text 2"/>
          <p:cNvSpPr txBox="1"/>
          <p:nvPr/>
        </p:nvSpPr>
        <p:spPr>
          <a:xfrm>
            <a:off x="548640" y="1737360"/>
            <a:ext cx="10058400" cy="365760"/>
          </a:xfrm>
          <a:prstGeom prst="rect">
            <a:avLst/>
          </a:prstGeom>
          <a:noFill/>
          <a:ln/>
        </p:spPr>
        <p:txBody>
          <a:bodyPr wrap="square" lIns="0" tIns="0" rIns="0" bIns="0" rtlCol="0" anchor="ctr"/>
          <a:lstStyle/>
          <a:p>
            <a:pPr indent="0" marL="0">
              <a:buNone/>
            </a:pPr>
            <a:r>
              <a:rPr lang="en-US" sz="1400" b="1" spc="300" kern="0" dirty="0">
                <a:solidFill>
                  <a:srgbClr val="9FD3E8"/>
                </a:solidFill>
                <a:latin typeface="Calibri" pitchFamily="34" charset="0"/>
                <a:ea typeface="Calibri" pitchFamily="34" charset="-122"/>
                <a:cs typeface="Calibri" pitchFamily="34" charset="-120"/>
              </a:rPr>
              <a:t>ANÁLISIS DE DATOS EN R · NIVEL BÁSICO-INTERMEDIO</a:t>
            </a:r>
            <a:endParaRPr lang="en-US" sz="1400" dirty="0"/>
          </a:p>
        </p:txBody>
      </p:sp>
      <p:sp>
        <p:nvSpPr>
          <p:cNvPr id="5" name="Text 3"/>
          <p:cNvSpPr txBox="1"/>
          <p:nvPr/>
        </p:nvSpPr>
        <p:spPr>
          <a:xfrm>
            <a:off x="548640" y="2194560"/>
            <a:ext cx="10058400" cy="118872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Nivelación y Git</a:t>
            </a:r>
            <a:endParaRPr lang="en-US" sz="5800" dirty="0"/>
          </a:p>
        </p:txBody>
      </p:sp>
      <p:sp>
        <p:nvSpPr>
          <p:cNvPr id="6" name="Text 4"/>
          <p:cNvSpPr txBox="1"/>
          <p:nvPr/>
        </p:nvSpPr>
        <p:spPr>
          <a:xfrm>
            <a:off x="548640" y="3566160"/>
            <a:ext cx="914400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Sesión 1 de 8 · Charla (1 h) + Práctica guiada (1 h)</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PANORAMA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La sesión de hoy: 2 horas, dos partes</a:t>
            </a:r>
            <a:endParaRPr lang="en-US" sz="2800" dirty="0"/>
          </a:p>
        </p:txBody>
      </p:sp>
      <p:sp>
        <p:nvSpPr>
          <p:cNvPr id="4" name="Shape 2"/>
          <p:cNvSpPr/>
          <p:nvPr/>
        </p:nvSpPr>
        <p:spPr>
          <a:xfrm>
            <a:off x="548640" y="1600200"/>
            <a:ext cx="5318608" cy="4297680"/>
          </a:xfrm>
          <a:prstGeom prst="roundRect">
            <a:avLst>
              <a:gd name="adj" fmla="val 2128"/>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Text 3"/>
          <p:cNvSpPr txBox="1"/>
          <p:nvPr/>
        </p:nvSpPr>
        <p:spPr>
          <a:xfrm>
            <a:off x="914400" y="1874520"/>
            <a:ext cx="4587088" cy="457200"/>
          </a:xfrm>
          <a:prstGeom prst="rect">
            <a:avLst/>
          </a:prstGeom>
          <a:noFill/>
          <a:ln/>
        </p:spPr>
        <p:txBody>
          <a:bodyPr wrap="square" lIns="0" tIns="0" rIns="0" bIns="0" rtlCol="0" anchor="ctr"/>
          <a:lstStyle/>
          <a:p>
            <a:pPr indent="0" marL="0">
              <a:buNone/>
            </a:pPr>
            <a:r>
              <a:rPr lang="en-US" sz="2200" b="1" dirty="0">
                <a:solidFill>
                  <a:srgbClr val="21295C"/>
                </a:solidFill>
                <a:latin typeface="Cambria" pitchFamily="34" charset="0"/>
                <a:ea typeface="Cambria" pitchFamily="34" charset="-122"/>
                <a:cs typeface="Cambria" pitchFamily="34" charset="-120"/>
              </a:rPr>
              <a:t>Charla · 60 min</a:t>
            </a:r>
            <a:endParaRPr lang="en-US" sz="2200" dirty="0"/>
          </a:p>
        </p:txBody>
      </p:sp>
      <p:sp>
        <p:nvSpPr>
          <p:cNvPr id="6" name="Shape 4"/>
          <p:cNvSpPr/>
          <p:nvPr/>
        </p:nvSpPr>
        <p:spPr>
          <a:xfrm>
            <a:off x="914400" y="2468880"/>
            <a:ext cx="354825" cy="182880"/>
          </a:xfrm>
          <a:prstGeom prst="rect">
            <a:avLst/>
          </a:prstGeom>
          <a:solidFill>
            <a:srgbClr val="065A82"/>
          </a:solidFill>
          <a:ln/>
        </p:spPr>
      </p:sp>
      <p:sp>
        <p:nvSpPr>
          <p:cNvPr id="7" name="Shape 5"/>
          <p:cNvSpPr/>
          <p:nvPr/>
        </p:nvSpPr>
        <p:spPr>
          <a:xfrm>
            <a:off x="1296657" y="2468880"/>
            <a:ext cx="1272243" cy="182880"/>
          </a:xfrm>
          <a:prstGeom prst="rect">
            <a:avLst/>
          </a:prstGeom>
          <a:solidFill>
            <a:srgbClr val="065A82">
              <a:alpha val="70000"/>
            </a:srgbClr>
          </a:solidFill>
          <a:ln/>
        </p:spPr>
      </p:sp>
      <p:sp>
        <p:nvSpPr>
          <p:cNvPr id="8" name="Shape 6"/>
          <p:cNvSpPr/>
          <p:nvPr/>
        </p:nvSpPr>
        <p:spPr>
          <a:xfrm>
            <a:off x="2596332" y="2468880"/>
            <a:ext cx="1348694" cy="182880"/>
          </a:xfrm>
          <a:prstGeom prst="rect">
            <a:avLst/>
          </a:prstGeom>
          <a:solidFill>
            <a:srgbClr val="065A82"/>
          </a:solidFill>
          <a:ln/>
        </p:spPr>
      </p:sp>
      <p:sp>
        <p:nvSpPr>
          <p:cNvPr id="9" name="Shape 7"/>
          <p:cNvSpPr/>
          <p:nvPr/>
        </p:nvSpPr>
        <p:spPr>
          <a:xfrm>
            <a:off x="3972458" y="2468880"/>
            <a:ext cx="1272243" cy="182880"/>
          </a:xfrm>
          <a:prstGeom prst="rect">
            <a:avLst/>
          </a:prstGeom>
          <a:solidFill>
            <a:srgbClr val="065A82">
              <a:alpha val="70000"/>
            </a:srgbClr>
          </a:solidFill>
          <a:ln/>
        </p:spPr>
      </p:sp>
      <p:sp>
        <p:nvSpPr>
          <p:cNvPr id="10" name="Shape 8"/>
          <p:cNvSpPr/>
          <p:nvPr/>
        </p:nvSpPr>
        <p:spPr>
          <a:xfrm>
            <a:off x="5272133" y="2468880"/>
            <a:ext cx="201922" cy="182880"/>
          </a:xfrm>
          <a:prstGeom prst="rect">
            <a:avLst/>
          </a:prstGeom>
          <a:solidFill>
            <a:srgbClr val="065A82"/>
          </a:solidFill>
          <a:ln/>
        </p:spPr>
      </p:sp>
      <p:sp>
        <p:nvSpPr>
          <p:cNvPr id="11" name="Text 9"/>
          <p:cNvSpPr txBox="1"/>
          <p:nvPr/>
        </p:nvSpPr>
        <p:spPr>
          <a:xfrm>
            <a:off x="914400" y="2926080"/>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Apertura</a:t>
            </a:r>
            <a:endParaRPr lang="en-US" sz="1600" dirty="0"/>
          </a:p>
        </p:txBody>
      </p:sp>
      <p:sp>
        <p:nvSpPr>
          <p:cNvPr id="12" name="Text 10"/>
          <p:cNvSpPr txBox="1"/>
          <p:nvPr/>
        </p:nvSpPr>
        <p:spPr>
          <a:xfrm>
            <a:off x="4404208" y="2926080"/>
            <a:ext cx="1097280" cy="365760"/>
          </a:xfrm>
          <a:prstGeom prst="rect">
            <a:avLst/>
          </a:prstGeom>
          <a:noFill/>
          <a:ln/>
        </p:spPr>
        <p:txBody>
          <a:bodyPr wrap="square" lIns="0" tIns="0" rIns="0" bIns="0" rtlCol="0" anchor="ctr"/>
          <a:lstStyle/>
          <a:p>
            <a:pPr algn="r" indent="0" marL="0">
              <a:buNone/>
            </a:pPr>
            <a:r>
              <a:rPr lang="en-US" sz="1600" b="1" dirty="0">
                <a:solidFill>
                  <a:srgbClr val="065A82"/>
                </a:solidFill>
                <a:latin typeface="Calibri" pitchFamily="34" charset="0"/>
                <a:ea typeface="Calibri" pitchFamily="34" charset="-122"/>
                <a:cs typeface="Calibri" pitchFamily="34" charset="-120"/>
              </a:rPr>
              <a:t>5 min</a:t>
            </a:r>
            <a:endParaRPr lang="en-US" sz="1600" dirty="0"/>
          </a:p>
        </p:txBody>
      </p:sp>
      <p:sp>
        <p:nvSpPr>
          <p:cNvPr id="13" name="Text 11"/>
          <p:cNvSpPr txBox="1"/>
          <p:nvPr/>
        </p:nvSpPr>
        <p:spPr>
          <a:xfrm>
            <a:off x="914400" y="3493008"/>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Nivelación tidyverse</a:t>
            </a:r>
            <a:endParaRPr lang="en-US" sz="1600" dirty="0"/>
          </a:p>
        </p:txBody>
      </p:sp>
      <p:sp>
        <p:nvSpPr>
          <p:cNvPr id="14" name="Text 12"/>
          <p:cNvSpPr txBox="1"/>
          <p:nvPr/>
        </p:nvSpPr>
        <p:spPr>
          <a:xfrm>
            <a:off x="4404208" y="3493008"/>
            <a:ext cx="1097280" cy="365760"/>
          </a:xfrm>
          <a:prstGeom prst="rect">
            <a:avLst/>
          </a:prstGeom>
          <a:noFill/>
          <a:ln/>
        </p:spPr>
        <p:txBody>
          <a:bodyPr wrap="square" lIns="0" tIns="0" rIns="0" bIns="0" rtlCol="0" anchor="ctr"/>
          <a:lstStyle/>
          <a:p>
            <a:pPr algn="r" indent="0" marL="0">
              <a:buNone/>
            </a:pPr>
            <a:r>
              <a:rPr lang="en-US" sz="1600" b="1" dirty="0">
                <a:solidFill>
                  <a:srgbClr val="065A82"/>
                </a:solidFill>
                <a:latin typeface="Calibri" pitchFamily="34" charset="0"/>
                <a:ea typeface="Calibri" pitchFamily="34" charset="-122"/>
                <a:cs typeface="Calibri" pitchFamily="34" charset="-120"/>
              </a:rPr>
              <a:t>17 min</a:t>
            </a:r>
            <a:endParaRPr lang="en-US" sz="1600" dirty="0"/>
          </a:p>
        </p:txBody>
      </p:sp>
      <p:sp>
        <p:nvSpPr>
          <p:cNvPr id="15" name="Text 13"/>
          <p:cNvSpPr txBox="1"/>
          <p:nvPr/>
        </p:nvSpPr>
        <p:spPr>
          <a:xfrm>
            <a:off x="914400" y="4059936"/>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dplyr avanzado</a:t>
            </a:r>
            <a:endParaRPr lang="en-US" sz="1600" dirty="0"/>
          </a:p>
        </p:txBody>
      </p:sp>
      <p:sp>
        <p:nvSpPr>
          <p:cNvPr id="16" name="Text 14"/>
          <p:cNvSpPr txBox="1"/>
          <p:nvPr/>
        </p:nvSpPr>
        <p:spPr>
          <a:xfrm>
            <a:off x="4404208" y="4059936"/>
            <a:ext cx="1097280" cy="365760"/>
          </a:xfrm>
          <a:prstGeom prst="rect">
            <a:avLst/>
          </a:prstGeom>
          <a:noFill/>
          <a:ln/>
        </p:spPr>
        <p:txBody>
          <a:bodyPr wrap="square" lIns="0" tIns="0" rIns="0" bIns="0" rtlCol="0" anchor="ctr"/>
          <a:lstStyle/>
          <a:p>
            <a:pPr algn="r" indent="0" marL="0">
              <a:buNone/>
            </a:pPr>
            <a:r>
              <a:rPr lang="en-US" sz="1600" b="1" dirty="0">
                <a:solidFill>
                  <a:srgbClr val="065A82"/>
                </a:solidFill>
                <a:latin typeface="Calibri" pitchFamily="34" charset="0"/>
                <a:ea typeface="Calibri" pitchFamily="34" charset="-122"/>
                <a:cs typeface="Calibri" pitchFamily="34" charset="-120"/>
              </a:rPr>
              <a:t>18 min</a:t>
            </a:r>
            <a:endParaRPr lang="en-US" sz="1600" dirty="0"/>
          </a:p>
        </p:txBody>
      </p:sp>
      <p:sp>
        <p:nvSpPr>
          <p:cNvPr id="17" name="Text 15"/>
          <p:cNvSpPr txBox="1"/>
          <p:nvPr/>
        </p:nvSpPr>
        <p:spPr>
          <a:xfrm>
            <a:off x="914400" y="4626864"/>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Git y control de versiones</a:t>
            </a:r>
            <a:endParaRPr lang="en-US" sz="1600" dirty="0"/>
          </a:p>
        </p:txBody>
      </p:sp>
      <p:sp>
        <p:nvSpPr>
          <p:cNvPr id="18" name="Text 16"/>
          <p:cNvSpPr txBox="1"/>
          <p:nvPr/>
        </p:nvSpPr>
        <p:spPr>
          <a:xfrm>
            <a:off x="4404208" y="4626864"/>
            <a:ext cx="1097280" cy="365760"/>
          </a:xfrm>
          <a:prstGeom prst="rect">
            <a:avLst/>
          </a:prstGeom>
          <a:noFill/>
          <a:ln/>
        </p:spPr>
        <p:txBody>
          <a:bodyPr wrap="square" lIns="0" tIns="0" rIns="0" bIns="0" rtlCol="0" anchor="ctr"/>
          <a:lstStyle/>
          <a:p>
            <a:pPr algn="r" indent="0" marL="0">
              <a:buNone/>
            </a:pPr>
            <a:r>
              <a:rPr lang="en-US" sz="1600" b="1" dirty="0">
                <a:solidFill>
                  <a:srgbClr val="065A82"/>
                </a:solidFill>
                <a:latin typeface="Calibri" pitchFamily="34" charset="0"/>
                <a:ea typeface="Calibri" pitchFamily="34" charset="-122"/>
                <a:cs typeface="Calibri" pitchFamily="34" charset="-120"/>
              </a:rPr>
              <a:t>17 min</a:t>
            </a:r>
            <a:endParaRPr lang="en-US" sz="1600" dirty="0"/>
          </a:p>
        </p:txBody>
      </p:sp>
      <p:sp>
        <p:nvSpPr>
          <p:cNvPr id="19" name="Text 17"/>
          <p:cNvSpPr txBox="1"/>
          <p:nvPr/>
        </p:nvSpPr>
        <p:spPr>
          <a:xfrm>
            <a:off x="914400" y="5193792"/>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Cierre</a:t>
            </a:r>
            <a:endParaRPr lang="en-US" sz="1600" dirty="0"/>
          </a:p>
        </p:txBody>
      </p:sp>
      <p:sp>
        <p:nvSpPr>
          <p:cNvPr id="20" name="Text 18"/>
          <p:cNvSpPr txBox="1"/>
          <p:nvPr/>
        </p:nvSpPr>
        <p:spPr>
          <a:xfrm>
            <a:off x="4404208" y="5193792"/>
            <a:ext cx="1097280" cy="365760"/>
          </a:xfrm>
          <a:prstGeom prst="rect">
            <a:avLst/>
          </a:prstGeom>
          <a:noFill/>
          <a:ln/>
        </p:spPr>
        <p:txBody>
          <a:bodyPr wrap="square" lIns="0" tIns="0" rIns="0" bIns="0" rtlCol="0" anchor="ctr"/>
          <a:lstStyle/>
          <a:p>
            <a:pPr algn="r" indent="0" marL="0">
              <a:buNone/>
            </a:pPr>
            <a:r>
              <a:rPr lang="en-US" sz="1600" b="1" dirty="0">
                <a:solidFill>
                  <a:srgbClr val="065A82"/>
                </a:solidFill>
                <a:latin typeface="Calibri" pitchFamily="34" charset="0"/>
                <a:ea typeface="Calibri" pitchFamily="34" charset="-122"/>
                <a:cs typeface="Calibri" pitchFamily="34" charset="-120"/>
              </a:rPr>
              <a:t>3 min</a:t>
            </a:r>
            <a:endParaRPr lang="en-US" sz="1600" dirty="0"/>
          </a:p>
        </p:txBody>
      </p:sp>
      <p:sp>
        <p:nvSpPr>
          <p:cNvPr id="21" name="Shape 19"/>
          <p:cNvSpPr/>
          <p:nvPr/>
        </p:nvSpPr>
        <p:spPr>
          <a:xfrm>
            <a:off x="6324448" y="1600200"/>
            <a:ext cx="5318608" cy="4297680"/>
          </a:xfrm>
          <a:prstGeom prst="roundRect">
            <a:avLst>
              <a:gd name="adj" fmla="val 2128"/>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22" name="Text 20"/>
          <p:cNvSpPr txBox="1"/>
          <p:nvPr/>
        </p:nvSpPr>
        <p:spPr>
          <a:xfrm>
            <a:off x="6690208" y="1874520"/>
            <a:ext cx="4587088" cy="457200"/>
          </a:xfrm>
          <a:prstGeom prst="rect">
            <a:avLst/>
          </a:prstGeom>
          <a:noFill/>
          <a:ln/>
        </p:spPr>
        <p:txBody>
          <a:bodyPr wrap="square" lIns="0" tIns="0" rIns="0" bIns="0" rtlCol="0" anchor="ctr"/>
          <a:lstStyle/>
          <a:p>
            <a:pPr indent="0" marL="0">
              <a:buNone/>
            </a:pPr>
            <a:r>
              <a:rPr lang="en-US" sz="2200" b="1" dirty="0">
                <a:solidFill>
                  <a:srgbClr val="21295C"/>
                </a:solidFill>
                <a:latin typeface="Cambria" pitchFamily="34" charset="0"/>
                <a:ea typeface="Cambria" pitchFamily="34" charset="-122"/>
                <a:cs typeface="Cambria" pitchFamily="34" charset="-120"/>
              </a:rPr>
              <a:t>Práctica · 60 min</a:t>
            </a:r>
            <a:endParaRPr lang="en-US" sz="2200" dirty="0"/>
          </a:p>
        </p:txBody>
      </p:sp>
      <p:sp>
        <p:nvSpPr>
          <p:cNvPr id="23" name="Shape 21"/>
          <p:cNvSpPr/>
          <p:nvPr/>
        </p:nvSpPr>
        <p:spPr>
          <a:xfrm>
            <a:off x="6690208" y="2468880"/>
            <a:ext cx="354825" cy="182880"/>
          </a:xfrm>
          <a:prstGeom prst="rect">
            <a:avLst/>
          </a:prstGeom>
          <a:solidFill>
            <a:srgbClr val="1C7293"/>
          </a:solidFill>
          <a:ln/>
        </p:spPr>
      </p:sp>
      <p:sp>
        <p:nvSpPr>
          <p:cNvPr id="24" name="Shape 22"/>
          <p:cNvSpPr/>
          <p:nvPr/>
        </p:nvSpPr>
        <p:spPr>
          <a:xfrm>
            <a:off x="7072465" y="2468880"/>
            <a:ext cx="1119340" cy="182880"/>
          </a:xfrm>
          <a:prstGeom prst="rect">
            <a:avLst/>
          </a:prstGeom>
          <a:solidFill>
            <a:srgbClr val="1C7293">
              <a:alpha val="70000"/>
            </a:srgbClr>
          </a:solidFill>
          <a:ln/>
        </p:spPr>
      </p:sp>
      <p:sp>
        <p:nvSpPr>
          <p:cNvPr id="25" name="Shape 23"/>
          <p:cNvSpPr/>
          <p:nvPr/>
        </p:nvSpPr>
        <p:spPr>
          <a:xfrm>
            <a:off x="8219237" y="2468880"/>
            <a:ext cx="1119340" cy="182880"/>
          </a:xfrm>
          <a:prstGeom prst="rect">
            <a:avLst/>
          </a:prstGeom>
          <a:solidFill>
            <a:srgbClr val="1C7293"/>
          </a:solidFill>
          <a:ln/>
        </p:spPr>
      </p:sp>
      <p:sp>
        <p:nvSpPr>
          <p:cNvPr id="26" name="Shape 24"/>
          <p:cNvSpPr/>
          <p:nvPr/>
        </p:nvSpPr>
        <p:spPr>
          <a:xfrm>
            <a:off x="9366009" y="2468880"/>
            <a:ext cx="1501597" cy="182880"/>
          </a:xfrm>
          <a:prstGeom prst="rect">
            <a:avLst/>
          </a:prstGeom>
          <a:solidFill>
            <a:srgbClr val="1C7293">
              <a:alpha val="70000"/>
            </a:srgbClr>
          </a:solidFill>
          <a:ln/>
        </p:spPr>
      </p:sp>
      <p:sp>
        <p:nvSpPr>
          <p:cNvPr id="27" name="Shape 25"/>
          <p:cNvSpPr/>
          <p:nvPr/>
        </p:nvSpPr>
        <p:spPr>
          <a:xfrm>
            <a:off x="10895038" y="2468880"/>
            <a:ext cx="354825" cy="182880"/>
          </a:xfrm>
          <a:prstGeom prst="rect">
            <a:avLst/>
          </a:prstGeom>
          <a:solidFill>
            <a:srgbClr val="1C7293"/>
          </a:solidFill>
          <a:ln/>
        </p:spPr>
      </p:sp>
      <p:sp>
        <p:nvSpPr>
          <p:cNvPr id="28" name="Text 26"/>
          <p:cNvSpPr txBox="1"/>
          <p:nvPr/>
        </p:nvSpPr>
        <p:spPr>
          <a:xfrm>
            <a:off x="6690208" y="2926080"/>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Bloque 0 · Preparación</a:t>
            </a:r>
            <a:endParaRPr lang="en-US" sz="1600" dirty="0"/>
          </a:p>
        </p:txBody>
      </p:sp>
      <p:sp>
        <p:nvSpPr>
          <p:cNvPr id="29" name="Text 27"/>
          <p:cNvSpPr txBox="1"/>
          <p:nvPr/>
        </p:nvSpPr>
        <p:spPr>
          <a:xfrm>
            <a:off x="10180015" y="2926080"/>
            <a:ext cx="1097280" cy="365760"/>
          </a:xfrm>
          <a:prstGeom prst="rect">
            <a:avLst/>
          </a:prstGeom>
          <a:noFill/>
          <a:ln/>
        </p:spPr>
        <p:txBody>
          <a:bodyPr wrap="square" lIns="0" tIns="0" rIns="0" bIns="0" rtlCol="0" anchor="ctr"/>
          <a:lstStyle/>
          <a:p>
            <a:pPr algn="r" indent="0" marL="0">
              <a:buNone/>
            </a:pPr>
            <a:r>
              <a:rPr lang="en-US" sz="1600" b="1" dirty="0">
                <a:solidFill>
                  <a:srgbClr val="1C7293"/>
                </a:solidFill>
                <a:latin typeface="Calibri" pitchFamily="34" charset="0"/>
                <a:ea typeface="Calibri" pitchFamily="34" charset="-122"/>
                <a:cs typeface="Calibri" pitchFamily="34" charset="-120"/>
              </a:rPr>
              <a:t>5 min</a:t>
            </a:r>
            <a:endParaRPr lang="en-US" sz="1600" dirty="0"/>
          </a:p>
        </p:txBody>
      </p:sp>
      <p:sp>
        <p:nvSpPr>
          <p:cNvPr id="30" name="Text 28"/>
          <p:cNvSpPr txBox="1"/>
          <p:nvPr/>
        </p:nvSpPr>
        <p:spPr>
          <a:xfrm>
            <a:off x="6690208" y="3493008"/>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Bloque 1 · Nivelación</a:t>
            </a:r>
            <a:endParaRPr lang="en-US" sz="1600" dirty="0"/>
          </a:p>
        </p:txBody>
      </p:sp>
      <p:sp>
        <p:nvSpPr>
          <p:cNvPr id="31" name="Text 29"/>
          <p:cNvSpPr txBox="1"/>
          <p:nvPr/>
        </p:nvSpPr>
        <p:spPr>
          <a:xfrm>
            <a:off x="10180015" y="3493008"/>
            <a:ext cx="1097280" cy="365760"/>
          </a:xfrm>
          <a:prstGeom prst="rect">
            <a:avLst/>
          </a:prstGeom>
          <a:noFill/>
          <a:ln/>
        </p:spPr>
        <p:txBody>
          <a:bodyPr wrap="square" lIns="0" tIns="0" rIns="0" bIns="0" rtlCol="0" anchor="ctr"/>
          <a:lstStyle/>
          <a:p>
            <a:pPr algn="r" indent="0" marL="0">
              <a:buNone/>
            </a:pPr>
            <a:r>
              <a:rPr lang="en-US" sz="1600" b="1" dirty="0">
                <a:solidFill>
                  <a:srgbClr val="1C7293"/>
                </a:solidFill>
                <a:latin typeface="Calibri" pitchFamily="34" charset="0"/>
                <a:ea typeface="Calibri" pitchFamily="34" charset="-122"/>
                <a:cs typeface="Calibri" pitchFamily="34" charset="-120"/>
              </a:rPr>
              <a:t>15 min</a:t>
            </a:r>
            <a:endParaRPr lang="en-US" sz="1600" dirty="0"/>
          </a:p>
        </p:txBody>
      </p:sp>
      <p:sp>
        <p:nvSpPr>
          <p:cNvPr id="32" name="Text 30"/>
          <p:cNvSpPr txBox="1"/>
          <p:nvPr/>
        </p:nvSpPr>
        <p:spPr>
          <a:xfrm>
            <a:off x="6690208" y="4059936"/>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Bloque 2 · dplyr avanzado</a:t>
            </a:r>
            <a:endParaRPr lang="en-US" sz="1600" dirty="0"/>
          </a:p>
        </p:txBody>
      </p:sp>
      <p:sp>
        <p:nvSpPr>
          <p:cNvPr id="33" name="Text 31"/>
          <p:cNvSpPr txBox="1"/>
          <p:nvPr/>
        </p:nvSpPr>
        <p:spPr>
          <a:xfrm>
            <a:off x="10180015" y="4059936"/>
            <a:ext cx="1097280" cy="365760"/>
          </a:xfrm>
          <a:prstGeom prst="rect">
            <a:avLst/>
          </a:prstGeom>
          <a:noFill/>
          <a:ln/>
        </p:spPr>
        <p:txBody>
          <a:bodyPr wrap="square" lIns="0" tIns="0" rIns="0" bIns="0" rtlCol="0" anchor="ctr"/>
          <a:lstStyle/>
          <a:p>
            <a:pPr algn="r" indent="0" marL="0">
              <a:buNone/>
            </a:pPr>
            <a:r>
              <a:rPr lang="en-US" sz="1600" b="1" dirty="0">
                <a:solidFill>
                  <a:srgbClr val="1C7293"/>
                </a:solidFill>
                <a:latin typeface="Calibri" pitchFamily="34" charset="0"/>
                <a:ea typeface="Calibri" pitchFamily="34" charset="-122"/>
                <a:cs typeface="Calibri" pitchFamily="34" charset="-120"/>
              </a:rPr>
              <a:t>15 min</a:t>
            </a:r>
            <a:endParaRPr lang="en-US" sz="1600" dirty="0"/>
          </a:p>
        </p:txBody>
      </p:sp>
      <p:sp>
        <p:nvSpPr>
          <p:cNvPr id="34" name="Text 32"/>
          <p:cNvSpPr txBox="1"/>
          <p:nvPr/>
        </p:nvSpPr>
        <p:spPr>
          <a:xfrm>
            <a:off x="6690208" y="4626864"/>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Bloque 3 · Git</a:t>
            </a:r>
            <a:endParaRPr lang="en-US" sz="1600" dirty="0"/>
          </a:p>
        </p:txBody>
      </p:sp>
      <p:sp>
        <p:nvSpPr>
          <p:cNvPr id="35" name="Text 33"/>
          <p:cNvSpPr txBox="1"/>
          <p:nvPr/>
        </p:nvSpPr>
        <p:spPr>
          <a:xfrm>
            <a:off x="10180015" y="4626864"/>
            <a:ext cx="1097280" cy="365760"/>
          </a:xfrm>
          <a:prstGeom prst="rect">
            <a:avLst/>
          </a:prstGeom>
          <a:noFill/>
          <a:ln/>
        </p:spPr>
        <p:txBody>
          <a:bodyPr wrap="square" lIns="0" tIns="0" rIns="0" bIns="0" rtlCol="0" anchor="ctr"/>
          <a:lstStyle/>
          <a:p>
            <a:pPr algn="r" indent="0" marL="0">
              <a:buNone/>
            </a:pPr>
            <a:r>
              <a:rPr lang="en-US" sz="1600" b="1" dirty="0">
                <a:solidFill>
                  <a:srgbClr val="1C7293"/>
                </a:solidFill>
                <a:latin typeface="Calibri" pitchFamily="34" charset="0"/>
                <a:ea typeface="Calibri" pitchFamily="34" charset="-122"/>
                <a:cs typeface="Calibri" pitchFamily="34" charset="-120"/>
              </a:rPr>
              <a:t>20 min</a:t>
            </a:r>
            <a:endParaRPr lang="en-US" sz="1600" dirty="0"/>
          </a:p>
        </p:txBody>
      </p:sp>
      <p:sp>
        <p:nvSpPr>
          <p:cNvPr id="36" name="Text 34"/>
          <p:cNvSpPr txBox="1"/>
          <p:nvPr/>
        </p:nvSpPr>
        <p:spPr>
          <a:xfrm>
            <a:off x="6690208" y="5193792"/>
            <a:ext cx="3489808" cy="36576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Cierre y dudas</a:t>
            </a:r>
            <a:endParaRPr lang="en-US" sz="1600" dirty="0"/>
          </a:p>
        </p:txBody>
      </p:sp>
      <p:sp>
        <p:nvSpPr>
          <p:cNvPr id="37" name="Text 35"/>
          <p:cNvSpPr txBox="1"/>
          <p:nvPr/>
        </p:nvSpPr>
        <p:spPr>
          <a:xfrm>
            <a:off x="10180015" y="5193792"/>
            <a:ext cx="1097280" cy="365760"/>
          </a:xfrm>
          <a:prstGeom prst="rect">
            <a:avLst/>
          </a:prstGeom>
          <a:noFill/>
          <a:ln/>
        </p:spPr>
        <p:txBody>
          <a:bodyPr wrap="square" lIns="0" tIns="0" rIns="0" bIns="0" rtlCol="0" anchor="ctr"/>
          <a:lstStyle/>
          <a:p>
            <a:pPr algn="r" indent="0" marL="0">
              <a:buNone/>
            </a:pPr>
            <a:r>
              <a:rPr lang="en-US" sz="1600" b="1" dirty="0">
                <a:solidFill>
                  <a:srgbClr val="1C7293"/>
                </a:solidFill>
                <a:latin typeface="Calibri" pitchFamily="34" charset="0"/>
                <a:ea typeface="Calibri" pitchFamily="34" charset="-122"/>
                <a:cs typeface="Calibri" pitchFamily="34" charset="-120"/>
              </a:rPr>
              <a:t>5 min</a:t>
            </a:r>
            <a:endParaRPr lang="en-US" sz="1600" dirty="0"/>
          </a:p>
        </p:txBody>
      </p:sp>
      <p:sp>
        <p:nvSpPr>
          <p:cNvPr id="38" name="Text 36"/>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39" name="Text 37"/>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OBJETIVOS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Al terminar la sesión podrás…</a:t>
            </a:r>
            <a:endParaRPr lang="en-US" sz="2800" dirty="0"/>
          </a:p>
        </p:txBody>
      </p:sp>
      <p:sp>
        <p:nvSpPr>
          <p:cNvPr id="4" name="Shape 2"/>
          <p:cNvSpPr/>
          <p:nvPr/>
        </p:nvSpPr>
        <p:spPr>
          <a:xfrm>
            <a:off x="548640" y="1737360"/>
            <a:ext cx="3454298" cy="3840480"/>
          </a:xfrm>
          <a:prstGeom prst="roundRect">
            <a:avLst>
              <a:gd name="adj" fmla="val 264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Shape 3"/>
          <p:cNvSpPr/>
          <p:nvPr/>
        </p:nvSpPr>
        <p:spPr>
          <a:xfrm>
            <a:off x="1818589" y="2103120"/>
            <a:ext cx="914400" cy="914400"/>
          </a:xfrm>
          <a:prstGeom prst="ellipse">
            <a:avLst/>
          </a:prstGeom>
          <a:solidFill>
            <a:srgbClr val="065A82"/>
          </a:solidFill>
          <a:ln/>
        </p:spPr>
      </p:sp>
      <p:pic>
        <p:nvPicPr>
          <p:cNvPr id="6" name="Image 0" descr="/home/claude/sesion1/deck/icons/table_white.png">    </p:cNvPr>
          <p:cNvPicPr>
            <a:picLocks noChangeAspect="1"/>
          </p:cNvPicPr>
          <p:nvPr/>
        </p:nvPicPr>
        <p:blipFill>
          <a:blip r:embed="rId1"/>
          <a:stretch>
            <a:fillRect/>
          </a:stretch>
        </p:blipFill>
        <p:spPr>
          <a:xfrm>
            <a:off x="2047189" y="2331720"/>
            <a:ext cx="457200" cy="457200"/>
          </a:xfrm>
          <a:prstGeom prst="rect">
            <a:avLst/>
          </a:prstGeom>
        </p:spPr>
      </p:pic>
      <p:sp>
        <p:nvSpPr>
          <p:cNvPr id="7" name="Text 4"/>
          <p:cNvSpPr txBox="1"/>
          <p:nvPr/>
        </p:nvSpPr>
        <p:spPr>
          <a:xfrm>
            <a:off x="822960" y="3246120"/>
            <a:ext cx="2905658" cy="45720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Nivelar</a:t>
            </a:r>
            <a:endParaRPr lang="en-US" sz="2200" dirty="0"/>
          </a:p>
        </p:txBody>
      </p:sp>
      <p:sp>
        <p:nvSpPr>
          <p:cNvPr id="8" name="Text 5"/>
          <p:cNvSpPr txBox="1"/>
          <p:nvPr/>
        </p:nvSpPr>
        <p:spPr>
          <a:xfrm>
            <a:off x="914400" y="3840480"/>
            <a:ext cx="2722778" cy="1554480"/>
          </a:xfrm>
          <a:prstGeom prst="rect">
            <a:avLst/>
          </a:prstGeom>
          <a:noFill/>
          <a:ln/>
        </p:spPr>
        <p:txBody>
          <a:bodyPr wrap="square" lIns="0" tIns="0" rIns="0" bIns="0" rtlCol="0" anchor="t"/>
          <a:lstStyle/>
          <a:p>
            <a:pPr algn="ctr" indent="0" marL="0">
              <a:lnSpc>
                <a:spcPts val="2000"/>
              </a:lnSpc>
              <a:buNone/>
            </a:pPr>
            <a:r>
              <a:rPr lang="en-US" sz="1500" dirty="0">
                <a:solidFill>
                  <a:srgbClr val="1F2A37"/>
                </a:solidFill>
                <a:latin typeface="Calibri" pitchFamily="34" charset="0"/>
                <a:ea typeface="Calibri" pitchFamily="34" charset="-122"/>
                <a:cs typeface="Calibri" pitchFamily="34" charset="-120"/>
              </a:rPr>
              <a:t>Trabajar con proyectos, importar datos, usar los verbos de dplyr y manejar valores faltantes y uniones de tablas con seguridad.</a:t>
            </a:r>
            <a:endParaRPr lang="en-US" sz="1500" dirty="0"/>
          </a:p>
        </p:txBody>
      </p:sp>
      <p:sp>
        <p:nvSpPr>
          <p:cNvPr id="9" name="Shape 6"/>
          <p:cNvSpPr/>
          <p:nvPr/>
        </p:nvSpPr>
        <p:spPr>
          <a:xfrm>
            <a:off x="4368698" y="1737360"/>
            <a:ext cx="3454298" cy="3840480"/>
          </a:xfrm>
          <a:prstGeom prst="roundRect">
            <a:avLst>
              <a:gd name="adj" fmla="val 264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0" name="Shape 7"/>
          <p:cNvSpPr/>
          <p:nvPr/>
        </p:nvSpPr>
        <p:spPr>
          <a:xfrm>
            <a:off x="5638648" y="2103120"/>
            <a:ext cx="914400" cy="914400"/>
          </a:xfrm>
          <a:prstGeom prst="ellipse">
            <a:avLst/>
          </a:prstGeom>
          <a:solidFill>
            <a:srgbClr val="1C7293"/>
          </a:solidFill>
          <a:ln/>
        </p:spPr>
      </p:sp>
      <p:pic>
        <p:nvPicPr>
          <p:cNvPr id="11" name="Image 1" descr="/home/claude/sesion1/deck/icons/wand_white.png">    </p:cNvPr>
          <p:cNvPicPr>
            <a:picLocks noChangeAspect="1"/>
          </p:cNvPicPr>
          <p:nvPr/>
        </p:nvPicPr>
        <p:blipFill>
          <a:blip r:embed="rId2"/>
          <a:stretch>
            <a:fillRect/>
          </a:stretch>
        </p:blipFill>
        <p:spPr>
          <a:xfrm>
            <a:off x="5867248" y="2331720"/>
            <a:ext cx="457200" cy="457200"/>
          </a:xfrm>
          <a:prstGeom prst="rect">
            <a:avLst/>
          </a:prstGeom>
        </p:spPr>
      </p:pic>
      <p:sp>
        <p:nvSpPr>
          <p:cNvPr id="12" name="Text 8"/>
          <p:cNvSpPr txBox="1"/>
          <p:nvPr/>
        </p:nvSpPr>
        <p:spPr>
          <a:xfrm>
            <a:off x="4643018" y="3246120"/>
            <a:ext cx="2905658" cy="45720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Automatizar</a:t>
            </a:r>
            <a:endParaRPr lang="en-US" sz="2200" dirty="0"/>
          </a:p>
        </p:txBody>
      </p:sp>
      <p:sp>
        <p:nvSpPr>
          <p:cNvPr id="13" name="Text 9"/>
          <p:cNvSpPr txBox="1"/>
          <p:nvPr/>
        </p:nvSpPr>
        <p:spPr>
          <a:xfrm>
            <a:off x="4734458" y="3840480"/>
            <a:ext cx="2722778" cy="1554480"/>
          </a:xfrm>
          <a:prstGeom prst="rect">
            <a:avLst/>
          </a:prstGeom>
          <a:noFill/>
          <a:ln/>
        </p:spPr>
        <p:txBody>
          <a:bodyPr wrap="square" lIns="0" tIns="0" rIns="0" bIns="0" rtlCol="0" anchor="t"/>
          <a:lstStyle/>
          <a:p>
            <a:pPr algn="ctr" indent="0" marL="0">
              <a:lnSpc>
                <a:spcPts val="2000"/>
              </a:lnSpc>
              <a:buNone/>
            </a:pPr>
            <a:r>
              <a:rPr lang="en-US" sz="1500" dirty="0">
                <a:solidFill>
                  <a:srgbClr val="1F2A37"/>
                </a:solidFill>
                <a:latin typeface="Calibri" pitchFamily="34" charset="0"/>
                <a:ea typeface="Calibri" pitchFamily="34" charset="-122"/>
                <a:cs typeface="Calibri" pitchFamily="34" charset="-120"/>
              </a:rPr>
              <a:t>Aplicar una misma operación a muchas columnas con across(), y filtrar o calcular por fila con pick(), if_all() e if_any().</a:t>
            </a:r>
            <a:endParaRPr lang="en-US" sz="1500" dirty="0"/>
          </a:p>
        </p:txBody>
      </p:sp>
      <p:sp>
        <p:nvSpPr>
          <p:cNvPr id="14" name="Shape 10"/>
          <p:cNvSpPr/>
          <p:nvPr/>
        </p:nvSpPr>
        <p:spPr>
          <a:xfrm>
            <a:off x="8188757" y="1737360"/>
            <a:ext cx="3454298" cy="3840480"/>
          </a:xfrm>
          <a:prstGeom prst="roundRect">
            <a:avLst>
              <a:gd name="adj" fmla="val 264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5" name="Shape 11"/>
          <p:cNvSpPr/>
          <p:nvPr/>
        </p:nvSpPr>
        <p:spPr>
          <a:xfrm>
            <a:off x="9458706" y="2103120"/>
            <a:ext cx="914400" cy="914400"/>
          </a:xfrm>
          <a:prstGeom prst="ellipse">
            <a:avLst/>
          </a:prstGeom>
          <a:solidFill>
            <a:srgbClr val="21295C"/>
          </a:solidFill>
          <a:ln/>
        </p:spPr>
      </p:sp>
      <p:pic>
        <p:nvPicPr>
          <p:cNvPr id="16" name="Image 2" descr="/home/claude/sesion1/deck/icons/branch_white.png">    </p:cNvPr>
          <p:cNvPicPr>
            <a:picLocks noChangeAspect="1"/>
          </p:cNvPicPr>
          <p:nvPr/>
        </p:nvPicPr>
        <p:blipFill>
          <a:blip r:embed="rId3"/>
          <a:stretch>
            <a:fillRect/>
          </a:stretch>
        </p:blipFill>
        <p:spPr>
          <a:xfrm>
            <a:off x="9687306" y="2331720"/>
            <a:ext cx="457200" cy="457200"/>
          </a:xfrm>
          <a:prstGeom prst="rect">
            <a:avLst/>
          </a:prstGeom>
        </p:spPr>
      </p:pic>
      <p:sp>
        <p:nvSpPr>
          <p:cNvPr id="17" name="Text 12"/>
          <p:cNvSpPr txBox="1"/>
          <p:nvPr/>
        </p:nvSpPr>
        <p:spPr>
          <a:xfrm>
            <a:off x="8463077" y="3246120"/>
            <a:ext cx="2905658" cy="457200"/>
          </a:xfrm>
          <a:prstGeom prst="rect">
            <a:avLst/>
          </a:prstGeom>
          <a:noFill/>
          <a:ln/>
        </p:spPr>
        <p:txBody>
          <a:bodyPr wrap="square" lIns="0" tIns="0" rIns="0" bIns="0" rtlCol="0" anchor="ctr"/>
          <a:lstStyle/>
          <a:p>
            <a:pPr algn="ctr" indent="0" marL="0">
              <a:buNone/>
            </a:pPr>
            <a:r>
              <a:rPr lang="en-US" sz="2200" b="1" dirty="0">
                <a:solidFill>
                  <a:srgbClr val="21295C"/>
                </a:solidFill>
                <a:latin typeface="Cambria" pitchFamily="34" charset="0"/>
                <a:ea typeface="Cambria" pitchFamily="34" charset="-122"/>
                <a:cs typeface="Cambria" pitchFamily="34" charset="-120"/>
              </a:rPr>
              <a:t>Versionar</a:t>
            </a:r>
            <a:endParaRPr lang="en-US" sz="2200" dirty="0"/>
          </a:p>
        </p:txBody>
      </p:sp>
      <p:sp>
        <p:nvSpPr>
          <p:cNvPr id="18" name="Text 13"/>
          <p:cNvSpPr txBox="1"/>
          <p:nvPr/>
        </p:nvSpPr>
        <p:spPr>
          <a:xfrm>
            <a:off x="8554517" y="3840480"/>
            <a:ext cx="2722778" cy="1554480"/>
          </a:xfrm>
          <a:prstGeom prst="rect">
            <a:avLst/>
          </a:prstGeom>
          <a:noFill/>
          <a:ln/>
        </p:spPr>
        <p:txBody>
          <a:bodyPr wrap="square" lIns="0" tIns="0" rIns="0" bIns="0" rtlCol="0" anchor="t"/>
          <a:lstStyle/>
          <a:p>
            <a:pPr algn="ctr" indent="0" marL="0">
              <a:lnSpc>
                <a:spcPts val="2000"/>
              </a:lnSpc>
              <a:buNone/>
            </a:pPr>
            <a:r>
              <a:rPr lang="en-US" sz="1500" dirty="0">
                <a:solidFill>
                  <a:srgbClr val="1F2A37"/>
                </a:solidFill>
                <a:latin typeface="Calibri" pitchFamily="34" charset="0"/>
                <a:ea typeface="Calibri" pitchFamily="34" charset="-122"/>
                <a:cs typeface="Calibri" pitchFamily="34" charset="-120"/>
              </a:rPr>
              <a:t>Guardar el historial de tu análisis con Git, deshacer errores y decidir qué archivos nunca deben subirse.</a:t>
            </a:r>
            <a:endParaRPr lang="en-US" sz="1500" dirty="0"/>
          </a:p>
        </p:txBody>
      </p:sp>
      <p:sp>
        <p:nvSpPr>
          <p:cNvPr id="19" name="Text 14"/>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0" name="Text 15"/>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95360" y="3566160"/>
            <a:ext cx="5120640" cy="5120640"/>
          </a:xfrm>
          <a:prstGeom prst="ellipse">
            <a:avLst/>
          </a:prstGeom>
          <a:solidFill>
            <a:srgbClr val="065A82">
              <a:alpha val="45000"/>
            </a:srgbClr>
          </a:solidFill>
          <a:ln/>
        </p:spPr>
      </p:sp>
      <p:sp>
        <p:nvSpPr>
          <p:cNvPr id="3" name="Shape 1"/>
          <p:cNvSpPr/>
          <p:nvPr/>
        </p:nvSpPr>
        <p:spPr>
          <a:xfrm>
            <a:off x="10058400" y="4937760"/>
            <a:ext cx="2926080" cy="2926080"/>
          </a:xfrm>
          <a:prstGeom prst="ellipse">
            <a:avLst/>
          </a:prstGeom>
          <a:solidFill>
            <a:srgbClr val="1C7293">
              <a:alpha val="55000"/>
            </a:srgbClr>
          </a:solidFill>
          <a:ln/>
        </p:spPr>
      </p:sp>
      <p:sp>
        <p:nvSpPr>
          <p:cNvPr id="4" name="Text 2"/>
          <p:cNvSpPr txBox="1"/>
          <p:nvPr/>
        </p:nvSpPr>
        <p:spPr>
          <a:xfrm>
            <a:off x="548640" y="2286000"/>
            <a:ext cx="7315200" cy="365760"/>
          </a:xfrm>
          <a:prstGeom prst="rect">
            <a:avLst/>
          </a:prstGeom>
          <a:noFill/>
          <a:ln/>
        </p:spPr>
        <p:txBody>
          <a:bodyPr wrap="square" lIns="0" tIns="0" rIns="0" bIns="0" rtlCol="0" anchor="ctr"/>
          <a:lstStyle/>
          <a:p>
            <a:pPr indent="0" marL="0">
              <a:buNone/>
            </a:pPr>
            <a:r>
              <a:rPr lang="en-US" sz="1400" b="1" spc="300" kern="0" dirty="0">
                <a:solidFill>
                  <a:srgbClr val="9FD3E8"/>
                </a:solidFill>
                <a:latin typeface="Calibri" pitchFamily="34" charset="0"/>
                <a:ea typeface="Calibri" pitchFamily="34" charset="-122"/>
                <a:cs typeface="Calibri" pitchFamily="34" charset="-120"/>
              </a:rPr>
              <a:t>PARTE 1</a:t>
            </a:r>
            <a:endParaRPr lang="en-US" sz="1400" dirty="0"/>
          </a:p>
        </p:txBody>
      </p:sp>
      <p:sp>
        <p:nvSpPr>
          <p:cNvPr id="5" name="Text 3"/>
          <p:cNvSpPr txBox="1"/>
          <p:nvPr/>
        </p:nvSpPr>
        <p:spPr>
          <a:xfrm>
            <a:off x="548640" y="269748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Nivelación</a:t>
            </a:r>
            <a:endParaRPr lang="en-US" sz="4800" dirty="0"/>
          </a:p>
        </p:txBody>
      </p:sp>
      <p:sp>
        <p:nvSpPr>
          <p:cNvPr id="6" name="Text 4"/>
          <p:cNvSpPr txBox="1"/>
          <p:nvPr/>
        </p:nvSpPr>
        <p:spPr>
          <a:xfrm>
            <a:off x="548640" y="3749040"/>
            <a:ext cx="82296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Tidyverse esencial en 17 minutos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Un proyecto, una carpeta autocontenida</a:t>
            </a:r>
            <a:endParaRPr lang="en-US" sz="2800" dirty="0"/>
          </a:p>
        </p:txBody>
      </p:sp>
      <p:sp>
        <p:nvSpPr>
          <p:cNvPr id="4" name="Shape 2"/>
          <p:cNvSpPr/>
          <p:nvPr/>
        </p:nvSpPr>
        <p:spPr>
          <a:xfrm>
            <a:off x="548640" y="1600200"/>
            <a:ext cx="5394960" cy="3566160"/>
          </a:xfrm>
          <a:prstGeom prst="roundRect">
            <a:avLst>
              <a:gd name="adj" fmla="val 256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Text 3"/>
          <p:cNvSpPr txBox="1"/>
          <p:nvPr/>
        </p:nvSpPr>
        <p:spPr>
          <a:xfrm>
            <a:off x="868680" y="1828800"/>
            <a:ext cx="4846320" cy="3749040"/>
          </a:xfrm>
          <a:prstGeom prst="rect">
            <a:avLst/>
          </a:prstGeom>
          <a:noFill/>
          <a:ln/>
        </p:spPr>
        <p:txBody>
          <a:bodyPr wrap="square" lIns="0" tIns="0" rIns="0" bIns="0" rtlCol="0" anchor="t"/>
          <a:lstStyle/>
          <a:p>
            <a:pPr indent="0" marL="0">
              <a:lnSpc>
                <a:spcPts val="2400"/>
              </a:lnSpc>
              <a:buNone/>
            </a:pPr>
            <a:r>
              <a:rPr lang="en-US" sz="1400" b="1" dirty="0">
                <a:solidFill>
                  <a:srgbClr val="21295C"/>
                </a:solidFill>
                <a:latin typeface="Courier New" pitchFamily="34" charset="0"/>
                <a:ea typeface="Courier New" pitchFamily="34" charset="-122"/>
                <a:cs typeface="Courier New" pitchFamily="34" charset="-120"/>
              </a:rPr>
              <a:t>curso-r-intermedio/</a:t>
            </a:r>
            <a:endParaRPr lang="en-US" sz="1400" dirty="0"/>
          </a:p>
          <a:p>
            <a:pPr indent="0" marL="0">
              <a:lnSpc>
                <a:spcPts val="2400"/>
              </a:lnSpc>
              <a:buNone/>
            </a:pPr>
            <a:r>
              <a:rPr lang="en-US" sz="1400" dirty="0">
                <a:solidFill>
                  <a:srgbClr val="1F2A37"/>
                </a:solidFill>
                <a:latin typeface="Courier New" pitchFamily="34" charset="0"/>
                <a:ea typeface="Courier New" pitchFamily="34" charset="-122"/>
                <a:cs typeface="Courier New" pitchFamily="34" charset="-120"/>
              </a:rPr>
              <a:t>  curso-r-intermedio.Rproj</a:t>
            </a:r>
            <a:endParaRPr lang="en-US" sz="1400" dirty="0"/>
          </a:p>
          <a:p>
            <a:pPr indent="0" marL="0">
              <a:lnSpc>
                <a:spcPts val="2400"/>
              </a:lnSpc>
              <a:buNone/>
            </a:pPr>
            <a:r>
              <a:rPr lang="en-US" sz="1400" b="1" dirty="0">
                <a:solidFill>
                  <a:srgbClr val="065A82"/>
                </a:solidFill>
                <a:latin typeface="Courier New" pitchFamily="34" charset="0"/>
                <a:ea typeface="Courier New" pitchFamily="34" charset="-122"/>
                <a:cs typeface="Courier New" pitchFamily="34" charset="-120"/>
              </a:rPr>
              <a:t>  data/</a:t>
            </a:r>
            <a:endParaRPr lang="en-US" sz="1400" dirty="0"/>
          </a:p>
          <a:p>
            <a:pPr indent="0" marL="0">
              <a:lnSpc>
                <a:spcPts val="2400"/>
              </a:lnSpc>
              <a:buNone/>
            </a:pPr>
            <a:r>
              <a:rPr lang="en-US" sz="1400" dirty="0">
                <a:solidFill>
                  <a:srgbClr val="1F2A37"/>
                </a:solidFill>
                <a:latin typeface="Courier New" pitchFamily="34" charset="0"/>
                <a:ea typeface="Courier New" pitchFamily="34" charset="-122"/>
                <a:cs typeface="Courier New" pitchFamily="34" charset="-120"/>
              </a:rPr>
              <a:t>    raw/        datos originales</a:t>
            </a:r>
            <a:endParaRPr lang="en-US" sz="1400" dirty="0"/>
          </a:p>
          <a:p>
            <a:pPr indent="0" marL="0">
              <a:lnSpc>
                <a:spcPts val="2400"/>
              </a:lnSpc>
              <a:buNone/>
            </a:pPr>
            <a:r>
              <a:rPr lang="en-US" sz="1400" dirty="0">
                <a:solidFill>
                  <a:srgbClr val="1F2A37"/>
                </a:solidFill>
                <a:latin typeface="Courier New" pitchFamily="34" charset="0"/>
                <a:ea typeface="Courier New" pitchFamily="34" charset="-122"/>
                <a:cs typeface="Courier New" pitchFamily="34" charset="-120"/>
              </a:rPr>
              <a:t>    processed/  datos limpios</a:t>
            </a:r>
            <a:endParaRPr lang="en-US" sz="1400" dirty="0"/>
          </a:p>
          <a:p>
            <a:pPr indent="0" marL="0">
              <a:lnSpc>
                <a:spcPts val="2400"/>
              </a:lnSpc>
              <a:buNone/>
            </a:pPr>
            <a:r>
              <a:rPr lang="en-US" sz="1400" b="1" dirty="0">
                <a:solidFill>
                  <a:srgbClr val="065A82"/>
                </a:solidFill>
                <a:latin typeface="Courier New" pitchFamily="34" charset="0"/>
                <a:ea typeface="Courier New" pitchFamily="34" charset="-122"/>
                <a:cs typeface="Courier New" pitchFamily="34" charset="-120"/>
              </a:rPr>
              <a:t>  R/            scripts (.R, .qmd)</a:t>
            </a:r>
            <a:endParaRPr lang="en-US" sz="1400" dirty="0"/>
          </a:p>
          <a:p>
            <a:pPr indent="0" marL="0">
              <a:lnSpc>
                <a:spcPts val="2400"/>
              </a:lnSpc>
              <a:buNone/>
            </a:pPr>
            <a:r>
              <a:rPr lang="en-US" sz="1400" b="1" dirty="0">
                <a:solidFill>
                  <a:srgbClr val="065A82"/>
                </a:solidFill>
                <a:latin typeface="Courier New" pitchFamily="34" charset="0"/>
                <a:ea typeface="Courier New" pitchFamily="34" charset="-122"/>
                <a:cs typeface="Courier New" pitchFamily="34" charset="-120"/>
              </a:rPr>
              <a:t>  outputs/      tablas y figuras</a:t>
            </a:r>
            <a:endParaRPr lang="en-US" sz="1400" dirty="0"/>
          </a:p>
          <a:p>
            <a:pPr indent="0" marL="0">
              <a:lnSpc>
                <a:spcPts val="2400"/>
              </a:lnSpc>
              <a:buNone/>
            </a:pPr>
            <a:r>
              <a:rPr lang="en-US" sz="1400" dirty="0">
                <a:solidFill>
                  <a:srgbClr val="1F2A37"/>
                </a:solidFill>
                <a:latin typeface="Courier New" pitchFamily="34" charset="0"/>
                <a:ea typeface="Courier New" pitchFamily="34" charset="-122"/>
                <a:cs typeface="Courier New" pitchFamily="34" charset="-120"/>
              </a:rPr>
              <a:t>  README.md     qué es y cómo correrlo</a:t>
            </a:r>
            <a:endParaRPr lang="en-US" sz="1400" dirty="0"/>
          </a:p>
        </p:txBody>
      </p:sp>
      <p:sp>
        <p:nvSpPr>
          <p:cNvPr id="6" name="Shape 4"/>
          <p:cNvSpPr/>
          <p:nvPr/>
        </p:nvSpPr>
        <p:spPr>
          <a:xfrm>
            <a:off x="6400800" y="1691640"/>
            <a:ext cx="457200" cy="457200"/>
          </a:xfrm>
          <a:prstGeom prst="ellipse">
            <a:avLst/>
          </a:prstGeom>
          <a:solidFill>
            <a:srgbClr val="065A82"/>
          </a:solidFill>
          <a:ln/>
        </p:spPr>
      </p:sp>
      <p:sp>
        <p:nvSpPr>
          <p:cNvPr id="7" name="Text 5"/>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7040880" y="1673352"/>
            <a:ext cx="4602175" cy="36576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Abre el .Rproj</a:t>
            </a:r>
            <a:endParaRPr lang="en-US" sz="1800" dirty="0"/>
          </a:p>
        </p:txBody>
      </p:sp>
      <p:sp>
        <p:nvSpPr>
          <p:cNvPr id="9" name="Text 7"/>
          <p:cNvSpPr txBox="1"/>
          <p:nvPr/>
        </p:nvSpPr>
        <p:spPr>
          <a:xfrm>
            <a:off x="7040880" y="2075688"/>
            <a:ext cx="4602175" cy="82296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La carpeta pasa a ser tu directorio de trabajo, en cualquier computador.</a:t>
            </a:r>
            <a:endParaRPr lang="en-US" sz="1450" dirty="0"/>
          </a:p>
        </p:txBody>
      </p:sp>
      <p:sp>
        <p:nvSpPr>
          <p:cNvPr id="10" name="Shape 8"/>
          <p:cNvSpPr/>
          <p:nvPr/>
        </p:nvSpPr>
        <p:spPr>
          <a:xfrm>
            <a:off x="6400800" y="3063240"/>
            <a:ext cx="457200" cy="457200"/>
          </a:xfrm>
          <a:prstGeom prst="ellipse">
            <a:avLst/>
          </a:prstGeom>
          <a:solidFill>
            <a:srgbClr val="1C7293"/>
          </a:solidFill>
          <a:ln/>
        </p:spPr>
      </p:sp>
      <p:sp>
        <p:nvSpPr>
          <p:cNvPr id="11" name="Text 9"/>
          <p:cNvSpPr txBox="1"/>
          <p:nvPr/>
        </p:nvSpPr>
        <p:spPr>
          <a:xfrm>
            <a:off x="640080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040880" y="3044952"/>
            <a:ext cx="4602175" cy="36576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here() en vez de setwd()</a:t>
            </a:r>
            <a:endParaRPr lang="en-US" sz="1800" dirty="0"/>
          </a:p>
        </p:txBody>
      </p:sp>
      <p:sp>
        <p:nvSpPr>
          <p:cNvPr id="13" name="Text 11"/>
          <p:cNvSpPr txBox="1"/>
          <p:nvPr/>
        </p:nvSpPr>
        <p:spPr>
          <a:xfrm>
            <a:off x="7040880" y="3447288"/>
            <a:ext cx="4602175" cy="82296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here("data", "raw", "datos.csv") construye la ruta correcta sin importar dónde esté el proyecto.</a:t>
            </a:r>
            <a:endParaRPr lang="en-US" sz="1450" dirty="0"/>
          </a:p>
        </p:txBody>
      </p:sp>
      <p:sp>
        <p:nvSpPr>
          <p:cNvPr id="14" name="Shape 12"/>
          <p:cNvSpPr/>
          <p:nvPr/>
        </p:nvSpPr>
        <p:spPr>
          <a:xfrm>
            <a:off x="6400800" y="4434840"/>
            <a:ext cx="457200" cy="457200"/>
          </a:xfrm>
          <a:prstGeom prst="ellipse">
            <a:avLst/>
          </a:prstGeom>
          <a:solidFill>
            <a:srgbClr val="21295C"/>
          </a:solidFill>
          <a:ln/>
        </p:spPr>
      </p:sp>
      <p:sp>
        <p:nvSpPr>
          <p:cNvPr id="15" name="Text 13"/>
          <p:cNvSpPr txBox="1"/>
          <p:nvPr/>
        </p:nvSpPr>
        <p:spPr>
          <a:xfrm>
            <a:off x="640080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7040880" y="4416552"/>
            <a:ext cx="4602175" cy="36576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Los datos originales no se tocan</a:t>
            </a:r>
            <a:endParaRPr lang="en-US" sz="1800" dirty="0"/>
          </a:p>
        </p:txBody>
      </p:sp>
      <p:sp>
        <p:nvSpPr>
          <p:cNvPr id="17" name="Text 15"/>
          <p:cNvSpPr txBox="1"/>
          <p:nvPr/>
        </p:nvSpPr>
        <p:spPr>
          <a:xfrm>
            <a:off x="7040880" y="4818888"/>
            <a:ext cx="4602175" cy="82296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Toda limpieza queda escrita en código: así puedes repetirla y auditarla.</a:t>
            </a:r>
            <a:endParaRPr lang="en-US" sz="1450" dirty="0"/>
          </a:p>
        </p:txBody>
      </p:sp>
      <p:sp>
        <p:nvSpPr>
          <p:cNvPr id="18" name="Text 16"/>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9" name="Text 17"/>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Las estructuras de datos que usarás todo el curso</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560320"/>
                <a:gridCol w="3840480"/>
                <a:gridCol w="469087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Estructura</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Qué es</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Ejemplo</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566928">
                <a:tc>
                  <a:txBody>
                    <a:bodyPr/>
                    <a:lstStyle/>
                    <a:p>
                      <a:pPr indent="0" marL="0">
                        <a:buNone/>
                      </a:pPr>
                      <a:r>
                        <a:rPr lang="en-US" sz="1600" b="1" dirty="0">
                          <a:solidFill>
                            <a:srgbClr val="1F2A37"/>
                          </a:solidFill>
                          <a:latin typeface="Calibri" pitchFamily="34" charset="0"/>
                          <a:ea typeface="Calibri" pitchFamily="34" charset="-122"/>
                          <a:cs typeface="Calibri" pitchFamily="34" charset="-120"/>
                        </a:rPr>
                        <a:t>Vector</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600" dirty="0">
                          <a:solidFill>
                            <a:srgbClr val="1F2A37"/>
                          </a:solidFill>
                          <a:latin typeface="Calibri" pitchFamily="34" charset="0"/>
                          <a:ea typeface="Calibri" pitchFamily="34" charset="-122"/>
                          <a:cs typeface="Calibri" pitchFamily="34" charset="-120"/>
                        </a:rPr>
                        <a:t>Valores del mismo tipo</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065A82"/>
                          </a:solidFill>
                          <a:latin typeface="Courier New" pitchFamily="34" charset="0"/>
                          <a:ea typeface="Courier New" pitchFamily="34" charset="-122"/>
                          <a:cs typeface="Courier New" pitchFamily="34" charset="-120"/>
                        </a:rPr>
                        <a:t>c(4, 8, 15)</a:t>
                      </a:r>
                      <a:endParaRPr lang="en-US" sz="14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F2A37"/>
                          </a:solidFill>
                          <a:latin typeface="Calibri" pitchFamily="34" charset="0"/>
                          <a:ea typeface="Calibri" pitchFamily="34" charset="-122"/>
                          <a:cs typeface="Calibri" pitchFamily="34" charset="-120"/>
                        </a:rPr>
                        <a:t>Factor</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600" dirty="0">
                          <a:solidFill>
                            <a:srgbClr val="1F2A37"/>
                          </a:solidFill>
                          <a:latin typeface="Calibri" pitchFamily="34" charset="0"/>
                          <a:ea typeface="Calibri" pitchFamily="34" charset="-122"/>
                          <a:cs typeface="Calibri" pitchFamily="34" charset="-120"/>
                        </a:rPr>
                        <a:t>Categorías con niveles definidos</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065A82"/>
                          </a:solidFill>
                          <a:latin typeface="Courier New" pitchFamily="34" charset="0"/>
                          <a:ea typeface="Courier New" pitchFamily="34" charset="-122"/>
                          <a:cs typeface="Courier New" pitchFamily="34" charset="-120"/>
                        </a:rPr>
                        <a:t>factor(c("Magíster", "Doctorado"))</a:t>
                      </a:r>
                      <a:endParaRPr lang="en-US" sz="14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66928">
                <a:tc>
                  <a:txBody>
                    <a:bodyPr/>
                    <a:lstStyle/>
                    <a:p>
                      <a:pPr indent="0" marL="0">
                        <a:buNone/>
                      </a:pPr>
                      <a:r>
                        <a:rPr lang="en-US" sz="1600" b="1" dirty="0">
                          <a:solidFill>
                            <a:srgbClr val="1F2A37"/>
                          </a:solidFill>
                          <a:latin typeface="Calibri" pitchFamily="34" charset="0"/>
                          <a:ea typeface="Calibri" pitchFamily="34" charset="-122"/>
                          <a:cs typeface="Calibri" pitchFamily="34" charset="-120"/>
                        </a:rPr>
                        <a:t>Lista</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600" dirty="0">
                          <a:solidFill>
                            <a:srgbClr val="1F2A37"/>
                          </a:solidFill>
                          <a:latin typeface="Calibri" pitchFamily="34" charset="0"/>
                          <a:ea typeface="Calibri" pitchFamily="34" charset="-122"/>
                          <a:cs typeface="Calibri" pitchFamily="34" charset="-120"/>
                        </a:rPr>
                        <a:t>Contenedor de cualquier cosa</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065A82"/>
                          </a:solidFill>
                          <a:latin typeface="Courier New" pitchFamily="34" charset="0"/>
                          <a:ea typeface="Courier New" pitchFamily="34" charset="-122"/>
                          <a:cs typeface="Courier New" pitchFamily="34" charset="-120"/>
                        </a:rPr>
                        <a:t>list(a = 1, b = "texto")</a:t>
                      </a:r>
                      <a:endParaRPr lang="en-US" sz="14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rgbClr val="1F2A37"/>
                          </a:solidFill>
                          <a:latin typeface="Calibri" pitchFamily="34" charset="0"/>
                          <a:ea typeface="Calibri" pitchFamily="34" charset="-122"/>
                          <a:cs typeface="Calibri" pitchFamily="34" charset="-120"/>
                        </a:rPr>
                        <a:t>Data frame / tibble</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600" dirty="0">
                          <a:solidFill>
                            <a:srgbClr val="1F2A37"/>
                          </a:solidFill>
                          <a:latin typeface="Calibri" pitchFamily="34" charset="0"/>
                          <a:ea typeface="Calibri" pitchFamily="34" charset="-122"/>
                          <a:cs typeface="Calibri" pitchFamily="34" charset="-120"/>
                        </a:rPr>
                        <a:t>Tabla: cada columna es un vector</a:t>
                      </a:r>
                      <a:endParaRPr lang="en-US" sz="16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065A82"/>
                          </a:solidFill>
                          <a:latin typeface="Courier New" pitchFamily="34" charset="0"/>
                          <a:ea typeface="Courier New" pitchFamily="34" charset="-122"/>
                          <a:cs typeface="Courier New" pitchFamily="34" charset="-120"/>
                        </a:rPr>
                        <a:t>read_csv("encuesta.csv")</a:t>
                      </a:r>
                      <a:endParaRPr lang="en-US" sz="14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bl>
          </a:graphicData>
        </a:graphic>
      </p:graphicFrame>
      <p:sp>
        <p:nvSpPr>
          <p:cNvPr id="5" name="Shape 2"/>
          <p:cNvSpPr/>
          <p:nvPr/>
        </p:nvSpPr>
        <p:spPr>
          <a:xfrm>
            <a:off x="548640" y="4846320"/>
            <a:ext cx="11094415" cy="914400"/>
          </a:xfrm>
          <a:prstGeom prst="roundRect">
            <a:avLst>
              <a:gd name="adj" fmla="val 10000"/>
            </a:avLst>
          </a:prstGeom>
          <a:solidFill>
            <a:srgbClr val="E4EEF2"/>
          </a:solidFill>
          <a:ln w="12700">
            <a:solidFill>
              <a:srgbClr val="E4EEF2"/>
            </a:solidFill>
            <a:prstDash val="solid"/>
          </a:ln>
        </p:spPr>
      </p:sp>
      <p:sp>
        <p:nvSpPr>
          <p:cNvPr id="6" name="Text 3"/>
          <p:cNvSpPr txBox="1"/>
          <p:nvPr/>
        </p:nvSpPr>
        <p:spPr>
          <a:xfrm>
            <a:off x="868680" y="4846320"/>
            <a:ext cx="10454335" cy="914400"/>
          </a:xfrm>
          <a:prstGeom prst="rect">
            <a:avLst/>
          </a:prstGeom>
          <a:noFill/>
          <a:ln/>
        </p:spPr>
        <p:txBody>
          <a:bodyPr wrap="square" lIns="0" tIns="0" rIns="0" bIns="0" rtlCol="0" anchor="ctr"/>
          <a:lstStyle/>
          <a:p>
            <a:pPr indent="0" marL="0">
              <a:buNone/>
            </a:pPr>
            <a:r>
              <a:rPr lang="en-US" sz="1600" i="1" dirty="0">
                <a:solidFill>
                  <a:srgbClr val="065A82"/>
                </a:solidFill>
                <a:latin typeface="Calibri" pitchFamily="34" charset="0"/>
                <a:ea typeface="Calibri" pitchFamily="34" charset="-122"/>
                <a:cs typeface="Calibri" pitchFamily="34" charset="-120"/>
              </a:rPr>
              <a:t>Cada columna de una tabla es un vector. Por eso podemos recorrer columnas con across(): lo veremos en la Parte 2.</a:t>
            </a:r>
            <a:endParaRPr lang="en-US" sz="1600" dirty="0"/>
          </a:p>
        </p:txBody>
      </p:sp>
      <p:sp>
        <p:nvSpPr>
          <p:cNvPr id="7" name="Text 4"/>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8" name="Text 5"/>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Importar datos con readr y readxl</a:t>
            </a:r>
            <a:endParaRPr lang="en-US" sz="2800" dirty="0"/>
          </a:p>
        </p:txBody>
      </p:sp>
      <p:sp>
        <p:nvSpPr>
          <p:cNvPr id="4" name="Shape 2"/>
          <p:cNvSpPr/>
          <p:nvPr/>
        </p:nvSpPr>
        <p:spPr>
          <a:xfrm>
            <a:off x="548640" y="1645920"/>
            <a:ext cx="6766560" cy="3566160"/>
          </a:xfrm>
          <a:prstGeom prst="roundRect">
            <a:avLst>
              <a:gd name="adj" fmla="val 2051"/>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6309360" cy="3291840"/>
          </a:xfrm>
          <a:prstGeom prst="rect">
            <a:avLst/>
          </a:prstGeom>
          <a:noFill/>
          <a:ln/>
        </p:spPr>
        <p:txBody>
          <a:bodyPr wrap="none" lIns="0" tIns="0" rIns="0" bIns="0" rtlCol="0" anchor="t"/>
          <a:lstStyle/>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library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tidyverse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library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here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library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readxl</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&lt;-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read_csv</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here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"data"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"raw"</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"encuesta_postgrado.csv"</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si tus datos vienen en Excel:</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hoja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&lt;-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read_excel</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here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"data"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"raw"</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"mediciones.xlsx"</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sheet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2</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glimpse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7680960" y="1691640"/>
            <a:ext cx="3962095"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ANTES DE ANALIZAR</a:t>
            </a:r>
            <a:endParaRPr lang="en-US" sz="1100" dirty="0"/>
          </a:p>
        </p:txBody>
      </p:sp>
      <p:sp>
        <p:nvSpPr>
          <p:cNvPr id="7" name="Text 5"/>
          <p:cNvSpPr txBox="1"/>
          <p:nvPr/>
        </p:nvSpPr>
        <p:spPr>
          <a:xfrm>
            <a:off x="7680960" y="2011680"/>
            <a:ext cx="3962095" cy="31089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Lee el mensaje de read_csv(): te dice qué tipo asignó a cada columna.</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Usa glimpse() para ver nombres, tipos y primeros valores.</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Si ves caracteres raros (Ã­), el archivo no está en UTF-8: prueba locale(encoding = "latin1").</a:t>
            </a:r>
            <a:endParaRPr lang="en-US" sz="1500" dirty="0"/>
          </a:p>
        </p:txBody>
      </p:sp>
      <p:sp>
        <p:nvSpPr>
          <p:cNvPr id="8" name="Text 6"/>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9" name="Text 7"/>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Seis verbos de dplyr cubren la mayor parte del trabajo</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103120"/>
                <a:gridCol w="3657600"/>
                <a:gridCol w="5330952"/>
              </a:tblGrid>
              <a:tr h="53035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Verbo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Qué hace</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Ejemplo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filter()</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Selecciona filas</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filter(nivel == "Doctorado")</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select()</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Selecciona columnas</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select(id, starts_with("sat_"))</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mutate()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Crea o modifica columnas</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mutate(anios = 2026 - anio_ingreso)</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arrange()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Ordena filas</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arrange(desc(horas_media))</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summarise()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Resume a una fila (o una por grupo)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summarise(media = mean(horas, na.rm = TRUE))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30352">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group_by()</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Define grupos para lo siguiente</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group_by(area)</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bl>
          </a:graphicData>
        </a:graphic>
      </p:graphicFrame>
      <p:sp>
        <p:nvSpPr>
          <p:cNvPr id="5" name="Text 2"/>
          <p:cNvSpPr txBox="1"/>
          <p:nvPr/>
        </p:nvSpPr>
        <p:spPr>
          <a:xfrm>
            <a:off x="548640" y="5532120"/>
            <a:ext cx="11094415" cy="548640"/>
          </a:xfrm>
          <a:prstGeom prst="rect">
            <a:avLst/>
          </a:prstGeom>
          <a:noFill/>
          <a:ln/>
        </p:spPr>
        <p:txBody>
          <a:bodyPr wrap="square" lIns="0" tIns="0" rIns="0" bIns="0" rtlCol="0" anchor="ctr"/>
          <a:lstStyle/>
          <a:p>
            <a:pPr indent="0" marL="0">
              <a:buNone/>
            </a:pPr>
            <a:r>
              <a:rPr lang="en-US" sz="1500" dirty="0">
                <a:solidFill>
                  <a:srgbClr val="5B6B79"/>
                </a:solidFill>
                <a:latin typeface="Calibri" pitchFamily="34" charset="0"/>
                <a:ea typeface="Calibri" pitchFamily="34" charset="-122"/>
                <a:cs typeface="Calibri" pitchFamily="34" charset="-120"/>
              </a:rPr>
              <a:t>Se encadenan con el pipe nativo </a:t>
            </a:r>
            <a:pPr indent="0" marL="0">
              <a:buNone/>
            </a:pPr>
            <a:r>
              <a:rPr lang="en-US" sz="1500" b="1" dirty="0">
                <a:solidFill>
                  <a:srgbClr val="065A82"/>
                </a:solidFill>
                <a:latin typeface="Courier New" pitchFamily="34" charset="0"/>
                <a:ea typeface="Courier New" pitchFamily="34" charset="-122"/>
                <a:cs typeface="Courier New" pitchFamily="34" charset="-120"/>
              </a:rPr>
              <a:t>|&gt;</a:t>
            </a:r>
            <a:pPr indent="0" marL="0">
              <a:buNone/>
            </a:pPr>
            <a:r>
              <a:rPr lang="en-US" sz="1500" dirty="0">
                <a:solidFill>
                  <a:srgbClr val="5B6B79"/>
                </a:solidFill>
                <a:latin typeface="Calibri" pitchFamily="34" charset="0"/>
                <a:ea typeface="Calibri" pitchFamily="34" charset="-122"/>
                <a:cs typeface="Calibri" pitchFamily="34" charset="-120"/>
              </a:rPr>
              <a:t> (R ≥ 4.1): "toma esto, y luego haz aquello". Los joins (left_join) unen tablas por una llave.</a:t>
            </a:r>
            <a:endParaRPr lang="en-US" sz="1500" dirty="0"/>
          </a:p>
        </p:txBody>
      </p:sp>
      <p:sp>
        <p:nvSpPr>
          <p:cNvPr id="6" name="Text 3"/>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7" name="Text 4"/>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Leer un pipeline como una receta</a:t>
            </a:r>
            <a:endParaRPr lang="en-US" sz="2800" dirty="0"/>
          </a:p>
        </p:txBody>
      </p:sp>
      <p:sp>
        <p:nvSpPr>
          <p:cNvPr id="4" name="Shape 2"/>
          <p:cNvSpPr/>
          <p:nvPr/>
        </p:nvSpPr>
        <p:spPr>
          <a:xfrm>
            <a:off x="548640" y="1645920"/>
            <a:ext cx="6949440" cy="3474720"/>
          </a:xfrm>
          <a:prstGeom prst="roundRect">
            <a:avLst>
              <a:gd name="adj" fmla="val 2105"/>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6492240" cy="3200400"/>
          </a:xfrm>
          <a:prstGeom prst="rect">
            <a:avLst/>
          </a:prstGeom>
          <a:noFill/>
          <a:ln/>
        </p:spPr>
        <p:txBody>
          <a:bodyPr wrap="none" lIns="0" tIns="0" rIns="0" bIns="0" rtlCol="0" anchor="t"/>
          <a:lstStyle/>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encuesta_prog</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|&gt;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filter</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nivel</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F2C97D"/>
                </a:solidFill>
                <a:latin typeface="Courier New" pitchFamily="34" charset="0"/>
                <a:ea typeface="Courier New" pitchFamily="34" charset="-122"/>
                <a:cs typeface="Courier New" pitchFamily="34" charset="-120"/>
              </a:rPr>
              <a:t>"Doctorado"</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is.na</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horas_investigacion_sem</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|&gt;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mutate</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anios_en_programa</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FF9E8A"/>
                </a:solidFill>
                <a:latin typeface="Courier New" pitchFamily="34" charset="0"/>
                <a:ea typeface="Courier New" pitchFamily="34" charset="-122"/>
                <a:cs typeface="Courier New" pitchFamily="34" charset="-120"/>
              </a:rPr>
              <a:t>2026</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anio_ingreso</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|&gt;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group_by</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area</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|&gt;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summarise</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n</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n</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horas_media</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mean</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horas_investigacion_sem</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C3A6FF"/>
                </a:solidFill>
                <a:latin typeface="Courier New" pitchFamily="34" charset="0"/>
                <a:ea typeface="Courier New" pitchFamily="34" charset="-122"/>
                <a:cs typeface="Courier New" pitchFamily="34" charset="-120"/>
              </a:rPr>
              <a:t>|&gt;</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arrange</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desc</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horas_media</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endParaRPr lang="en-US" sz="1350" dirty="0"/>
          </a:p>
        </p:txBody>
      </p:sp>
      <p:sp>
        <p:nvSpPr>
          <p:cNvPr id="6" name="Shape 4"/>
          <p:cNvSpPr/>
          <p:nvPr/>
        </p:nvSpPr>
        <p:spPr>
          <a:xfrm>
            <a:off x="7863840" y="1691640"/>
            <a:ext cx="384048" cy="384048"/>
          </a:xfrm>
          <a:prstGeom prst="ellipse">
            <a:avLst/>
          </a:prstGeom>
          <a:solidFill>
            <a:srgbClr val="065A82"/>
          </a:solidFill>
          <a:ln/>
        </p:spPr>
      </p:sp>
      <p:sp>
        <p:nvSpPr>
          <p:cNvPr id="7" name="Text 5"/>
          <p:cNvSpPr txBox="1"/>
          <p:nvPr/>
        </p:nvSpPr>
        <p:spPr>
          <a:xfrm>
            <a:off x="786384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8412480" y="169164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Toma la tabla unida</a:t>
            </a:r>
            <a:endParaRPr lang="en-US" sz="1500" dirty="0"/>
          </a:p>
        </p:txBody>
      </p:sp>
      <p:sp>
        <p:nvSpPr>
          <p:cNvPr id="9" name="Shape 7"/>
          <p:cNvSpPr/>
          <p:nvPr/>
        </p:nvSpPr>
        <p:spPr>
          <a:xfrm>
            <a:off x="7863840" y="2331720"/>
            <a:ext cx="384048" cy="384048"/>
          </a:xfrm>
          <a:prstGeom prst="ellipse">
            <a:avLst/>
          </a:prstGeom>
          <a:solidFill>
            <a:srgbClr val="1C7293"/>
          </a:solidFill>
          <a:ln/>
        </p:spPr>
      </p:sp>
      <p:sp>
        <p:nvSpPr>
          <p:cNvPr id="10" name="Text 8"/>
          <p:cNvSpPr txBox="1"/>
          <p:nvPr/>
        </p:nvSpPr>
        <p:spPr>
          <a:xfrm>
            <a:off x="786384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8412480" y="233172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Deja doctorandos con horas informadas</a:t>
            </a:r>
            <a:endParaRPr lang="en-US" sz="1500" dirty="0"/>
          </a:p>
        </p:txBody>
      </p:sp>
      <p:sp>
        <p:nvSpPr>
          <p:cNvPr id="12" name="Shape 10"/>
          <p:cNvSpPr/>
          <p:nvPr/>
        </p:nvSpPr>
        <p:spPr>
          <a:xfrm>
            <a:off x="7863840" y="2971800"/>
            <a:ext cx="384048" cy="384048"/>
          </a:xfrm>
          <a:prstGeom prst="ellipse">
            <a:avLst/>
          </a:prstGeom>
          <a:solidFill>
            <a:srgbClr val="065A82"/>
          </a:solidFill>
          <a:ln/>
        </p:spPr>
      </p:sp>
      <p:sp>
        <p:nvSpPr>
          <p:cNvPr id="13" name="Text 11"/>
          <p:cNvSpPr txBox="1"/>
          <p:nvPr/>
        </p:nvSpPr>
        <p:spPr>
          <a:xfrm>
            <a:off x="7863840" y="2971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8412480" y="297180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Calcula los años en el programa</a:t>
            </a:r>
            <a:endParaRPr lang="en-US" sz="1500" dirty="0"/>
          </a:p>
        </p:txBody>
      </p:sp>
      <p:sp>
        <p:nvSpPr>
          <p:cNvPr id="15" name="Shape 13"/>
          <p:cNvSpPr/>
          <p:nvPr/>
        </p:nvSpPr>
        <p:spPr>
          <a:xfrm>
            <a:off x="7863840" y="3611880"/>
            <a:ext cx="384048" cy="384048"/>
          </a:xfrm>
          <a:prstGeom prst="ellipse">
            <a:avLst/>
          </a:prstGeom>
          <a:solidFill>
            <a:srgbClr val="1C7293"/>
          </a:solidFill>
          <a:ln/>
        </p:spPr>
      </p:sp>
      <p:sp>
        <p:nvSpPr>
          <p:cNvPr id="16" name="Text 14"/>
          <p:cNvSpPr txBox="1"/>
          <p:nvPr/>
        </p:nvSpPr>
        <p:spPr>
          <a:xfrm>
            <a:off x="786384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8412480" y="361188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Agrupa por área</a:t>
            </a:r>
            <a:endParaRPr lang="en-US" sz="1500" dirty="0"/>
          </a:p>
        </p:txBody>
      </p:sp>
      <p:sp>
        <p:nvSpPr>
          <p:cNvPr id="18" name="Shape 16"/>
          <p:cNvSpPr/>
          <p:nvPr/>
        </p:nvSpPr>
        <p:spPr>
          <a:xfrm>
            <a:off x="7863840" y="4251960"/>
            <a:ext cx="384048" cy="384048"/>
          </a:xfrm>
          <a:prstGeom prst="ellipse">
            <a:avLst/>
          </a:prstGeom>
          <a:solidFill>
            <a:srgbClr val="065A82"/>
          </a:solidFill>
          <a:ln/>
        </p:spPr>
      </p:sp>
      <p:sp>
        <p:nvSpPr>
          <p:cNvPr id="19" name="Text 17"/>
          <p:cNvSpPr txBox="1"/>
          <p:nvPr/>
        </p:nvSpPr>
        <p:spPr>
          <a:xfrm>
            <a:off x="7863840" y="4251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8412480" y="425196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Resume: n y horas medias</a:t>
            </a:r>
            <a:endParaRPr lang="en-US" sz="1500" dirty="0"/>
          </a:p>
        </p:txBody>
      </p:sp>
      <p:sp>
        <p:nvSpPr>
          <p:cNvPr id="21" name="Shape 19"/>
          <p:cNvSpPr/>
          <p:nvPr/>
        </p:nvSpPr>
        <p:spPr>
          <a:xfrm>
            <a:off x="7863840" y="4892040"/>
            <a:ext cx="384048" cy="384048"/>
          </a:xfrm>
          <a:prstGeom prst="ellipse">
            <a:avLst/>
          </a:prstGeom>
          <a:solidFill>
            <a:srgbClr val="1C7293"/>
          </a:solidFill>
          <a:ln/>
        </p:spPr>
      </p:sp>
      <p:sp>
        <p:nvSpPr>
          <p:cNvPr id="22" name="Text 20"/>
          <p:cNvSpPr txBox="1"/>
          <p:nvPr/>
        </p:nvSpPr>
        <p:spPr>
          <a:xfrm>
            <a:off x="7863840"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8412480" y="4892040"/>
            <a:ext cx="3230575" cy="384048"/>
          </a:xfrm>
          <a:prstGeom prst="rect">
            <a:avLst/>
          </a:prstGeom>
          <a:noFill/>
          <a:ln/>
        </p:spPr>
        <p:txBody>
          <a:bodyPr wrap="square" lIns="0" tIns="0" rIns="0" bIns="0" rtlCol="0" anchor="ctr"/>
          <a:lstStyle/>
          <a:p>
            <a:pPr indent="0" marL="0">
              <a:buNone/>
            </a:pPr>
            <a:r>
              <a:rPr lang="en-US" sz="1500" dirty="0">
                <a:solidFill>
                  <a:srgbClr val="1F2A37"/>
                </a:solidFill>
                <a:latin typeface="Calibri" pitchFamily="34" charset="0"/>
                <a:ea typeface="Calibri" pitchFamily="34" charset="-122"/>
                <a:cs typeface="Calibri" pitchFamily="34" charset="-120"/>
              </a:rPr>
              <a:t>Ordena de mayor a menor</a:t>
            </a:r>
            <a:endParaRPr lang="en-US" sz="1500" dirty="0"/>
          </a:p>
        </p:txBody>
      </p:sp>
      <p:sp>
        <p:nvSpPr>
          <p:cNvPr id="24" name="Text 22"/>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5" name="Text 23"/>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Faltantes y recodificación: errores silenciosos</a:t>
            </a:r>
            <a:endParaRPr lang="en-US" sz="2800" dirty="0"/>
          </a:p>
        </p:txBody>
      </p:sp>
      <p:sp>
        <p:nvSpPr>
          <p:cNvPr id="4" name="Shape 2"/>
          <p:cNvSpPr/>
          <p:nvPr/>
        </p:nvSpPr>
        <p:spPr>
          <a:xfrm>
            <a:off x="548640" y="1645920"/>
            <a:ext cx="6766560" cy="3017520"/>
          </a:xfrm>
          <a:prstGeom prst="roundRect">
            <a:avLst>
              <a:gd name="adj" fmla="val 2424"/>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6309360" cy="2743200"/>
          </a:xfrm>
          <a:prstGeom prst="rect">
            <a:avLst/>
          </a:prstGeom>
          <a:noFill/>
          <a:ln/>
        </p:spPr>
        <p:txBody>
          <a:bodyPr wrap="none" lIns="0" tIns="0" rIns="0" bIns="0" rtlCol="0" anchor="t"/>
          <a:lstStyle/>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mean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c</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4</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8</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NA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NA</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mean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c</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4</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8</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NA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na.rm</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TRUE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6</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mutate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perfil</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case_when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is.na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n_publicaciones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NA_character_</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n_publicaciones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0</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"Sin publicaciones"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n_publicaciones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&lt;=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2</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"1 a 2"</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.default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"3 o más"</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7680960" y="1691640"/>
            <a:ext cx="3962095" cy="365760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Un NA contagia: casi cualquier cálculo que lo incluya devuelve NA.</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case_when() evalúa en orden: gana la primera condición verdadera.</a:t>
            </a:r>
            <a:endParaRPr lang="en-US" sz="1550" dirty="0"/>
          </a:p>
          <a:p>
            <a:pPr marL="203200" indent="-203200">
              <a:spcAft>
                <a:spcPts val="900"/>
              </a:spcAft>
              <a:buSzPct val="100000"/>
              <a:buChar char="•"/>
            </a:pPr>
            <a:r>
              <a:rPr lang="en-US" sz="1550" dirty="0">
                <a:solidFill>
                  <a:srgbClr val="1F2A37"/>
                </a:solidFill>
                <a:latin typeface="Calibri" pitchFamily="34" charset="0"/>
                <a:ea typeface="Calibri" pitchFamily="34" charset="-122"/>
                <a:cs typeface="Calibri" pitchFamily="34" charset="-120"/>
              </a:rPr>
              <a:t>NA no es cero. Decidir qué hacer con los faltantes es una decisión metodológica, no solo técnica.</a:t>
            </a:r>
            <a:endParaRPr lang="en-US" sz="1550" dirty="0"/>
          </a:p>
        </p:txBody>
      </p:sp>
      <p:sp>
        <p:nvSpPr>
          <p:cNvPr id="7" name="Text 5"/>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8" name="Text 6"/>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Formato ancho vs. largo, y unir tablas</a:t>
            </a:r>
            <a:endParaRPr lang="en-US" sz="2800" dirty="0"/>
          </a:p>
        </p:txBody>
      </p:sp>
      <p:sp>
        <p:nvSpPr>
          <p:cNvPr id="4" name="Text 2"/>
          <p:cNvSpPr txBox="1"/>
          <p:nvPr/>
        </p:nvSpPr>
        <p:spPr>
          <a:xfrm>
            <a:off x="548640" y="1645920"/>
            <a:ext cx="27432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ANCHO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2560320" cy="914400"/>
        </p:xfrm>
        <a:graphic>
          <a:graphicData uri="http://schemas.openxmlformats.org/drawingml/2006/table">
            <a:tbl>
              <a:tblPr/>
              <a:tblGrid>
                <a:gridCol w="548640"/>
                <a:gridCol w="1005840"/>
                <a:gridCol w="1005840"/>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id</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sat_sup</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sat_inf</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bl>
          </a:graphicData>
        </a:graphic>
      </p:graphicFrame>
      <p:sp>
        <p:nvSpPr>
          <p:cNvPr id="6" name="Shape 3"/>
          <p:cNvSpPr/>
          <p:nvPr/>
        </p:nvSpPr>
        <p:spPr>
          <a:xfrm>
            <a:off x="3291840" y="2606040"/>
            <a:ext cx="1143000" cy="0"/>
          </a:xfrm>
          <a:prstGeom prst="line">
            <a:avLst/>
          </a:prstGeom>
          <a:noFill/>
          <a:ln w="31750">
            <a:solidFill>
              <a:srgbClr val="1C7293"/>
            </a:solidFill>
            <a:prstDash val="solid"/>
            <a:tailEnd type="triangle"/>
          </a:ln>
        </p:spPr>
      </p:sp>
      <p:sp>
        <p:nvSpPr>
          <p:cNvPr id="7" name="Text 4"/>
          <p:cNvSpPr txBox="1"/>
          <p:nvPr/>
        </p:nvSpPr>
        <p:spPr>
          <a:xfrm>
            <a:off x="3108960" y="2194560"/>
            <a:ext cx="1554480" cy="274320"/>
          </a:xfrm>
          <a:prstGeom prst="rect">
            <a:avLst/>
          </a:prstGeom>
          <a:noFill/>
          <a:ln/>
        </p:spPr>
        <p:txBody>
          <a:bodyPr wrap="square" lIns="0" tIns="0" rIns="0" bIns="0" rtlCol="0" anchor="ctr"/>
          <a:lstStyle/>
          <a:p>
            <a:pPr algn="ctr" indent="0" marL="0">
              <a:buNone/>
            </a:pPr>
            <a:r>
              <a:rPr lang="en-US" sz="1100" b="1" dirty="0">
                <a:solidFill>
                  <a:srgbClr val="065A82"/>
                </a:solidFill>
                <a:latin typeface="Courier New" pitchFamily="34" charset="0"/>
                <a:ea typeface="Courier New" pitchFamily="34" charset="-122"/>
                <a:cs typeface="Courier New" pitchFamily="34" charset="-120"/>
              </a:rPr>
              <a:t>pivot_longer()</a:t>
            </a:r>
            <a:endParaRPr lang="en-US" sz="1100" dirty="0"/>
          </a:p>
        </p:txBody>
      </p:sp>
      <p:sp>
        <p:nvSpPr>
          <p:cNvPr id="8" name="Text 5"/>
          <p:cNvSpPr txBox="1"/>
          <p:nvPr/>
        </p:nvSpPr>
        <p:spPr>
          <a:xfrm>
            <a:off x="4663440" y="1645920"/>
            <a:ext cx="27432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LARGO</a:t>
            </a:r>
            <a:endParaRPr lang="en-US" sz="11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663440" y="1920240"/>
          <a:ext cx="2743200" cy="914400"/>
        </p:xfrm>
        <a:graphic>
          <a:graphicData uri="http://schemas.openxmlformats.org/drawingml/2006/table">
            <a:tbl>
              <a:tblPr/>
              <a:tblGrid>
                <a:gridCol w="548640"/>
                <a:gridCol w="1188720"/>
                <a:gridCol w="1005840"/>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id</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dimension</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puntaje</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sup</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inf</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sup</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11480">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inf</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350" dirty="0">
                          <a:solidFill>
                            <a:srgbClr val="1F2A37"/>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bl>
          </a:graphicData>
        </a:graphic>
      </p:graphicFrame>
      <p:sp>
        <p:nvSpPr>
          <p:cNvPr id="10" name="Text 6"/>
          <p:cNvSpPr txBox="1"/>
          <p:nvPr/>
        </p:nvSpPr>
        <p:spPr>
          <a:xfrm>
            <a:off x="548640" y="3337560"/>
            <a:ext cx="3840480" cy="914400"/>
          </a:xfrm>
          <a:prstGeom prst="rect">
            <a:avLst/>
          </a:prstGeom>
          <a:noFill/>
          <a:ln/>
        </p:spPr>
        <p:txBody>
          <a:bodyPr wrap="square" lIns="0" tIns="0" rIns="0" bIns="0" rtlCol="0" anchor="t"/>
          <a:lstStyle/>
          <a:p>
            <a:pPr indent="0" marL="0">
              <a:buNone/>
            </a:pPr>
            <a:r>
              <a:rPr lang="en-US" sz="1450" i="1" dirty="0">
                <a:solidFill>
                  <a:srgbClr val="5B6B79"/>
                </a:solidFill>
                <a:latin typeface="Calibri" pitchFamily="34" charset="0"/>
                <a:ea typeface="Calibri" pitchFamily="34" charset="-122"/>
                <a:cs typeface="Calibri" pitchFamily="34" charset="-120"/>
              </a:rPr>
              <a:t>El formato largo es el que prefieren ggplot2 y la mayoría de los modelos.</a:t>
            </a:r>
            <a:endParaRPr lang="en-US" sz="1450" dirty="0"/>
          </a:p>
        </p:txBody>
      </p:sp>
      <p:sp>
        <p:nvSpPr>
          <p:cNvPr id="11" name="Shape 7"/>
          <p:cNvSpPr/>
          <p:nvPr/>
        </p:nvSpPr>
        <p:spPr>
          <a:xfrm>
            <a:off x="548640" y="4434840"/>
            <a:ext cx="6949440" cy="1371600"/>
          </a:xfrm>
          <a:prstGeom prst="roundRect">
            <a:avLst>
              <a:gd name="adj" fmla="val 5333"/>
            </a:avLst>
          </a:prstGeom>
          <a:solidFill>
            <a:srgbClr val="16203B"/>
          </a:solidFill>
          <a:ln/>
          <a:effectLst>
            <a:outerShdw sx="100000" sy="100000" kx="0" ky="0" algn="bl" rotWithShape="0" blurRad="88900" dist="25400" dir="5400000">
              <a:srgbClr val="21295C">
                <a:alpha val="25000"/>
              </a:srgbClr>
            </a:outerShdw>
          </a:effectLst>
        </p:spPr>
      </p:sp>
      <p:sp>
        <p:nvSpPr>
          <p:cNvPr id="12" name="Text 8"/>
          <p:cNvSpPr txBox="1"/>
          <p:nvPr/>
        </p:nvSpPr>
        <p:spPr>
          <a:xfrm>
            <a:off x="777240" y="4572000"/>
            <a:ext cx="6492240" cy="1097280"/>
          </a:xfrm>
          <a:prstGeom prst="rect">
            <a:avLst/>
          </a:prstGeom>
          <a:noFill/>
          <a:ln/>
        </p:spPr>
        <p:txBody>
          <a:bodyPr wrap="none" lIns="0" tIns="0" rIns="0" bIns="0" rtlCol="0" anchor="ctr"/>
          <a:lstStyle/>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encuesta</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|&gt;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left_join</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programas</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by</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F2C97D"/>
                </a:solidFill>
                <a:latin typeface="Courier New" pitchFamily="34" charset="0"/>
                <a:ea typeface="Courier New" pitchFamily="34" charset="-122"/>
                <a:cs typeface="Courier New" pitchFamily="34" charset="-120"/>
              </a:rPr>
              <a:t>"programa_id"</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3" name="Shape 9"/>
          <p:cNvSpPr/>
          <p:nvPr/>
        </p:nvSpPr>
        <p:spPr>
          <a:xfrm>
            <a:off x="7955280" y="1645920"/>
            <a:ext cx="3687775" cy="4160520"/>
          </a:xfrm>
          <a:prstGeom prst="roundRect">
            <a:avLst>
              <a:gd name="adj" fmla="val 2480"/>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4" name="Text 10"/>
          <p:cNvSpPr txBox="1"/>
          <p:nvPr/>
        </p:nvSpPr>
        <p:spPr>
          <a:xfrm>
            <a:off x="8229600" y="1828800"/>
            <a:ext cx="27432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LEFT_JOIN()</a:t>
            </a:r>
            <a:endParaRPr lang="en-US" sz="1100" dirty="0"/>
          </a:p>
        </p:txBody>
      </p:sp>
      <p:sp>
        <p:nvSpPr>
          <p:cNvPr id="15" name="Text 11"/>
          <p:cNvSpPr txBox="1"/>
          <p:nvPr/>
        </p:nvSpPr>
        <p:spPr>
          <a:xfrm>
            <a:off x="8229600" y="2194560"/>
            <a:ext cx="3139135" cy="1737360"/>
          </a:xfrm>
          <a:prstGeom prst="rect">
            <a:avLst/>
          </a:prstGeom>
          <a:noFill/>
          <a:ln/>
        </p:spPr>
        <p:txBody>
          <a:bodyPr wrap="square" lIns="0" tIns="0" rIns="0" bIns="0" rtlCol="0" anchor="t"/>
          <a:lstStyle/>
          <a:p>
            <a:pPr indent="0" marL="0">
              <a:lnSpc>
                <a:spcPts val="2000"/>
              </a:lnSpc>
              <a:buNone/>
            </a:pPr>
            <a:r>
              <a:rPr lang="en-US" sz="1500" dirty="0">
                <a:solidFill>
                  <a:srgbClr val="1F2A37"/>
                </a:solidFill>
                <a:latin typeface="Calibri" pitchFamily="34" charset="0"/>
                <a:ea typeface="Calibri" pitchFamily="34" charset="-122"/>
                <a:cs typeface="Calibri" pitchFamily="34" charset="-120"/>
              </a:rPr>
              <a:t>Conserva todas las filas de la tabla de la izquierda. Si una fila no encuentra pareja, las columnas nuevas quedan en NA.</a:t>
            </a:r>
            <a:endParaRPr lang="en-US" sz="1500" dirty="0"/>
          </a:p>
        </p:txBody>
      </p:sp>
      <p:sp>
        <p:nvSpPr>
          <p:cNvPr id="16" name="Text 12"/>
          <p:cNvSpPr txBox="1"/>
          <p:nvPr/>
        </p:nvSpPr>
        <p:spPr>
          <a:xfrm>
            <a:off x="8229600" y="3931920"/>
            <a:ext cx="3139135" cy="1645920"/>
          </a:xfrm>
          <a:prstGeom prst="rect">
            <a:avLst/>
          </a:prstGeom>
          <a:noFill/>
          <a:ln/>
        </p:spPr>
        <p:txBody>
          <a:bodyPr wrap="square" lIns="0" tIns="0" rIns="0" bIns="0" rtlCol="0" anchor="t"/>
          <a:lstStyle/>
          <a:p>
            <a:pPr indent="0" marL="0">
              <a:lnSpc>
                <a:spcPts val="1900"/>
              </a:lnSpc>
              <a:buNone/>
            </a:pPr>
            <a:r>
              <a:rPr lang="en-US" sz="1450" i="1" dirty="0">
                <a:solidFill>
                  <a:srgbClr val="065A82"/>
                </a:solidFill>
                <a:latin typeface="Calibri" pitchFamily="34" charset="0"/>
                <a:ea typeface="Calibri" pitchFamily="34" charset="-122"/>
                <a:cs typeface="Calibri" pitchFamily="34" charset="-120"/>
              </a:rPr>
              <a:t>Revisa siempre el número de filas antes y después de unir: si crece, tu llave se repite.</a:t>
            </a:r>
            <a:endParaRPr lang="en-US" sz="1450" dirty="0"/>
          </a:p>
        </p:txBody>
      </p:sp>
      <p:sp>
        <p:nvSpPr>
          <p:cNvPr id="17" name="Text 13"/>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8" name="Text 14"/>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1 · NIVELACIÓN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Chequeo rápido (3 minutos): responde en el chat</a:t>
            </a:r>
            <a:endParaRPr lang="en-US" sz="2800" dirty="0"/>
          </a:p>
        </p:txBody>
      </p:sp>
      <p:sp>
        <p:nvSpPr>
          <p:cNvPr id="4" name="Shape 2"/>
          <p:cNvSpPr/>
          <p:nvPr/>
        </p:nvSpPr>
        <p:spPr>
          <a:xfrm>
            <a:off x="548640" y="1645920"/>
            <a:ext cx="11094415" cy="1188720"/>
          </a:xfrm>
          <a:prstGeom prst="roundRect">
            <a:avLst>
              <a:gd name="adj" fmla="val 7692"/>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Shape 3"/>
          <p:cNvSpPr/>
          <p:nvPr/>
        </p:nvSpPr>
        <p:spPr>
          <a:xfrm>
            <a:off x="822960" y="1993392"/>
            <a:ext cx="502920" cy="502920"/>
          </a:xfrm>
          <a:prstGeom prst="ellipse">
            <a:avLst/>
          </a:prstGeom>
          <a:solidFill>
            <a:srgbClr val="065A82"/>
          </a:solidFill>
          <a:ln/>
        </p:spPr>
      </p:sp>
      <p:sp>
        <p:nvSpPr>
          <p:cNvPr id="6" name="Text 4"/>
          <p:cNvSpPr txBox="1"/>
          <p:nvPr/>
        </p:nvSpPr>
        <p:spPr>
          <a:xfrm>
            <a:off x="822960" y="19933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600200" y="1783080"/>
            <a:ext cx="9722815" cy="457200"/>
          </a:xfrm>
          <a:prstGeom prst="rect">
            <a:avLst/>
          </a:prstGeom>
          <a:noFill/>
          <a:ln/>
        </p:spPr>
        <p:txBody>
          <a:bodyPr wrap="square" lIns="0" tIns="0" rIns="0" bIns="0" rtlCol="0" anchor="ctr"/>
          <a:lstStyle/>
          <a:p>
            <a:pPr indent="0" marL="0">
              <a:buNone/>
            </a:pPr>
            <a:r>
              <a:rPr lang="en-US" sz="1600" b="1" dirty="0">
                <a:solidFill>
                  <a:srgbClr val="065A82"/>
                </a:solidFill>
                <a:latin typeface="Courier New" pitchFamily="34" charset="0"/>
                <a:ea typeface="Courier New" pitchFamily="34" charset="-122"/>
                <a:cs typeface="Courier New" pitchFamily="34" charset="-120"/>
              </a:rPr>
              <a:t>mean(c(4, 8, NA))</a:t>
            </a:r>
            <a:endParaRPr lang="en-US" sz="1600" dirty="0"/>
          </a:p>
        </p:txBody>
      </p:sp>
      <p:sp>
        <p:nvSpPr>
          <p:cNvPr id="8" name="Text 6"/>
          <p:cNvSpPr txBox="1"/>
          <p:nvPr/>
        </p:nvSpPr>
        <p:spPr>
          <a:xfrm>
            <a:off x="1600200" y="2286000"/>
            <a:ext cx="9722815" cy="41148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¿Qué devuelve? ¿Y si agregamos na.rm = TRUE?</a:t>
            </a:r>
            <a:endParaRPr lang="en-US" sz="1600" dirty="0"/>
          </a:p>
        </p:txBody>
      </p:sp>
      <p:sp>
        <p:nvSpPr>
          <p:cNvPr id="9" name="Shape 7"/>
          <p:cNvSpPr/>
          <p:nvPr/>
        </p:nvSpPr>
        <p:spPr>
          <a:xfrm>
            <a:off x="548640" y="3017520"/>
            <a:ext cx="11094415" cy="1188720"/>
          </a:xfrm>
          <a:prstGeom prst="roundRect">
            <a:avLst>
              <a:gd name="adj" fmla="val 7692"/>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0" name="Shape 8"/>
          <p:cNvSpPr/>
          <p:nvPr/>
        </p:nvSpPr>
        <p:spPr>
          <a:xfrm>
            <a:off x="822960" y="3364992"/>
            <a:ext cx="502920" cy="502920"/>
          </a:xfrm>
          <a:prstGeom prst="ellipse">
            <a:avLst/>
          </a:prstGeom>
          <a:solidFill>
            <a:srgbClr val="065A82"/>
          </a:solidFill>
          <a:ln/>
        </p:spPr>
      </p:sp>
      <p:sp>
        <p:nvSpPr>
          <p:cNvPr id="11" name="Text 9"/>
          <p:cNvSpPr txBox="1"/>
          <p:nvPr/>
        </p:nvSpPr>
        <p:spPr>
          <a:xfrm>
            <a:off x="822960" y="33649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1600200" y="3154680"/>
            <a:ext cx="9722815" cy="457200"/>
          </a:xfrm>
          <a:prstGeom prst="rect">
            <a:avLst/>
          </a:prstGeom>
          <a:noFill/>
          <a:ln/>
        </p:spPr>
        <p:txBody>
          <a:bodyPr wrap="square" lIns="0" tIns="0" rIns="0" bIns="0" rtlCol="0" anchor="ctr"/>
          <a:lstStyle/>
          <a:p>
            <a:pPr indent="0" marL="0">
              <a:buNone/>
            </a:pPr>
            <a:r>
              <a:rPr lang="en-US" sz="1600" b="1" dirty="0">
                <a:solidFill>
                  <a:srgbClr val="065A82"/>
                </a:solidFill>
                <a:latin typeface="Courier New" pitchFamily="34" charset="0"/>
                <a:ea typeface="Courier New" pitchFamily="34" charset="-122"/>
                <a:cs typeface="Courier New" pitchFamily="34" charset="-120"/>
              </a:rPr>
              <a:t>filter(a &gt; 1, b &gt; 2)   vs   filter(a &gt; 1 | b &gt; 2)</a:t>
            </a:r>
            <a:endParaRPr lang="en-US" sz="1600" dirty="0"/>
          </a:p>
        </p:txBody>
      </p:sp>
      <p:sp>
        <p:nvSpPr>
          <p:cNvPr id="13" name="Text 11"/>
          <p:cNvSpPr txBox="1"/>
          <p:nvPr/>
        </p:nvSpPr>
        <p:spPr>
          <a:xfrm>
            <a:off x="1600200" y="3657600"/>
            <a:ext cx="9722815" cy="41148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¿En qué se diferencian estas dos condiciones?</a:t>
            </a:r>
            <a:endParaRPr lang="en-US" sz="1600" dirty="0"/>
          </a:p>
        </p:txBody>
      </p:sp>
      <p:sp>
        <p:nvSpPr>
          <p:cNvPr id="14" name="Shape 12"/>
          <p:cNvSpPr/>
          <p:nvPr/>
        </p:nvSpPr>
        <p:spPr>
          <a:xfrm>
            <a:off x="548640" y="4389120"/>
            <a:ext cx="11094415" cy="1188720"/>
          </a:xfrm>
          <a:prstGeom prst="roundRect">
            <a:avLst>
              <a:gd name="adj" fmla="val 7692"/>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5" name="Shape 13"/>
          <p:cNvSpPr/>
          <p:nvPr/>
        </p:nvSpPr>
        <p:spPr>
          <a:xfrm>
            <a:off x="822960" y="4736592"/>
            <a:ext cx="502920" cy="502920"/>
          </a:xfrm>
          <a:prstGeom prst="ellipse">
            <a:avLst/>
          </a:prstGeom>
          <a:solidFill>
            <a:srgbClr val="065A82"/>
          </a:solidFill>
          <a:ln/>
        </p:spPr>
      </p:sp>
      <p:sp>
        <p:nvSpPr>
          <p:cNvPr id="16" name="Text 14"/>
          <p:cNvSpPr txBox="1"/>
          <p:nvPr/>
        </p:nvSpPr>
        <p:spPr>
          <a:xfrm>
            <a:off x="822960" y="4736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600200" y="4526280"/>
            <a:ext cx="9722815" cy="457200"/>
          </a:xfrm>
          <a:prstGeom prst="rect">
            <a:avLst/>
          </a:prstGeom>
          <a:noFill/>
          <a:ln/>
        </p:spPr>
        <p:txBody>
          <a:bodyPr wrap="square" lIns="0" tIns="0" rIns="0" bIns="0" rtlCol="0" anchor="ctr"/>
          <a:lstStyle/>
          <a:p>
            <a:pPr indent="0" marL="0">
              <a:buNone/>
            </a:pPr>
            <a:r>
              <a:rPr lang="en-US" sz="1600" b="1" dirty="0">
                <a:solidFill>
                  <a:srgbClr val="065A82"/>
                </a:solidFill>
                <a:latin typeface="Courier New" pitchFamily="34" charset="0"/>
                <a:ea typeface="Courier New" pitchFamily="34" charset="-122"/>
                <a:cs typeface="Courier New" pitchFamily="34" charset="-120"/>
              </a:rPr>
              <a:t>left_join(x, y, by = "k")</a:t>
            </a:r>
            <a:endParaRPr lang="en-US" sz="1600" dirty="0"/>
          </a:p>
        </p:txBody>
      </p:sp>
      <p:sp>
        <p:nvSpPr>
          <p:cNvPr id="18" name="Text 16"/>
          <p:cNvSpPr txBox="1"/>
          <p:nvPr/>
        </p:nvSpPr>
        <p:spPr>
          <a:xfrm>
            <a:off x="1600200" y="5029200"/>
            <a:ext cx="9722815" cy="411480"/>
          </a:xfrm>
          <a:prstGeom prst="rect">
            <a:avLst/>
          </a:prstGeom>
          <a:noFill/>
          <a:ln/>
        </p:spPr>
        <p:txBody>
          <a:bodyPr wrap="square" lIns="0" tIns="0" rIns="0" bIns="0" rtlCol="0" anchor="ctr"/>
          <a:lstStyle/>
          <a:p>
            <a:pPr indent="0" marL="0">
              <a:buNone/>
            </a:pPr>
            <a:r>
              <a:rPr lang="en-US" sz="1600" dirty="0">
                <a:solidFill>
                  <a:srgbClr val="1F2A37"/>
                </a:solidFill>
                <a:latin typeface="Calibri" pitchFamily="34" charset="0"/>
                <a:ea typeface="Calibri" pitchFamily="34" charset="-122"/>
                <a:cs typeface="Calibri" pitchFamily="34" charset="-120"/>
              </a:rPr>
              <a:t>Una fila de x no tiene pareja en y. ¿Qué pasa con ella?</a:t>
            </a:r>
            <a:endParaRPr lang="en-US" sz="1600" dirty="0"/>
          </a:p>
        </p:txBody>
      </p:sp>
      <p:sp>
        <p:nvSpPr>
          <p:cNvPr id="19" name="Text 17"/>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0" name="Text 18"/>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95360" y="3566160"/>
            <a:ext cx="5120640" cy="5120640"/>
          </a:xfrm>
          <a:prstGeom prst="ellipse">
            <a:avLst/>
          </a:prstGeom>
          <a:solidFill>
            <a:srgbClr val="065A82">
              <a:alpha val="45000"/>
            </a:srgbClr>
          </a:solidFill>
          <a:ln/>
        </p:spPr>
      </p:sp>
      <p:sp>
        <p:nvSpPr>
          <p:cNvPr id="3" name="Shape 1"/>
          <p:cNvSpPr/>
          <p:nvPr/>
        </p:nvSpPr>
        <p:spPr>
          <a:xfrm>
            <a:off x="10058400" y="4937760"/>
            <a:ext cx="2926080" cy="2926080"/>
          </a:xfrm>
          <a:prstGeom prst="ellipse">
            <a:avLst/>
          </a:prstGeom>
          <a:solidFill>
            <a:srgbClr val="1C7293">
              <a:alpha val="55000"/>
            </a:srgbClr>
          </a:solidFill>
          <a:ln/>
        </p:spPr>
      </p:sp>
      <p:sp>
        <p:nvSpPr>
          <p:cNvPr id="4" name="Text 2"/>
          <p:cNvSpPr txBox="1"/>
          <p:nvPr/>
        </p:nvSpPr>
        <p:spPr>
          <a:xfrm>
            <a:off x="548640" y="2286000"/>
            <a:ext cx="7315200" cy="365760"/>
          </a:xfrm>
          <a:prstGeom prst="rect">
            <a:avLst/>
          </a:prstGeom>
          <a:noFill/>
          <a:ln/>
        </p:spPr>
        <p:txBody>
          <a:bodyPr wrap="square" lIns="0" tIns="0" rIns="0" bIns="0" rtlCol="0" anchor="ctr"/>
          <a:lstStyle/>
          <a:p>
            <a:pPr indent="0" marL="0">
              <a:buNone/>
            </a:pPr>
            <a:r>
              <a:rPr lang="en-US" sz="1400" b="1" spc="300" kern="0" dirty="0">
                <a:solidFill>
                  <a:srgbClr val="9FD3E8"/>
                </a:solidFill>
                <a:latin typeface="Calibri" pitchFamily="34" charset="0"/>
                <a:ea typeface="Calibri" pitchFamily="34" charset="-122"/>
                <a:cs typeface="Calibri" pitchFamily="34" charset="-120"/>
              </a:rPr>
              <a:t>PARTE 2</a:t>
            </a:r>
            <a:endParaRPr lang="en-US" sz="1400" dirty="0"/>
          </a:p>
        </p:txBody>
      </p:sp>
      <p:sp>
        <p:nvSpPr>
          <p:cNvPr id="5" name="Text 3"/>
          <p:cNvSpPr txBox="1"/>
          <p:nvPr/>
        </p:nvSpPr>
        <p:spPr>
          <a:xfrm>
            <a:off x="548640" y="269748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dplyr avanzado</a:t>
            </a:r>
            <a:endParaRPr lang="en-US" sz="4800" dirty="0"/>
          </a:p>
        </p:txBody>
      </p:sp>
      <p:sp>
        <p:nvSpPr>
          <p:cNvPr id="6" name="Text 4"/>
          <p:cNvSpPr txBox="1"/>
          <p:nvPr/>
        </p:nvSpPr>
        <p:spPr>
          <a:xfrm>
            <a:off x="548640" y="3749040"/>
            <a:ext cx="82296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across(), pick(), if_all(), if_any() y .by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El problema: copiar, pegar y cambiar un nombre</a:t>
            </a:r>
            <a:endParaRPr lang="en-US" sz="2800" dirty="0"/>
          </a:p>
        </p:txBody>
      </p:sp>
      <p:sp>
        <p:nvSpPr>
          <p:cNvPr id="4" name="Text 2"/>
          <p:cNvSpPr txBox="1"/>
          <p:nvPr/>
        </p:nvSpPr>
        <p:spPr>
          <a:xfrm>
            <a:off x="548640" y="1600200"/>
            <a:ext cx="5364328" cy="256032"/>
          </a:xfrm>
          <a:prstGeom prst="rect">
            <a:avLst/>
          </a:prstGeom>
          <a:noFill/>
          <a:ln/>
        </p:spPr>
        <p:txBody>
          <a:bodyPr wrap="square" lIns="0" tIns="0" rIns="0" bIns="0" rtlCol="0" anchor="ctr"/>
          <a:lstStyle/>
          <a:p>
            <a:pPr indent="0" marL="0">
              <a:buNone/>
            </a:pPr>
            <a:r>
              <a:rPr lang="en-US" sz="1100" b="1" spc="150" kern="0" dirty="0">
                <a:solidFill>
                  <a:srgbClr val="C0392B"/>
                </a:solidFill>
                <a:latin typeface="Calibri" pitchFamily="34" charset="0"/>
                <a:ea typeface="Calibri" pitchFamily="34" charset="-122"/>
                <a:cs typeface="Calibri" pitchFamily="34" charset="-120"/>
              </a:rPr>
              <a:t>ANTES: 5 LÍNEAS CASI IDÉNTICAS</a:t>
            </a:r>
            <a:endParaRPr lang="en-US" sz="1100" dirty="0"/>
          </a:p>
        </p:txBody>
      </p:sp>
      <p:sp>
        <p:nvSpPr>
          <p:cNvPr id="5" name="Shape 3"/>
          <p:cNvSpPr/>
          <p:nvPr/>
        </p:nvSpPr>
        <p:spPr>
          <a:xfrm>
            <a:off x="548640" y="1874520"/>
            <a:ext cx="5364328" cy="2377440"/>
          </a:xfrm>
          <a:prstGeom prst="roundRect">
            <a:avLst>
              <a:gd name="adj" fmla="val 3077"/>
            </a:avLst>
          </a:prstGeom>
          <a:solidFill>
            <a:srgbClr val="16203B"/>
          </a:solidFill>
          <a:ln/>
          <a:effectLst>
            <a:outerShdw sx="100000" sy="100000" kx="0" ky="0" algn="bl" rotWithShape="0" blurRad="88900" dist="25400" dir="5400000">
              <a:srgbClr val="21295C">
                <a:alpha val="25000"/>
              </a:srgbClr>
            </a:outerShdw>
          </a:effectLst>
        </p:spPr>
      </p:sp>
      <p:sp>
        <p:nvSpPr>
          <p:cNvPr id="6" name="Text 4"/>
          <p:cNvSpPr txBox="1"/>
          <p:nvPr/>
        </p:nvSpPr>
        <p:spPr>
          <a:xfrm>
            <a:off x="777240" y="2011680"/>
            <a:ext cx="4907128" cy="2103120"/>
          </a:xfrm>
          <a:prstGeom prst="rect">
            <a:avLst/>
          </a:prstGeom>
          <a:noFill/>
          <a:ln/>
        </p:spPr>
        <p:txBody>
          <a:bodyPr wrap="none" lIns="0" tIns="0" rIns="0" bIns="0" rtlCol="0" anchor="t"/>
          <a:lstStyle/>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encuesta</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C3A6FF"/>
                </a:solidFill>
                <a:latin typeface="Courier New" pitchFamily="34" charset="0"/>
                <a:ea typeface="Courier New" pitchFamily="34" charset="-122"/>
                <a:cs typeface="Courier New" pitchFamily="34" charset="-120"/>
              </a:rPr>
              <a:t>|&gt;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summarise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sup</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mean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sat_supervision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na.rm</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FF9E8A"/>
                </a:solidFill>
                <a:latin typeface="Courier New" pitchFamily="34" charset="0"/>
                <a:ea typeface="Courier New" pitchFamily="34" charset="-122"/>
                <a:cs typeface="Courier New" pitchFamily="34" charset="-120"/>
              </a:rPr>
              <a:t>TRUE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inf</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mean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sat_infraestructura</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na.rm</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FF9E8A"/>
                </a:solidFill>
                <a:latin typeface="Courier New" pitchFamily="34" charset="0"/>
                <a:ea typeface="Courier New" pitchFamily="34" charset="-122"/>
                <a:cs typeface="Courier New" pitchFamily="34" charset="-120"/>
              </a:rPr>
              <a:t>TRUE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fin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mean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sat_financiamiento</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na.rm</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FF9E8A"/>
                </a:solidFill>
                <a:latin typeface="Courier New" pitchFamily="34" charset="0"/>
                <a:ea typeface="Courier New" pitchFamily="34" charset="-122"/>
                <a:cs typeface="Courier New" pitchFamily="34" charset="-120"/>
              </a:rPr>
              <a:t>TRUE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bib</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mean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sat_biblioteca</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na.rm</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FF9E8A"/>
                </a:solidFill>
                <a:latin typeface="Courier New" pitchFamily="34" charset="0"/>
                <a:ea typeface="Courier New" pitchFamily="34" charset="-122"/>
                <a:cs typeface="Courier New" pitchFamily="34" charset="-120"/>
              </a:rPr>
              <a:t>TRUE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con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8CC8FF"/>
                </a:solidFill>
                <a:latin typeface="Courier New" pitchFamily="34" charset="0"/>
                <a:ea typeface="Courier New" pitchFamily="34" charset="-122"/>
                <a:cs typeface="Courier New" pitchFamily="34" charset="-120"/>
              </a:rPr>
              <a:t>mean</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sat_conectividad</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na.rm</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FF9E8A"/>
                </a:solidFill>
                <a:latin typeface="Courier New" pitchFamily="34" charset="0"/>
                <a:ea typeface="Courier New" pitchFamily="34" charset="-122"/>
                <a:cs typeface="Courier New" pitchFamily="34" charset="-120"/>
              </a:rPr>
              <a:t>TRUE</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  </a:t>
            </a:r>
            <a:pPr indent="0" marL="0">
              <a:lnSpc>
                <a:spcPts val="1518"/>
              </a:lnSpc>
              <a:buNone/>
            </a:pPr>
            <a:r>
              <a:rPr lang="en-US" sz="1150" dirty="0">
                <a:solidFill>
                  <a:srgbClr val="E6EDF7"/>
                </a:solidFill>
                <a:latin typeface="Courier New" pitchFamily="34" charset="0"/>
                <a:ea typeface="Courier New" pitchFamily="34" charset="-122"/>
                <a:cs typeface="Courier New" pitchFamily="34" charset="-120"/>
              </a:rPr>
              <a:t>)</a:t>
            </a:r>
            <a:endParaRPr lang="en-US" sz="1150" dirty="0"/>
          </a:p>
        </p:txBody>
      </p:sp>
      <p:sp>
        <p:nvSpPr>
          <p:cNvPr id="7" name="Text 5"/>
          <p:cNvSpPr txBox="1"/>
          <p:nvPr/>
        </p:nvSpPr>
        <p:spPr>
          <a:xfrm>
            <a:off x="6278728" y="1600200"/>
            <a:ext cx="5364328" cy="256032"/>
          </a:xfrm>
          <a:prstGeom prst="rect">
            <a:avLst/>
          </a:prstGeom>
          <a:noFill/>
          <a:ln/>
        </p:spPr>
        <p:txBody>
          <a:bodyPr wrap="square" lIns="0" tIns="0" rIns="0" bIns="0" rtlCol="0" anchor="ctr"/>
          <a:lstStyle/>
          <a:p>
            <a:pPr indent="0" marL="0">
              <a:buNone/>
            </a:pPr>
            <a:r>
              <a:rPr lang="en-US" sz="1100" b="1" spc="150" kern="0" dirty="0">
                <a:solidFill>
                  <a:srgbClr val="2E8B6A"/>
                </a:solidFill>
                <a:latin typeface="Calibri" pitchFamily="34" charset="0"/>
                <a:ea typeface="Calibri" pitchFamily="34" charset="-122"/>
                <a:cs typeface="Calibri" pitchFamily="34" charset="-120"/>
              </a:rPr>
              <a:t>DESPUÉS: UNA SOLA INSTRUCCIÓN</a:t>
            </a:r>
            <a:endParaRPr lang="en-US" sz="1100" dirty="0"/>
          </a:p>
        </p:txBody>
      </p:sp>
      <p:sp>
        <p:nvSpPr>
          <p:cNvPr id="8" name="Shape 6"/>
          <p:cNvSpPr/>
          <p:nvPr/>
        </p:nvSpPr>
        <p:spPr>
          <a:xfrm>
            <a:off x="6278728" y="1874520"/>
            <a:ext cx="5364328" cy="2377440"/>
          </a:xfrm>
          <a:prstGeom prst="roundRect">
            <a:avLst>
              <a:gd name="adj" fmla="val 3077"/>
            </a:avLst>
          </a:prstGeom>
          <a:solidFill>
            <a:srgbClr val="16203B"/>
          </a:solidFill>
          <a:ln/>
          <a:effectLst>
            <a:outerShdw sx="100000" sy="100000" kx="0" ky="0" algn="bl" rotWithShape="0" blurRad="88900" dist="25400" dir="5400000">
              <a:srgbClr val="21295C">
                <a:alpha val="25000"/>
              </a:srgbClr>
            </a:outerShdw>
          </a:effectLst>
        </p:spPr>
      </p:sp>
      <p:sp>
        <p:nvSpPr>
          <p:cNvPr id="9" name="Text 7"/>
          <p:cNvSpPr txBox="1"/>
          <p:nvPr/>
        </p:nvSpPr>
        <p:spPr>
          <a:xfrm>
            <a:off x="6507328" y="2011680"/>
            <a:ext cx="4907128" cy="2103120"/>
          </a:xfrm>
          <a:prstGeom prst="rect">
            <a:avLst/>
          </a:prstGeom>
          <a:noFill/>
          <a:ln/>
        </p:spPr>
        <p:txBody>
          <a:bodyPr wrap="none" lIns="0" tIns="0" rIns="0" bIns="0" rtlCol="0" anchor="t"/>
          <a:lstStyle/>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encuesta</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|&gt;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summarise</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across</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starts_with</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F2C97D"/>
                </a:solidFill>
                <a:latin typeface="Courier New" pitchFamily="34" charset="0"/>
                <a:ea typeface="Courier New" pitchFamily="34" charset="-122"/>
                <a:cs typeface="Courier New" pitchFamily="34" charset="-120"/>
              </a:rPr>
              <a:t>"sat_"</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x</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mean</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x</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na.rm</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FF9E8A"/>
                </a:solidFill>
                <a:latin typeface="Courier New" pitchFamily="34" charset="0"/>
                <a:ea typeface="Courier New" pitchFamily="34" charset="-122"/>
                <a:cs typeface="Courier New" pitchFamily="34" charset="-120"/>
              </a:rPr>
              <a:t>TRUE</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Text 8"/>
          <p:cNvSpPr txBox="1"/>
          <p:nvPr/>
        </p:nvSpPr>
        <p:spPr>
          <a:xfrm>
            <a:off x="548640" y="4526280"/>
            <a:ext cx="5364328" cy="731520"/>
          </a:xfrm>
          <a:prstGeom prst="rect">
            <a:avLst/>
          </a:prstGeom>
          <a:noFill/>
          <a:ln/>
        </p:spPr>
        <p:txBody>
          <a:bodyPr wrap="square" lIns="0" tIns="0" rIns="0" bIns="0" rtlCol="0" anchor="t"/>
          <a:lstStyle/>
          <a:p>
            <a:pPr indent="0" marL="0">
              <a:buNone/>
            </a:pPr>
            <a:r>
              <a:rPr lang="en-US" sz="1500" dirty="0">
                <a:solidFill>
                  <a:srgbClr val="5B6B79"/>
                </a:solidFill>
                <a:latin typeface="Calibri" pitchFamily="34" charset="0"/>
                <a:ea typeface="Calibri" pitchFamily="34" charset="-122"/>
                <a:cs typeface="Calibri" pitchFamily="34" charset="-120"/>
              </a:rPr>
              <a:t>Un error de copia (un nombre mal cambiado) pasa inadvertido.</a:t>
            </a:r>
            <a:endParaRPr lang="en-US" sz="1500" dirty="0"/>
          </a:p>
        </p:txBody>
      </p:sp>
      <p:sp>
        <p:nvSpPr>
          <p:cNvPr id="11" name="Text 9"/>
          <p:cNvSpPr txBox="1"/>
          <p:nvPr/>
        </p:nvSpPr>
        <p:spPr>
          <a:xfrm>
            <a:off x="6278728" y="4526280"/>
            <a:ext cx="5364328" cy="731520"/>
          </a:xfrm>
          <a:prstGeom prst="rect">
            <a:avLst/>
          </a:prstGeom>
          <a:noFill/>
          <a:ln/>
        </p:spPr>
        <p:txBody>
          <a:bodyPr wrap="square" lIns="0" tIns="0" rIns="0" bIns="0" rtlCol="0" anchor="t"/>
          <a:lstStyle/>
          <a:p>
            <a:pPr indent="0" marL="0">
              <a:buNone/>
            </a:pPr>
            <a:r>
              <a:rPr lang="en-US" sz="1500" dirty="0">
                <a:solidFill>
                  <a:srgbClr val="5B6B79"/>
                </a:solidFill>
                <a:latin typeface="Calibri" pitchFamily="34" charset="0"/>
                <a:ea typeface="Calibri" pitchFamily="34" charset="-122"/>
                <a:cs typeface="Calibri" pitchFamily="34" charset="-120"/>
              </a:rPr>
              <a:t>Funciona igual con 5 columnas o con 50. Los resultados conservan los nombres originales de las columnas.</a:t>
            </a:r>
            <a:endParaRPr lang="en-US" sz="1500" dirty="0"/>
          </a:p>
        </p:txBody>
      </p:sp>
      <p:sp>
        <p:nvSpPr>
          <p:cNvPr id="12" name="Text 10"/>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3" name="Text 11"/>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Anatomía de across()</a:t>
            </a:r>
            <a:endParaRPr lang="en-US" sz="2800" dirty="0"/>
          </a:p>
        </p:txBody>
      </p:sp>
      <p:sp>
        <p:nvSpPr>
          <p:cNvPr id="4" name="Shape 2"/>
          <p:cNvSpPr/>
          <p:nvPr/>
        </p:nvSpPr>
        <p:spPr>
          <a:xfrm>
            <a:off x="548640" y="1645920"/>
            <a:ext cx="11094415" cy="914400"/>
          </a:xfrm>
          <a:prstGeom prst="roundRect">
            <a:avLst>
              <a:gd name="adj" fmla="val 8000"/>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10637215" cy="640080"/>
          </a:xfrm>
          <a:prstGeom prst="rect">
            <a:avLst/>
          </a:prstGeom>
          <a:noFill/>
          <a:ln/>
        </p:spPr>
        <p:txBody>
          <a:bodyPr wrap="none" lIns="0" tIns="0" rIns="0" bIns="0" rtlCol="0" anchor="ctr"/>
          <a:lstStyle/>
          <a:p>
            <a:pPr indent="0" marL="0">
              <a:lnSpc>
                <a:spcPts val="2640"/>
              </a:lnSpc>
              <a:buNone/>
            </a:pPr>
            <a:r>
              <a:rPr lang="en-US" sz="2000" dirty="0">
                <a:solidFill>
                  <a:srgbClr val="8CC8FF"/>
                </a:solidFill>
                <a:latin typeface="Courier New" pitchFamily="34" charset="0"/>
                <a:ea typeface="Courier New" pitchFamily="34" charset="-122"/>
                <a:cs typeface="Courier New" pitchFamily="34" charset="-120"/>
              </a:rPr>
              <a:t>across</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.cols</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 </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.fns</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 </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 </a:t>
            </a:r>
            <a:pPr indent="0" marL="0">
              <a:lnSpc>
                <a:spcPts val="2640"/>
              </a:lnSpc>
              <a:buNone/>
            </a:pPr>
            <a:r>
              <a:rPr lang="en-US" sz="2000" dirty="0">
                <a:solidFill>
                  <a:srgbClr val="C3A6FF"/>
                </a:solidFill>
                <a:latin typeface="Courier New" pitchFamily="34" charset="0"/>
                <a:ea typeface="Courier New" pitchFamily="34" charset="-122"/>
                <a:cs typeface="Courier New" pitchFamily="34" charset="-120"/>
              </a:rPr>
              <a:t>.names</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 </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 </a:t>
            </a:r>
            <a:pPr indent="0" marL="0">
              <a:lnSpc>
                <a:spcPts val="2640"/>
              </a:lnSpc>
              <a:buNone/>
            </a:pPr>
            <a:r>
              <a:rPr lang="en-US" sz="2000" dirty="0">
                <a:solidFill>
                  <a:srgbClr val="FF9E8A"/>
                </a:solidFill>
                <a:latin typeface="Courier New" pitchFamily="34" charset="0"/>
                <a:ea typeface="Courier New" pitchFamily="34" charset="-122"/>
                <a:cs typeface="Courier New" pitchFamily="34" charset="-120"/>
              </a:rPr>
              <a:t>NULL</a:t>
            </a:r>
            <a:pPr indent="0" marL="0">
              <a:lnSpc>
                <a:spcPts val="2640"/>
              </a:lnSpc>
              <a:buNone/>
            </a:pPr>
            <a:r>
              <a:rPr lang="en-US" sz="2000" dirty="0">
                <a:solidFill>
                  <a:srgbClr val="E6EDF7"/>
                </a:solidFill>
                <a:latin typeface="Courier New" pitchFamily="34" charset="0"/>
                <a:ea typeface="Courier New" pitchFamily="34" charset="-122"/>
                <a:cs typeface="Courier New" pitchFamily="34" charset="-120"/>
              </a:rPr>
              <a:t>)</a:t>
            </a:r>
            <a:endParaRPr lang="en-US" sz="2000" dirty="0"/>
          </a:p>
        </p:txBody>
      </p:sp>
      <p:sp>
        <p:nvSpPr>
          <p:cNvPr id="6" name="Shape 4"/>
          <p:cNvSpPr/>
          <p:nvPr/>
        </p:nvSpPr>
        <p:spPr>
          <a:xfrm>
            <a:off x="548640" y="2926080"/>
            <a:ext cx="3484778" cy="2651760"/>
          </a:xfrm>
          <a:prstGeom prst="roundRect">
            <a:avLst>
              <a:gd name="adj" fmla="val 3448"/>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7" name="Text 5"/>
          <p:cNvSpPr txBox="1"/>
          <p:nvPr/>
        </p:nvSpPr>
        <p:spPr>
          <a:xfrm>
            <a:off x="822960" y="3108960"/>
            <a:ext cx="2936138" cy="411480"/>
          </a:xfrm>
          <a:prstGeom prst="rect">
            <a:avLst/>
          </a:prstGeom>
          <a:noFill/>
          <a:ln/>
        </p:spPr>
        <p:txBody>
          <a:bodyPr wrap="square" lIns="0" tIns="0" rIns="0" bIns="0" rtlCol="0" anchor="ctr"/>
          <a:lstStyle/>
          <a:p>
            <a:pPr indent="0" marL="0">
              <a:buNone/>
            </a:pPr>
            <a:r>
              <a:rPr lang="en-US" sz="2000" b="1" dirty="0">
                <a:solidFill>
                  <a:srgbClr val="065A82"/>
                </a:solidFill>
                <a:latin typeface="Courier New" pitchFamily="34" charset="0"/>
                <a:ea typeface="Courier New" pitchFamily="34" charset="-122"/>
                <a:cs typeface="Courier New" pitchFamily="34" charset="-120"/>
              </a:rPr>
              <a:t>.cols</a:t>
            </a:r>
            <a:endParaRPr lang="en-US" sz="2000" dirty="0"/>
          </a:p>
        </p:txBody>
      </p:sp>
      <p:sp>
        <p:nvSpPr>
          <p:cNvPr id="8" name="Text 6"/>
          <p:cNvSpPr txBox="1"/>
          <p:nvPr/>
        </p:nvSpPr>
        <p:spPr>
          <a:xfrm>
            <a:off x="822960" y="3566160"/>
            <a:ext cx="2936138"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¿En qué columnas?</a:t>
            </a:r>
            <a:endParaRPr lang="en-US" sz="1700" dirty="0"/>
          </a:p>
        </p:txBody>
      </p:sp>
      <p:sp>
        <p:nvSpPr>
          <p:cNvPr id="9" name="Text 7"/>
          <p:cNvSpPr txBox="1"/>
          <p:nvPr/>
        </p:nvSpPr>
        <p:spPr>
          <a:xfrm>
            <a:off x="822960" y="4023360"/>
            <a:ext cx="2936138" cy="146304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Nombres o selectores: c(a, b), starts_with("sat_"), where(is.numeric)</a:t>
            </a:r>
            <a:endParaRPr lang="en-US" sz="1450" dirty="0"/>
          </a:p>
        </p:txBody>
      </p:sp>
      <p:sp>
        <p:nvSpPr>
          <p:cNvPr id="10" name="Shape 8"/>
          <p:cNvSpPr/>
          <p:nvPr/>
        </p:nvSpPr>
        <p:spPr>
          <a:xfrm>
            <a:off x="4353458" y="2926080"/>
            <a:ext cx="3484778" cy="2651760"/>
          </a:xfrm>
          <a:prstGeom prst="roundRect">
            <a:avLst>
              <a:gd name="adj" fmla="val 3448"/>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1" name="Text 9"/>
          <p:cNvSpPr txBox="1"/>
          <p:nvPr/>
        </p:nvSpPr>
        <p:spPr>
          <a:xfrm>
            <a:off x="4627778" y="3108960"/>
            <a:ext cx="2936138" cy="411480"/>
          </a:xfrm>
          <a:prstGeom prst="rect">
            <a:avLst/>
          </a:prstGeom>
          <a:noFill/>
          <a:ln/>
        </p:spPr>
        <p:txBody>
          <a:bodyPr wrap="square" lIns="0" tIns="0" rIns="0" bIns="0" rtlCol="0" anchor="ctr"/>
          <a:lstStyle/>
          <a:p>
            <a:pPr indent="0" marL="0">
              <a:buNone/>
            </a:pPr>
            <a:r>
              <a:rPr lang="en-US" sz="2000" b="1" dirty="0">
                <a:solidFill>
                  <a:srgbClr val="1C7293"/>
                </a:solidFill>
                <a:latin typeface="Courier New" pitchFamily="34" charset="0"/>
                <a:ea typeface="Courier New" pitchFamily="34" charset="-122"/>
                <a:cs typeface="Courier New" pitchFamily="34" charset="-120"/>
              </a:rPr>
              <a:t>.fns</a:t>
            </a:r>
            <a:endParaRPr lang="en-US" sz="2000" dirty="0"/>
          </a:p>
        </p:txBody>
      </p:sp>
      <p:sp>
        <p:nvSpPr>
          <p:cNvPr id="12" name="Text 10"/>
          <p:cNvSpPr txBox="1"/>
          <p:nvPr/>
        </p:nvSpPr>
        <p:spPr>
          <a:xfrm>
            <a:off x="4627778" y="3566160"/>
            <a:ext cx="2936138"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¿Qué función aplico?</a:t>
            </a:r>
            <a:endParaRPr lang="en-US" sz="1700" dirty="0"/>
          </a:p>
        </p:txBody>
      </p:sp>
      <p:sp>
        <p:nvSpPr>
          <p:cNvPr id="13" name="Text 11"/>
          <p:cNvSpPr txBox="1"/>
          <p:nvPr/>
        </p:nvSpPr>
        <p:spPr>
          <a:xfrm>
            <a:off x="4627778" y="4023360"/>
            <a:ext cx="2936138" cy="146304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Una función, una función anónima \(x) …, o una lista de funciones con nombre</a:t>
            </a:r>
            <a:endParaRPr lang="en-US" sz="1450" dirty="0"/>
          </a:p>
        </p:txBody>
      </p:sp>
      <p:sp>
        <p:nvSpPr>
          <p:cNvPr id="14" name="Shape 12"/>
          <p:cNvSpPr/>
          <p:nvPr/>
        </p:nvSpPr>
        <p:spPr>
          <a:xfrm>
            <a:off x="8158277" y="2926080"/>
            <a:ext cx="3484778" cy="2651760"/>
          </a:xfrm>
          <a:prstGeom prst="roundRect">
            <a:avLst>
              <a:gd name="adj" fmla="val 3448"/>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5" name="Text 13"/>
          <p:cNvSpPr txBox="1"/>
          <p:nvPr/>
        </p:nvSpPr>
        <p:spPr>
          <a:xfrm>
            <a:off x="8432597" y="3108960"/>
            <a:ext cx="2936138" cy="411480"/>
          </a:xfrm>
          <a:prstGeom prst="rect">
            <a:avLst/>
          </a:prstGeom>
          <a:noFill/>
          <a:ln/>
        </p:spPr>
        <p:txBody>
          <a:bodyPr wrap="square" lIns="0" tIns="0" rIns="0" bIns="0" rtlCol="0" anchor="ctr"/>
          <a:lstStyle/>
          <a:p>
            <a:pPr indent="0" marL="0">
              <a:buNone/>
            </a:pPr>
            <a:r>
              <a:rPr lang="en-US" sz="2000" b="1" dirty="0">
                <a:solidFill>
                  <a:srgbClr val="21295C"/>
                </a:solidFill>
                <a:latin typeface="Courier New" pitchFamily="34" charset="0"/>
                <a:ea typeface="Courier New" pitchFamily="34" charset="-122"/>
                <a:cs typeface="Courier New" pitchFamily="34" charset="-120"/>
              </a:rPr>
              <a:t>.names</a:t>
            </a:r>
            <a:endParaRPr lang="en-US" sz="2000" dirty="0"/>
          </a:p>
        </p:txBody>
      </p:sp>
      <p:sp>
        <p:nvSpPr>
          <p:cNvPr id="16" name="Text 14"/>
          <p:cNvSpPr txBox="1"/>
          <p:nvPr/>
        </p:nvSpPr>
        <p:spPr>
          <a:xfrm>
            <a:off x="8432597" y="3566160"/>
            <a:ext cx="2936138"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¿Cómo se llaman los resultados?</a:t>
            </a:r>
            <a:endParaRPr lang="en-US" sz="1700" dirty="0"/>
          </a:p>
        </p:txBody>
      </p:sp>
      <p:sp>
        <p:nvSpPr>
          <p:cNvPr id="17" name="Text 15"/>
          <p:cNvSpPr txBox="1"/>
          <p:nvPr/>
        </p:nvSpPr>
        <p:spPr>
          <a:xfrm>
            <a:off x="8432597" y="4023360"/>
            <a:ext cx="2936138" cy="1463040"/>
          </a:xfrm>
          <a:prstGeom prst="rect">
            <a:avLst/>
          </a:prstGeom>
          <a:noFill/>
          <a:ln/>
        </p:spPr>
        <p:txBody>
          <a:bodyPr wrap="square" lIns="0" tIns="0" rIns="0" bIns="0" rtlCol="0" anchor="t"/>
          <a:lstStyle/>
          <a:p>
            <a:pPr indent="0" marL="0">
              <a:lnSpc>
                <a:spcPts val="1900"/>
              </a:lnSpc>
              <a:buNone/>
            </a:pPr>
            <a:r>
              <a:rPr lang="en-US" sz="1450" dirty="0">
                <a:solidFill>
                  <a:srgbClr val="1F2A37"/>
                </a:solidFill>
                <a:latin typeface="Calibri" pitchFamily="34" charset="0"/>
                <a:ea typeface="Calibri" pitchFamily="34" charset="-122"/>
                <a:cs typeface="Calibri" pitchFamily="34" charset="-120"/>
              </a:rPr>
              <a:t>Plantilla con "{.col}" y "{.fn}", por ejemplo "{.col}_{.fn}" o "c_{.col}"</a:t>
            </a:r>
            <a:endParaRPr lang="en-US" sz="1450" dirty="0"/>
          </a:p>
        </p:txBody>
      </p:sp>
      <p:sp>
        <p:nvSpPr>
          <p:cNvPr id="18" name="Text 16"/>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350" i="1" dirty="0">
                <a:solidFill>
                  <a:srgbClr val="5B6B79"/>
                </a:solidFill>
                <a:latin typeface="Calibri" pitchFamily="34" charset="0"/>
                <a:ea typeface="Calibri" pitchFamily="34" charset="-122"/>
                <a:cs typeface="Calibri" pitchFamily="34" charset="-120"/>
              </a:rPr>
              <a:t>Desde dplyr 1.1, pasar argumentos extra por "..." (por ejemplo na.rm = TRUE) está desaconsejado: usa una función anónima \(x) mean(x, na.rm = TRUE).</a:t>
            </a:r>
            <a:endParaRPr lang="en-US" sz="1350" dirty="0"/>
          </a:p>
        </p:txBody>
      </p:sp>
      <p:sp>
        <p:nvSpPr>
          <p:cNvPr id="19" name="Text 17"/>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0" name="Text 18"/>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Selectores: elegir columnas por patrón o por tipo</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383280"/>
                <a:gridCol w="4206240"/>
                <a:gridCol w="3502152"/>
              </a:tblGrid>
              <a:tr h="50292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Selector</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Elige…</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Ejemplo de uso</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starts_with("sat_")</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que empiezan con…</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sat_supervision, sat_biblioteca…</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ends_with("_c")</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que terminan con…</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edad_c, horas_c…</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contains("hor")</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que contienen…</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horas_investigacion_sem</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matches("^p[0-9]+$")</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que cumplen una expresión regular</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p1, p2, p10</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where(is.numeric)</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según su tipo</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todas las numéricas</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65A82"/>
                          </a:solidFill>
                          <a:latin typeface="Courier New" pitchFamily="34" charset="0"/>
                          <a:ea typeface="Courier New" pitchFamily="34" charset="-122"/>
                          <a:cs typeface="Courier New" pitchFamily="34" charset="-120"/>
                        </a:rPr>
                        <a:t>all_of(vector)</a:t>
                      </a:r>
                      <a:endParaRPr lang="en-US" sz="130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columnas listadas en un vector</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450" dirty="0">
                          <a:solidFill>
                            <a:srgbClr val="1F2A37"/>
                          </a:solidFill>
                          <a:latin typeface="Calibri" pitchFamily="34" charset="0"/>
                          <a:ea typeface="Calibri" pitchFamily="34" charset="-122"/>
                          <a:cs typeface="Calibri" pitchFamily="34" charset="-120"/>
                        </a:rPr>
                        <a:t>all_of(c("edad", "peso"))</a:t>
                      </a:r>
                      <a:endParaRPr lang="en-US" sz="145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bl>
          </a:graphicData>
        </a:graphic>
      </p:graphicFrame>
      <p:sp>
        <p:nvSpPr>
          <p:cNvPr id="5" name="Text 2"/>
          <p:cNvSpPr txBox="1"/>
          <p:nvPr/>
        </p:nvSpPr>
        <p:spPr>
          <a:xfrm>
            <a:off x="548640" y="5349240"/>
            <a:ext cx="11094415" cy="548640"/>
          </a:xfrm>
          <a:prstGeom prst="rect">
            <a:avLst/>
          </a:prstGeom>
          <a:noFill/>
          <a:ln/>
        </p:spPr>
        <p:txBody>
          <a:bodyPr wrap="square" lIns="0" tIns="0" rIns="0" bIns="0" rtlCol="0" anchor="ctr"/>
          <a:lstStyle/>
          <a:p>
            <a:pPr indent="0" marL="0">
              <a:buNone/>
            </a:pPr>
            <a:r>
              <a:rPr lang="en-US" sz="1500" b="1" dirty="0">
                <a:solidFill>
                  <a:srgbClr val="1F2A37"/>
                </a:solidFill>
                <a:latin typeface="Calibri" pitchFamily="34" charset="0"/>
                <a:ea typeface="Calibri" pitchFamily="34" charset="-122"/>
                <a:cs typeface="Calibri" pitchFamily="34" charset="-120"/>
              </a:rPr>
              <a:t>Se combinan: </a:t>
            </a:r>
            <a:pPr indent="0" marL="0">
              <a:buNone/>
            </a:pPr>
            <a:r>
              <a:rPr lang="en-US" sz="1500" dirty="0">
                <a:solidFill>
                  <a:srgbClr val="065A82"/>
                </a:solidFill>
                <a:latin typeface="Courier New" pitchFamily="34" charset="0"/>
                <a:ea typeface="Courier New" pitchFamily="34" charset="-122"/>
                <a:cs typeface="Courier New" pitchFamily="34" charset="-120"/>
              </a:rPr>
              <a:t>where(is.numeric) &amp; !c(id, anio_ingreso)</a:t>
            </a:r>
            <a:pPr indent="0" marL="0">
              <a:buNone/>
            </a:pPr>
            <a:r>
              <a:rPr lang="en-US" sz="1500" dirty="0">
                <a:solidFill>
                  <a:srgbClr val="1F2A37"/>
                </a:solidFill>
                <a:latin typeface="Calibri" pitchFamily="34" charset="0"/>
                <a:ea typeface="Calibri" pitchFamily="34" charset="-122"/>
                <a:cs typeface="Calibri" pitchFamily="34" charset="-120"/>
              </a:rPr>
              <a:t>  → todas las numéricas, salvo los identificadores.</a:t>
            </a:r>
            <a:endParaRPr lang="en-US" sz="1500" dirty="0"/>
          </a:p>
        </p:txBody>
      </p:sp>
      <p:sp>
        <p:nvSpPr>
          <p:cNvPr id="6" name="Text 3"/>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7" name="Text 4"/>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Varias funciones a la vez, por grupo</a:t>
            </a:r>
            <a:endParaRPr lang="en-US" sz="2800" dirty="0"/>
          </a:p>
        </p:txBody>
      </p:sp>
      <p:sp>
        <p:nvSpPr>
          <p:cNvPr id="4" name="Shape 2"/>
          <p:cNvSpPr/>
          <p:nvPr/>
        </p:nvSpPr>
        <p:spPr>
          <a:xfrm>
            <a:off x="548640" y="1645920"/>
            <a:ext cx="5943600" cy="2651760"/>
          </a:xfrm>
          <a:prstGeom prst="roundRect">
            <a:avLst>
              <a:gd name="adj" fmla="val 2759"/>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5486400" cy="2377440"/>
          </a:xfrm>
          <a:prstGeom prst="rect">
            <a:avLst/>
          </a:prstGeom>
          <a:noFill/>
          <a:ln/>
        </p:spPr>
        <p:txBody>
          <a:bodyPr wrap="none" lIns="0" tIns="0" rIns="0" bIns="0" rtlCol="0" anchor="t"/>
          <a:lstStyle/>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encuesta_prog</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|&gt;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group_by</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area</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|&gt;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summarise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across</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c</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sat_supervision</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sat_financiamiento</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list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media</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mean</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na.rm</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FF9E8A"/>
                </a:solidFill>
                <a:latin typeface="Courier New" pitchFamily="34" charset="0"/>
                <a:ea typeface="Courier New" pitchFamily="34" charset="-122"/>
                <a:cs typeface="Courier New" pitchFamily="34" charset="-120"/>
              </a:rPr>
              <a:t>TRUE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sd</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sd</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na.rm</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FF9E8A"/>
                </a:solidFill>
                <a:latin typeface="Courier New" pitchFamily="34" charset="0"/>
                <a:ea typeface="Courier New" pitchFamily="34" charset="-122"/>
                <a:cs typeface="Courier New" pitchFamily="34" charset="-120"/>
              </a:rPr>
              <a:t>TRUE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.names</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F2C97D"/>
                </a:solidFill>
                <a:latin typeface="Courier New" pitchFamily="34" charset="0"/>
                <a:ea typeface="Courier New" pitchFamily="34" charset="-122"/>
                <a:cs typeface="Courier New" pitchFamily="34" charset="-120"/>
              </a:rPr>
              <a:t>"{.col}_{.fn}"</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6" name="Text 4"/>
          <p:cNvSpPr txBox="1"/>
          <p:nvPr/>
        </p:nvSpPr>
        <p:spPr>
          <a:xfrm>
            <a:off x="6858000" y="1645920"/>
            <a:ext cx="45720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RESULTADO (DATOS DE LA PRÁCTICA)</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0" y="1965960"/>
          <a:ext cx="4800600" cy="914400"/>
        </p:xfrm>
        <a:graphic>
          <a:graphicData uri="http://schemas.openxmlformats.org/drawingml/2006/table">
            <a:tbl>
              <a:tblPr/>
              <a:tblGrid>
                <a:gridCol w="1600200"/>
                <a:gridCol w="868680"/>
                <a:gridCol w="731520"/>
                <a:gridCol w="868680"/>
                <a:gridCol w="73152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sup_media</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sup_sd</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fin_media</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fin_sd</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566928">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Ciencias Naturales</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3.86</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3.54</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Ciencias Sociales</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3.73</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3.05</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566928">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Ingeniería</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3.68</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0.96</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2.93</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7"/>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45720" marR="45720"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0" y="4526280"/>
            <a:ext cx="4785055" cy="822960"/>
          </a:xfrm>
          <a:prstGeom prst="rect">
            <a:avLst/>
          </a:prstGeom>
          <a:noFill/>
          <a:ln/>
        </p:spPr>
        <p:txBody>
          <a:bodyPr wrap="square" lIns="0" tIns="0" rIns="0" bIns="0" rtlCol="0" anchor="t"/>
          <a:lstStyle/>
          <a:p>
            <a:pPr indent="0" marL="0">
              <a:buNone/>
            </a:pPr>
            <a:r>
              <a:rPr lang="en-US" sz="1250" i="1" dirty="0">
                <a:solidFill>
                  <a:srgbClr val="5B6B79"/>
                </a:solidFill>
                <a:latin typeface="Calibri" pitchFamily="34" charset="0"/>
                <a:ea typeface="Calibri" pitchFamily="34" charset="-122"/>
                <a:cs typeface="Calibri" pitchFamily="34" charset="-120"/>
              </a:rPr>
              <a:t>Los nombres de columna se abrevian aquí por espacio: en R quedan como sat_supervision_media, sat_supervision_sd, etc.</a:t>
            </a:r>
            <a:endParaRPr lang="en-US" sz="1250" dirty="0"/>
          </a:p>
        </p:txBody>
      </p:sp>
      <p:sp>
        <p:nvSpPr>
          <p:cNvPr id="9" name="Text 6"/>
          <p:cNvSpPr txBox="1"/>
          <p:nvPr/>
        </p:nvSpPr>
        <p:spPr>
          <a:xfrm>
            <a:off x="548640" y="4526280"/>
            <a:ext cx="5943600" cy="822960"/>
          </a:xfrm>
          <a:prstGeom prst="rect">
            <a:avLst/>
          </a:prstGeom>
          <a:noFill/>
          <a:ln/>
        </p:spPr>
        <p:txBody>
          <a:bodyPr wrap="square" lIns="0" tIns="0" rIns="0" bIns="0" rtlCol="0" anchor="t"/>
          <a:lstStyle/>
          <a:p>
            <a:pPr indent="0" marL="0">
              <a:buNone/>
            </a:pPr>
            <a:r>
              <a:rPr lang="en-US" sz="1500" dirty="0">
                <a:solidFill>
                  <a:srgbClr val="1F2A37"/>
                </a:solidFill>
                <a:latin typeface="Calibri" pitchFamily="34" charset="0"/>
                <a:ea typeface="Calibri" pitchFamily="34" charset="-122"/>
                <a:cs typeface="Calibri" pitchFamily="34" charset="-120"/>
              </a:rPr>
              <a:t>Cuatro columnas de resumen por grupo (media y desviación estándar de dos variables), sin repetir código.</a:t>
            </a:r>
            <a:endParaRPr lang="en-US" sz="1500" dirty="0"/>
          </a:p>
        </p:txBody>
      </p:sp>
      <p:sp>
        <p:nvSpPr>
          <p:cNvPr id="10" name="Text 7"/>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1" name="Text 8"/>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across() también transforma columnas (y una trampa)</a:t>
            </a:r>
            <a:endParaRPr lang="en-US" sz="2800" dirty="0"/>
          </a:p>
        </p:txBody>
      </p:sp>
      <p:sp>
        <p:nvSpPr>
          <p:cNvPr id="4" name="Shape 2"/>
          <p:cNvSpPr/>
          <p:nvPr/>
        </p:nvSpPr>
        <p:spPr>
          <a:xfrm>
            <a:off x="548640" y="1645920"/>
            <a:ext cx="6309360" cy="2651760"/>
          </a:xfrm>
          <a:prstGeom prst="roundRect">
            <a:avLst>
              <a:gd name="adj" fmla="val 2759"/>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5852160" cy="2377440"/>
          </a:xfrm>
          <a:prstGeom prst="rect">
            <a:avLst/>
          </a:prstGeom>
          <a:noFill/>
          <a:ln/>
        </p:spPr>
        <p:txBody>
          <a:bodyPr wrap="none" lIns="0" tIns="0" rIns="0" bIns="0" rtlCol="0" anchor="t"/>
          <a:lstStyle/>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encuesta_prog</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|&gt;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mutate</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across</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starts_with</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F2C97D"/>
                </a:solidFill>
                <a:latin typeface="Courier New" pitchFamily="34" charset="0"/>
                <a:ea typeface="Courier New" pitchFamily="34" charset="-122"/>
                <a:cs typeface="Courier New" pitchFamily="34" charset="-120"/>
              </a:rPr>
              <a:t>"sat_"</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x</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x</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8CC8FF"/>
                </a:solidFill>
                <a:latin typeface="Courier New" pitchFamily="34" charset="0"/>
                <a:ea typeface="Courier New" pitchFamily="34" charset="-122"/>
                <a:cs typeface="Courier New" pitchFamily="34" charset="-120"/>
              </a:rPr>
              <a:t>mean</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x</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na.rm</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FF9E8A"/>
                </a:solidFill>
                <a:latin typeface="Courier New" pitchFamily="34" charset="0"/>
                <a:ea typeface="Courier New" pitchFamily="34" charset="-122"/>
                <a:cs typeface="Courier New" pitchFamily="34" charset="-120"/>
              </a:rPr>
              <a:t>TRUE</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C3A6FF"/>
                </a:solidFill>
                <a:latin typeface="Courier New" pitchFamily="34" charset="0"/>
                <a:ea typeface="Courier New" pitchFamily="34" charset="-122"/>
                <a:cs typeface="Courier New" pitchFamily="34" charset="-120"/>
              </a:rPr>
              <a:t>.names</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F2C97D"/>
                </a:solidFill>
                <a:latin typeface="Courier New" pitchFamily="34" charset="0"/>
                <a:ea typeface="Courier New" pitchFamily="34" charset="-122"/>
                <a:cs typeface="Courier New" pitchFamily="34" charset="-120"/>
              </a:rPr>
              <a:t>"c_{.col}"</a:t>
            </a:r>
            <a:endParaRPr lang="en-US" sz="1400" dirty="0"/>
          </a:p>
          <a:p>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  </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pPr indent="0" marL="0">
              <a:lnSpc>
                <a:spcPts val="1848"/>
              </a:lnSpc>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548640" y="4526280"/>
            <a:ext cx="6309360" cy="1188720"/>
          </a:xfrm>
          <a:prstGeom prst="rect">
            <a:avLst/>
          </a:prstGeom>
          <a:noFill/>
          <a:ln/>
        </p:spPr>
        <p:txBody>
          <a:bodyPr wrap="square" lIns="0" tIns="0" rIns="0" bIns="0" rtlCol="0" anchor="t"/>
          <a:lstStyle/>
          <a:p>
            <a:pPr indent="0" marL="0">
              <a:lnSpc>
                <a:spcPts val="2000"/>
              </a:lnSpc>
              <a:buNone/>
            </a:pPr>
            <a:r>
              <a:rPr lang="en-US" sz="1500" dirty="0">
                <a:solidFill>
                  <a:srgbClr val="1F2A37"/>
                </a:solidFill>
                <a:latin typeface="Calibri" pitchFamily="34" charset="0"/>
                <a:ea typeface="Calibri" pitchFamily="34" charset="-122"/>
                <a:cs typeface="Calibri" pitchFamily="34" charset="-120"/>
              </a:rPr>
              <a:t>Sin .names, across() sobrescribe las columnas originales. Con .names creas columnas nuevas y conservas las originales.</a:t>
            </a:r>
            <a:endParaRPr lang="en-US" sz="1500" dirty="0"/>
          </a:p>
        </p:txBody>
      </p:sp>
      <p:sp>
        <p:nvSpPr>
          <p:cNvPr id="7" name="Shape 5"/>
          <p:cNvSpPr/>
          <p:nvPr/>
        </p:nvSpPr>
        <p:spPr>
          <a:xfrm>
            <a:off x="7223760" y="1645920"/>
            <a:ext cx="4419295" cy="4023360"/>
          </a:xfrm>
          <a:prstGeom prst="roundRect">
            <a:avLst>
              <a:gd name="adj" fmla="val 2273"/>
            </a:avLst>
          </a:prstGeom>
          <a:solidFill>
            <a:srgbClr val="FDF3E3"/>
          </a:solidFill>
          <a:ln w="12700">
            <a:solidFill>
              <a:srgbClr val="F1D9A8"/>
            </a:solidFill>
            <a:prstDash val="solid"/>
          </a:ln>
          <a:effectLst>
            <a:outerShdw sx="100000" sy="100000" kx="0" ky="0" algn="bl" rotWithShape="0" blurRad="88900" dist="25400" dir="5400000">
              <a:srgbClr val="21295C">
                <a:alpha val="16000"/>
              </a:srgbClr>
            </a:outerShdw>
          </a:effectLst>
        </p:spPr>
      </p:sp>
      <p:sp>
        <p:nvSpPr>
          <p:cNvPr id="8" name="Text 6"/>
          <p:cNvSpPr txBox="1"/>
          <p:nvPr/>
        </p:nvSpPr>
        <p:spPr>
          <a:xfrm>
            <a:off x="7498080" y="1828800"/>
            <a:ext cx="3870655" cy="274320"/>
          </a:xfrm>
          <a:prstGeom prst="rect">
            <a:avLst/>
          </a:prstGeom>
          <a:noFill/>
          <a:ln/>
        </p:spPr>
        <p:txBody>
          <a:bodyPr wrap="square" lIns="0" tIns="0" rIns="0" bIns="0" rtlCol="0" anchor="ctr"/>
          <a:lstStyle/>
          <a:p>
            <a:pPr indent="0" marL="0">
              <a:buNone/>
            </a:pPr>
            <a:r>
              <a:rPr lang="en-US" sz="1200" b="1" spc="150" kern="0" dirty="0">
                <a:solidFill>
                  <a:srgbClr val="B7791F"/>
                </a:solidFill>
                <a:latin typeface="Calibri" pitchFamily="34" charset="0"/>
                <a:ea typeface="Calibri" pitchFamily="34" charset="-122"/>
                <a:cs typeface="Calibri" pitchFamily="34" charset="-120"/>
              </a:rPr>
              <a:t>LA TRAMPA</a:t>
            </a:r>
            <a:endParaRPr lang="en-US" sz="1200" dirty="0"/>
          </a:p>
        </p:txBody>
      </p:sp>
      <p:sp>
        <p:nvSpPr>
          <p:cNvPr id="9" name="Text 7"/>
          <p:cNvSpPr txBox="1"/>
          <p:nvPr/>
        </p:nvSpPr>
        <p:spPr>
          <a:xfrm>
            <a:off x="7498080" y="2194560"/>
            <a:ext cx="3870655" cy="2103120"/>
          </a:xfrm>
          <a:prstGeom prst="rect">
            <a:avLst/>
          </a:prstGeom>
          <a:noFill/>
          <a:ln/>
        </p:spPr>
        <p:txBody>
          <a:bodyPr wrap="square" lIns="0" tIns="0" rIns="0" bIns="0" rtlCol="0" anchor="t"/>
          <a:lstStyle/>
          <a:p>
            <a:pPr indent="0" marL="0">
              <a:lnSpc>
                <a:spcPts val="1950"/>
              </a:lnSpc>
              <a:buNone/>
            </a:pPr>
            <a:r>
              <a:rPr lang="en-US" sz="1450" dirty="0">
                <a:solidFill>
                  <a:srgbClr val="1F2A37"/>
                </a:solidFill>
                <a:latin typeface="Calibri" pitchFamily="34" charset="0"/>
                <a:ea typeface="Calibri" pitchFamily="34" charset="-122"/>
                <a:cs typeface="Calibri" pitchFamily="34" charset="-120"/>
              </a:rPr>
              <a:t>Si nombraras las columnas nuevas sat_supervision_c, el selector starts_with("sat_") las volvería a elegir en el paso siguiente, y tus promedios mezclarían puntajes originales y centrados.</a:t>
            </a:r>
            <a:endParaRPr lang="en-US" sz="1450" dirty="0"/>
          </a:p>
        </p:txBody>
      </p:sp>
      <p:sp>
        <p:nvSpPr>
          <p:cNvPr id="10" name="Text 8"/>
          <p:cNvSpPr txBox="1"/>
          <p:nvPr/>
        </p:nvSpPr>
        <p:spPr>
          <a:xfrm>
            <a:off x="7498080" y="4343400"/>
            <a:ext cx="3870655" cy="1188720"/>
          </a:xfrm>
          <a:prstGeom prst="rect">
            <a:avLst/>
          </a:prstGeom>
          <a:noFill/>
          <a:ln/>
        </p:spPr>
        <p:txBody>
          <a:bodyPr wrap="square" lIns="0" tIns="0" rIns="0" bIns="0" rtlCol="0" anchor="t"/>
          <a:lstStyle/>
          <a:p>
            <a:pPr indent="0" marL="0">
              <a:lnSpc>
                <a:spcPts val="1950"/>
              </a:lnSpc>
              <a:buNone/>
            </a:pPr>
            <a:r>
              <a:rPr lang="en-US" sz="1450" b="1" dirty="0">
                <a:solidFill>
                  <a:srgbClr val="21295C"/>
                </a:solidFill>
                <a:latin typeface="Calibri" pitchFamily="34" charset="0"/>
                <a:ea typeface="Calibri" pitchFamily="34" charset="-122"/>
                <a:cs typeface="Calibri" pitchFamily="34" charset="-120"/>
              </a:rPr>
              <a:t>Solución: usa un prefijo distinto (c_) o selecciona las columnas antes de crear las nuevas.</a:t>
            </a:r>
            <a:endParaRPr lang="en-US" sz="1450" dirty="0"/>
          </a:p>
        </p:txBody>
      </p:sp>
      <p:sp>
        <p:nvSpPr>
          <p:cNvPr id="11" name="Text 9"/>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2" name="Text 10"/>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pick(), if_all() e if_any(): trabajar por fila</a:t>
            </a:r>
            <a:endParaRPr lang="en-US" sz="2800" dirty="0"/>
          </a:p>
        </p:txBody>
      </p:sp>
      <p:sp>
        <p:nvSpPr>
          <p:cNvPr id="4" name="Shape 2"/>
          <p:cNvSpPr/>
          <p:nvPr/>
        </p:nvSpPr>
        <p:spPr>
          <a:xfrm>
            <a:off x="548640" y="1600200"/>
            <a:ext cx="11094415" cy="1325880"/>
          </a:xfrm>
          <a:prstGeom prst="roundRect">
            <a:avLst>
              <a:gd name="adj" fmla="val 689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Text 3"/>
          <p:cNvSpPr txBox="1"/>
          <p:nvPr/>
        </p:nvSpPr>
        <p:spPr>
          <a:xfrm>
            <a:off x="822960" y="1737360"/>
            <a:ext cx="2926080" cy="411480"/>
          </a:xfrm>
          <a:prstGeom prst="rect">
            <a:avLst/>
          </a:prstGeom>
          <a:noFill/>
          <a:ln/>
        </p:spPr>
        <p:txBody>
          <a:bodyPr wrap="square" lIns="0" tIns="0" rIns="0" bIns="0" rtlCol="0" anchor="ctr"/>
          <a:lstStyle/>
          <a:p>
            <a:pPr indent="0" marL="0">
              <a:buNone/>
            </a:pPr>
            <a:r>
              <a:rPr lang="en-US" sz="2000" b="1" dirty="0">
                <a:solidFill>
                  <a:srgbClr val="065A82"/>
                </a:solidFill>
                <a:latin typeface="Courier New" pitchFamily="34" charset="0"/>
                <a:ea typeface="Courier New" pitchFamily="34" charset="-122"/>
                <a:cs typeface="Courier New" pitchFamily="34" charset="-120"/>
              </a:rPr>
              <a:t>pick()</a:t>
            </a:r>
            <a:endParaRPr lang="en-US" sz="2000" dirty="0"/>
          </a:p>
        </p:txBody>
      </p:sp>
      <p:sp>
        <p:nvSpPr>
          <p:cNvPr id="6" name="Text 4"/>
          <p:cNvSpPr txBox="1"/>
          <p:nvPr/>
        </p:nvSpPr>
        <p:spPr>
          <a:xfrm>
            <a:off x="822960" y="2194560"/>
            <a:ext cx="3474720" cy="685800"/>
          </a:xfrm>
          <a:prstGeom prst="rect">
            <a:avLst/>
          </a:prstGeom>
          <a:noFill/>
          <a:ln/>
        </p:spPr>
        <p:txBody>
          <a:bodyPr wrap="square" lIns="0" tIns="0" rIns="0" bIns="0" rtlCol="0" anchor="t"/>
          <a:lstStyle/>
          <a:p>
            <a:pPr indent="0" marL="0">
              <a:lnSpc>
                <a:spcPts val="1600"/>
              </a:lnSpc>
              <a:buNone/>
            </a:pPr>
            <a:r>
              <a:rPr lang="en-US" sz="1300" dirty="0">
                <a:solidFill>
                  <a:srgbClr val="1F2A37"/>
                </a:solidFill>
                <a:latin typeface="Calibri" pitchFamily="34" charset="0"/>
                <a:ea typeface="Calibri" pitchFamily="34" charset="-122"/>
                <a:cs typeface="Calibri" pitchFamily="34" charset="-120"/>
              </a:rPr>
              <a:t>Entrega un subconjunto de columnas a otra función, por ejemplo para calcular por fila.</a:t>
            </a:r>
            <a:endParaRPr lang="en-US" sz="1300" dirty="0"/>
          </a:p>
        </p:txBody>
      </p:sp>
      <p:sp>
        <p:nvSpPr>
          <p:cNvPr id="7" name="Shape 5"/>
          <p:cNvSpPr/>
          <p:nvPr/>
        </p:nvSpPr>
        <p:spPr>
          <a:xfrm>
            <a:off x="4526280" y="1728216"/>
            <a:ext cx="6933895" cy="1069848"/>
          </a:xfrm>
          <a:prstGeom prst="roundRect">
            <a:avLst>
              <a:gd name="adj" fmla="val 6838"/>
            </a:avLst>
          </a:prstGeom>
          <a:solidFill>
            <a:srgbClr val="16203B"/>
          </a:solidFill>
          <a:ln/>
          <a:effectLst>
            <a:outerShdw sx="100000" sy="100000" kx="0" ky="0" algn="bl" rotWithShape="0" blurRad="88900" dist="25400" dir="5400000">
              <a:srgbClr val="21295C">
                <a:alpha val="25000"/>
              </a:srgbClr>
            </a:outerShdw>
          </a:effectLst>
        </p:spPr>
      </p:sp>
      <p:sp>
        <p:nvSpPr>
          <p:cNvPr id="8" name="Text 6"/>
          <p:cNvSpPr txBox="1"/>
          <p:nvPr/>
        </p:nvSpPr>
        <p:spPr>
          <a:xfrm>
            <a:off x="4754880" y="1865376"/>
            <a:ext cx="6476695" cy="795528"/>
          </a:xfrm>
          <a:prstGeom prst="rect">
            <a:avLst/>
          </a:prstGeom>
          <a:noFill/>
          <a:ln/>
        </p:spPr>
        <p:txBody>
          <a:bodyPr wrap="none" lIns="0" tIns="0" rIns="0" bIns="0" rtlCol="0" anchor="ctr"/>
          <a:lstStyle/>
          <a:p>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mutate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indice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rowMeans</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pick</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starts_with</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F2C97D"/>
                </a:solidFill>
                <a:latin typeface="Courier New" pitchFamily="34" charset="0"/>
                <a:ea typeface="Courier New" pitchFamily="34" charset="-122"/>
                <a:cs typeface="Courier New" pitchFamily="34" charset="-120"/>
              </a:rPr>
              <a:t>"sat_"</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na.rm</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FF9E8A"/>
                </a:solidFill>
                <a:latin typeface="Courier New" pitchFamily="34" charset="0"/>
                <a:ea typeface="Courier New" pitchFamily="34" charset="-122"/>
                <a:cs typeface="Courier New" pitchFamily="34" charset="-120"/>
              </a:rPr>
              <a:t>TRUE</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9" name="Shape 7"/>
          <p:cNvSpPr/>
          <p:nvPr/>
        </p:nvSpPr>
        <p:spPr>
          <a:xfrm>
            <a:off x="548640" y="3063240"/>
            <a:ext cx="11094415" cy="1325880"/>
          </a:xfrm>
          <a:prstGeom prst="roundRect">
            <a:avLst>
              <a:gd name="adj" fmla="val 689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0" name="Text 8"/>
          <p:cNvSpPr txBox="1"/>
          <p:nvPr/>
        </p:nvSpPr>
        <p:spPr>
          <a:xfrm>
            <a:off x="822960" y="3200400"/>
            <a:ext cx="2926080" cy="411480"/>
          </a:xfrm>
          <a:prstGeom prst="rect">
            <a:avLst/>
          </a:prstGeom>
          <a:noFill/>
          <a:ln/>
        </p:spPr>
        <p:txBody>
          <a:bodyPr wrap="square" lIns="0" tIns="0" rIns="0" bIns="0" rtlCol="0" anchor="ctr"/>
          <a:lstStyle/>
          <a:p>
            <a:pPr indent="0" marL="0">
              <a:buNone/>
            </a:pPr>
            <a:r>
              <a:rPr lang="en-US" sz="2000" b="1" dirty="0">
                <a:solidFill>
                  <a:srgbClr val="1C7293"/>
                </a:solidFill>
                <a:latin typeface="Courier New" pitchFamily="34" charset="0"/>
                <a:ea typeface="Courier New" pitchFamily="34" charset="-122"/>
                <a:cs typeface="Courier New" pitchFamily="34" charset="-120"/>
              </a:rPr>
              <a:t>if_all()</a:t>
            </a:r>
            <a:endParaRPr lang="en-US" sz="2000" dirty="0"/>
          </a:p>
        </p:txBody>
      </p:sp>
      <p:sp>
        <p:nvSpPr>
          <p:cNvPr id="11" name="Text 9"/>
          <p:cNvSpPr txBox="1"/>
          <p:nvPr/>
        </p:nvSpPr>
        <p:spPr>
          <a:xfrm>
            <a:off x="822960" y="3657600"/>
            <a:ext cx="3474720" cy="685800"/>
          </a:xfrm>
          <a:prstGeom prst="rect">
            <a:avLst/>
          </a:prstGeom>
          <a:noFill/>
          <a:ln/>
        </p:spPr>
        <p:txBody>
          <a:bodyPr wrap="square" lIns="0" tIns="0" rIns="0" bIns="0" rtlCol="0" anchor="t"/>
          <a:lstStyle/>
          <a:p>
            <a:pPr indent="0" marL="0">
              <a:lnSpc>
                <a:spcPts val="1600"/>
              </a:lnSpc>
              <a:buNone/>
            </a:pPr>
            <a:r>
              <a:rPr lang="en-US" sz="1300" dirty="0">
                <a:solidFill>
                  <a:srgbClr val="1F2A37"/>
                </a:solidFill>
                <a:latin typeface="Calibri" pitchFamily="34" charset="0"/>
                <a:ea typeface="Calibri" pitchFamily="34" charset="-122"/>
                <a:cs typeface="Calibri" pitchFamily="34" charset="-120"/>
              </a:rPr>
              <a:t>Conserva filas donde TODAS las columnas elegidas cumplen la condición.</a:t>
            </a:r>
            <a:endParaRPr lang="en-US" sz="1300" dirty="0"/>
          </a:p>
        </p:txBody>
      </p:sp>
      <p:sp>
        <p:nvSpPr>
          <p:cNvPr id="12" name="Shape 10"/>
          <p:cNvSpPr/>
          <p:nvPr/>
        </p:nvSpPr>
        <p:spPr>
          <a:xfrm>
            <a:off x="4526280" y="3191256"/>
            <a:ext cx="6933895" cy="1069848"/>
          </a:xfrm>
          <a:prstGeom prst="roundRect">
            <a:avLst>
              <a:gd name="adj" fmla="val 6838"/>
            </a:avLst>
          </a:prstGeom>
          <a:solidFill>
            <a:srgbClr val="16203B"/>
          </a:solidFill>
          <a:ln/>
          <a:effectLst>
            <a:outerShdw sx="100000" sy="100000" kx="0" ky="0" algn="bl" rotWithShape="0" blurRad="88900" dist="25400" dir="5400000">
              <a:srgbClr val="21295C">
                <a:alpha val="25000"/>
              </a:srgbClr>
            </a:outerShdw>
          </a:effectLst>
        </p:spPr>
      </p:sp>
      <p:sp>
        <p:nvSpPr>
          <p:cNvPr id="13" name="Text 11"/>
          <p:cNvSpPr txBox="1"/>
          <p:nvPr/>
        </p:nvSpPr>
        <p:spPr>
          <a:xfrm>
            <a:off x="4754880" y="3328416"/>
            <a:ext cx="6476695" cy="795528"/>
          </a:xfrm>
          <a:prstGeom prst="rect">
            <a:avLst/>
          </a:prstGeom>
          <a:noFill/>
          <a:ln/>
        </p:spPr>
        <p:txBody>
          <a:bodyPr wrap="none" lIns="0" tIns="0" rIns="0" bIns="0" rtlCol="0" anchor="ctr"/>
          <a:lstStyle/>
          <a:p>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filter</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if_all</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starts_with</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F2C97D"/>
                </a:solidFill>
                <a:latin typeface="Courier New" pitchFamily="34" charset="0"/>
                <a:ea typeface="Courier New" pitchFamily="34" charset="-122"/>
                <a:cs typeface="Courier New" pitchFamily="34" charset="-120"/>
              </a:rPr>
              <a:t>"sat_"</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x</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C3A6FF"/>
                </a:solidFill>
                <a:latin typeface="Courier New" pitchFamily="34" charset="0"/>
                <a:ea typeface="Courier New" pitchFamily="34" charset="-122"/>
                <a:cs typeface="Courier New" pitchFamily="34" charset="-120"/>
              </a:rPr>
              <a:t>&gt;=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FF9E8A"/>
                </a:solidFill>
                <a:latin typeface="Courier New" pitchFamily="34" charset="0"/>
                <a:ea typeface="Courier New" pitchFamily="34" charset="-122"/>
                <a:cs typeface="Courier New" pitchFamily="34" charset="-120"/>
              </a:rPr>
              <a:t>4</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4" name="Shape 12"/>
          <p:cNvSpPr/>
          <p:nvPr/>
        </p:nvSpPr>
        <p:spPr>
          <a:xfrm>
            <a:off x="548640" y="4526280"/>
            <a:ext cx="11094415" cy="1325880"/>
          </a:xfrm>
          <a:prstGeom prst="roundRect">
            <a:avLst>
              <a:gd name="adj" fmla="val 689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5" name="Text 13"/>
          <p:cNvSpPr txBox="1"/>
          <p:nvPr/>
        </p:nvSpPr>
        <p:spPr>
          <a:xfrm>
            <a:off x="822960" y="4663440"/>
            <a:ext cx="2926080" cy="411480"/>
          </a:xfrm>
          <a:prstGeom prst="rect">
            <a:avLst/>
          </a:prstGeom>
          <a:noFill/>
          <a:ln/>
        </p:spPr>
        <p:txBody>
          <a:bodyPr wrap="square" lIns="0" tIns="0" rIns="0" bIns="0" rtlCol="0" anchor="ctr"/>
          <a:lstStyle/>
          <a:p>
            <a:pPr indent="0" marL="0">
              <a:buNone/>
            </a:pPr>
            <a:r>
              <a:rPr lang="en-US" sz="2000" b="1" dirty="0">
                <a:solidFill>
                  <a:srgbClr val="21295C"/>
                </a:solidFill>
                <a:latin typeface="Courier New" pitchFamily="34" charset="0"/>
                <a:ea typeface="Courier New" pitchFamily="34" charset="-122"/>
                <a:cs typeface="Courier New" pitchFamily="34" charset="-120"/>
              </a:rPr>
              <a:t>if_any()</a:t>
            </a:r>
            <a:endParaRPr lang="en-US" sz="2000" dirty="0"/>
          </a:p>
        </p:txBody>
      </p:sp>
      <p:sp>
        <p:nvSpPr>
          <p:cNvPr id="16" name="Text 14"/>
          <p:cNvSpPr txBox="1"/>
          <p:nvPr/>
        </p:nvSpPr>
        <p:spPr>
          <a:xfrm>
            <a:off x="822960" y="5120640"/>
            <a:ext cx="3474720" cy="685800"/>
          </a:xfrm>
          <a:prstGeom prst="rect">
            <a:avLst/>
          </a:prstGeom>
          <a:noFill/>
          <a:ln/>
        </p:spPr>
        <p:txBody>
          <a:bodyPr wrap="square" lIns="0" tIns="0" rIns="0" bIns="0" rtlCol="0" anchor="t"/>
          <a:lstStyle/>
          <a:p>
            <a:pPr indent="0" marL="0">
              <a:lnSpc>
                <a:spcPts val="1600"/>
              </a:lnSpc>
              <a:buNone/>
            </a:pPr>
            <a:r>
              <a:rPr lang="en-US" sz="1300" dirty="0">
                <a:solidFill>
                  <a:srgbClr val="1F2A37"/>
                </a:solidFill>
                <a:latin typeface="Calibri" pitchFamily="34" charset="0"/>
                <a:ea typeface="Calibri" pitchFamily="34" charset="-122"/>
                <a:cs typeface="Calibri" pitchFamily="34" charset="-120"/>
              </a:rPr>
              <a:t>Conserva filas donde ALGUNA de las columnas cumple la condición.</a:t>
            </a:r>
            <a:endParaRPr lang="en-US" sz="1300" dirty="0"/>
          </a:p>
        </p:txBody>
      </p:sp>
      <p:sp>
        <p:nvSpPr>
          <p:cNvPr id="17" name="Shape 15"/>
          <p:cNvSpPr/>
          <p:nvPr/>
        </p:nvSpPr>
        <p:spPr>
          <a:xfrm>
            <a:off x="4526280" y="4654296"/>
            <a:ext cx="6933895" cy="1069848"/>
          </a:xfrm>
          <a:prstGeom prst="roundRect">
            <a:avLst>
              <a:gd name="adj" fmla="val 6838"/>
            </a:avLst>
          </a:prstGeom>
          <a:solidFill>
            <a:srgbClr val="16203B"/>
          </a:solidFill>
          <a:ln/>
          <a:effectLst>
            <a:outerShdw sx="100000" sy="100000" kx="0" ky="0" algn="bl" rotWithShape="0" blurRad="88900" dist="25400" dir="5400000">
              <a:srgbClr val="21295C">
                <a:alpha val="25000"/>
              </a:srgbClr>
            </a:outerShdw>
          </a:effectLst>
        </p:spPr>
      </p:sp>
      <p:sp>
        <p:nvSpPr>
          <p:cNvPr id="18" name="Text 16"/>
          <p:cNvSpPr txBox="1"/>
          <p:nvPr/>
        </p:nvSpPr>
        <p:spPr>
          <a:xfrm>
            <a:off x="4754880" y="4791456"/>
            <a:ext cx="6476695" cy="795528"/>
          </a:xfrm>
          <a:prstGeom prst="rect">
            <a:avLst/>
          </a:prstGeom>
          <a:noFill/>
          <a:ln/>
        </p:spPr>
        <p:txBody>
          <a:bodyPr wrap="none" lIns="0" tIns="0" rIns="0" bIns="0" rtlCol="0" anchor="ctr"/>
          <a:lstStyle/>
          <a:p>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filter</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if_any</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8CC8FF"/>
                </a:solidFill>
                <a:latin typeface="Courier New" pitchFamily="34" charset="0"/>
                <a:ea typeface="Courier New" pitchFamily="34" charset="-122"/>
                <a:cs typeface="Courier New" pitchFamily="34" charset="-120"/>
              </a:rPr>
              <a:t>starts_with</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F2C97D"/>
                </a:solidFill>
                <a:latin typeface="Courier New" pitchFamily="34" charset="0"/>
                <a:ea typeface="Courier New" pitchFamily="34" charset="-122"/>
                <a:cs typeface="Courier New" pitchFamily="34" charset="-120"/>
              </a:rPr>
              <a:t>"sat_"</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 </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is.na</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pPr indent="0" marL="0">
              <a:lnSpc>
                <a:spcPts val="1650"/>
              </a:lnSpc>
              <a:buNone/>
            </a:pP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9" name="Text 17"/>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0" name="Text 18"/>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2 · DPLYR AVANZADO</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Agrupar "al vuelo" con .by (dplyr ≥ 1.1)</a:t>
            </a:r>
            <a:endParaRPr lang="en-US" sz="2800" dirty="0"/>
          </a:p>
        </p:txBody>
      </p:sp>
      <p:sp>
        <p:nvSpPr>
          <p:cNvPr id="4" name="Shape 2"/>
          <p:cNvSpPr/>
          <p:nvPr/>
        </p:nvSpPr>
        <p:spPr>
          <a:xfrm>
            <a:off x="548640" y="1645920"/>
            <a:ext cx="6126480" cy="4114800"/>
          </a:xfrm>
          <a:prstGeom prst="roundRect">
            <a:avLst>
              <a:gd name="adj" fmla="val 1778"/>
            </a:avLst>
          </a:prstGeom>
          <a:solidFill>
            <a:srgbClr val="16203B"/>
          </a:solidFill>
          <a:ln/>
          <a:effectLst>
            <a:outerShdw sx="100000" sy="100000" kx="0" ky="0" algn="bl" rotWithShape="0" blurRad="88900" dist="25400" dir="5400000">
              <a:srgbClr val="21295C">
                <a:alpha val="25000"/>
              </a:srgbClr>
            </a:outerShdw>
          </a:effectLst>
        </p:spPr>
      </p:sp>
      <p:sp>
        <p:nvSpPr>
          <p:cNvPr id="5" name="Text 3"/>
          <p:cNvSpPr txBox="1"/>
          <p:nvPr/>
        </p:nvSpPr>
        <p:spPr>
          <a:xfrm>
            <a:off x="777240" y="1783080"/>
            <a:ext cx="5669280" cy="3840480"/>
          </a:xfrm>
          <a:prstGeom prst="rect">
            <a:avLst/>
          </a:prstGeom>
          <a:noFill/>
          <a:ln/>
        </p:spPr>
        <p:txBody>
          <a:bodyPr wrap="none" lIns="0" tIns="0" rIns="0" bIns="0" rtlCol="0" anchor="t"/>
          <a:lstStyle/>
          <a:p>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Antes</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encuesta_prog</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group_by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area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nivel</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summarise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ungroup</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Ahora</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encuesta_prog</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summarise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.by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c</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area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nivel</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Las 2 mejores por área</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encuesta_prog</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C3A6FF"/>
                </a:solidFill>
                <a:latin typeface="Courier New" pitchFamily="34" charset="0"/>
                <a:ea typeface="Courier New" pitchFamily="34" charset="-122"/>
                <a:cs typeface="Courier New" pitchFamily="34" charset="-120"/>
              </a:rPr>
              <a:t>|&gt;</a:t>
            </a:r>
            <a:endParaRPr lang="en-US" sz="1300" dirty="0"/>
          </a:p>
          <a:p>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slice_max</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indice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n</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F9E8A"/>
                </a:solidFill>
                <a:latin typeface="Courier New" pitchFamily="34" charset="0"/>
                <a:ea typeface="Courier New" pitchFamily="34" charset="-122"/>
                <a:cs typeface="Courier New" pitchFamily="34" charset="-120"/>
              </a:rPr>
              <a:t>2</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by</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area</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7040880" y="1691640"/>
            <a:ext cx="4602175" cy="40233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.by agrupa solo para esa operación y deja la tabla sin agrupar: no hay ungroup() que olvidar.</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Funciona en summarise(), mutate(), filter() y slice_*().</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Las filas salen en orden de aparición, no ordenadas: agrega arrange() si lo necesitas.</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Bonus: left_join(x, y, join_by(id == programa_id)) une por columnas con distinto nombre.</a:t>
            </a:r>
            <a:endParaRPr lang="en-US" sz="1500" dirty="0"/>
          </a:p>
        </p:txBody>
      </p:sp>
      <p:sp>
        <p:nvSpPr>
          <p:cNvPr id="7" name="Text 5"/>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8" name="Text 6"/>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95360" y="3566160"/>
            <a:ext cx="5120640" cy="5120640"/>
          </a:xfrm>
          <a:prstGeom prst="ellipse">
            <a:avLst/>
          </a:prstGeom>
          <a:solidFill>
            <a:srgbClr val="065A82">
              <a:alpha val="45000"/>
            </a:srgbClr>
          </a:solidFill>
          <a:ln/>
        </p:spPr>
      </p:sp>
      <p:sp>
        <p:nvSpPr>
          <p:cNvPr id="3" name="Shape 1"/>
          <p:cNvSpPr/>
          <p:nvPr/>
        </p:nvSpPr>
        <p:spPr>
          <a:xfrm>
            <a:off x="10058400" y="4937760"/>
            <a:ext cx="2926080" cy="2926080"/>
          </a:xfrm>
          <a:prstGeom prst="ellipse">
            <a:avLst/>
          </a:prstGeom>
          <a:solidFill>
            <a:srgbClr val="1C7293">
              <a:alpha val="55000"/>
            </a:srgbClr>
          </a:solidFill>
          <a:ln/>
        </p:spPr>
      </p:sp>
      <p:sp>
        <p:nvSpPr>
          <p:cNvPr id="4" name="Text 2"/>
          <p:cNvSpPr txBox="1"/>
          <p:nvPr/>
        </p:nvSpPr>
        <p:spPr>
          <a:xfrm>
            <a:off x="548640" y="2286000"/>
            <a:ext cx="7315200" cy="365760"/>
          </a:xfrm>
          <a:prstGeom prst="rect">
            <a:avLst/>
          </a:prstGeom>
          <a:noFill/>
          <a:ln/>
        </p:spPr>
        <p:txBody>
          <a:bodyPr wrap="square" lIns="0" tIns="0" rIns="0" bIns="0" rtlCol="0" anchor="ctr"/>
          <a:lstStyle/>
          <a:p>
            <a:pPr indent="0" marL="0">
              <a:buNone/>
            </a:pPr>
            <a:r>
              <a:rPr lang="en-US" sz="1400" b="1" spc="300" kern="0" dirty="0">
                <a:solidFill>
                  <a:srgbClr val="9FD3E8"/>
                </a:solidFill>
                <a:latin typeface="Calibri" pitchFamily="34" charset="0"/>
                <a:ea typeface="Calibri" pitchFamily="34" charset="-122"/>
                <a:cs typeface="Calibri" pitchFamily="34" charset="-120"/>
              </a:rPr>
              <a:t>PARTE 3</a:t>
            </a:r>
            <a:endParaRPr lang="en-US" sz="1400" dirty="0"/>
          </a:p>
        </p:txBody>
      </p:sp>
      <p:sp>
        <p:nvSpPr>
          <p:cNvPr id="5" name="Text 3"/>
          <p:cNvSpPr txBox="1"/>
          <p:nvPr/>
        </p:nvSpPr>
        <p:spPr>
          <a:xfrm>
            <a:off x="548640" y="269748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Git y control de versiones</a:t>
            </a:r>
            <a:endParaRPr lang="en-US" sz="4800" dirty="0"/>
          </a:p>
        </p:txBody>
      </p:sp>
      <p:sp>
        <p:nvSpPr>
          <p:cNvPr id="6" name="Text 4"/>
          <p:cNvSpPr txBox="1"/>
          <p:nvPr/>
        </p:nvSpPr>
        <p:spPr>
          <a:xfrm>
            <a:off x="548640" y="3749040"/>
            <a:ext cx="822960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Tu bitácora reproducible de análisis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El problema que Git resuelve</a:t>
            </a:r>
            <a:endParaRPr lang="en-US" sz="2800" dirty="0"/>
          </a:p>
        </p:txBody>
      </p:sp>
      <p:sp>
        <p:nvSpPr>
          <p:cNvPr id="4" name="Shape 2"/>
          <p:cNvSpPr/>
          <p:nvPr/>
        </p:nvSpPr>
        <p:spPr>
          <a:xfrm>
            <a:off x="548640" y="1691640"/>
            <a:ext cx="4937760" cy="603504"/>
          </a:xfrm>
          <a:prstGeom prst="roundRect">
            <a:avLst>
              <a:gd name="adj" fmla="val 9091"/>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Text 3"/>
          <p:cNvSpPr txBox="1"/>
          <p:nvPr/>
        </p:nvSpPr>
        <p:spPr>
          <a:xfrm>
            <a:off x="822960" y="1691640"/>
            <a:ext cx="4480560" cy="603504"/>
          </a:xfrm>
          <a:prstGeom prst="rect">
            <a:avLst/>
          </a:prstGeom>
          <a:noFill/>
          <a:ln/>
        </p:spPr>
        <p:txBody>
          <a:bodyPr wrap="square" lIns="0" tIns="0" rIns="0" bIns="0" rtlCol="0" anchor="ctr"/>
          <a:lstStyle/>
          <a:p>
            <a:pPr indent="0" marL="0">
              <a:buNone/>
            </a:pPr>
            <a:r>
              <a:rPr lang="en-US" sz="1400" dirty="0">
                <a:solidFill>
                  <a:srgbClr val="5B6B79"/>
                </a:solidFill>
                <a:latin typeface="Courier New" pitchFamily="34" charset="0"/>
                <a:ea typeface="Courier New" pitchFamily="34" charset="-122"/>
                <a:cs typeface="Courier New" pitchFamily="34" charset="-120"/>
              </a:rPr>
              <a:t>analisis.R</a:t>
            </a:r>
            <a:endParaRPr lang="en-US" sz="1400" dirty="0"/>
          </a:p>
        </p:txBody>
      </p:sp>
      <p:sp>
        <p:nvSpPr>
          <p:cNvPr id="6" name="Shape 4"/>
          <p:cNvSpPr/>
          <p:nvPr/>
        </p:nvSpPr>
        <p:spPr>
          <a:xfrm>
            <a:off x="548640" y="2441448"/>
            <a:ext cx="4937760" cy="603504"/>
          </a:xfrm>
          <a:prstGeom prst="roundRect">
            <a:avLst>
              <a:gd name="adj" fmla="val 9091"/>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7" name="Text 5"/>
          <p:cNvSpPr txBox="1"/>
          <p:nvPr/>
        </p:nvSpPr>
        <p:spPr>
          <a:xfrm>
            <a:off x="822960" y="2441448"/>
            <a:ext cx="4480560" cy="603504"/>
          </a:xfrm>
          <a:prstGeom prst="rect">
            <a:avLst/>
          </a:prstGeom>
          <a:noFill/>
          <a:ln/>
        </p:spPr>
        <p:txBody>
          <a:bodyPr wrap="square" lIns="0" tIns="0" rIns="0" bIns="0" rtlCol="0" anchor="ctr"/>
          <a:lstStyle/>
          <a:p>
            <a:pPr indent="0" marL="0">
              <a:buNone/>
            </a:pPr>
            <a:r>
              <a:rPr lang="en-US" sz="1400" dirty="0">
                <a:solidFill>
                  <a:srgbClr val="5B6B79"/>
                </a:solidFill>
                <a:latin typeface="Courier New" pitchFamily="34" charset="0"/>
                <a:ea typeface="Courier New" pitchFamily="34" charset="-122"/>
                <a:cs typeface="Courier New" pitchFamily="34" charset="-120"/>
              </a:rPr>
              <a:t>analisis_v2.R</a:t>
            </a:r>
            <a:endParaRPr lang="en-US" sz="1400" dirty="0"/>
          </a:p>
        </p:txBody>
      </p:sp>
      <p:sp>
        <p:nvSpPr>
          <p:cNvPr id="8" name="Shape 6"/>
          <p:cNvSpPr/>
          <p:nvPr/>
        </p:nvSpPr>
        <p:spPr>
          <a:xfrm>
            <a:off x="548640" y="3191256"/>
            <a:ext cx="4937760" cy="603504"/>
          </a:xfrm>
          <a:prstGeom prst="roundRect">
            <a:avLst>
              <a:gd name="adj" fmla="val 9091"/>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9" name="Text 7"/>
          <p:cNvSpPr txBox="1"/>
          <p:nvPr/>
        </p:nvSpPr>
        <p:spPr>
          <a:xfrm>
            <a:off x="822960" y="3191256"/>
            <a:ext cx="4480560" cy="603504"/>
          </a:xfrm>
          <a:prstGeom prst="rect">
            <a:avLst/>
          </a:prstGeom>
          <a:noFill/>
          <a:ln/>
        </p:spPr>
        <p:txBody>
          <a:bodyPr wrap="square" lIns="0" tIns="0" rIns="0" bIns="0" rtlCol="0" anchor="ctr"/>
          <a:lstStyle/>
          <a:p>
            <a:pPr indent="0" marL="0">
              <a:buNone/>
            </a:pPr>
            <a:r>
              <a:rPr lang="en-US" sz="1400" dirty="0">
                <a:solidFill>
                  <a:srgbClr val="5B6B79"/>
                </a:solidFill>
                <a:latin typeface="Courier New" pitchFamily="34" charset="0"/>
                <a:ea typeface="Courier New" pitchFamily="34" charset="-122"/>
                <a:cs typeface="Courier New" pitchFamily="34" charset="-120"/>
              </a:rPr>
              <a:t>analisis_v2_FINAL.R</a:t>
            </a:r>
            <a:endParaRPr lang="en-US" sz="1400" dirty="0"/>
          </a:p>
        </p:txBody>
      </p:sp>
      <p:sp>
        <p:nvSpPr>
          <p:cNvPr id="10" name="Shape 8"/>
          <p:cNvSpPr/>
          <p:nvPr/>
        </p:nvSpPr>
        <p:spPr>
          <a:xfrm>
            <a:off x="548640" y="3941064"/>
            <a:ext cx="4937760" cy="603504"/>
          </a:xfrm>
          <a:prstGeom prst="roundRect">
            <a:avLst>
              <a:gd name="adj" fmla="val 9091"/>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1" name="Text 9"/>
          <p:cNvSpPr txBox="1"/>
          <p:nvPr/>
        </p:nvSpPr>
        <p:spPr>
          <a:xfrm>
            <a:off x="822960" y="3941064"/>
            <a:ext cx="4480560" cy="603504"/>
          </a:xfrm>
          <a:prstGeom prst="rect">
            <a:avLst/>
          </a:prstGeom>
          <a:noFill/>
          <a:ln/>
        </p:spPr>
        <p:txBody>
          <a:bodyPr wrap="square" lIns="0" tIns="0" rIns="0" bIns="0" rtlCol="0" anchor="ctr"/>
          <a:lstStyle/>
          <a:p>
            <a:pPr indent="0" marL="0">
              <a:buNone/>
            </a:pPr>
            <a:r>
              <a:rPr lang="en-US" sz="1400" dirty="0">
                <a:solidFill>
                  <a:srgbClr val="5B6B79"/>
                </a:solidFill>
                <a:latin typeface="Courier New" pitchFamily="34" charset="0"/>
                <a:ea typeface="Courier New" pitchFamily="34" charset="-122"/>
                <a:cs typeface="Courier New" pitchFamily="34" charset="-120"/>
              </a:rPr>
              <a:t>analisis_v2_FINAL_ahora_si.R</a:t>
            </a:r>
            <a:endParaRPr lang="en-US" sz="1400" dirty="0"/>
          </a:p>
        </p:txBody>
      </p:sp>
      <p:sp>
        <p:nvSpPr>
          <p:cNvPr id="12" name="Shape 10"/>
          <p:cNvSpPr/>
          <p:nvPr/>
        </p:nvSpPr>
        <p:spPr>
          <a:xfrm>
            <a:off x="548640" y="4690872"/>
            <a:ext cx="4937760" cy="603504"/>
          </a:xfrm>
          <a:prstGeom prst="roundRect">
            <a:avLst>
              <a:gd name="adj" fmla="val 9091"/>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3" name="Text 11"/>
          <p:cNvSpPr txBox="1"/>
          <p:nvPr/>
        </p:nvSpPr>
        <p:spPr>
          <a:xfrm>
            <a:off x="822960" y="4690872"/>
            <a:ext cx="4480560" cy="603504"/>
          </a:xfrm>
          <a:prstGeom prst="rect">
            <a:avLst/>
          </a:prstGeom>
          <a:noFill/>
          <a:ln/>
        </p:spPr>
        <p:txBody>
          <a:bodyPr wrap="square" lIns="0" tIns="0" rIns="0" bIns="0" rtlCol="0" anchor="ctr"/>
          <a:lstStyle/>
          <a:p>
            <a:pPr indent="0" marL="0">
              <a:buNone/>
            </a:pPr>
            <a:r>
              <a:rPr lang="en-US" sz="1400" dirty="0">
                <a:solidFill>
                  <a:srgbClr val="C0392B"/>
                </a:solidFill>
                <a:latin typeface="Courier New" pitchFamily="34" charset="0"/>
                <a:ea typeface="Courier New" pitchFamily="34" charset="-122"/>
                <a:cs typeface="Courier New" pitchFamily="34" charset="-120"/>
              </a:rPr>
              <a:t>analisis_v3_comentarios_tutor.R</a:t>
            </a:r>
            <a:endParaRPr lang="en-US" sz="1400" dirty="0"/>
          </a:p>
        </p:txBody>
      </p:sp>
      <p:sp>
        <p:nvSpPr>
          <p:cNvPr id="14" name="Shape 12"/>
          <p:cNvSpPr/>
          <p:nvPr/>
        </p:nvSpPr>
        <p:spPr>
          <a:xfrm>
            <a:off x="6217920" y="1645920"/>
            <a:ext cx="685800" cy="685800"/>
          </a:xfrm>
          <a:prstGeom prst="ellipse">
            <a:avLst/>
          </a:prstGeom>
          <a:solidFill>
            <a:srgbClr val="065A82"/>
          </a:solidFill>
          <a:ln/>
        </p:spPr>
      </p:sp>
      <p:pic>
        <p:nvPicPr>
          <p:cNvPr id="15" name="Image 0" descr="/home/claude/sesion1/deck/icons/history_white.png">    </p:cNvPr>
          <p:cNvPicPr>
            <a:picLocks noChangeAspect="1"/>
          </p:cNvPicPr>
          <p:nvPr/>
        </p:nvPicPr>
        <p:blipFill>
          <a:blip r:embed="rId1"/>
          <a:stretch>
            <a:fillRect/>
          </a:stretch>
        </p:blipFill>
        <p:spPr>
          <a:xfrm>
            <a:off x="6389370" y="1817370"/>
            <a:ext cx="342900" cy="342900"/>
          </a:xfrm>
          <a:prstGeom prst="rect">
            <a:avLst/>
          </a:prstGeom>
        </p:spPr>
      </p:pic>
      <p:sp>
        <p:nvSpPr>
          <p:cNvPr id="16" name="Text 13"/>
          <p:cNvSpPr txBox="1"/>
          <p:nvPr/>
        </p:nvSpPr>
        <p:spPr>
          <a:xfrm>
            <a:off x="7132320" y="1627632"/>
            <a:ext cx="4510735"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Historial</a:t>
            </a:r>
            <a:endParaRPr lang="en-US" sz="1800" dirty="0"/>
          </a:p>
        </p:txBody>
      </p:sp>
      <p:sp>
        <p:nvSpPr>
          <p:cNvPr id="17" name="Text 14"/>
          <p:cNvSpPr txBox="1"/>
          <p:nvPr/>
        </p:nvSpPr>
        <p:spPr>
          <a:xfrm>
            <a:off x="7132320" y="1993392"/>
            <a:ext cx="4510735" cy="548640"/>
          </a:xfrm>
          <a:prstGeom prst="rect">
            <a:avLst/>
          </a:prstGeom>
          <a:noFill/>
          <a:ln/>
        </p:spPr>
        <p:txBody>
          <a:bodyPr wrap="square" lIns="0" tIns="0" rIns="0" bIns="0" rtlCol="0" anchor="t"/>
          <a:lstStyle/>
          <a:p>
            <a:pPr indent="0" marL="0">
              <a:buNone/>
            </a:pPr>
            <a:r>
              <a:rPr lang="en-US" sz="1450" dirty="0">
                <a:solidFill>
                  <a:srgbClr val="1F2A37"/>
                </a:solidFill>
                <a:latin typeface="Calibri" pitchFamily="34" charset="0"/>
                <a:ea typeface="Calibri" pitchFamily="34" charset="-122"/>
                <a:cs typeface="Calibri" pitchFamily="34" charset="-120"/>
              </a:rPr>
              <a:t>Vuelve a cualquier punto anterior de tu análisis.</a:t>
            </a:r>
            <a:endParaRPr lang="en-US" sz="1450" dirty="0"/>
          </a:p>
        </p:txBody>
      </p:sp>
      <p:sp>
        <p:nvSpPr>
          <p:cNvPr id="18" name="Shape 15"/>
          <p:cNvSpPr/>
          <p:nvPr/>
        </p:nvSpPr>
        <p:spPr>
          <a:xfrm>
            <a:off x="6217920" y="2670048"/>
            <a:ext cx="685800" cy="685800"/>
          </a:xfrm>
          <a:prstGeom prst="ellipse">
            <a:avLst/>
          </a:prstGeom>
          <a:solidFill>
            <a:srgbClr val="1C7293"/>
          </a:solidFill>
          <a:ln/>
        </p:spPr>
      </p:sp>
      <p:pic>
        <p:nvPicPr>
          <p:cNvPr id="19" name="Image 1" descr="/home/claude/sesion1/deck/icons/users_white.png">    </p:cNvPr>
          <p:cNvPicPr>
            <a:picLocks noChangeAspect="1"/>
          </p:cNvPicPr>
          <p:nvPr/>
        </p:nvPicPr>
        <p:blipFill>
          <a:blip r:embed="rId2"/>
          <a:stretch>
            <a:fillRect/>
          </a:stretch>
        </p:blipFill>
        <p:spPr>
          <a:xfrm>
            <a:off x="6389370" y="2841498"/>
            <a:ext cx="342900" cy="342900"/>
          </a:xfrm>
          <a:prstGeom prst="rect">
            <a:avLst/>
          </a:prstGeom>
        </p:spPr>
      </p:pic>
      <p:sp>
        <p:nvSpPr>
          <p:cNvPr id="20" name="Text 16"/>
          <p:cNvSpPr txBox="1"/>
          <p:nvPr/>
        </p:nvSpPr>
        <p:spPr>
          <a:xfrm>
            <a:off x="7132320" y="2651760"/>
            <a:ext cx="4510735"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Colaboración</a:t>
            </a:r>
            <a:endParaRPr lang="en-US" sz="1800" dirty="0"/>
          </a:p>
        </p:txBody>
      </p:sp>
      <p:sp>
        <p:nvSpPr>
          <p:cNvPr id="21" name="Text 17"/>
          <p:cNvSpPr txBox="1"/>
          <p:nvPr/>
        </p:nvSpPr>
        <p:spPr>
          <a:xfrm>
            <a:off x="7132320" y="3017520"/>
            <a:ext cx="4510735" cy="548640"/>
          </a:xfrm>
          <a:prstGeom prst="rect">
            <a:avLst/>
          </a:prstGeom>
          <a:noFill/>
          <a:ln/>
        </p:spPr>
        <p:txBody>
          <a:bodyPr wrap="square" lIns="0" tIns="0" rIns="0" bIns="0" rtlCol="0" anchor="t"/>
          <a:lstStyle/>
          <a:p>
            <a:pPr indent="0" marL="0">
              <a:buNone/>
            </a:pPr>
            <a:r>
              <a:rPr lang="en-US" sz="1450" dirty="0">
                <a:solidFill>
                  <a:srgbClr val="1F2A37"/>
                </a:solidFill>
                <a:latin typeface="Calibri" pitchFamily="34" charset="0"/>
                <a:ea typeface="Calibri" pitchFamily="34" charset="-122"/>
                <a:cs typeface="Calibri" pitchFamily="34" charset="-120"/>
              </a:rPr>
              <a:t>Varias personas trabajan en el mismo proyecto sin pisarse.</a:t>
            </a:r>
            <a:endParaRPr lang="en-US" sz="1450" dirty="0"/>
          </a:p>
        </p:txBody>
      </p:sp>
      <p:sp>
        <p:nvSpPr>
          <p:cNvPr id="22" name="Shape 18"/>
          <p:cNvSpPr/>
          <p:nvPr/>
        </p:nvSpPr>
        <p:spPr>
          <a:xfrm>
            <a:off x="6217920" y="3694176"/>
            <a:ext cx="685800" cy="685800"/>
          </a:xfrm>
          <a:prstGeom prst="ellipse">
            <a:avLst/>
          </a:prstGeom>
          <a:solidFill>
            <a:srgbClr val="21295C"/>
          </a:solidFill>
          <a:ln/>
        </p:spPr>
      </p:sp>
      <p:pic>
        <p:nvPicPr>
          <p:cNvPr id="23" name="Image 2" descr="/home/claude/sesion1/deck/icons/shield_white.png">    </p:cNvPr>
          <p:cNvPicPr>
            <a:picLocks noChangeAspect="1"/>
          </p:cNvPicPr>
          <p:nvPr/>
        </p:nvPicPr>
        <p:blipFill>
          <a:blip r:embed="rId3"/>
          <a:stretch>
            <a:fillRect/>
          </a:stretch>
        </p:blipFill>
        <p:spPr>
          <a:xfrm>
            <a:off x="6389370" y="3865626"/>
            <a:ext cx="342900" cy="342900"/>
          </a:xfrm>
          <a:prstGeom prst="rect">
            <a:avLst/>
          </a:prstGeom>
        </p:spPr>
      </p:pic>
      <p:sp>
        <p:nvSpPr>
          <p:cNvPr id="24" name="Text 19"/>
          <p:cNvSpPr txBox="1"/>
          <p:nvPr/>
        </p:nvSpPr>
        <p:spPr>
          <a:xfrm>
            <a:off x="7132320" y="3675888"/>
            <a:ext cx="4510735"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Reproducibilidad</a:t>
            </a:r>
            <a:endParaRPr lang="en-US" sz="1800" dirty="0"/>
          </a:p>
        </p:txBody>
      </p:sp>
      <p:sp>
        <p:nvSpPr>
          <p:cNvPr id="25" name="Text 20"/>
          <p:cNvSpPr txBox="1"/>
          <p:nvPr/>
        </p:nvSpPr>
        <p:spPr>
          <a:xfrm>
            <a:off x="7132320" y="4041648"/>
            <a:ext cx="4510735" cy="548640"/>
          </a:xfrm>
          <a:prstGeom prst="rect">
            <a:avLst/>
          </a:prstGeom>
          <a:noFill/>
          <a:ln/>
        </p:spPr>
        <p:txBody>
          <a:bodyPr wrap="square" lIns="0" tIns="0" rIns="0" bIns="0" rtlCol="0" anchor="t"/>
          <a:lstStyle/>
          <a:p>
            <a:pPr indent="0" marL="0">
              <a:buNone/>
            </a:pPr>
            <a:r>
              <a:rPr lang="en-US" sz="1450" dirty="0">
                <a:solidFill>
                  <a:srgbClr val="1F2A37"/>
                </a:solidFill>
                <a:latin typeface="Calibri" pitchFamily="34" charset="0"/>
                <a:ea typeface="Calibri" pitchFamily="34" charset="-122"/>
                <a:cs typeface="Calibri" pitchFamily="34" charset="-120"/>
              </a:rPr>
              <a:t>Sabes qué versión del código produjo cada resultado.</a:t>
            </a:r>
            <a:endParaRPr lang="en-US" sz="1450" dirty="0"/>
          </a:p>
        </p:txBody>
      </p:sp>
      <p:sp>
        <p:nvSpPr>
          <p:cNvPr id="26" name="Shape 21"/>
          <p:cNvSpPr/>
          <p:nvPr/>
        </p:nvSpPr>
        <p:spPr>
          <a:xfrm>
            <a:off x="6217920" y="4718304"/>
            <a:ext cx="685800" cy="685800"/>
          </a:xfrm>
          <a:prstGeom prst="ellipse">
            <a:avLst/>
          </a:prstGeom>
          <a:solidFill>
            <a:srgbClr val="2E8B6A"/>
          </a:solidFill>
          <a:ln/>
        </p:spPr>
      </p:sp>
      <p:pic>
        <p:nvPicPr>
          <p:cNvPr id="27" name="Image 3" descr="/home/claude/sesion1/deck/icons/cloud_white.png">    </p:cNvPr>
          <p:cNvPicPr>
            <a:picLocks noChangeAspect="1"/>
          </p:cNvPicPr>
          <p:nvPr/>
        </p:nvPicPr>
        <p:blipFill>
          <a:blip r:embed="rId4"/>
          <a:stretch>
            <a:fillRect/>
          </a:stretch>
        </p:blipFill>
        <p:spPr>
          <a:xfrm>
            <a:off x="6389370" y="4889754"/>
            <a:ext cx="342900" cy="342900"/>
          </a:xfrm>
          <a:prstGeom prst="rect">
            <a:avLst/>
          </a:prstGeom>
        </p:spPr>
      </p:pic>
      <p:sp>
        <p:nvSpPr>
          <p:cNvPr id="28" name="Text 22"/>
          <p:cNvSpPr txBox="1"/>
          <p:nvPr/>
        </p:nvSpPr>
        <p:spPr>
          <a:xfrm>
            <a:off x="7132320" y="4700016"/>
            <a:ext cx="4510735" cy="347472"/>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Respaldo</a:t>
            </a:r>
            <a:endParaRPr lang="en-US" sz="1800" dirty="0"/>
          </a:p>
        </p:txBody>
      </p:sp>
      <p:sp>
        <p:nvSpPr>
          <p:cNvPr id="29" name="Text 23"/>
          <p:cNvSpPr txBox="1"/>
          <p:nvPr/>
        </p:nvSpPr>
        <p:spPr>
          <a:xfrm>
            <a:off x="7132320" y="5065776"/>
            <a:ext cx="4510735" cy="548640"/>
          </a:xfrm>
          <a:prstGeom prst="rect">
            <a:avLst/>
          </a:prstGeom>
          <a:noFill/>
          <a:ln/>
        </p:spPr>
        <p:txBody>
          <a:bodyPr wrap="square" lIns="0" tIns="0" rIns="0" bIns="0" rtlCol="0" anchor="t"/>
          <a:lstStyle/>
          <a:p>
            <a:pPr indent="0" marL="0">
              <a:buNone/>
            </a:pPr>
            <a:r>
              <a:rPr lang="en-US" sz="1450" dirty="0">
                <a:solidFill>
                  <a:srgbClr val="1F2A37"/>
                </a:solidFill>
                <a:latin typeface="Calibri" pitchFamily="34" charset="0"/>
                <a:ea typeface="Calibri" pitchFamily="34" charset="-122"/>
                <a:cs typeface="Calibri" pitchFamily="34" charset="-120"/>
              </a:rPr>
              <a:t>Con GitHub, una copia remota de tu trabajo.</a:t>
            </a:r>
            <a:endParaRPr lang="en-US" sz="1450" dirty="0"/>
          </a:p>
        </p:txBody>
      </p:sp>
      <p:sp>
        <p:nvSpPr>
          <p:cNvPr id="30" name="Text 24"/>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31" name="Text 25"/>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Git y GitHub no son lo mismo</a:t>
            </a:r>
            <a:endParaRPr lang="en-US" sz="2800" dirty="0"/>
          </a:p>
        </p:txBody>
      </p:sp>
      <p:sp>
        <p:nvSpPr>
          <p:cNvPr id="4" name="Shape 2"/>
          <p:cNvSpPr/>
          <p:nvPr/>
        </p:nvSpPr>
        <p:spPr>
          <a:xfrm>
            <a:off x="548640" y="1737360"/>
            <a:ext cx="5318608" cy="3657600"/>
          </a:xfrm>
          <a:prstGeom prst="roundRect">
            <a:avLst>
              <a:gd name="adj" fmla="val 2500"/>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Text 3"/>
          <p:cNvSpPr txBox="1"/>
          <p:nvPr/>
        </p:nvSpPr>
        <p:spPr>
          <a:xfrm>
            <a:off x="914400" y="1965960"/>
            <a:ext cx="4587088" cy="731520"/>
          </a:xfrm>
          <a:prstGeom prst="rect">
            <a:avLst/>
          </a:prstGeom>
          <a:noFill/>
          <a:ln/>
        </p:spPr>
        <p:txBody>
          <a:bodyPr wrap="square" lIns="0" tIns="0" rIns="0" bIns="0" rtlCol="0" anchor="ctr"/>
          <a:lstStyle/>
          <a:p>
            <a:pPr indent="0" marL="0">
              <a:buNone/>
            </a:pPr>
            <a:r>
              <a:rPr lang="en-US" sz="4000" b="1" dirty="0">
                <a:solidFill>
                  <a:srgbClr val="065A82"/>
                </a:solidFill>
                <a:latin typeface="Cambria" pitchFamily="34" charset="0"/>
                <a:ea typeface="Cambria" pitchFamily="34" charset="-122"/>
                <a:cs typeface="Cambria" pitchFamily="34" charset="-120"/>
              </a:rPr>
              <a:t>Git</a:t>
            </a:r>
            <a:endParaRPr lang="en-US" sz="4000" dirty="0"/>
          </a:p>
        </p:txBody>
      </p:sp>
      <p:sp>
        <p:nvSpPr>
          <p:cNvPr id="6" name="Text 4"/>
          <p:cNvSpPr txBox="1"/>
          <p:nvPr/>
        </p:nvSpPr>
        <p:spPr>
          <a:xfrm>
            <a:off x="914400" y="2743200"/>
            <a:ext cx="4587088" cy="36576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Programa local</a:t>
            </a:r>
            <a:endParaRPr lang="en-US" sz="1800" dirty="0"/>
          </a:p>
        </p:txBody>
      </p:sp>
      <p:sp>
        <p:nvSpPr>
          <p:cNvPr id="7" name="Text 5"/>
          <p:cNvSpPr txBox="1"/>
          <p:nvPr/>
        </p:nvSpPr>
        <p:spPr>
          <a:xfrm>
            <a:off x="914400" y="3200400"/>
            <a:ext cx="4587088" cy="1371600"/>
          </a:xfrm>
          <a:prstGeom prst="rect">
            <a:avLst/>
          </a:prstGeom>
          <a:noFill/>
          <a:ln/>
        </p:spPr>
        <p:txBody>
          <a:bodyPr wrap="square" lIns="0" tIns="0" rIns="0" bIns="0" rtlCol="0" anchor="t"/>
          <a:lstStyle/>
          <a:p>
            <a:pPr indent="0" marL="0">
              <a:lnSpc>
                <a:spcPts val="2100"/>
              </a:lnSpc>
              <a:buNone/>
            </a:pPr>
            <a:r>
              <a:rPr lang="en-US" sz="1600" dirty="0">
                <a:solidFill>
                  <a:srgbClr val="1F2A37"/>
                </a:solidFill>
                <a:latin typeface="Calibri" pitchFamily="34" charset="0"/>
                <a:ea typeface="Calibri" pitchFamily="34" charset="-122"/>
                <a:cs typeface="Calibri" pitchFamily="34" charset="-120"/>
              </a:rPr>
              <a:t>Registra el historial de los archivos de una carpeta en tu computador. Funciona sin internet y es gratuito.</a:t>
            </a:r>
            <a:endParaRPr lang="en-US" sz="1600" dirty="0"/>
          </a:p>
        </p:txBody>
      </p:sp>
      <p:sp>
        <p:nvSpPr>
          <p:cNvPr id="8" name="Text 6"/>
          <p:cNvSpPr txBox="1"/>
          <p:nvPr/>
        </p:nvSpPr>
        <p:spPr>
          <a:xfrm>
            <a:off x="914400" y="4663440"/>
            <a:ext cx="4587088" cy="365760"/>
          </a:xfrm>
          <a:prstGeom prst="rect">
            <a:avLst/>
          </a:prstGeom>
          <a:noFill/>
          <a:ln/>
        </p:spPr>
        <p:txBody>
          <a:bodyPr wrap="square" lIns="0" tIns="0" rIns="0" bIns="0" rtlCol="0" anchor="ctr"/>
          <a:lstStyle/>
          <a:p>
            <a:pPr indent="0" marL="0">
              <a:buNone/>
            </a:pPr>
            <a:r>
              <a:rPr lang="en-US" sz="1600" i="1" dirty="0">
                <a:solidFill>
                  <a:srgbClr val="065A82"/>
                </a:solidFill>
                <a:latin typeface="Calibri" pitchFamily="34" charset="0"/>
                <a:ea typeface="Calibri" pitchFamily="34" charset="-122"/>
                <a:cs typeface="Calibri" pitchFamily="34" charset="-120"/>
              </a:rPr>
              <a:t>Es el motor.</a:t>
            </a:r>
            <a:endParaRPr lang="en-US" sz="1600" dirty="0"/>
          </a:p>
        </p:txBody>
      </p:sp>
      <p:sp>
        <p:nvSpPr>
          <p:cNvPr id="9" name="Shape 7"/>
          <p:cNvSpPr/>
          <p:nvPr/>
        </p:nvSpPr>
        <p:spPr>
          <a:xfrm>
            <a:off x="6324448" y="1737360"/>
            <a:ext cx="5318608" cy="3657600"/>
          </a:xfrm>
          <a:prstGeom prst="roundRect">
            <a:avLst>
              <a:gd name="adj" fmla="val 2500"/>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0" name="Text 8"/>
          <p:cNvSpPr txBox="1"/>
          <p:nvPr/>
        </p:nvSpPr>
        <p:spPr>
          <a:xfrm>
            <a:off x="6690208" y="1965960"/>
            <a:ext cx="4587088" cy="731520"/>
          </a:xfrm>
          <a:prstGeom prst="rect">
            <a:avLst/>
          </a:prstGeom>
          <a:noFill/>
          <a:ln/>
        </p:spPr>
        <p:txBody>
          <a:bodyPr wrap="square" lIns="0" tIns="0" rIns="0" bIns="0" rtlCol="0" anchor="ctr"/>
          <a:lstStyle/>
          <a:p>
            <a:pPr indent="0" marL="0">
              <a:buNone/>
            </a:pPr>
            <a:r>
              <a:rPr lang="en-US" sz="4000" b="1" dirty="0">
                <a:solidFill>
                  <a:srgbClr val="1C7293"/>
                </a:solidFill>
                <a:latin typeface="Cambria" pitchFamily="34" charset="0"/>
                <a:ea typeface="Cambria" pitchFamily="34" charset="-122"/>
                <a:cs typeface="Cambria" pitchFamily="34" charset="-120"/>
              </a:rPr>
              <a:t>GitHub</a:t>
            </a:r>
            <a:endParaRPr lang="en-US" sz="4000" dirty="0"/>
          </a:p>
        </p:txBody>
      </p:sp>
      <p:sp>
        <p:nvSpPr>
          <p:cNvPr id="11" name="Text 9"/>
          <p:cNvSpPr txBox="1"/>
          <p:nvPr/>
        </p:nvSpPr>
        <p:spPr>
          <a:xfrm>
            <a:off x="6690208" y="2743200"/>
            <a:ext cx="4587088" cy="365760"/>
          </a:xfrm>
          <a:prstGeom prst="rect">
            <a:avLst/>
          </a:prstGeom>
          <a:noFill/>
          <a:ln/>
        </p:spPr>
        <p:txBody>
          <a:bodyPr wrap="square" lIns="0" tIns="0" rIns="0" bIns="0" rtlCol="0" anchor="ctr"/>
          <a:lstStyle/>
          <a:p>
            <a:pPr indent="0" marL="0">
              <a:buNone/>
            </a:pPr>
            <a:r>
              <a:rPr lang="en-US" sz="1800" b="1" dirty="0">
                <a:solidFill>
                  <a:srgbClr val="21295C"/>
                </a:solidFill>
                <a:latin typeface="Calibri" pitchFamily="34" charset="0"/>
                <a:ea typeface="Calibri" pitchFamily="34" charset="-122"/>
                <a:cs typeface="Calibri" pitchFamily="34" charset="-120"/>
              </a:rPr>
              <a:t>Servicio en la nube</a:t>
            </a:r>
            <a:endParaRPr lang="en-US" sz="1800" dirty="0"/>
          </a:p>
        </p:txBody>
      </p:sp>
      <p:sp>
        <p:nvSpPr>
          <p:cNvPr id="12" name="Text 10"/>
          <p:cNvSpPr txBox="1"/>
          <p:nvPr/>
        </p:nvSpPr>
        <p:spPr>
          <a:xfrm>
            <a:off x="6690208" y="3200400"/>
            <a:ext cx="4587088" cy="1371600"/>
          </a:xfrm>
          <a:prstGeom prst="rect">
            <a:avLst/>
          </a:prstGeom>
          <a:noFill/>
          <a:ln/>
        </p:spPr>
        <p:txBody>
          <a:bodyPr wrap="square" lIns="0" tIns="0" rIns="0" bIns="0" rtlCol="0" anchor="t"/>
          <a:lstStyle/>
          <a:p>
            <a:pPr indent="0" marL="0">
              <a:lnSpc>
                <a:spcPts val="2100"/>
              </a:lnSpc>
              <a:buNone/>
            </a:pPr>
            <a:r>
              <a:rPr lang="en-US" sz="1600" dirty="0">
                <a:solidFill>
                  <a:srgbClr val="1F2A37"/>
                </a:solidFill>
                <a:latin typeface="Calibri" pitchFamily="34" charset="0"/>
                <a:ea typeface="Calibri" pitchFamily="34" charset="-122"/>
                <a:cs typeface="Calibri" pitchFamily="34" charset="-120"/>
              </a:rPr>
              <a:t>Aloja repositorios Git para respaldo, colaboración y revisión de cambios. Alternativas: GitLab, Bitbucket.</a:t>
            </a:r>
            <a:endParaRPr lang="en-US" sz="1600" dirty="0"/>
          </a:p>
        </p:txBody>
      </p:sp>
      <p:sp>
        <p:nvSpPr>
          <p:cNvPr id="13" name="Text 11"/>
          <p:cNvSpPr txBox="1"/>
          <p:nvPr/>
        </p:nvSpPr>
        <p:spPr>
          <a:xfrm>
            <a:off x="6690208" y="4663440"/>
            <a:ext cx="4587088" cy="36576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Es la plataforma.</a:t>
            </a:r>
            <a:endParaRPr lang="en-US" sz="1600" dirty="0"/>
          </a:p>
        </p:txBody>
      </p:sp>
      <p:sp>
        <p:nvSpPr>
          <p:cNvPr id="14" name="Text 12"/>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5" name="Text 13"/>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Cómo piensa Git: tres áreas y un remoto</a:t>
            </a:r>
            <a:endParaRPr lang="en-US" sz="2800" dirty="0"/>
          </a:p>
        </p:txBody>
      </p:sp>
      <p:sp>
        <p:nvSpPr>
          <p:cNvPr id="4" name="Shape 2"/>
          <p:cNvSpPr/>
          <p:nvPr/>
        </p:nvSpPr>
        <p:spPr>
          <a:xfrm>
            <a:off x="548640" y="1920240"/>
            <a:ext cx="2011680" cy="1371600"/>
          </a:xfrm>
          <a:prstGeom prst="roundRect">
            <a:avLst>
              <a:gd name="adj" fmla="val 6667"/>
            </a:avLst>
          </a:prstGeom>
          <a:solidFill>
            <a:srgbClr val="065A82"/>
          </a:solidFill>
          <a:ln/>
          <a:effectLst>
            <a:outerShdw sx="100000" sy="100000" kx="0" ky="0" algn="bl" rotWithShape="0" blurRad="88900" dist="25400" dir="5400000">
              <a:srgbClr val="21295C">
                <a:alpha val="16000"/>
              </a:srgbClr>
            </a:outerShdw>
          </a:effectLst>
        </p:spPr>
      </p:sp>
      <p:sp>
        <p:nvSpPr>
          <p:cNvPr id="5" name="Text 3"/>
          <p:cNvSpPr txBox="1"/>
          <p:nvPr/>
        </p:nvSpPr>
        <p:spPr>
          <a:xfrm>
            <a:off x="640080" y="1920240"/>
            <a:ext cx="18288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Directorio de trabajo</a:t>
            </a:r>
            <a:endParaRPr lang="en-US" sz="1700" dirty="0"/>
          </a:p>
        </p:txBody>
      </p:sp>
      <p:sp>
        <p:nvSpPr>
          <p:cNvPr id="6" name="Text 4"/>
          <p:cNvSpPr txBox="1"/>
          <p:nvPr/>
        </p:nvSpPr>
        <p:spPr>
          <a:xfrm>
            <a:off x="548640" y="3474720"/>
            <a:ext cx="2011680" cy="822960"/>
          </a:xfrm>
          <a:prstGeom prst="rect">
            <a:avLst/>
          </a:prstGeom>
          <a:noFill/>
          <a:ln/>
        </p:spPr>
        <p:txBody>
          <a:bodyPr wrap="square" lIns="0" tIns="0" rIns="0" bIns="0" rtlCol="0" anchor="t"/>
          <a:lstStyle/>
          <a:p>
            <a:pPr algn="ctr" indent="0" marL="0">
              <a:lnSpc>
                <a:spcPts val="1700"/>
              </a:lnSpc>
              <a:buNone/>
            </a:pPr>
            <a:r>
              <a:rPr lang="en-US" sz="1350" dirty="0">
                <a:solidFill>
                  <a:srgbClr val="5B6B79"/>
                </a:solidFill>
                <a:latin typeface="Calibri" pitchFamily="34" charset="0"/>
                <a:ea typeface="Calibri" pitchFamily="34" charset="-122"/>
                <a:cs typeface="Calibri" pitchFamily="34" charset="-120"/>
              </a:rPr>
              <a:t>Los archivos que editas en RStudio</a:t>
            </a:r>
            <a:endParaRPr lang="en-US" sz="1350" dirty="0"/>
          </a:p>
        </p:txBody>
      </p:sp>
      <p:sp>
        <p:nvSpPr>
          <p:cNvPr id="7" name="Shape 5"/>
          <p:cNvSpPr/>
          <p:nvPr/>
        </p:nvSpPr>
        <p:spPr>
          <a:xfrm>
            <a:off x="3566160" y="1920240"/>
            <a:ext cx="2011680" cy="1371600"/>
          </a:xfrm>
          <a:prstGeom prst="roundRect">
            <a:avLst>
              <a:gd name="adj" fmla="val 6667"/>
            </a:avLst>
          </a:prstGeom>
          <a:solidFill>
            <a:srgbClr val="1C7293"/>
          </a:solidFill>
          <a:ln/>
          <a:effectLst>
            <a:outerShdw sx="100000" sy="100000" kx="0" ky="0" algn="bl" rotWithShape="0" blurRad="88900" dist="25400" dir="5400000">
              <a:srgbClr val="21295C">
                <a:alpha val="16000"/>
              </a:srgbClr>
            </a:outerShdw>
          </a:effectLst>
        </p:spPr>
      </p:sp>
      <p:sp>
        <p:nvSpPr>
          <p:cNvPr id="8" name="Text 6"/>
          <p:cNvSpPr txBox="1"/>
          <p:nvPr/>
        </p:nvSpPr>
        <p:spPr>
          <a:xfrm>
            <a:off x="3657600" y="1920240"/>
            <a:ext cx="18288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Área de preparación</a:t>
            </a:r>
            <a:endParaRPr lang="en-US" sz="1700" dirty="0"/>
          </a:p>
        </p:txBody>
      </p:sp>
      <p:sp>
        <p:nvSpPr>
          <p:cNvPr id="9" name="Text 7"/>
          <p:cNvSpPr txBox="1"/>
          <p:nvPr/>
        </p:nvSpPr>
        <p:spPr>
          <a:xfrm>
            <a:off x="3566160" y="3474720"/>
            <a:ext cx="2011680" cy="822960"/>
          </a:xfrm>
          <a:prstGeom prst="rect">
            <a:avLst/>
          </a:prstGeom>
          <a:noFill/>
          <a:ln/>
        </p:spPr>
        <p:txBody>
          <a:bodyPr wrap="square" lIns="0" tIns="0" rIns="0" bIns="0" rtlCol="0" anchor="t"/>
          <a:lstStyle/>
          <a:p>
            <a:pPr algn="ctr" indent="0" marL="0">
              <a:lnSpc>
                <a:spcPts val="1700"/>
              </a:lnSpc>
              <a:buNone/>
            </a:pPr>
            <a:r>
              <a:rPr lang="en-US" sz="1350" dirty="0">
                <a:solidFill>
                  <a:srgbClr val="5B6B79"/>
                </a:solidFill>
                <a:latin typeface="Calibri" pitchFamily="34" charset="0"/>
                <a:ea typeface="Calibri" pitchFamily="34" charset="-122"/>
                <a:cs typeface="Calibri" pitchFamily="34" charset="-120"/>
              </a:rPr>
              <a:t>Lo que irá en el próximo commit (staging)</a:t>
            </a:r>
            <a:endParaRPr lang="en-US" sz="1350" dirty="0"/>
          </a:p>
        </p:txBody>
      </p:sp>
      <p:sp>
        <p:nvSpPr>
          <p:cNvPr id="10" name="Shape 8"/>
          <p:cNvSpPr/>
          <p:nvPr/>
        </p:nvSpPr>
        <p:spPr>
          <a:xfrm>
            <a:off x="6583680" y="1920240"/>
            <a:ext cx="2011680" cy="1371600"/>
          </a:xfrm>
          <a:prstGeom prst="roundRect">
            <a:avLst>
              <a:gd name="adj" fmla="val 6667"/>
            </a:avLst>
          </a:prstGeom>
          <a:solidFill>
            <a:srgbClr val="21295C"/>
          </a:solidFill>
          <a:ln/>
          <a:effectLst>
            <a:outerShdw sx="100000" sy="100000" kx="0" ky="0" algn="bl" rotWithShape="0" blurRad="88900" dist="25400" dir="5400000">
              <a:srgbClr val="21295C">
                <a:alpha val="16000"/>
              </a:srgbClr>
            </a:outerShdw>
          </a:effectLst>
        </p:spPr>
      </p:sp>
      <p:sp>
        <p:nvSpPr>
          <p:cNvPr id="11" name="Text 9"/>
          <p:cNvSpPr txBox="1"/>
          <p:nvPr/>
        </p:nvSpPr>
        <p:spPr>
          <a:xfrm>
            <a:off x="6675120" y="1920240"/>
            <a:ext cx="18288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Repositorio local</a:t>
            </a:r>
            <a:endParaRPr lang="en-US" sz="1700" dirty="0"/>
          </a:p>
        </p:txBody>
      </p:sp>
      <p:sp>
        <p:nvSpPr>
          <p:cNvPr id="12" name="Text 10"/>
          <p:cNvSpPr txBox="1"/>
          <p:nvPr/>
        </p:nvSpPr>
        <p:spPr>
          <a:xfrm>
            <a:off x="6583680" y="3474720"/>
            <a:ext cx="2011680" cy="822960"/>
          </a:xfrm>
          <a:prstGeom prst="rect">
            <a:avLst/>
          </a:prstGeom>
          <a:noFill/>
          <a:ln/>
        </p:spPr>
        <p:txBody>
          <a:bodyPr wrap="square" lIns="0" tIns="0" rIns="0" bIns="0" rtlCol="0" anchor="t"/>
          <a:lstStyle/>
          <a:p>
            <a:pPr algn="ctr" indent="0" marL="0">
              <a:lnSpc>
                <a:spcPts val="1700"/>
              </a:lnSpc>
              <a:buNone/>
            </a:pPr>
            <a:r>
              <a:rPr lang="en-US" sz="1350" dirty="0">
                <a:solidFill>
                  <a:srgbClr val="5B6B79"/>
                </a:solidFill>
                <a:latin typeface="Calibri" pitchFamily="34" charset="0"/>
                <a:ea typeface="Calibri" pitchFamily="34" charset="-122"/>
                <a:cs typeface="Calibri" pitchFamily="34" charset="-120"/>
              </a:rPr>
              <a:t>Historial de commits en tu computador</a:t>
            </a:r>
            <a:endParaRPr lang="en-US" sz="1350" dirty="0"/>
          </a:p>
        </p:txBody>
      </p:sp>
      <p:sp>
        <p:nvSpPr>
          <p:cNvPr id="13" name="Shape 11"/>
          <p:cNvSpPr/>
          <p:nvPr/>
        </p:nvSpPr>
        <p:spPr>
          <a:xfrm>
            <a:off x="9601200" y="1920240"/>
            <a:ext cx="2011680" cy="1371600"/>
          </a:xfrm>
          <a:prstGeom prst="roundRect">
            <a:avLst>
              <a:gd name="adj" fmla="val 6667"/>
            </a:avLst>
          </a:prstGeom>
          <a:solidFill>
            <a:srgbClr val="2E8B6A"/>
          </a:solidFill>
          <a:ln/>
          <a:effectLst>
            <a:outerShdw sx="100000" sy="100000" kx="0" ky="0" algn="bl" rotWithShape="0" blurRad="88900" dist="25400" dir="5400000">
              <a:srgbClr val="21295C">
                <a:alpha val="16000"/>
              </a:srgbClr>
            </a:outerShdw>
          </a:effectLst>
        </p:spPr>
      </p:sp>
      <p:sp>
        <p:nvSpPr>
          <p:cNvPr id="14" name="Text 12"/>
          <p:cNvSpPr txBox="1"/>
          <p:nvPr/>
        </p:nvSpPr>
        <p:spPr>
          <a:xfrm>
            <a:off x="9692640" y="1920240"/>
            <a:ext cx="18288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Repositorio remoto</a:t>
            </a:r>
            <a:endParaRPr lang="en-US" sz="1700" dirty="0"/>
          </a:p>
        </p:txBody>
      </p:sp>
      <p:sp>
        <p:nvSpPr>
          <p:cNvPr id="15" name="Text 13"/>
          <p:cNvSpPr txBox="1"/>
          <p:nvPr/>
        </p:nvSpPr>
        <p:spPr>
          <a:xfrm>
            <a:off x="9601200" y="3474720"/>
            <a:ext cx="2011680" cy="822960"/>
          </a:xfrm>
          <a:prstGeom prst="rect">
            <a:avLst/>
          </a:prstGeom>
          <a:noFill/>
          <a:ln/>
        </p:spPr>
        <p:txBody>
          <a:bodyPr wrap="square" lIns="0" tIns="0" rIns="0" bIns="0" rtlCol="0" anchor="t"/>
          <a:lstStyle/>
          <a:p>
            <a:pPr algn="ctr" indent="0" marL="0">
              <a:lnSpc>
                <a:spcPts val="1700"/>
              </a:lnSpc>
              <a:buNone/>
            </a:pPr>
            <a:r>
              <a:rPr lang="en-US" sz="1350" dirty="0">
                <a:solidFill>
                  <a:srgbClr val="5B6B79"/>
                </a:solidFill>
                <a:latin typeface="Calibri" pitchFamily="34" charset="0"/>
                <a:ea typeface="Calibri" pitchFamily="34" charset="-122"/>
                <a:cs typeface="Calibri" pitchFamily="34" charset="-120"/>
              </a:rPr>
              <a:t>Copia en GitHub: respaldo y colaboración</a:t>
            </a:r>
            <a:endParaRPr lang="en-US" sz="1350" dirty="0"/>
          </a:p>
        </p:txBody>
      </p:sp>
      <p:sp>
        <p:nvSpPr>
          <p:cNvPr id="16" name="Text 14"/>
          <p:cNvSpPr txBox="1"/>
          <p:nvPr/>
        </p:nvSpPr>
        <p:spPr>
          <a:xfrm>
            <a:off x="2560320" y="2267712"/>
            <a:ext cx="1005840" cy="274320"/>
          </a:xfrm>
          <a:prstGeom prst="rect">
            <a:avLst/>
          </a:prstGeom>
          <a:noFill/>
          <a:ln/>
        </p:spPr>
        <p:txBody>
          <a:bodyPr wrap="square" lIns="0" tIns="0" rIns="0" bIns="0" rtlCol="0" anchor="ctr"/>
          <a:lstStyle/>
          <a:p>
            <a:pPr algn="ctr" indent="0" marL="0">
              <a:buNone/>
            </a:pPr>
            <a:r>
              <a:rPr lang="en-US" sz="1100" b="1" dirty="0">
                <a:solidFill>
                  <a:srgbClr val="065A82"/>
                </a:solidFill>
                <a:latin typeface="Courier New" pitchFamily="34" charset="0"/>
                <a:ea typeface="Courier New" pitchFamily="34" charset="-122"/>
                <a:cs typeface="Courier New" pitchFamily="34" charset="-120"/>
              </a:rPr>
              <a:t>git add</a:t>
            </a:r>
            <a:endParaRPr lang="en-US" sz="1100" dirty="0"/>
          </a:p>
        </p:txBody>
      </p:sp>
      <p:sp>
        <p:nvSpPr>
          <p:cNvPr id="17" name="Shape 15"/>
          <p:cNvSpPr/>
          <p:nvPr/>
        </p:nvSpPr>
        <p:spPr>
          <a:xfrm>
            <a:off x="2633472" y="2651760"/>
            <a:ext cx="859536" cy="0"/>
          </a:xfrm>
          <a:prstGeom prst="line">
            <a:avLst/>
          </a:prstGeom>
          <a:noFill/>
          <a:ln w="31750">
            <a:solidFill>
              <a:srgbClr val="1C7293"/>
            </a:solidFill>
            <a:prstDash val="solid"/>
            <a:tailEnd type="triangle"/>
          </a:ln>
        </p:spPr>
      </p:sp>
      <p:sp>
        <p:nvSpPr>
          <p:cNvPr id="18" name="Text 16"/>
          <p:cNvSpPr txBox="1"/>
          <p:nvPr/>
        </p:nvSpPr>
        <p:spPr>
          <a:xfrm>
            <a:off x="5577840" y="2267712"/>
            <a:ext cx="1005840" cy="274320"/>
          </a:xfrm>
          <a:prstGeom prst="rect">
            <a:avLst/>
          </a:prstGeom>
          <a:noFill/>
          <a:ln/>
        </p:spPr>
        <p:txBody>
          <a:bodyPr wrap="square" lIns="0" tIns="0" rIns="0" bIns="0" rtlCol="0" anchor="ctr"/>
          <a:lstStyle/>
          <a:p>
            <a:pPr algn="ctr" indent="0" marL="0">
              <a:buNone/>
            </a:pPr>
            <a:r>
              <a:rPr lang="en-US" sz="1100" b="1" dirty="0">
                <a:solidFill>
                  <a:srgbClr val="065A82"/>
                </a:solidFill>
                <a:latin typeface="Courier New" pitchFamily="34" charset="0"/>
                <a:ea typeface="Courier New" pitchFamily="34" charset="-122"/>
                <a:cs typeface="Courier New" pitchFamily="34" charset="-120"/>
              </a:rPr>
              <a:t>git commit</a:t>
            </a:r>
            <a:endParaRPr lang="en-US" sz="1100" dirty="0"/>
          </a:p>
        </p:txBody>
      </p:sp>
      <p:sp>
        <p:nvSpPr>
          <p:cNvPr id="19" name="Shape 17"/>
          <p:cNvSpPr/>
          <p:nvPr/>
        </p:nvSpPr>
        <p:spPr>
          <a:xfrm>
            <a:off x="5650992" y="2651760"/>
            <a:ext cx="859536" cy="0"/>
          </a:xfrm>
          <a:prstGeom prst="line">
            <a:avLst/>
          </a:prstGeom>
          <a:noFill/>
          <a:ln w="31750">
            <a:solidFill>
              <a:srgbClr val="1C7293"/>
            </a:solidFill>
            <a:prstDash val="solid"/>
            <a:tailEnd type="triangle"/>
          </a:ln>
        </p:spPr>
      </p:sp>
      <p:sp>
        <p:nvSpPr>
          <p:cNvPr id="20" name="Text 18"/>
          <p:cNvSpPr txBox="1"/>
          <p:nvPr/>
        </p:nvSpPr>
        <p:spPr>
          <a:xfrm>
            <a:off x="8595360" y="1947672"/>
            <a:ext cx="1005840" cy="274320"/>
          </a:xfrm>
          <a:prstGeom prst="rect">
            <a:avLst/>
          </a:prstGeom>
          <a:noFill/>
          <a:ln/>
        </p:spPr>
        <p:txBody>
          <a:bodyPr wrap="square" lIns="0" tIns="0" rIns="0" bIns="0" rtlCol="0" anchor="ctr"/>
          <a:lstStyle/>
          <a:p>
            <a:pPr algn="ctr" indent="0" marL="0">
              <a:buNone/>
            </a:pPr>
            <a:r>
              <a:rPr lang="en-US" sz="1100" b="1" dirty="0">
                <a:solidFill>
                  <a:srgbClr val="065A82"/>
                </a:solidFill>
                <a:latin typeface="Courier New" pitchFamily="34" charset="0"/>
                <a:ea typeface="Courier New" pitchFamily="34" charset="-122"/>
                <a:cs typeface="Courier New" pitchFamily="34" charset="-120"/>
              </a:rPr>
              <a:t>git push</a:t>
            </a:r>
            <a:endParaRPr lang="en-US" sz="1100" dirty="0"/>
          </a:p>
        </p:txBody>
      </p:sp>
      <p:sp>
        <p:nvSpPr>
          <p:cNvPr id="21" name="Shape 19"/>
          <p:cNvSpPr/>
          <p:nvPr/>
        </p:nvSpPr>
        <p:spPr>
          <a:xfrm>
            <a:off x="8668512" y="2331720"/>
            <a:ext cx="859536" cy="0"/>
          </a:xfrm>
          <a:prstGeom prst="line">
            <a:avLst/>
          </a:prstGeom>
          <a:noFill/>
          <a:ln w="31750">
            <a:solidFill>
              <a:srgbClr val="1C7293"/>
            </a:solidFill>
            <a:prstDash val="solid"/>
            <a:tailEnd type="triangle"/>
          </a:ln>
        </p:spPr>
      </p:sp>
      <p:sp>
        <p:nvSpPr>
          <p:cNvPr id="22" name="Text 20"/>
          <p:cNvSpPr txBox="1"/>
          <p:nvPr/>
        </p:nvSpPr>
        <p:spPr>
          <a:xfrm>
            <a:off x="8595360" y="2816352"/>
            <a:ext cx="1005840" cy="274320"/>
          </a:xfrm>
          <a:prstGeom prst="rect">
            <a:avLst/>
          </a:prstGeom>
          <a:noFill/>
          <a:ln/>
        </p:spPr>
        <p:txBody>
          <a:bodyPr wrap="square" lIns="0" tIns="0" rIns="0" bIns="0" rtlCol="0" anchor="ctr"/>
          <a:lstStyle/>
          <a:p>
            <a:pPr algn="ctr" indent="0" marL="0">
              <a:buNone/>
            </a:pPr>
            <a:r>
              <a:rPr lang="en-US" sz="1100" b="1" dirty="0">
                <a:solidFill>
                  <a:srgbClr val="2E8B6A"/>
                </a:solidFill>
                <a:latin typeface="Courier New" pitchFamily="34" charset="0"/>
                <a:ea typeface="Courier New" pitchFamily="34" charset="-122"/>
                <a:cs typeface="Courier New" pitchFamily="34" charset="-120"/>
              </a:rPr>
              <a:t>git pull</a:t>
            </a:r>
            <a:endParaRPr lang="en-US" sz="1100" dirty="0"/>
          </a:p>
        </p:txBody>
      </p:sp>
      <p:sp>
        <p:nvSpPr>
          <p:cNvPr id="23" name="Shape 21"/>
          <p:cNvSpPr/>
          <p:nvPr/>
        </p:nvSpPr>
        <p:spPr>
          <a:xfrm flipH="1">
            <a:off x="8668512" y="3108960"/>
            <a:ext cx="859536" cy="0"/>
          </a:xfrm>
          <a:prstGeom prst="line">
            <a:avLst/>
          </a:prstGeom>
          <a:noFill/>
          <a:ln w="31750">
            <a:solidFill>
              <a:srgbClr val="2E8B6A"/>
            </a:solidFill>
            <a:prstDash val="solid"/>
            <a:tailEnd type="triangle"/>
          </a:ln>
        </p:spPr>
      </p:sp>
      <p:sp>
        <p:nvSpPr>
          <p:cNvPr id="24" name="Text 22"/>
          <p:cNvSpPr txBox="1"/>
          <p:nvPr/>
        </p:nvSpPr>
        <p:spPr>
          <a:xfrm>
            <a:off x="548640" y="4892040"/>
            <a:ext cx="11094415" cy="365760"/>
          </a:xfrm>
          <a:prstGeom prst="rect">
            <a:avLst/>
          </a:prstGeom>
          <a:noFill/>
          <a:ln/>
        </p:spPr>
        <p:txBody>
          <a:bodyPr wrap="square" lIns="0" tIns="0" rIns="0" bIns="0" rtlCol="0" anchor="ctr"/>
          <a:lstStyle/>
          <a:p>
            <a:pPr indent="0" marL="0">
              <a:buNone/>
            </a:pPr>
            <a:r>
              <a:rPr lang="en-US" sz="1250" dirty="0">
                <a:solidFill>
                  <a:srgbClr val="5B6B79"/>
                </a:solidFill>
                <a:latin typeface="Courier New" pitchFamily="34" charset="0"/>
                <a:ea typeface="Courier New" pitchFamily="34" charset="-122"/>
                <a:cs typeface="Courier New" pitchFamily="34" charset="-120"/>
              </a:rPr>
              <a:t>git restore  ←  trae de vuelta la última versión confirmada y descarta tus cambios sin guardar</a:t>
            </a:r>
            <a:endParaRPr lang="en-US" sz="1250" dirty="0"/>
          </a:p>
        </p:txBody>
      </p:sp>
      <p:sp>
        <p:nvSpPr>
          <p:cNvPr id="25" name="Shape 23"/>
          <p:cNvSpPr/>
          <p:nvPr/>
        </p:nvSpPr>
        <p:spPr>
          <a:xfrm>
            <a:off x="548640" y="5349240"/>
            <a:ext cx="11094415" cy="685800"/>
          </a:xfrm>
          <a:prstGeom prst="roundRect">
            <a:avLst>
              <a:gd name="adj" fmla="val 13333"/>
            </a:avLst>
          </a:prstGeom>
          <a:solidFill>
            <a:srgbClr val="E4EEF2"/>
          </a:solidFill>
          <a:ln w="12700">
            <a:solidFill>
              <a:srgbClr val="E4EEF2"/>
            </a:solidFill>
            <a:prstDash val="solid"/>
          </a:ln>
        </p:spPr>
      </p:sp>
      <p:sp>
        <p:nvSpPr>
          <p:cNvPr id="26" name="Text 24"/>
          <p:cNvSpPr txBox="1"/>
          <p:nvPr/>
        </p:nvSpPr>
        <p:spPr>
          <a:xfrm>
            <a:off x="822960" y="5349240"/>
            <a:ext cx="10545775" cy="685800"/>
          </a:xfrm>
          <a:prstGeom prst="rect">
            <a:avLst/>
          </a:prstGeom>
          <a:noFill/>
          <a:ln/>
        </p:spPr>
        <p:txBody>
          <a:bodyPr wrap="square" lIns="0" tIns="0" rIns="0" bIns="0" rtlCol="0" anchor="ctr"/>
          <a:lstStyle/>
          <a:p>
            <a:pPr indent="0" marL="0">
              <a:buNone/>
            </a:pPr>
            <a:r>
              <a:rPr lang="en-US" sz="1500" i="1" dirty="0">
                <a:solidFill>
                  <a:srgbClr val="065A82"/>
                </a:solidFill>
                <a:latin typeface="Calibri" pitchFamily="34" charset="0"/>
                <a:ea typeface="Calibri" pitchFamily="34" charset="-122"/>
                <a:cs typeface="Calibri" pitchFamily="34" charset="-120"/>
              </a:rPr>
              <a:t>Idea clave: Git no guarda automáticamente. Tú decides qué cambios entran (add) y cuándo se registra la fotografía (commit).</a:t>
            </a:r>
            <a:endParaRPr lang="en-US" sz="1500" dirty="0"/>
          </a:p>
        </p:txBody>
      </p:sp>
      <p:sp>
        <p:nvSpPr>
          <p:cNvPr id="27" name="Text 25"/>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8" name="Text 26"/>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Un commit es una fotografía con nombre</a:t>
            </a:r>
            <a:endParaRPr lang="en-US" sz="2800" dirty="0"/>
          </a:p>
        </p:txBody>
      </p:sp>
      <p:sp>
        <p:nvSpPr>
          <p:cNvPr id="4" name="Shape 2"/>
          <p:cNvSpPr/>
          <p:nvPr/>
        </p:nvSpPr>
        <p:spPr>
          <a:xfrm>
            <a:off x="1645920" y="2926080"/>
            <a:ext cx="2651760" cy="0"/>
          </a:xfrm>
          <a:prstGeom prst="line">
            <a:avLst/>
          </a:prstGeom>
          <a:noFill/>
          <a:ln w="38100">
            <a:solidFill>
              <a:srgbClr val="B9C9D6"/>
            </a:solidFill>
            <a:prstDash val="solid"/>
          </a:ln>
        </p:spPr>
      </p:sp>
      <p:sp>
        <p:nvSpPr>
          <p:cNvPr id="5" name="Shape 3"/>
          <p:cNvSpPr/>
          <p:nvPr/>
        </p:nvSpPr>
        <p:spPr>
          <a:xfrm>
            <a:off x="4846320" y="2926080"/>
            <a:ext cx="2651760" cy="0"/>
          </a:xfrm>
          <a:prstGeom prst="line">
            <a:avLst/>
          </a:prstGeom>
          <a:noFill/>
          <a:ln w="38100">
            <a:solidFill>
              <a:srgbClr val="B9C9D6"/>
            </a:solidFill>
            <a:prstDash val="solid"/>
          </a:ln>
        </p:spPr>
      </p:sp>
      <p:sp>
        <p:nvSpPr>
          <p:cNvPr id="6" name="Shape 4"/>
          <p:cNvSpPr/>
          <p:nvPr/>
        </p:nvSpPr>
        <p:spPr>
          <a:xfrm>
            <a:off x="8046720" y="2926080"/>
            <a:ext cx="2651760" cy="0"/>
          </a:xfrm>
          <a:prstGeom prst="line">
            <a:avLst/>
          </a:prstGeom>
          <a:noFill/>
          <a:ln w="38100">
            <a:solidFill>
              <a:srgbClr val="B9C9D6"/>
            </a:solidFill>
            <a:prstDash val="solid"/>
          </a:ln>
        </p:spPr>
      </p:sp>
      <p:sp>
        <p:nvSpPr>
          <p:cNvPr id="7" name="Shape 5"/>
          <p:cNvSpPr/>
          <p:nvPr/>
        </p:nvSpPr>
        <p:spPr>
          <a:xfrm>
            <a:off x="1097280" y="2651760"/>
            <a:ext cx="548640" cy="548640"/>
          </a:xfrm>
          <a:prstGeom prst="ellipse">
            <a:avLst/>
          </a:prstGeom>
          <a:solidFill>
            <a:srgbClr val="065A82"/>
          </a:solidFill>
          <a:ln w="25400">
            <a:solidFill>
              <a:srgbClr val="FFFFFF"/>
            </a:solidFill>
            <a:prstDash val="solid"/>
          </a:ln>
          <a:effectLst>
            <a:outerShdw sx="100000" sy="100000" kx="0" ky="0" algn="bl" rotWithShape="0" blurRad="88900" dist="25400" dir="5400000">
              <a:srgbClr val="21295C">
                <a:alpha val="16000"/>
              </a:srgbClr>
            </a:outerShdw>
          </a:effectLst>
        </p:spPr>
      </p:sp>
      <p:sp>
        <p:nvSpPr>
          <p:cNvPr id="8" name="Text 6"/>
          <p:cNvSpPr txBox="1"/>
          <p:nvPr/>
        </p:nvSpPr>
        <p:spPr>
          <a:xfrm>
            <a:off x="274320" y="3337560"/>
            <a:ext cx="2194560" cy="274320"/>
          </a:xfrm>
          <a:prstGeom prst="rect">
            <a:avLst/>
          </a:prstGeom>
          <a:noFill/>
          <a:ln/>
        </p:spPr>
        <p:txBody>
          <a:bodyPr wrap="square" lIns="0" tIns="0" rIns="0" bIns="0" rtlCol="0" anchor="ctr"/>
          <a:lstStyle/>
          <a:p>
            <a:pPr algn="ctr" indent="0" marL="0">
              <a:buNone/>
            </a:pPr>
            <a:r>
              <a:rPr lang="en-US" sz="1300" b="1" dirty="0">
                <a:solidFill>
                  <a:srgbClr val="065A82"/>
                </a:solidFill>
                <a:latin typeface="Courier New" pitchFamily="34" charset="0"/>
                <a:ea typeface="Courier New" pitchFamily="34" charset="-122"/>
                <a:cs typeface="Courier New" pitchFamily="34" charset="-120"/>
              </a:rPr>
              <a:t>a1b2c3d</a:t>
            </a:r>
            <a:endParaRPr lang="en-US" sz="1300" dirty="0"/>
          </a:p>
        </p:txBody>
      </p:sp>
      <p:sp>
        <p:nvSpPr>
          <p:cNvPr id="9" name="Text 7"/>
          <p:cNvSpPr txBox="1"/>
          <p:nvPr/>
        </p:nvSpPr>
        <p:spPr>
          <a:xfrm>
            <a:off x="91440" y="3657600"/>
            <a:ext cx="2560320" cy="640080"/>
          </a:xfrm>
          <a:prstGeom prst="rect">
            <a:avLst/>
          </a:prstGeom>
          <a:noFill/>
          <a:ln/>
        </p:spPr>
        <p:txBody>
          <a:bodyPr wrap="square" lIns="0" tIns="0" rIns="0" bIns="0" rtlCol="0" anchor="t"/>
          <a:lstStyle/>
          <a:p>
            <a:pPr algn="ctr" indent="0" marL="0">
              <a:buNone/>
            </a:pPr>
            <a:r>
              <a:rPr lang="en-US" sz="1400" dirty="0">
                <a:solidFill>
                  <a:srgbClr val="1F2A37"/>
                </a:solidFill>
                <a:latin typeface="Calibri" pitchFamily="34" charset="0"/>
                <a:ea typeface="Calibri" pitchFamily="34" charset="-122"/>
                <a:cs typeface="Calibri" pitchFamily="34" charset="-120"/>
              </a:rPr>
              <a:t>Estructura inicial del proyecto</a:t>
            </a:r>
            <a:endParaRPr lang="en-US" sz="1400" dirty="0"/>
          </a:p>
        </p:txBody>
      </p:sp>
      <p:sp>
        <p:nvSpPr>
          <p:cNvPr id="10" name="Shape 8"/>
          <p:cNvSpPr/>
          <p:nvPr/>
        </p:nvSpPr>
        <p:spPr>
          <a:xfrm>
            <a:off x="4297680" y="2651760"/>
            <a:ext cx="548640" cy="548640"/>
          </a:xfrm>
          <a:prstGeom prst="ellipse">
            <a:avLst/>
          </a:prstGeom>
          <a:solidFill>
            <a:srgbClr val="065A82"/>
          </a:solidFill>
          <a:ln w="25400">
            <a:solidFill>
              <a:srgbClr val="FFFFFF"/>
            </a:solidFill>
            <a:prstDash val="solid"/>
          </a:ln>
          <a:effectLst>
            <a:outerShdw sx="100000" sy="100000" kx="0" ky="0" algn="bl" rotWithShape="0" blurRad="88900" dist="25400" dir="5400000">
              <a:srgbClr val="21295C">
                <a:alpha val="16000"/>
              </a:srgbClr>
            </a:outerShdw>
          </a:effectLst>
        </p:spPr>
      </p:sp>
      <p:sp>
        <p:nvSpPr>
          <p:cNvPr id="11" name="Text 9"/>
          <p:cNvSpPr txBox="1"/>
          <p:nvPr/>
        </p:nvSpPr>
        <p:spPr>
          <a:xfrm>
            <a:off x="3474720" y="3337560"/>
            <a:ext cx="2194560" cy="274320"/>
          </a:xfrm>
          <a:prstGeom prst="rect">
            <a:avLst/>
          </a:prstGeom>
          <a:noFill/>
          <a:ln/>
        </p:spPr>
        <p:txBody>
          <a:bodyPr wrap="square" lIns="0" tIns="0" rIns="0" bIns="0" rtlCol="0" anchor="ctr"/>
          <a:lstStyle/>
          <a:p>
            <a:pPr algn="ctr" indent="0" marL="0">
              <a:buNone/>
            </a:pPr>
            <a:r>
              <a:rPr lang="en-US" sz="1300" b="1" dirty="0">
                <a:solidFill>
                  <a:srgbClr val="065A82"/>
                </a:solidFill>
                <a:latin typeface="Courier New" pitchFamily="34" charset="0"/>
                <a:ea typeface="Courier New" pitchFamily="34" charset="-122"/>
                <a:cs typeface="Courier New" pitchFamily="34" charset="-120"/>
              </a:rPr>
              <a:t>e4f5a6b</a:t>
            </a:r>
            <a:endParaRPr lang="en-US" sz="1300" dirty="0"/>
          </a:p>
        </p:txBody>
      </p:sp>
      <p:sp>
        <p:nvSpPr>
          <p:cNvPr id="12" name="Text 10"/>
          <p:cNvSpPr txBox="1"/>
          <p:nvPr/>
        </p:nvSpPr>
        <p:spPr>
          <a:xfrm>
            <a:off x="3291840" y="3657600"/>
            <a:ext cx="2560320" cy="640080"/>
          </a:xfrm>
          <a:prstGeom prst="rect">
            <a:avLst/>
          </a:prstGeom>
          <a:noFill/>
          <a:ln/>
        </p:spPr>
        <p:txBody>
          <a:bodyPr wrap="square" lIns="0" tIns="0" rIns="0" bIns="0" rtlCol="0" anchor="t"/>
          <a:lstStyle/>
          <a:p>
            <a:pPr algn="ctr" indent="0" marL="0">
              <a:buNone/>
            </a:pPr>
            <a:r>
              <a:rPr lang="en-US" sz="1400" dirty="0">
                <a:solidFill>
                  <a:srgbClr val="1F2A37"/>
                </a:solidFill>
                <a:latin typeface="Calibri" pitchFamily="34" charset="0"/>
                <a:ea typeface="Calibri" pitchFamily="34" charset="-122"/>
                <a:cs typeface="Calibri" pitchFamily="34" charset="-120"/>
              </a:rPr>
              <a:t>Normaliza categorías de nivel</a:t>
            </a:r>
            <a:endParaRPr lang="en-US" sz="1400" dirty="0"/>
          </a:p>
        </p:txBody>
      </p:sp>
      <p:sp>
        <p:nvSpPr>
          <p:cNvPr id="13" name="Shape 11"/>
          <p:cNvSpPr/>
          <p:nvPr/>
        </p:nvSpPr>
        <p:spPr>
          <a:xfrm>
            <a:off x="7498080" y="2651760"/>
            <a:ext cx="548640" cy="548640"/>
          </a:xfrm>
          <a:prstGeom prst="ellipse">
            <a:avLst/>
          </a:prstGeom>
          <a:solidFill>
            <a:srgbClr val="065A82"/>
          </a:solidFill>
          <a:ln w="25400">
            <a:solidFill>
              <a:srgbClr val="FFFFFF"/>
            </a:solidFill>
            <a:prstDash val="solid"/>
          </a:ln>
          <a:effectLst>
            <a:outerShdw sx="100000" sy="100000" kx="0" ky="0" algn="bl" rotWithShape="0" blurRad="88900" dist="25400" dir="5400000">
              <a:srgbClr val="21295C">
                <a:alpha val="16000"/>
              </a:srgbClr>
            </a:outerShdw>
          </a:effectLst>
        </p:spPr>
      </p:sp>
      <p:sp>
        <p:nvSpPr>
          <p:cNvPr id="14" name="Text 12"/>
          <p:cNvSpPr txBox="1"/>
          <p:nvPr/>
        </p:nvSpPr>
        <p:spPr>
          <a:xfrm>
            <a:off x="6675120" y="3337560"/>
            <a:ext cx="2194560" cy="274320"/>
          </a:xfrm>
          <a:prstGeom prst="rect">
            <a:avLst/>
          </a:prstGeom>
          <a:noFill/>
          <a:ln/>
        </p:spPr>
        <p:txBody>
          <a:bodyPr wrap="square" lIns="0" tIns="0" rIns="0" bIns="0" rtlCol="0" anchor="ctr"/>
          <a:lstStyle/>
          <a:p>
            <a:pPr algn="ctr" indent="0" marL="0">
              <a:buNone/>
            </a:pPr>
            <a:r>
              <a:rPr lang="en-US" sz="1300" b="1" dirty="0">
                <a:solidFill>
                  <a:srgbClr val="065A82"/>
                </a:solidFill>
                <a:latin typeface="Courier New" pitchFamily="34" charset="0"/>
                <a:ea typeface="Courier New" pitchFamily="34" charset="-122"/>
                <a:cs typeface="Courier New" pitchFamily="34" charset="-120"/>
              </a:rPr>
              <a:t>7c8d9e0</a:t>
            </a:r>
            <a:endParaRPr lang="en-US" sz="1300" dirty="0"/>
          </a:p>
        </p:txBody>
      </p:sp>
      <p:sp>
        <p:nvSpPr>
          <p:cNvPr id="15" name="Text 13"/>
          <p:cNvSpPr txBox="1"/>
          <p:nvPr/>
        </p:nvSpPr>
        <p:spPr>
          <a:xfrm>
            <a:off x="6492240" y="3657600"/>
            <a:ext cx="2560320" cy="640080"/>
          </a:xfrm>
          <a:prstGeom prst="rect">
            <a:avLst/>
          </a:prstGeom>
          <a:noFill/>
          <a:ln/>
        </p:spPr>
        <p:txBody>
          <a:bodyPr wrap="square" lIns="0" tIns="0" rIns="0" bIns="0" rtlCol="0" anchor="t"/>
          <a:lstStyle/>
          <a:p>
            <a:pPr algn="ctr" indent="0" marL="0">
              <a:buNone/>
            </a:pPr>
            <a:r>
              <a:rPr lang="en-US" sz="1400" dirty="0">
                <a:solidFill>
                  <a:srgbClr val="1F2A37"/>
                </a:solidFill>
                <a:latin typeface="Calibri" pitchFamily="34" charset="0"/>
                <a:ea typeface="Calibri" pitchFamily="34" charset="-122"/>
                <a:cs typeface="Calibri" pitchFamily="34" charset="-120"/>
              </a:rPr>
              <a:t>Agrega ejercicios con across()</a:t>
            </a:r>
            <a:endParaRPr lang="en-US" sz="1400" dirty="0"/>
          </a:p>
        </p:txBody>
      </p:sp>
      <p:sp>
        <p:nvSpPr>
          <p:cNvPr id="16" name="Shape 14"/>
          <p:cNvSpPr/>
          <p:nvPr/>
        </p:nvSpPr>
        <p:spPr>
          <a:xfrm>
            <a:off x="10698480" y="2651760"/>
            <a:ext cx="548640" cy="548640"/>
          </a:xfrm>
          <a:prstGeom prst="ellipse">
            <a:avLst/>
          </a:prstGeom>
          <a:solidFill>
            <a:srgbClr val="2E8B6A"/>
          </a:solidFill>
          <a:ln w="25400">
            <a:solidFill>
              <a:srgbClr val="FFFFFF"/>
            </a:solidFill>
            <a:prstDash val="solid"/>
          </a:ln>
          <a:effectLst>
            <a:outerShdw sx="100000" sy="100000" kx="0" ky="0" algn="bl" rotWithShape="0" blurRad="88900" dist="25400" dir="5400000">
              <a:srgbClr val="21295C">
                <a:alpha val="16000"/>
              </a:srgbClr>
            </a:outerShdw>
          </a:effectLst>
        </p:spPr>
      </p:sp>
      <p:sp>
        <p:nvSpPr>
          <p:cNvPr id="17" name="Text 15"/>
          <p:cNvSpPr txBox="1"/>
          <p:nvPr/>
        </p:nvSpPr>
        <p:spPr>
          <a:xfrm>
            <a:off x="9875520" y="3337560"/>
            <a:ext cx="2194560" cy="274320"/>
          </a:xfrm>
          <a:prstGeom prst="rect">
            <a:avLst/>
          </a:prstGeom>
          <a:noFill/>
          <a:ln/>
        </p:spPr>
        <p:txBody>
          <a:bodyPr wrap="square" lIns="0" tIns="0" rIns="0" bIns="0" rtlCol="0" anchor="ctr"/>
          <a:lstStyle/>
          <a:p>
            <a:pPr algn="ctr" indent="0" marL="0">
              <a:buNone/>
            </a:pPr>
            <a:r>
              <a:rPr lang="en-US" sz="1300" b="1" dirty="0">
                <a:solidFill>
                  <a:srgbClr val="065A82"/>
                </a:solidFill>
                <a:latin typeface="Courier New" pitchFamily="34" charset="0"/>
                <a:ea typeface="Courier New" pitchFamily="34" charset="-122"/>
                <a:cs typeface="Courier New" pitchFamily="34" charset="-120"/>
              </a:rPr>
              <a:t>f1a2b3c</a:t>
            </a:r>
            <a:endParaRPr lang="en-US" sz="1300" dirty="0"/>
          </a:p>
        </p:txBody>
      </p:sp>
      <p:sp>
        <p:nvSpPr>
          <p:cNvPr id="18" name="Text 16"/>
          <p:cNvSpPr txBox="1"/>
          <p:nvPr/>
        </p:nvSpPr>
        <p:spPr>
          <a:xfrm>
            <a:off x="9692640" y="3657600"/>
            <a:ext cx="2560320" cy="640080"/>
          </a:xfrm>
          <a:prstGeom prst="rect">
            <a:avLst/>
          </a:prstGeom>
          <a:noFill/>
          <a:ln/>
        </p:spPr>
        <p:txBody>
          <a:bodyPr wrap="square" lIns="0" tIns="0" rIns="0" bIns="0" rtlCol="0" anchor="t"/>
          <a:lstStyle/>
          <a:p>
            <a:pPr algn="ctr" indent="0" marL="0">
              <a:buNone/>
            </a:pPr>
            <a:r>
              <a:rPr lang="en-US" sz="1400" dirty="0">
                <a:solidFill>
                  <a:srgbClr val="1F2A37"/>
                </a:solidFill>
                <a:latin typeface="Calibri" pitchFamily="34" charset="0"/>
                <a:ea typeface="Calibri" pitchFamily="34" charset="-122"/>
                <a:cs typeface="Calibri" pitchFamily="34" charset="-120"/>
              </a:rPr>
              <a:t>Incorpora dplyr avanzado</a:t>
            </a:r>
            <a:endParaRPr lang="en-US" sz="1400" dirty="0"/>
          </a:p>
        </p:txBody>
      </p:sp>
      <p:sp>
        <p:nvSpPr>
          <p:cNvPr id="19" name="Shape 17"/>
          <p:cNvSpPr/>
          <p:nvPr/>
        </p:nvSpPr>
        <p:spPr>
          <a:xfrm>
            <a:off x="10469880" y="2011680"/>
            <a:ext cx="1005840" cy="365760"/>
          </a:xfrm>
          <a:prstGeom prst="roundRect">
            <a:avLst>
              <a:gd name="adj" fmla="val 50000"/>
            </a:avLst>
          </a:prstGeom>
          <a:solidFill>
            <a:srgbClr val="2E8B6A"/>
          </a:solidFill>
          <a:ln/>
        </p:spPr>
      </p:sp>
      <p:sp>
        <p:nvSpPr>
          <p:cNvPr id="20" name="Text 18"/>
          <p:cNvSpPr txBox="1"/>
          <p:nvPr/>
        </p:nvSpPr>
        <p:spPr>
          <a:xfrm>
            <a:off x="10469880" y="2011680"/>
            <a:ext cx="100584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main · HEAD</a:t>
            </a:r>
            <a:endParaRPr lang="en-US" sz="1050" dirty="0"/>
          </a:p>
        </p:txBody>
      </p:sp>
      <p:sp>
        <p:nvSpPr>
          <p:cNvPr id="21" name="Shape 19"/>
          <p:cNvSpPr/>
          <p:nvPr/>
        </p:nvSpPr>
        <p:spPr>
          <a:xfrm>
            <a:off x="548640" y="4983480"/>
            <a:ext cx="11094415" cy="914400"/>
          </a:xfrm>
          <a:prstGeom prst="roundRect">
            <a:avLst>
              <a:gd name="adj" fmla="val 10000"/>
            </a:avLst>
          </a:prstGeom>
          <a:solidFill>
            <a:srgbClr val="E4EEF2"/>
          </a:solidFill>
          <a:ln w="12700">
            <a:solidFill>
              <a:srgbClr val="E4EEF2"/>
            </a:solidFill>
            <a:prstDash val="solid"/>
          </a:ln>
        </p:spPr>
      </p:sp>
      <p:sp>
        <p:nvSpPr>
          <p:cNvPr id="22" name="Text 20"/>
          <p:cNvSpPr txBox="1"/>
          <p:nvPr/>
        </p:nvSpPr>
        <p:spPr>
          <a:xfrm>
            <a:off x="822960" y="4983480"/>
            <a:ext cx="10545775" cy="914400"/>
          </a:xfrm>
          <a:prstGeom prst="rect">
            <a:avLst/>
          </a:prstGeom>
          <a:noFill/>
          <a:ln/>
        </p:spPr>
        <p:txBody>
          <a:bodyPr wrap="square" lIns="0" tIns="0" rIns="0" bIns="0" rtlCol="0" anchor="ctr"/>
          <a:lstStyle/>
          <a:p>
            <a:pPr indent="0" marL="0">
              <a:buNone/>
            </a:pPr>
            <a:r>
              <a:rPr lang="en-US" sz="1500" dirty="0">
                <a:solidFill>
                  <a:srgbClr val="065A82"/>
                </a:solidFill>
                <a:latin typeface="Calibri" pitchFamily="34" charset="0"/>
                <a:ea typeface="Calibri" pitchFamily="34" charset="-122"/>
                <a:cs typeface="Calibri" pitchFamily="34" charset="-120"/>
              </a:rPr>
              <a:t>Cada commit registra: qué cambió · quién lo hizo · cuándo · y por qué (el mensaje). Los códigos (hash) son identificadores de ejemplo.</a:t>
            </a:r>
            <a:endParaRPr lang="en-US" sz="1500" dirty="0"/>
          </a:p>
        </p:txBody>
      </p:sp>
      <p:sp>
        <p:nvSpPr>
          <p:cNvPr id="23" name="Text 21"/>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4" name="Text 22"/>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Los comandos esenciales</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4389120"/>
                <a:gridCol w="6702552"/>
              </a:tblGrid>
              <a:tr h="4297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Comando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 qué sirve</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065A82"/>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init</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Crea un repositorio en la carpeta actual</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status</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Muestra qué cambió y qué está preparado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add archivo</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Prepara cambios para el próximo commit</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commit -m "mensaje"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Registra una fotografía con un mensaje</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diff</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Muestra los cambios línea por línea</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log --oneline</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Muestra el historial resumido</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restore archivo</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Descarta cambios aún no confirmados</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switch -c rama</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Crea una rama nueva y se cambia a ella</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0F6F9"/>
                    </a:solidFill>
                  </a:tcPr>
                </a:tc>
              </a:tr>
              <a:tr h="429768">
                <a:tc>
                  <a:txBody>
                    <a:bodyPr/>
                    <a:lstStyle/>
                    <a:p>
                      <a:pPr indent="0" marL="0">
                        <a:buNone/>
                      </a:pPr>
                      <a:r>
                        <a:rPr lang="en-US" sz="1350" dirty="0">
                          <a:solidFill>
                            <a:srgbClr val="065A82"/>
                          </a:solidFill>
                          <a:latin typeface="Courier New" pitchFamily="34" charset="0"/>
                          <a:ea typeface="Courier New" pitchFamily="34" charset="-122"/>
                          <a:cs typeface="Courier New" pitchFamily="34" charset="-120"/>
                        </a:rPr>
                        <a:t>git merge rama</a:t>
                      </a:r>
                      <a:endParaRPr lang="en-US" sz="1350" dirty="0">
                        <a:latin typeface="Courier New" charset="0"/>
                        <a:ea typeface="Courier New" charset="0"/>
                        <a:cs typeface="Courier New"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c>
                  <a:txBody>
                    <a:bodyPr/>
                    <a:lstStyle/>
                    <a:p>
                      <a:pPr indent="0" marL="0">
                        <a:buNone/>
                      </a:pPr>
                      <a:r>
                        <a:rPr lang="en-US" sz="1500" dirty="0">
                          <a:solidFill>
                            <a:srgbClr val="1F2A37"/>
                          </a:solidFill>
                          <a:latin typeface="Calibri" pitchFamily="34" charset="0"/>
                          <a:ea typeface="Calibri" pitchFamily="34" charset="-122"/>
                          <a:cs typeface="Calibri" pitchFamily="34" charset="-120"/>
                        </a:rPr>
                        <a:t>Une la rama indicada con la actual</a:t>
                      </a:r>
                      <a:endParaRPr lang="en-US" sz="1500" dirty="0">
                        <a:latin typeface="Calibri" charset="0"/>
                        <a:ea typeface="Calibri" charset="0"/>
                        <a:cs typeface="Calibri" charset="0"/>
                      </a:endParaRPr>
                    </a:p>
                  </a:txBody>
                  <a:tcPr marL="109728" marR="109728" marT="36576" marB="36576" anchor="ctr">
                    <a:lnL w="9525" cap="flat" cmpd="sng" algn="ctr">
                      <a:solidFill>
                        <a:srgbClr val="D5E2E9"/>
                      </a:solidFill>
                      <a:prstDash val="solid"/>
                      <a:round/>
                      <a:headEnd type="none" w="med" len="med"/>
                      <a:tailEnd type="none" w="med" len="med"/>
                    </a:lnL>
                    <a:lnR w="9525" cap="flat" cmpd="sng" algn="ctr">
                      <a:solidFill>
                        <a:srgbClr val="D5E2E9"/>
                      </a:solidFill>
                      <a:prstDash val="solid"/>
                      <a:round/>
                      <a:headEnd type="none" w="med" len="med"/>
                      <a:tailEnd type="none" w="med" len="med"/>
                    </a:lnR>
                    <a:lnT w="9525" cap="flat" cmpd="sng" algn="ctr">
                      <a:solidFill>
                        <a:srgbClr val="D5E2E9"/>
                      </a:solidFill>
                      <a:prstDash val="solid"/>
                      <a:round/>
                      <a:headEnd type="none" w="med" len="med"/>
                      <a:tailEnd type="none" w="med" len="med"/>
                    </a:lnT>
                    <a:lnB w="9525" cap="flat" cmpd="sng" algn="ctr">
                      <a:solidFill>
                        <a:srgbClr val="D5E2E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6" name="Text 3"/>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Commits que tu yo del futuro agradecerá</a:t>
            </a:r>
            <a:endParaRPr lang="en-US" sz="2800" dirty="0"/>
          </a:p>
        </p:txBody>
      </p:sp>
      <p:sp>
        <p:nvSpPr>
          <p:cNvPr id="4" name="Shape 2"/>
          <p:cNvSpPr/>
          <p:nvPr/>
        </p:nvSpPr>
        <p:spPr>
          <a:xfrm>
            <a:off x="548640" y="1645920"/>
            <a:ext cx="5318608" cy="2834640"/>
          </a:xfrm>
          <a:prstGeom prst="roundRect">
            <a:avLst>
              <a:gd name="adj" fmla="val 3226"/>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pic>
        <p:nvPicPr>
          <p:cNvPr id="5" name="Image 0" descr="/home/claude/sesion1/deck/icons/times_red.png">    </p:cNvPr>
          <p:cNvPicPr>
            <a:picLocks noChangeAspect="1"/>
          </p:cNvPicPr>
          <p:nvPr/>
        </p:nvPicPr>
        <p:blipFill>
          <a:blip r:embed="rId1"/>
          <a:stretch>
            <a:fillRect/>
          </a:stretch>
        </p:blipFill>
        <p:spPr>
          <a:xfrm>
            <a:off x="868680" y="1828800"/>
            <a:ext cx="365760" cy="365760"/>
          </a:xfrm>
          <a:prstGeom prst="rect">
            <a:avLst/>
          </a:prstGeom>
        </p:spPr>
      </p:pic>
      <p:sp>
        <p:nvSpPr>
          <p:cNvPr id="6" name="Text 3"/>
          <p:cNvSpPr txBox="1"/>
          <p:nvPr/>
        </p:nvSpPr>
        <p:spPr>
          <a:xfrm>
            <a:off x="1417320" y="1810512"/>
            <a:ext cx="2743200" cy="411480"/>
          </a:xfrm>
          <a:prstGeom prst="rect">
            <a:avLst/>
          </a:prstGeom>
          <a:noFill/>
          <a:ln/>
        </p:spPr>
        <p:txBody>
          <a:bodyPr wrap="square" lIns="0" tIns="0" rIns="0" bIns="0" rtlCol="0" anchor="ctr"/>
          <a:lstStyle/>
          <a:p>
            <a:pPr indent="0" marL="0">
              <a:buNone/>
            </a:pPr>
            <a:r>
              <a:rPr lang="en-US" sz="2000" b="1" dirty="0">
                <a:solidFill>
                  <a:srgbClr val="C0392B"/>
                </a:solidFill>
                <a:latin typeface="Cambria" pitchFamily="34" charset="0"/>
                <a:ea typeface="Cambria" pitchFamily="34" charset="-122"/>
                <a:cs typeface="Cambria" pitchFamily="34" charset="-120"/>
              </a:rPr>
              <a:t>Evita</a:t>
            </a:r>
            <a:endParaRPr lang="en-US" sz="2000" dirty="0"/>
          </a:p>
        </p:txBody>
      </p:sp>
      <p:sp>
        <p:nvSpPr>
          <p:cNvPr id="7" name="Text 4"/>
          <p:cNvSpPr txBox="1"/>
          <p:nvPr/>
        </p:nvSpPr>
        <p:spPr>
          <a:xfrm>
            <a:off x="914400" y="2423160"/>
            <a:ext cx="4587088" cy="1828800"/>
          </a:xfrm>
          <a:prstGeom prst="rect">
            <a:avLst/>
          </a:prstGeom>
          <a:noFill/>
          <a:ln/>
        </p:spPr>
        <p:txBody>
          <a:bodyPr wrap="square" lIns="0" tIns="0" rIns="0" bIns="0" rtlCol="0" anchor="t"/>
          <a:lstStyle/>
          <a:p>
            <a:pPr indent="0" marL="0">
              <a:lnSpc>
                <a:spcPts val="3000"/>
              </a:lnSpc>
              <a:buNone/>
            </a:pPr>
            <a:r>
              <a:rPr lang="en-US" sz="1600" dirty="0">
                <a:solidFill>
                  <a:srgbClr val="5B6B79"/>
                </a:solidFill>
                <a:latin typeface="Courier New" pitchFamily="34" charset="0"/>
                <a:ea typeface="Courier New" pitchFamily="34" charset="-122"/>
                <a:cs typeface="Courier New" pitchFamily="34" charset="-120"/>
              </a:rPr>
              <a:t>"cambios"</a:t>
            </a:r>
            <a:endParaRPr lang="en-US" sz="1600" dirty="0"/>
          </a:p>
          <a:p>
            <a:pPr indent="0" marL="0">
              <a:lnSpc>
                <a:spcPts val="3000"/>
              </a:lnSpc>
              <a:buNone/>
            </a:pPr>
            <a:r>
              <a:rPr lang="en-US" sz="1600" dirty="0">
                <a:solidFill>
                  <a:srgbClr val="5B6B79"/>
                </a:solidFill>
                <a:latin typeface="Courier New" pitchFamily="34" charset="0"/>
                <a:ea typeface="Courier New" pitchFamily="34" charset="-122"/>
                <a:cs typeface="Courier New" pitchFamily="34" charset="-120"/>
              </a:rPr>
              <a:t>"final"</a:t>
            </a:r>
            <a:endParaRPr lang="en-US" sz="1600" dirty="0"/>
          </a:p>
          <a:p>
            <a:pPr indent="0" marL="0">
              <a:lnSpc>
                <a:spcPts val="3000"/>
              </a:lnSpc>
              <a:buNone/>
            </a:pPr>
            <a:r>
              <a:rPr lang="en-US" sz="1600" dirty="0">
                <a:solidFill>
                  <a:srgbClr val="5B6B79"/>
                </a:solidFill>
                <a:latin typeface="Courier New" pitchFamily="34" charset="0"/>
                <a:ea typeface="Courier New" pitchFamily="34" charset="-122"/>
                <a:cs typeface="Courier New" pitchFamily="34" charset="-120"/>
              </a:rPr>
              <a:t>"arreglé cosas"</a:t>
            </a:r>
            <a:endParaRPr lang="en-US" sz="1600" dirty="0"/>
          </a:p>
          <a:p>
            <a:pPr indent="0" marL="0">
              <a:lnSpc>
                <a:spcPts val="3000"/>
              </a:lnSpc>
              <a:buNone/>
            </a:pPr>
            <a:r>
              <a:rPr lang="en-US" sz="1600" dirty="0">
                <a:solidFill>
                  <a:srgbClr val="5B6B79"/>
                </a:solidFill>
                <a:latin typeface="Courier New" pitchFamily="34" charset="0"/>
                <a:ea typeface="Courier New" pitchFamily="34" charset="-122"/>
                <a:cs typeface="Courier New" pitchFamily="34" charset="-120"/>
              </a:rPr>
              <a:t>"asdf"</a:t>
            </a:r>
            <a:endParaRPr lang="en-US" sz="1600" dirty="0"/>
          </a:p>
        </p:txBody>
      </p:sp>
      <p:sp>
        <p:nvSpPr>
          <p:cNvPr id="8" name="Shape 5"/>
          <p:cNvSpPr/>
          <p:nvPr/>
        </p:nvSpPr>
        <p:spPr>
          <a:xfrm>
            <a:off x="6324448" y="1645920"/>
            <a:ext cx="5318608" cy="2834640"/>
          </a:xfrm>
          <a:prstGeom prst="roundRect">
            <a:avLst>
              <a:gd name="adj" fmla="val 3226"/>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pic>
        <p:nvPicPr>
          <p:cNvPr id="9" name="Image 1" descr="/home/claude/sesion1/deck/icons/check_green.png">    </p:cNvPr>
          <p:cNvPicPr>
            <a:picLocks noChangeAspect="1"/>
          </p:cNvPicPr>
          <p:nvPr/>
        </p:nvPicPr>
        <p:blipFill>
          <a:blip r:embed="rId2"/>
          <a:stretch>
            <a:fillRect/>
          </a:stretch>
        </p:blipFill>
        <p:spPr>
          <a:xfrm>
            <a:off x="6644488" y="1828800"/>
            <a:ext cx="365760" cy="365760"/>
          </a:xfrm>
          <a:prstGeom prst="rect">
            <a:avLst/>
          </a:prstGeom>
        </p:spPr>
      </p:pic>
      <p:sp>
        <p:nvSpPr>
          <p:cNvPr id="10" name="Text 6"/>
          <p:cNvSpPr txBox="1"/>
          <p:nvPr/>
        </p:nvSpPr>
        <p:spPr>
          <a:xfrm>
            <a:off x="7193128" y="1810512"/>
            <a:ext cx="2743200" cy="411480"/>
          </a:xfrm>
          <a:prstGeom prst="rect">
            <a:avLst/>
          </a:prstGeom>
          <a:noFill/>
          <a:ln/>
        </p:spPr>
        <p:txBody>
          <a:bodyPr wrap="square" lIns="0" tIns="0" rIns="0" bIns="0" rtlCol="0" anchor="ctr"/>
          <a:lstStyle/>
          <a:p>
            <a:pPr indent="0" marL="0">
              <a:buNone/>
            </a:pPr>
            <a:r>
              <a:rPr lang="en-US" sz="2000" b="1" dirty="0">
                <a:solidFill>
                  <a:srgbClr val="2E8B6A"/>
                </a:solidFill>
                <a:latin typeface="Cambria" pitchFamily="34" charset="0"/>
                <a:ea typeface="Cambria" pitchFamily="34" charset="-122"/>
                <a:cs typeface="Cambria" pitchFamily="34" charset="-120"/>
              </a:rPr>
              <a:t>Prefiere</a:t>
            </a:r>
            <a:endParaRPr lang="en-US" sz="2000" dirty="0"/>
          </a:p>
        </p:txBody>
      </p:sp>
      <p:sp>
        <p:nvSpPr>
          <p:cNvPr id="11" name="Text 7"/>
          <p:cNvSpPr txBox="1"/>
          <p:nvPr/>
        </p:nvSpPr>
        <p:spPr>
          <a:xfrm>
            <a:off x="6690208" y="2423160"/>
            <a:ext cx="4587088" cy="1828800"/>
          </a:xfrm>
          <a:prstGeom prst="rect">
            <a:avLst/>
          </a:prstGeom>
          <a:noFill/>
          <a:ln/>
        </p:spPr>
        <p:txBody>
          <a:bodyPr wrap="square" lIns="0" tIns="0" rIns="0" bIns="0" rtlCol="0" anchor="t"/>
          <a:lstStyle/>
          <a:p>
            <a:pPr indent="0" marL="0">
              <a:lnSpc>
                <a:spcPts val="3000"/>
              </a:lnSpc>
              <a:buNone/>
            </a:pPr>
            <a:r>
              <a:rPr lang="en-US" sz="1400" dirty="0">
                <a:solidFill>
                  <a:srgbClr val="1F2A37"/>
                </a:solidFill>
                <a:latin typeface="Courier New" pitchFamily="34" charset="0"/>
                <a:ea typeface="Courier New" pitchFamily="34" charset="-122"/>
                <a:cs typeface="Courier New" pitchFamily="34" charset="-120"/>
              </a:rPr>
              <a:t>"Normaliza las categorías de nivel"</a:t>
            </a:r>
            <a:endParaRPr lang="en-US" sz="1400" dirty="0"/>
          </a:p>
          <a:p>
            <a:pPr indent="0" marL="0">
              <a:lnSpc>
                <a:spcPts val="3000"/>
              </a:lnSpc>
              <a:buNone/>
            </a:pPr>
            <a:r>
              <a:rPr lang="en-US" sz="1400" dirty="0">
                <a:solidFill>
                  <a:srgbClr val="1F2A37"/>
                </a:solidFill>
                <a:latin typeface="Courier New" pitchFamily="34" charset="0"/>
                <a:ea typeface="Courier New" pitchFamily="34" charset="-122"/>
                <a:cs typeface="Courier New" pitchFamily="34" charset="-120"/>
              </a:rPr>
              <a:t>"Corrige filtro: excluye horas &gt; 168"</a:t>
            </a:r>
            <a:endParaRPr lang="en-US" sz="1400" dirty="0"/>
          </a:p>
          <a:p>
            <a:pPr indent="0" marL="0">
              <a:lnSpc>
                <a:spcPts val="3000"/>
              </a:lnSpc>
              <a:buNone/>
            </a:pPr>
            <a:r>
              <a:rPr lang="en-US" sz="1400" dirty="0">
                <a:solidFill>
                  <a:srgbClr val="1F2A37"/>
                </a:solidFill>
                <a:latin typeface="Courier New" pitchFamily="34" charset="0"/>
                <a:ea typeface="Courier New" pitchFamily="34" charset="-122"/>
                <a:cs typeface="Courier New" pitchFamily="34" charset="-120"/>
              </a:rPr>
              <a:t>"Agrega tabla 2 del manuscrito"</a:t>
            </a:r>
            <a:endParaRPr lang="en-US" sz="1400" dirty="0"/>
          </a:p>
        </p:txBody>
      </p:sp>
      <p:sp>
        <p:nvSpPr>
          <p:cNvPr id="12" name="Shape 8"/>
          <p:cNvSpPr/>
          <p:nvPr/>
        </p:nvSpPr>
        <p:spPr>
          <a:xfrm>
            <a:off x="548640" y="4754880"/>
            <a:ext cx="457200" cy="457200"/>
          </a:xfrm>
          <a:prstGeom prst="ellipse">
            <a:avLst/>
          </a:prstGeom>
          <a:solidFill>
            <a:srgbClr val="065A82"/>
          </a:solidFill>
          <a:ln/>
        </p:spPr>
      </p:sp>
      <p:sp>
        <p:nvSpPr>
          <p:cNvPr id="13" name="Text 9"/>
          <p:cNvSpPr txBox="1"/>
          <p:nvPr/>
        </p:nvSpPr>
        <p:spPr>
          <a:xfrm>
            <a:off x="548640"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4" name="Text 10"/>
          <p:cNvSpPr txBox="1"/>
          <p:nvPr/>
        </p:nvSpPr>
        <p:spPr>
          <a:xfrm>
            <a:off x="1143000" y="4709160"/>
            <a:ext cx="3017520"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Un commit = una idea</a:t>
            </a:r>
            <a:endParaRPr lang="en-US" sz="1600" dirty="0"/>
          </a:p>
        </p:txBody>
      </p:sp>
      <p:sp>
        <p:nvSpPr>
          <p:cNvPr id="15" name="Text 11"/>
          <p:cNvSpPr txBox="1"/>
          <p:nvPr/>
        </p:nvSpPr>
        <p:spPr>
          <a:xfrm>
            <a:off x="1143000" y="5047488"/>
            <a:ext cx="3017520"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Cambios pequeños y con un propósito claro.</a:t>
            </a:r>
            <a:endParaRPr lang="en-US" sz="1350" dirty="0"/>
          </a:p>
        </p:txBody>
      </p:sp>
      <p:sp>
        <p:nvSpPr>
          <p:cNvPr id="16" name="Shape 12"/>
          <p:cNvSpPr/>
          <p:nvPr/>
        </p:nvSpPr>
        <p:spPr>
          <a:xfrm>
            <a:off x="4246778" y="4754880"/>
            <a:ext cx="457200" cy="457200"/>
          </a:xfrm>
          <a:prstGeom prst="ellipse">
            <a:avLst/>
          </a:prstGeom>
          <a:solidFill>
            <a:srgbClr val="065A82"/>
          </a:solidFill>
          <a:ln/>
        </p:spPr>
      </p:sp>
      <p:sp>
        <p:nvSpPr>
          <p:cNvPr id="17" name="Text 13"/>
          <p:cNvSpPr txBox="1"/>
          <p:nvPr/>
        </p:nvSpPr>
        <p:spPr>
          <a:xfrm>
            <a:off x="4246778"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4"/>
          <p:cNvSpPr txBox="1"/>
          <p:nvPr/>
        </p:nvSpPr>
        <p:spPr>
          <a:xfrm>
            <a:off x="4841138" y="4709160"/>
            <a:ext cx="3017520"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Explica qué y por qué</a:t>
            </a:r>
            <a:endParaRPr lang="en-US" sz="1600" dirty="0"/>
          </a:p>
        </p:txBody>
      </p:sp>
      <p:sp>
        <p:nvSpPr>
          <p:cNvPr id="19" name="Text 15"/>
          <p:cNvSpPr txBox="1"/>
          <p:nvPr/>
        </p:nvSpPr>
        <p:spPr>
          <a:xfrm>
            <a:off x="4841138" y="5047488"/>
            <a:ext cx="3017520"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El código ya dice cómo.</a:t>
            </a:r>
            <a:endParaRPr lang="en-US" sz="1350" dirty="0"/>
          </a:p>
        </p:txBody>
      </p:sp>
      <p:sp>
        <p:nvSpPr>
          <p:cNvPr id="20" name="Shape 16"/>
          <p:cNvSpPr/>
          <p:nvPr/>
        </p:nvSpPr>
        <p:spPr>
          <a:xfrm>
            <a:off x="7944917" y="4754880"/>
            <a:ext cx="457200" cy="457200"/>
          </a:xfrm>
          <a:prstGeom prst="ellipse">
            <a:avLst/>
          </a:prstGeom>
          <a:solidFill>
            <a:srgbClr val="065A82"/>
          </a:solidFill>
          <a:ln/>
        </p:spPr>
      </p:sp>
      <p:sp>
        <p:nvSpPr>
          <p:cNvPr id="21" name="Text 17"/>
          <p:cNvSpPr txBox="1"/>
          <p:nvPr/>
        </p:nvSpPr>
        <p:spPr>
          <a:xfrm>
            <a:off x="7944917" y="4754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8"/>
          <p:cNvSpPr txBox="1"/>
          <p:nvPr/>
        </p:nvSpPr>
        <p:spPr>
          <a:xfrm>
            <a:off x="8539277" y="4709160"/>
            <a:ext cx="3017520"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Commitea seguido</a:t>
            </a:r>
            <a:endParaRPr lang="en-US" sz="1600" dirty="0"/>
          </a:p>
        </p:txBody>
      </p:sp>
      <p:sp>
        <p:nvSpPr>
          <p:cNvPr id="23" name="Text 19"/>
          <p:cNvSpPr txBox="1"/>
          <p:nvPr/>
        </p:nvSpPr>
        <p:spPr>
          <a:xfrm>
            <a:off x="8539277" y="5047488"/>
            <a:ext cx="3017520"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Antes de hacer algo arriesgado, no después.</a:t>
            </a:r>
            <a:endParaRPr lang="en-US" sz="1350" dirty="0"/>
          </a:p>
        </p:txBody>
      </p:sp>
      <p:sp>
        <p:nvSpPr>
          <p:cNvPr id="24" name="Text 20"/>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5" name="Text 21"/>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Qué se versiona y qué no</a:t>
            </a:r>
            <a:endParaRPr lang="en-US" sz="2800" dirty="0"/>
          </a:p>
        </p:txBody>
      </p:sp>
      <p:sp>
        <p:nvSpPr>
          <p:cNvPr id="4" name="Shape 2"/>
          <p:cNvSpPr/>
          <p:nvPr/>
        </p:nvSpPr>
        <p:spPr>
          <a:xfrm>
            <a:off x="548640" y="1645920"/>
            <a:ext cx="5318608" cy="3246120"/>
          </a:xfrm>
          <a:prstGeom prst="roundRect">
            <a:avLst>
              <a:gd name="adj" fmla="val 281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pic>
        <p:nvPicPr>
          <p:cNvPr id="5" name="Image 0" descr="/home/claude/sesion1/deck/icons/check_green.png">    </p:cNvPr>
          <p:cNvPicPr>
            <a:picLocks noChangeAspect="1"/>
          </p:cNvPicPr>
          <p:nvPr/>
        </p:nvPicPr>
        <p:blipFill>
          <a:blip r:embed="rId1"/>
          <a:stretch>
            <a:fillRect/>
          </a:stretch>
        </p:blipFill>
        <p:spPr>
          <a:xfrm>
            <a:off x="868680" y="1828800"/>
            <a:ext cx="365760" cy="365760"/>
          </a:xfrm>
          <a:prstGeom prst="rect">
            <a:avLst/>
          </a:prstGeom>
        </p:spPr>
      </p:pic>
      <p:sp>
        <p:nvSpPr>
          <p:cNvPr id="6" name="Text 3"/>
          <p:cNvSpPr txBox="1"/>
          <p:nvPr/>
        </p:nvSpPr>
        <p:spPr>
          <a:xfrm>
            <a:off x="1417320" y="1810512"/>
            <a:ext cx="3657600" cy="411480"/>
          </a:xfrm>
          <a:prstGeom prst="rect">
            <a:avLst/>
          </a:prstGeom>
          <a:noFill/>
          <a:ln/>
        </p:spPr>
        <p:txBody>
          <a:bodyPr wrap="square" lIns="0" tIns="0" rIns="0" bIns="0" rtlCol="0" anchor="ctr"/>
          <a:lstStyle/>
          <a:p>
            <a:pPr indent="0" marL="0">
              <a:buNone/>
            </a:pPr>
            <a:r>
              <a:rPr lang="en-US" sz="2000" b="1" dirty="0">
                <a:solidFill>
                  <a:srgbClr val="2E8B6A"/>
                </a:solidFill>
                <a:latin typeface="Cambria" pitchFamily="34" charset="0"/>
                <a:ea typeface="Cambria" pitchFamily="34" charset="-122"/>
                <a:cs typeface="Cambria" pitchFamily="34" charset="-120"/>
              </a:rPr>
              <a:t>Sí versionar</a:t>
            </a:r>
            <a:endParaRPr lang="en-US" sz="2000" dirty="0"/>
          </a:p>
        </p:txBody>
      </p:sp>
      <p:sp>
        <p:nvSpPr>
          <p:cNvPr id="7" name="Text 4"/>
          <p:cNvSpPr txBox="1"/>
          <p:nvPr/>
        </p:nvSpPr>
        <p:spPr>
          <a:xfrm>
            <a:off x="914400" y="2423160"/>
            <a:ext cx="4587088" cy="2377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Código: scripts .R y documentos .qmd</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Documentación: README, notas metodológicas</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Datos pequeños, públicos o simulados</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El archivo .gitignore</a:t>
            </a:r>
            <a:endParaRPr lang="en-US" sz="1500" dirty="0"/>
          </a:p>
        </p:txBody>
      </p:sp>
      <p:sp>
        <p:nvSpPr>
          <p:cNvPr id="8" name="Shape 5"/>
          <p:cNvSpPr/>
          <p:nvPr/>
        </p:nvSpPr>
        <p:spPr>
          <a:xfrm>
            <a:off x="6324448" y="1645920"/>
            <a:ext cx="5318608" cy="3246120"/>
          </a:xfrm>
          <a:prstGeom prst="roundRect">
            <a:avLst>
              <a:gd name="adj" fmla="val 2817"/>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pic>
        <p:nvPicPr>
          <p:cNvPr id="9" name="Image 1" descr="/home/claude/sesion1/deck/icons/times_red.png">    </p:cNvPr>
          <p:cNvPicPr>
            <a:picLocks noChangeAspect="1"/>
          </p:cNvPicPr>
          <p:nvPr/>
        </p:nvPicPr>
        <p:blipFill>
          <a:blip r:embed="rId2"/>
          <a:stretch>
            <a:fillRect/>
          </a:stretch>
        </p:blipFill>
        <p:spPr>
          <a:xfrm>
            <a:off x="6644488" y="1828800"/>
            <a:ext cx="365760" cy="365760"/>
          </a:xfrm>
          <a:prstGeom prst="rect">
            <a:avLst/>
          </a:prstGeom>
        </p:spPr>
      </p:pic>
      <p:sp>
        <p:nvSpPr>
          <p:cNvPr id="10" name="Text 6"/>
          <p:cNvSpPr txBox="1"/>
          <p:nvPr/>
        </p:nvSpPr>
        <p:spPr>
          <a:xfrm>
            <a:off x="7193128" y="1810512"/>
            <a:ext cx="3657600" cy="411480"/>
          </a:xfrm>
          <a:prstGeom prst="rect">
            <a:avLst/>
          </a:prstGeom>
          <a:noFill/>
          <a:ln/>
        </p:spPr>
        <p:txBody>
          <a:bodyPr wrap="square" lIns="0" tIns="0" rIns="0" bIns="0" rtlCol="0" anchor="ctr"/>
          <a:lstStyle/>
          <a:p>
            <a:pPr indent="0" marL="0">
              <a:buNone/>
            </a:pPr>
            <a:r>
              <a:rPr lang="en-US" sz="2000" b="1" dirty="0">
                <a:solidFill>
                  <a:srgbClr val="C0392B"/>
                </a:solidFill>
                <a:latin typeface="Cambria" pitchFamily="34" charset="0"/>
                <a:ea typeface="Cambria" pitchFamily="34" charset="-122"/>
                <a:cs typeface="Cambria" pitchFamily="34" charset="-120"/>
              </a:rPr>
              <a:t>No versionar</a:t>
            </a:r>
            <a:endParaRPr lang="en-US" sz="2000" dirty="0"/>
          </a:p>
        </p:txBody>
      </p:sp>
      <p:sp>
        <p:nvSpPr>
          <p:cNvPr id="11" name="Text 7"/>
          <p:cNvSpPr txBox="1"/>
          <p:nvPr/>
        </p:nvSpPr>
        <p:spPr>
          <a:xfrm>
            <a:off x="6690208" y="2423160"/>
            <a:ext cx="4587088" cy="2377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Datos con información personal o confidencial</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Credenciales y tokens (.Renviron)</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Temporales: .Rhistory, .RData, .Rproj.user</a:t>
            </a:r>
            <a:endParaRPr lang="en-US" sz="1500" dirty="0"/>
          </a:p>
          <a:p>
            <a:pPr marL="203200" indent="-203200">
              <a:spcAft>
                <a:spcPts val="900"/>
              </a:spcAft>
              <a:buSzPct val="100000"/>
              <a:buChar char="•"/>
            </a:pPr>
            <a:r>
              <a:rPr lang="en-US" sz="1500" dirty="0">
                <a:solidFill>
                  <a:srgbClr val="1F2A37"/>
                </a:solidFill>
                <a:latin typeface="Calibri" pitchFamily="34" charset="0"/>
                <a:ea typeface="Calibri" pitchFamily="34" charset="-122"/>
                <a:cs typeface="Calibri" pitchFamily="34" charset="-120"/>
              </a:rPr>
              <a:t>Resultados voluminosos o regenerables</a:t>
            </a:r>
            <a:endParaRPr lang="en-US" sz="1500" dirty="0"/>
          </a:p>
        </p:txBody>
      </p:sp>
      <p:sp>
        <p:nvSpPr>
          <p:cNvPr id="12" name="Shape 8"/>
          <p:cNvSpPr/>
          <p:nvPr/>
        </p:nvSpPr>
        <p:spPr>
          <a:xfrm>
            <a:off x="548640" y="5120640"/>
            <a:ext cx="11094415" cy="868680"/>
          </a:xfrm>
          <a:prstGeom prst="roundRect">
            <a:avLst>
              <a:gd name="adj" fmla="val 10526"/>
            </a:avLst>
          </a:prstGeom>
          <a:solidFill>
            <a:srgbClr val="FDF3E3"/>
          </a:solidFill>
          <a:ln w="12700">
            <a:solidFill>
              <a:srgbClr val="F1D9A8"/>
            </a:solidFill>
            <a:prstDash val="solid"/>
          </a:ln>
        </p:spPr>
      </p:sp>
      <p:sp>
        <p:nvSpPr>
          <p:cNvPr id="13" name="Text 9"/>
          <p:cNvSpPr txBox="1"/>
          <p:nvPr/>
        </p:nvSpPr>
        <p:spPr>
          <a:xfrm>
            <a:off x="822960" y="5120640"/>
            <a:ext cx="10545775" cy="868680"/>
          </a:xfrm>
          <a:prstGeom prst="rect">
            <a:avLst/>
          </a:prstGeom>
          <a:noFill/>
          <a:ln/>
        </p:spPr>
        <p:txBody>
          <a:bodyPr wrap="square" lIns="0" tIns="0" rIns="0" bIns="0" rtlCol="0" anchor="ctr"/>
          <a:lstStyle/>
          <a:p>
            <a:pPr indent="0" marL="0">
              <a:buNone/>
            </a:pPr>
            <a:r>
              <a:rPr lang="en-US" sz="1550" b="1" dirty="0">
                <a:solidFill>
                  <a:srgbClr val="B7791F"/>
                </a:solidFill>
                <a:latin typeface="Calibri" pitchFamily="34" charset="0"/>
                <a:ea typeface="Calibri" pitchFamily="34" charset="-122"/>
                <a:cs typeface="Calibri" pitchFamily="34" charset="-120"/>
              </a:rPr>
              <a:t>Cuidado: si un dato sensible ya se subió, borrarlo en un commit posterior NO lo elimina del historial. Si dudas, no lo subas.</a:t>
            </a:r>
            <a:endParaRPr lang="en-US" sz="1550" dirty="0"/>
          </a:p>
        </p:txBody>
      </p:sp>
      <p:sp>
        <p:nvSpPr>
          <p:cNvPr id="14" name="Text 10"/>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5" name="Text 11"/>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Ramas: experimenta sin romper lo que funciona</a:t>
            </a:r>
            <a:endParaRPr lang="en-US" sz="2800" dirty="0"/>
          </a:p>
        </p:txBody>
      </p:sp>
      <p:sp>
        <p:nvSpPr>
          <p:cNvPr id="4" name="Shape 2"/>
          <p:cNvSpPr/>
          <p:nvPr/>
        </p:nvSpPr>
        <p:spPr>
          <a:xfrm>
            <a:off x="1280160" y="3977640"/>
            <a:ext cx="1828800" cy="0"/>
          </a:xfrm>
          <a:prstGeom prst="line">
            <a:avLst/>
          </a:prstGeom>
          <a:noFill/>
          <a:ln w="38100">
            <a:solidFill>
              <a:srgbClr val="B9C9D6"/>
            </a:solidFill>
            <a:prstDash val="solid"/>
          </a:ln>
        </p:spPr>
      </p:sp>
      <p:sp>
        <p:nvSpPr>
          <p:cNvPr id="5" name="Shape 3"/>
          <p:cNvSpPr/>
          <p:nvPr/>
        </p:nvSpPr>
        <p:spPr>
          <a:xfrm>
            <a:off x="3108960" y="3977640"/>
            <a:ext cx="3657600" cy="0"/>
          </a:xfrm>
          <a:prstGeom prst="line">
            <a:avLst/>
          </a:prstGeom>
          <a:noFill/>
          <a:ln w="38100">
            <a:solidFill>
              <a:srgbClr val="B9C9D6"/>
            </a:solidFill>
            <a:prstDash val="solid"/>
          </a:ln>
        </p:spPr>
      </p:sp>
      <p:sp>
        <p:nvSpPr>
          <p:cNvPr id="6" name="Shape 4"/>
          <p:cNvSpPr/>
          <p:nvPr/>
        </p:nvSpPr>
        <p:spPr>
          <a:xfrm>
            <a:off x="6766560" y="3977640"/>
            <a:ext cx="2743200" cy="0"/>
          </a:xfrm>
          <a:prstGeom prst="line">
            <a:avLst/>
          </a:prstGeom>
          <a:noFill/>
          <a:ln w="38100">
            <a:solidFill>
              <a:srgbClr val="B9C9D6"/>
            </a:solidFill>
            <a:prstDash val="solid"/>
          </a:ln>
        </p:spPr>
      </p:sp>
      <p:sp>
        <p:nvSpPr>
          <p:cNvPr id="7" name="Shape 5"/>
          <p:cNvSpPr/>
          <p:nvPr/>
        </p:nvSpPr>
        <p:spPr>
          <a:xfrm flipV="1">
            <a:off x="3108960" y="2606040"/>
            <a:ext cx="1371600" cy="1371600"/>
          </a:xfrm>
          <a:prstGeom prst="line">
            <a:avLst/>
          </a:prstGeom>
          <a:noFill/>
          <a:ln w="38100">
            <a:solidFill>
              <a:srgbClr val="1C7293"/>
            </a:solidFill>
            <a:prstDash val="solid"/>
          </a:ln>
        </p:spPr>
      </p:sp>
      <p:sp>
        <p:nvSpPr>
          <p:cNvPr id="8" name="Shape 6"/>
          <p:cNvSpPr/>
          <p:nvPr/>
        </p:nvSpPr>
        <p:spPr>
          <a:xfrm>
            <a:off x="4480560" y="2606040"/>
            <a:ext cx="1371600" cy="0"/>
          </a:xfrm>
          <a:prstGeom prst="line">
            <a:avLst/>
          </a:prstGeom>
          <a:noFill/>
          <a:ln w="38100">
            <a:solidFill>
              <a:srgbClr val="1C7293"/>
            </a:solidFill>
            <a:prstDash val="solid"/>
          </a:ln>
        </p:spPr>
      </p:sp>
      <p:sp>
        <p:nvSpPr>
          <p:cNvPr id="9" name="Shape 7"/>
          <p:cNvSpPr/>
          <p:nvPr/>
        </p:nvSpPr>
        <p:spPr>
          <a:xfrm>
            <a:off x="5852160" y="2606040"/>
            <a:ext cx="3657600" cy="1371600"/>
          </a:xfrm>
          <a:prstGeom prst="line">
            <a:avLst/>
          </a:prstGeom>
          <a:noFill/>
          <a:ln w="38100">
            <a:solidFill>
              <a:srgbClr val="1C7293"/>
            </a:solidFill>
            <a:prstDash val="solid"/>
          </a:ln>
        </p:spPr>
      </p:sp>
      <p:sp>
        <p:nvSpPr>
          <p:cNvPr id="10" name="Shape 8"/>
          <p:cNvSpPr/>
          <p:nvPr/>
        </p:nvSpPr>
        <p:spPr>
          <a:xfrm>
            <a:off x="1078992" y="3776472"/>
            <a:ext cx="402336" cy="402336"/>
          </a:xfrm>
          <a:prstGeom prst="ellipse">
            <a:avLst/>
          </a:prstGeom>
          <a:solidFill>
            <a:srgbClr val="065A82"/>
          </a:solidFill>
          <a:ln w="25400">
            <a:solidFill>
              <a:srgbClr val="FFFFFF"/>
            </a:solidFill>
            <a:prstDash val="solid"/>
          </a:ln>
        </p:spPr>
      </p:sp>
      <p:sp>
        <p:nvSpPr>
          <p:cNvPr id="11" name="Shape 9"/>
          <p:cNvSpPr/>
          <p:nvPr/>
        </p:nvSpPr>
        <p:spPr>
          <a:xfrm>
            <a:off x="2907792" y="3776472"/>
            <a:ext cx="402336" cy="402336"/>
          </a:xfrm>
          <a:prstGeom prst="ellipse">
            <a:avLst/>
          </a:prstGeom>
          <a:solidFill>
            <a:srgbClr val="065A82"/>
          </a:solidFill>
          <a:ln w="25400">
            <a:solidFill>
              <a:srgbClr val="FFFFFF"/>
            </a:solidFill>
            <a:prstDash val="solid"/>
          </a:ln>
        </p:spPr>
      </p:sp>
      <p:sp>
        <p:nvSpPr>
          <p:cNvPr id="12" name="Shape 10"/>
          <p:cNvSpPr/>
          <p:nvPr/>
        </p:nvSpPr>
        <p:spPr>
          <a:xfrm>
            <a:off x="6565392" y="3776472"/>
            <a:ext cx="402336" cy="402336"/>
          </a:xfrm>
          <a:prstGeom prst="ellipse">
            <a:avLst/>
          </a:prstGeom>
          <a:solidFill>
            <a:srgbClr val="065A82"/>
          </a:solidFill>
          <a:ln w="25400">
            <a:solidFill>
              <a:srgbClr val="FFFFFF"/>
            </a:solidFill>
            <a:prstDash val="solid"/>
          </a:ln>
        </p:spPr>
      </p:sp>
      <p:sp>
        <p:nvSpPr>
          <p:cNvPr id="13" name="Shape 11"/>
          <p:cNvSpPr/>
          <p:nvPr/>
        </p:nvSpPr>
        <p:spPr>
          <a:xfrm>
            <a:off x="9308592" y="3776472"/>
            <a:ext cx="402336" cy="402336"/>
          </a:xfrm>
          <a:prstGeom prst="ellipse">
            <a:avLst/>
          </a:prstGeom>
          <a:solidFill>
            <a:srgbClr val="2E8B6A"/>
          </a:solidFill>
          <a:ln w="25400">
            <a:solidFill>
              <a:srgbClr val="FFFFFF"/>
            </a:solidFill>
            <a:prstDash val="solid"/>
          </a:ln>
        </p:spPr>
      </p:sp>
      <p:sp>
        <p:nvSpPr>
          <p:cNvPr id="14" name="Shape 12"/>
          <p:cNvSpPr/>
          <p:nvPr/>
        </p:nvSpPr>
        <p:spPr>
          <a:xfrm>
            <a:off x="4279392" y="2404872"/>
            <a:ext cx="402336" cy="402336"/>
          </a:xfrm>
          <a:prstGeom prst="ellipse">
            <a:avLst/>
          </a:prstGeom>
          <a:solidFill>
            <a:srgbClr val="1C7293"/>
          </a:solidFill>
          <a:ln w="25400">
            <a:solidFill>
              <a:srgbClr val="FFFFFF"/>
            </a:solidFill>
            <a:prstDash val="solid"/>
          </a:ln>
        </p:spPr>
      </p:sp>
      <p:sp>
        <p:nvSpPr>
          <p:cNvPr id="15" name="Shape 13"/>
          <p:cNvSpPr/>
          <p:nvPr/>
        </p:nvSpPr>
        <p:spPr>
          <a:xfrm>
            <a:off x="5650992" y="2404872"/>
            <a:ext cx="402336" cy="402336"/>
          </a:xfrm>
          <a:prstGeom prst="ellipse">
            <a:avLst/>
          </a:prstGeom>
          <a:solidFill>
            <a:srgbClr val="1C7293"/>
          </a:solidFill>
          <a:ln w="25400">
            <a:solidFill>
              <a:srgbClr val="FFFFFF"/>
            </a:solidFill>
            <a:prstDash val="solid"/>
          </a:ln>
        </p:spPr>
      </p:sp>
      <p:sp>
        <p:nvSpPr>
          <p:cNvPr id="16" name="Text 14"/>
          <p:cNvSpPr txBox="1"/>
          <p:nvPr/>
        </p:nvSpPr>
        <p:spPr>
          <a:xfrm>
            <a:off x="182880" y="3822192"/>
            <a:ext cx="731520" cy="310896"/>
          </a:xfrm>
          <a:prstGeom prst="rect">
            <a:avLst/>
          </a:prstGeom>
          <a:noFill/>
          <a:ln/>
        </p:spPr>
        <p:txBody>
          <a:bodyPr wrap="square" lIns="0" tIns="0" rIns="0" bIns="0" rtlCol="0" anchor="ctr"/>
          <a:lstStyle/>
          <a:p>
            <a:pPr algn="r" indent="0" marL="0">
              <a:buNone/>
            </a:pPr>
            <a:r>
              <a:rPr lang="en-US" sz="1300" b="1" dirty="0">
                <a:solidFill>
                  <a:srgbClr val="065A82"/>
                </a:solidFill>
                <a:latin typeface="Courier New" pitchFamily="34" charset="0"/>
                <a:ea typeface="Courier New" pitchFamily="34" charset="-122"/>
                <a:cs typeface="Courier New" pitchFamily="34" charset="-120"/>
              </a:rPr>
              <a:t>main</a:t>
            </a:r>
            <a:endParaRPr lang="en-US" sz="1300" dirty="0"/>
          </a:p>
        </p:txBody>
      </p:sp>
      <p:sp>
        <p:nvSpPr>
          <p:cNvPr id="17" name="Text 15"/>
          <p:cNvSpPr txBox="1"/>
          <p:nvPr/>
        </p:nvSpPr>
        <p:spPr>
          <a:xfrm>
            <a:off x="3749040" y="1920240"/>
            <a:ext cx="2743200" cy="310896"/>
          </a:xfrm>
          <a:prstGeom prst="rect">
            <a:avLst/>
          </a:prstGeom>
          <a:noFill/>
          <a:ln/>
        </p:spPr>
        <p:txBody>
          <a:bodyPr wrap="square" lIns="0" tIns="0" rIns="0" bIns="0" rtlCol="0" anchor="ctr"/>
          <a:lstStyle/>
          <a:p>
            <a:pPr algn="ctr" indent="0" marL="0">
              <a:buNone/>
            </a:pPr>
            <a:r>
              <a:rPr lang="en-US" sz="1300" b="1" dirty="0">
                <a:solidFill>
                  <a:srgbClr val="1C7293"/>
                </a:solidFill>
                <a:latin typeface="Courier New" pitchFamily="34" charset="0"/>
                <a:ea typeface="Courier New" pitchFamily="34" charset="-122"/>
                <a:cs typeface="Courier New" pitchFamily="34" charset="-120"/>
              </a:rPr>
              <a:t>explorar-across</a:t>
            </a:r>
            <a:endParaRPr lang="en-US" sz="1300" dirty="0"/>
          </a:p>
        </p:txBody>
      </p:sp>
      <p:sp>
        <p:nvSpPr>
          <p:cNvPr id="18" name="Text 16"/>
          <p:cNvSpPr txBox="1"/>
          <p:nvPr/>
        </p:nvSpPr>
        <p:spPr>
          <a:xfrm>
            <a:off x="8412480" y="4270248"/>
            <a:ext cx="2194560" cy="274320"/>
          </a:xfrm>
          <a:prstGeom prst="rect">
            <a:avLst/>
          </a:prstGeom>
          <a:noFill/>
          <a:ln/>
        </p:spPr>
        <p:txBody>
          <a:bodyPr wrap="square" lIns="0" tIns="0" rIns="0" bIns="0" rtlCol="0" anchor="ctr"/>
          <a:lstStyle/>
          <a:p>
            <a:pPr algn="ctr" indent="0" marL="0">
              <a:buNone/>
            </a:pPr>
            <a:r>
              <a:rPr lang="en-US" sz="1250" i="1" dirty="0">
                <a:solidFill>
                  <a:srgbClr val="2E8B6A"/>
                </a:solidFill>
                <a:latin typeface="Calibri" pitchFamily="34" charset="0"/>
                <a:ea typeface="Calibri" pitchFamily="34" charset="-122"/>
                <a:cs typeface="Calibri" pitchFamily="34" charset="-120"/>
              </a:rPr>
              <a:t>commit de fusión</a:t>
            </a:r>
            <a:endParaRPr lang="en-US" sz="1250" dirty="0"/>
          </a:p>
        </p:txBody>
      </p:sp>
      <p:sp>
        <p:nvSpPr>
          <p:cNvPr id="19" name="Shape 17"/>
          <p:cNvSpPr/>
          <p:nvPr/>
        </p:nvSpPr>
        <p:spPr>
          <a:xfrm>
            <a:off x="548640" y="4709160"/>
            <a:ext cx="11094415" cy="1280160"/>
          </a:xfrm>
          <a:prstGeom prst="roundRect">
            <a:avLst>
              <a:gd name="adj" fmla="val 5714"/>
            </a:avLst>
          </a:prstGeom>
          <a:solidFill>
            <a:srgbClr val="16203B"/>
          </a:solidFill>
          <a:ln/>
          <a:effectLst>
            <a:outerShdw sx="100000" sy="100000" kx="0" ky="0" algn="bl" rotWithShape="0" blurRad="88900" dist="25400" dir="5400000">
              <a:srgbClr val="21295C">
                <a:alpha val="25000"/>
              </a:srgbClr>
            </a:outerShdw>
          </a:effectLst>
        </p:spPr>
      </p:sp>
      <p:sp>
        <p:nvSpPr>
          <p:cNvPr id="20" name="Text 18"/>
          <p:cNvSpPr txBox="1"/>
          <p:nvPr/>
        </p:nvSpPr>
        <p:spPr>
          <a:xfrm>
            <a:off x="777240" y="4846320"/>
            <a:ext cx="10637215" cy="1005840"/>
          </a:xfrm>
          <a:prstGeom prst="rect">
            <a:avLst/>
          </a:prstGeom>
          <a:noFill/>
          <a:ln/>
        </p:spPr>
        <p:txBody>
          <a:bodyPr wrap="none" lIns="0" tIns="0" rIns="0" bIns="0" rtlCol="0" anchor="ctr"/>
          <a:lstStyle/>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7FD1AE"/>
                </a:solidFill>
                <a:latin typeface="Courier New" pitchFamily="34" charset="0"/>
                <a:ea typeface="Courier New" pitchFamily="34" charset="-122"/>
                <a:cs typeface="Courier New" pitchFamily="34" charset="-120"/>
              </a:rPr>
              <a:t>switch</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-c</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explorar-across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nace la rama y me cambio a ella</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7FD1AE"/>
                </a:solidFill>
                <a:latin typeface="Courier New" pitchFamily="34" charset="0"/>
                <a:ea typeface="Courier New" pitchFamily="34" charset="-122"/>
                <a:cs typeface="Courier New" pitchFamily="34" charset="-120"/>
              </a:rPr>
              <a:t>add</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R/analisis.R</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&amp;&amp;</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git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commit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-m</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"Prueba across()"</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7FD1AE"/>
                </a:solidFill>
                <a:latin typeface="Courier New" pitchFamily="34" charset="0"/>
                <a:ea typeface="Courier New" pitchFamily="34" charset="-122"/>
                <a:cs typeface="Courier New" pitchFamily="34" charset="-120"/>
              </a:rPr>
              <a:t>switch</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main</a:t>
            </a:r>
            <a:endParaRPr lang="en-US" sz="1300" dirty="0"/>
          </a:p>
          <a:p>
            <a:pPr indent="0" marL="0">
              <a:lnSpc>
                <a:spcPts val="1716"/>
              </a:lnSpc>
              <a:buNone/>
            </a:pPr>
            <a:r>
              <a:rPr lang="en-US" sz="1300" dirty="0">
                <a:solidFill>
                  <a:srgbClr val="8CC8FF"/>
                </a:solidFill>
                <a:latin typeface="Courier New" pitchFamily="34" charset="0"/>
                <a:ea typeface="Courier New" pitchFamily="34" charset="-122"/>
                <a:cs typeface="Courier New" pitchFamily="34" charset="-120"/>
              </a:rPr>
              <a:t>git</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7FD1AE"/>
                </a:solidFill>
                <a:latin typeface="Courier New" pitchFamily="34" charset="0"/>
                <a:ea typeface="Courier New" pitchFamily="34" charset="-122"/>
                <a:cs typeface="Courier New" pitchFamily="34" charset="-120"/>
              </a:rPr>
              <a:t>merge</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F2C97D"/>
                </a:solidFill>
                <a:latin typeface="Courier New" pitchFamily="34" charset="0"/>
                <a:ea typeface="Courier New" pitchFamily="34" charset="-122"/>
                <a:cs typeface="Courier New" pitchFamily="34" charset="-120"/>
              </a:rPr>
              <a:t>--no-ff</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explorar-across</a:t>
            </a:r>
            <a:pPr indent="0" marL="0">
              <a:lnSpc>
                <a:spcPts val="1716"/>
              </a:lnSpc>
              <a:buNone/>
            </a:pPr>
            <a:r>
              <a:rPr lang="en-US" sz="1300" dirty="0">
                <a:solidFill>
                  <a:srgbClr val="E6EDF7"/>
                </a:solidFill>
                <a:latin typeface="Courier New" pitchFamily="34" charset="0"/>
                <a:ea typeface="Courier New" pitchFamily="34" charset="-122"/>
                <a:cs typeface="Courier New" pitchFamily="34" charset="-120"/>
              </a:rPr>
              <a:t>  </a:t>
            </a:r>
            <a:pPr indent="0" marL="0">
              <a:lnSpc>
                <a:spcPts val="1716"/>
              </a:lnSpc>
              <a:buNone/>
            </a:pPr>
            <a:r>
              <a:rPr lang="en-US" sz="1300" i="1" dirty="0">
                <a:solidFill>
                  <a:srgbClr val="8FA3BF"/>
                </a:solidFill>
                <a:latin typeface="Courier New" pitchFamily="34" charset="0"/>
                <a:ea typeface="Courier New" pitchFamily="34" charset="-122"/>
                <a:cs typeface="Courier New" pitchFamily="34" charset="-120"/>
              </a:rPr>
              <a:t># incorporo lo que funcionó</a:t>
            </a:r>
            <a:endParaRPr lang="en-US" sz="1300" dirty="0"/>
          </a:p>
        </p:txBody>
      </p:sp>
      <p:sp>
        <p:nvSpPr>
          <p:cNvPr id="21" name="Text 19"/>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2" name="Text 20"/>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PARTE 3 · GIT</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Tu flujo de trabajo diario</a:t>
            </a:r>
            <a:endParaRPr lang="en-US" sz="2800" dirty="0"/>
          </a:p>
        </p:txBody>
      </p:sp>
      <p:sp>
        <p:nvSpPr>
          <p:cNvPr id="4" name="Shape 2"/>
          <p:cNvSpPr/>
          <p:nvPr/>
        </p:nvSpPr>
        <p:spPr>
          <a:xfrm>
            <a:off x="548640" y="1691640"/>
            <a:ext cx="2286000" cy="1371600"/>
          </a:xfrm>
          <a:prstGeom prst="roundRect">
            <a:avLst>
              <a:gd name="adj" fmla="val 6667"/>
            </a:avLst>
          </a:prstGeom>
          <a:solidFill>
            <a:srgbClr val="065A82"/>
          </a:solidFill>
          <a:ln/>
          <a:effectLst>
            <a:outerShdw sx="100000" sy="100000" kx="0" ky="0" algn="bl" rotWithShape="0" blurRad="88900" dist="25400" dir="5400000">
              <a:srgbClr val="21295C">
                <a:alpha val="16000"/>
              </a:srgbClr>
            </a:outerShdw>
          </a:effectLst>
        </p:spPr>
      </p:sp>
      <p:sp>
        <p:nvSpPr>
          <p:cNvPr id="5" name="Text 3"/>
          <p:cNvSpPr txBox="1"/>
          <p:nvPr/>
        </p:nvSpPr>
        <p:spPr>
          <a:xfrm>
            <a:off x="640080" y="178308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git pull</a:t>
            </a:r>
            <a:endParaRPr lang="en-US" sz="1500" dirty="0"/>
          </a:p>
        </p:txBody>
      </p:sp>
      <p:sp>
        <p:nvSpPr>
          <p:cNvPr id="6" name="Text 4"/>
          <p:cNvSpPr txBox="1"/>
          <p:nvPr/>
        </p:nvSpPr>
        <p:spPr>
          <a:xfrm>
            <a:off x="731520" y="2331720"/>
            <a:ext cx="1920240" cy="640080"/>
          </a:xfrm>
          <a:prstGeom prst="rect">
            <a:avLst/>
          </a:prstGeom>
          <a:noFill/>
          <a:ln/>
        </p:spPr>
        <p:txBody>
          <a:bodyPr wrap="square" lIns="0" tIns="0" rIns="0" bIns="0" rtlCol="0" anchor="t"/>
          <a:lstStyle/>
          <a:p>
            <a:pPr algn="ctr" indent="0" marL="0">
              <a:buNone/>
            </a:pPr>
            <a:r>
              <a:rPr lang="en-US" sz="1350" dirty="0">
                <a:solidFill>
                  <a:srgbClr val="E4EEF2"/>
                </a:solidFill>
                <a:latin typeface="Calibri" pitchFamily="34" charset="0"/>
                <a:ea typeface="Calibri" pitchFamily="34" charset="-122"/>
                <a:cs typeface="Calibri" pitchFamily="34" charset="-120"/>
              </a:rPr>
              <a:t>Traer lo último del remoto</a:t>
            </a:r>
            <a:endParaRPr lang="en-US" sz="1350" dirty="0"/>
          </a:p>
        </p:txBody>
      </p:sp>
      <p:sp>
        <p:nvSpPr>
          <p:cNvPr id="7" name="Shape 5"/>
          <p:cNvSpPr/>
          <p:nvPr/>
        </p:nvSpPr>
        <p:spPr>
          <a:xfrm>
            <a:off x="2926080" y="2377440"/>
            <a:ext cx="457200" cy="0"/>
          </a:xfrm>
          <a:prstGeom prst="line">
            <a:avLst/>
          </a:prstGeom>
          <a:noFill/>
          <a:ln w="31750">
            <a:solidFill>
              <a:srgbClr val="5B6B79"/>
            </a:solidFill>
            <a:prstDash val="solid"/>
            <a:tailEnd type="triangle"/>
          </a:ln>
        </p:spPr>
      </p:sp>
      <p:sp>
        <p:nvSpPr>
          <p:cNvPr id="8" name="Shape 6"/>
          <p:cNvSpPr/>
          <p:nvPr/>
        </p:nvSpPr>
        <p:spPr>
          <a:xfrm>
            <a:off x="3474720" y="1691640"/>
            <a:ext cx="2286000" cy="1371600"/>
          </a:xfrm>
          <a:prstGeom prst="roundRect">
            <a:avLst>
              <a:gd name="adj" fmla="val 6667"/>
            </a:avLst>
          </a:prstGeom>
          <a:solidFill>
            <a:srgbClr val="1C7293"/>
          </a:solidFill>
          <a:ln/>
          <a:effectLst>
            <a:outerShdw sx="100000" sy="100000" kx="0" ky="0" algn="bl" rotWithShape="0" blurRad="88900" dist="25400" dir="5400000">
              <a:srgbClr val="21295C">
                <a:alpha val="16000"/>
              </a:srgbClr>
            </a:outerShdw>
          </a:effectLst>
        </p:spPr>
      </p:sp>
      <p:sp>
        <p:nvSpPr>
          <p:cNvPr id="9" name="Text 7"/>
          <p:cNvSpPr txBox="1"/>
          <p:nvPr/>
        </p:nvSpPr>
        <p:spPr>
          <a:xfrm>
            <a:off x="3566160" y="1783080"/>
            <a:ext cx="21031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Trabajar</a:t>
            </a:r>
            <a:endParaRPr lang="en-US" sz="1800" dirty="0"/>
          </a:p>
        </p:txBody>
      </p:sp>
      <p:sp>
        <p:nvSpPr>
          <p:cNvPr id="10" name="Text 8"/>
          <p:cNvSpPr txBox="1"/>
          <p:nvPr/>
        </p:nvSpPr>
        <p:spPr>
          <a:xfrm>
            <a:off x="3657600" y="2331720"/>
            <a:ext cx="1920240" cy="640080"/>
          </a:xfrm>
          <a:prstGeom prst="rect">
            <a:avLst/>
          </a:prstGeom>
          <a:noFill/>
          <a:ln/>
        </p:spPr>
        <p:txBody>
          <a:bodyPr wrap="square" lIns="0" tIns="0" rIns="0" bIns="0" rtlCol="0" anchor="t"/>
          <a:lstStyle/>
          <a:p>
            <a:pPr algn="ctr" indent="0" marL="0">
              <a:buNone/>
            </a:pPr>
            <a:r>
              <a:rPr lang="en-US" sz="1350" dirty="0">
                <a:solidFill>
                  <a:srgbClr val="E4EEF2"/>
                </a:solidFill>
                <a:latin typeface="Calibri" pitchFamily="34" charset="0"/>
                <a:ea typeface="Calibri" pitchFamily="34" charset="-122"/>
                <a:cs typeface="Calibri" pitchFamily="34" charset="-120"/>
              </a:rPr>
              <a:t>Editar y probar tu código</a:t>
            </a:r>
            <a:endParaRPr lang="en-US" sz="1350" dirty="0"/>
          </a:p>
        </p:txBody>
      </p:sp>
      <p:sp>
        <p:nvSpPr>
          <p:cNvPr id="11" name="Shape 9"/>
          <p:cNvSpPr/>
          <p:nvPr/>
        </p:nvSpPr>
        <p:spPr>
          <a:xfrm>
            <a:off x="5852160" y="2377440"/>
            <a:ext cx="457200" cy="0"/>
          </a:xfrm>
          <a:prstGeom prst="line">
            <a:avLst/>
          </a:prstGeom>
          <a:noFill/>
          <a:ln w="31750">
            <a:solidFill>
              <a:srgbClr val="5B6B79"/>
            </a:solidFill>
            <a:prstDash val="solid"/>
            <a:tailEnd type="triangle"/>
          </a:ln>
        </p:spPr>
      </p:sp>
      <p:sp>
        <p:nvSpPr>
          <p:cNvPr id="12" name="Shape 10"/>
          <p:cNvSpPr/>
          <p:nvPr/>
        </p:nvSpPr>
        <p:spPr>
          <a:xfrm>
            <a:off x="6400800" y="1691640"/>
            <a:ext cx="2286000" cy="1371600"/>
          </a:xfrm>
          <a:prstGeom prst="roundRect">
            <a:avLst>
              <a:gd name="adj" fmla="val 6667"/>
            </a:avLst>
          </a:prstGeom>
          <a:solidFill>
            <a:srgbClr val="21295C"/>
          </a:solidFill>
          <a:ln/>
          <a:effectLst>
            <a:outerShdw sx="100000" sy="100000" kx="0" ky="0" algn="bl" rotWithShape="0" blurRad="88900" dist="25400" dir="5400000">
              <a:srgbClr val="21295C">
                <a:alpha val="16000"/>
              </a:srgbClr>
            </a:outerShdw>
          </a:effectLst>
        </p:spPr>
      </p:sp>
      <p:sp>
        <p:nvSpPr>
          <p:cNvPr id="13" name="Text 11"/>
          <p:cNvSpPr txBox="1"/>
          <p:nvPr/>
        </p:nvSpPr>
        <p:spPr>
          <a:xfrm>
            <a:off x="6492240" y="178308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git add + commit</a:t>
            </a:r>
            <a:endParaRPr lang="en-US" sz="1500" dirty="0"/>
          </a:p>
        </p:txBody>
      </p:sp>
      <p:sp>
        <p:nvSpPr>
          <p:cNvPr id="14" name="Text 12"/>
          <p:cNvSpPr txBox="1"/>
          <p:nvPr/>
        </p:nvSpPr>
        <p:spPr>
          <a:xfrm>
            <a:off x="6583680" y="2331720"/>
            <a:ext cx="1920240" cy="640080"/>
          </a:xfrm>
          <a:prstGeom prst="rect">
            <a:avLst/>
          </a:prstGeom>
          <a:noFill/>
          <a:ln/>
        </p:spPr>
        <p:txBody>
          <a:bodyPr wrap="square" lIns="0" tIns="0" rIns="0" bIns="0" rtlCol="0" anchor="t"/>
          <a:lstStyle/>
          <a:p>
            <a:pPr algn="ctr" indent="0" marL="0">
              <a:buNone/>
            </a:pPr>
            <a:r>
              <a:rPr lang="en-US" sz="1350" dirty="0">
                <a:solidFill>
                  <a:srgbClr val="E4EEF2"/>
                </a:solidFill>
                <a:latin typeface="Calibri" pitchFamily="34" charset="0"/>
                <a:ea typeface="Calibri" pitchFamily="34" charset="-122"/>
                <a:cs typeface="Calibri" pitchFamily="34" charset="-120"/>
              </a:rPr>
              <a:t>Registrar lo que funciona</a:t>
            </a:r>
            <a:endParaRPr lang="en-US" sz="1350" dirty="0"/>
          </a:p>
        </p:txBody>
      </p:sp>
      <p:sp>
        <p:nvSpPr>
          <p:cNvPr id="15" name="Shape 13"/>
          <p:cNvSpPr/>
          <p:nvPr/>
        </p:nvSpPr>
        <p:spPr>
          <a:xfrm>
            <a:off x="8778240" y="2377440"/>
            <a:ext cx="457200" cy="0"/>
          </a:xfrm>
          <a:prstGeom prst="line">
            <a:avLst/>
          </a:prstGeom>
          <a:noFill/>
          <a:ln w="31750">
            <a:solidFill>
              <a:srgbClr val="5B6B79"/>
            </a:solidFill>
            <a:prstDash val="solid"/>
            <a:tailEnd type="triangle"/>
          </a:ln>
        </p:spPr>
      </p:sp>
      <p:sp>
        <p:nvSpPr>
          <p:cNvPr id="16" name="Shape 14"/>
          <p:cNvSpPr/>
          <p:nvPr/>
        </p:nvSpPr>
        <p:spPr>
          <a:xfrm>
            <a:off x="9326880" y="1691640"/>
            <a:ext cx="2286000" cy="1371600"/>
          </a:xfrm>
          <a:prstGeom prst="roundRect">
            <a:avLst>
              <a:gd name="adj" fmla="val 6667"/>
            </a:avLst>
          </a:prstGeom>
          <a:solidFill>
            <a:srgbClr val="2E8B6A"/>
          </a:solidFill>
          <a:ln/>
          <a:effectLst>
            <a:outerShdw sx="100000" sy="100000" kx="0" ky="0" algn="bl" rotWithShape="0" blurRad="88900" dist="25400" dir="5400000">
              <a:srgbClr val="21295C">
                <a:alpha val="16000"/>
              </a:srgbClr>
            </a:outerShdw>
          </a:effectLst>
        </p:spPr>
      </p:sp>
      <p:sp>
        <p:nvSpPr>
          <p:cNvPr id="17" name="Text 15"/>
          <p:cNvSpPr txBox="1"/>
          <p:nvPr/>
        </p:nvSpPr>
        <p:spPr>
          <a:xfrm>
            <a:off x="9418320" y="178308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git push</a:t>
            </a:r>
            <a:endParaRPr lang="en-US" sz="1500" dirty="0"/>
          </a:p>
        </p:txBody>
      </p:sp>
      <p:sp>
        <p:nvSpPr>
          <p:cNvPr id="18" name="Text 16"/>
          <p:cNvSpPr txBox="1"/>
          <p:nvPr/>
        </p:nvSpPr>
        <p:spPr>
          <a:xfrm>
            <a:off x="9509760" y="2331720"/>
            <a:ext cx="1920240" cy="640080"/>
          </a:xfrm>
          <a:prstGeom prst="rect">
            <a:avLst/>
          </a:prstGeom>
          <a:noFill/>
          <a:ln/>
        </p:spPr>
        <p:txBody>
          <a:bodyPr wrap="square" lIns="0" tIns="0" rIns="0" bIns="0" rtlCol="0" anchor="t"/>
          <a:lstStyle/>
          <a:p>
            <a:pPr algn="ctr" indent="0" marL="0">
              <a:buNone/>
            </a:pPr>
            <a:r>
              <a:rPr lang="en-US" sz="1350" dirty="0">
                <a:solidFill>
                  <a:srgbClr val="E4EEF2"/>
                </a:solidFill>
                <a:latin typeface="Calibri" pitchFamily="34" charset="0"/>
                <a:ea typeface="Calibri" pitchFamily="34" charset="-122"/>
                <a:cs typeface="Calibri" pitchFamily="34" charset="-120"/>
              </a:rPr>
              <a:t>Subir a GitHub</a:t>
            </a:r>
            <a:endParaRPr lang="en-US" sz="1350" dirty="0"/>
          </a:p>
        </p:txBody>
      </p:sp>
      <p:sp>
        <p:nvSpPr>
          <p:cNvPr id="19" name="Text 17"/>
          <p:cNvSpPr txBox="1"/>
          <p:nvPr/>
        </p:nvSpPr>
        <p:spPr>
          <a:xfrm>
            <a:off x="548640" y="3520440"/>
            <a:ext cx="73152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PRIMERA VEZ CON GITHUB (EN LA CONSOLA DE R)</a:t>
            </a:r>
            <a:endParaRPr lang="en-US" sz="1100" dirty="0"/>
          </a:p>
        </p:txBody>
      </p:sp>
      <p:sp>
        <p:nvSpPr>
          <p:cNvPr id="20" name="Shape 18"/>
          <p:cNvSpPr/>
          <p:nvPr/>
        </p:nvSpPr>
        <p:spPr>
          <a:xfrm>
            <a:off x="548640" y="3840480"/>
            <a:ext cx="11094415" cy="1234440"/>
          </a:xfrm>
          <a:prstGeom prst="roundRect">
            <a:avLst>
              <a:gd name="adj" fmla="val 5926"/>
            </a:avLst>
          </a:prstGeom>
          <a:solidFill>
            <a:srgbClr val="16203B"/>
          </a:solidFill>
          <a:ln/>
          <a:effectLst>
            <a:outerShdw sx="100000" sy="100000" kx="0" ky="0" algn="bl" rotWithShape="0" blurRad="88900" dist="25400" dir="5400000">
              <a:srgbClr val="21295C">
                <a:alpha val="25000"/>
              </a:srgbClr>
            </a:outerShdw>
          </a:effectLst>
        </p:spPr>
      </p:sp>
      <p:sp>
        <p:nvSpPr>
          <p:cNvPr id="21" name="Text 19"/>
          <p:cNvSpPr txBox="1"/>
          <p:nvPr/>
        </p:nvSpPr>
        <p:spPr>
          <a:xfrm>
            <a:off x="777240" y="3977640"/>
            <a:ext cx="10637215" cy="960120"/>
          </a:xfrm>
          <a:prstGeom prst="rect">
            <a:avLst/>
          </a:prstGeom>
          <a:noFill/>
          <a:ln/>
        </p:spPr>
        <p:txBody>
          <a:bodyPr wrap="none" lIns="0" tIns="0" rIns="0" bIns="0" rtlCol="0" anchor="ctr"/>
          <a:lstStyle/>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usethis</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create_github_token</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i="1" dirty="0">
                <a:solidFill>
                  <a:srgbClr val="8FA3BF"/>
                </a:solidFill>
                <a:latin typeface="Courier New" pitchFamily="34" charset="0"/>
                <a:ea typeface="Courier New" pitchFamily="34" charset="-122"/>
                <a:cs typeface="Courier New" pitchFamily="34" charset="-120"/>
              </a:rPr>
              <a:t># genera un token de acceso personal</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gitcreds</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gitcreds_set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i="1" dirty="0">
                <a:solidFill>
                  <a:srgbClr val="8FA3BF"/>
                </a:solidFill>
                <a:latin typeface="Courier New" pitchFamily="34" charset="0"/>
                <a:ea typeface="Courier New" pitchFamily="34" charset="-122"/>
                <a:cs typeface="Courier New" pitchFamily="34" charset="-120"/>
              </a:rPr>
              <a:t># guarda el token en tu computador</a:t>
            </a:r>
            <a:endParaRPr lang="en-US" sz="1350" dirty="0"/>
          </a:p>
          <a:p>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usethis</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8CC8FF"/>
                </a:solidFill>
                <a:latin typeface="Courier New" pitchFamily="34" charset="0"/>
                <a:ea typeface="Courier New" pitchFamily="34" charset="-122"/>
                <a:cs typeface="Courier New" pitchFamily="34" charset="-120"/>
              </a:rPr>
              <a:t>use_github</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a:t>
            </a:r>
            <a:pPr indent="0" marL="0">
              <a:lnSpc>
                <a:spcPts val="1782"/>
              </a:lnSpc>
              <a:buNone/>
            </a:pPr>
            <a:r>
              <a:rPr lang="en-US" sz="1350" dirty="0">
                <a:solidFill>
                  <a:srgbClr val="E6EDF7"/>
                </a:solidFill>
                <a:latin typeface="Courier New" pitchFamily="34" charset="0"/>
                <a:ea typeface="Courier New" pitchFamily="34" charset="-122"/>
                <a:cs typeface="Courier New" pitchFamily="34" charset="-120"/>
              </a:rPr>
              <a:t>            </a:t>
            </a:r>
            <a:pPr indent="0" marL="0">
              <a:lnSpc>
                <a:spcPts val="1782"/>
              </a:lnSpc>
              <a:buNone/>
            </a:pPr>
            <a:r>
              <a:rPr lang="en-US" sz="1350" i="1" dirty="0">
                <a:solidFill>
                  <a:srgbClr val="8FA3BF"/>
                </a:solidFill>
                <a:latin typeface="Courier New" pitchFamily="34" charset="0"/>
                <a:ea typeface="Courier New" pitchFamily="34" charset="-122"/>
                <a:cs typeface="Courier New" pitchFamily="34" charset="-120"/>
              </a:rPr>
              <a:t># crea el repositorio en GitHub y lo conecta</a:t>
            </a:r>
            <a:endParaRPr lang="en-US" sz="1350" dirty="0"/>
          </a:p>
        </p:txBody>
      </p:sp>
      <p:sp>
        <p:nvSpPr>
          <p:cNvPr id="22" name="Text 20"/>
          <p:cNvSpPr txBox="1"/>
          <p:nvPr/>
        </p:nvSpPr>
        <p:spPr>
          <a:xfrm>
            <a:off x="548640" y="5303520"/>
            <a:ext cx="11094415" cy="731520"/>
          </a:xfrm>
          <a:prstGeom prst="rect">
            <a:avLst/>
          </a:prstGeom>
          <a:noFill/>
          <a:ln/>
        </p:spPr>
        <p:txBody>
          <a:bodyPr wrap="square" lIns="0" tIns="0" rIns="0" bIns="0" rtlCol="0" anchor="t"/>
          <a:lstStyle/>
          <a:p>
            <a:pPr indent="0" marL="0">
              <a:lnSpc>
                <a:spcPts val="1800"/>
              </a:lnSpc>
              <a:buNone/>
            </a:pPr>
            <a:r>
              <a:rPr lang="en-US" sz="1400" dirty="0">
                <a:solidFill>
                  <a:srgbClr val="5B6B79"/>
                </a:solidFill>
                <a:latin typeface="Calibri" pitchFamily="34" charset="0"/>
                <a:ea typeface="Calibri" pitchFamily="34" charset="-122"/>
                <a:cs typeface="Calibri" pitchFamily="34" charset="-120"/>
              </a:rPr>
              <a:t>La pestaña Git de RStudio ofrece botones para Commit, Pull y Push: hace lo mismo que los comandos. GitHub no acepta contraseñas en push; necesitas un token. Lo retomaremos con calma en una próxima sesión.</a:t>
            </a:r>
            <a:endParaRPr lang="en-US" sz="1400" dirty="0"/>
          </a:p>
        </p:txBody>
      </p:sp>
      <p:sp>
        <p:nvSpPr>
          <p:cNvPr id="23" name="Text 21"/>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24" name="Text 22"/>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CIERRE DE LA CHARLA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Ahora, a practicar (60 minutos)</a:t>
            </a:r>
            <a:endParaRPr lang="en-US" sz="2800" dirty="0"/>
          </a:p>
        </p:txBody>
      </p:sp>
      <p:sp>
        <p:nvSpPr>
          <p:cNvPr id="4" name="Shape 2"/>
          <p:cNvSpPr/>
          <p:nvPr/>
        </p:nvSpPr>
        <p:spPr>
          <a:xfrm>
            <a:off x="548640" y="1691640"/>
            <a:ext cx="2567864" cy="2468880"/>
          </a:xfrm>
          <a:prstGeom prst="roundRect">
            <a:avLst>
              <a:gd name="adj" fmla="val 370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5" name="Shape 3"/>
          <p:cNvSpPr/>
          <p:nvPr/>
        </p:nvSpPr>
        <p:spPr>
          <a:xfrm>
            <a:off x="822960" y="1920240"/>
            <a:ext cx="548640" cy="548640"/>
          </a:xfrm>
          <a:prstGeom prst="ellipse">
            <a:avLst/>
          </a:prstGeom>
          <a:solidFill>
            <a:srgbClr val="065A82"/>
          </a:solidFill>
          <a:ln/>
        </p:spPr>
      </p:sp>
      <p:sp>
        <p:nvSpPr>
          <p:cNvPr id="6" name="Text 4"/>
          <p:cNvSpPr txBox="1"/>
          <p:nvPr/>
        </p:nvSpPr>
        <p:spPr>
          <a:xfrm>
            <a:off x="822960"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7" name="Text 5"/>
          <p:cNvSpPr txBox="1"/>
          <p:nvPr/>
        </p:nvSpPr>
        <p:spPr>
          <a:xfrm>
            <a:off x="822960" y="2651760"/>
            <a:ext cx="2019224"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Preparación</a:t>
            </a:r>
            <a:endParaRPr lang="en-US" sz="1900" dirty="0"/>
          </a:p>
        </p:txBody>
      </p:sp>
      <p:sp>
        <p:nvSpPr>
          <p:cNvPr id="8" name="Text 6"/>
          <p:cNvSpPr txBox="1"/>
          <p:nvPr/>
        </p:nvSpPr>
        <p:spPr>
          <a:xfrm>
            <a:off x="822960" y="3063240"/>
            <a:ext cx="2019224"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5 min</a:t>
            </a:r>
            <a:endParaRPr lang="en-US" sz="1500" dirty="0"/>
          </a:p>
        </p:txBody>
      </p:sp>
      <p:sp>
        <p:nvSpPr>
          <p:cNvPr id="9" name="Text 7"/>
          <p:cNvSpPr txBox="1"/>
          <p:nvPr/>
        </p:nvSpPr>
        <p:spPr>
          <a:xfrm>
            <a:off x="822960" y="3429000"/>
            <a:ext cx="2019224"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Proyecto, carpetas y datos</a:t>
            </a:r>
            <a:endParaRPr lang="en-US" sz="1350" dirty="0"/>
          </a:p>
        </p:txBody>
      </p:sp>
      <p:sp>
        <p:nvSpPr>
          <p:cNvPr id="10" name="Shape 8"/>
          <p:cNvSpPr/>
          <p:nvPr/>
        </p:nvSpPr>
        <p:spPr>
          <a:xfrm>
            <a:off x="3390824" y="1691640"/>
            <a:ext cx="2567864" cy="2468880"/>
          </a:xfrm>
          <a:prstGeom prst="roundRect">
            <a:avLst>
              <a:gd name="adj" fmla="val 370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1" name="Shape 9"/>
          <p:cNvSpPr/>
          <p:nvPr/>
        </p:nvSpPr>
        <p:spPr>
          <a:xfrm>
            <a:off x="3665144" y="1920240"/>
            <a:ext cx="548640" cy="548640"/>
          </a:xfrm>
          <a:prstGeom prst="ellipse">
            <a:avLst/>
          </a:prstGeom>
          <a:solidFill>
            <a:srgbClr val="1C7293"/>
          </a:solidFill>
          <a:ln/>
        </p:spPr>
      </p:sp>
      <p:sp>
        <p:nvSpPr>
          <p:cNvPr id="12" name="Text 10"/>
          <p:cNvSpPr txBox="1"/>
          <p:nvPr/>
        </p:nvSpPr>
        <p:spPr>
          <a:xfrm>
            <a:off x="3665144"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3" name="Text 11"/>
          <p:cNvSpPr txBox="1"/>
          <p:nvPr/>
        </p:nvSpPr>
        <p:spPr>
          <a:xfrm>
            <a:off x="3665144" y="2651760"/>
            <a:ext cx="2019224"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Nivelación</a:t>
            </a:r>
            <a:endParaRPr lang="en-US" sz="1900" dirty="0"/>
          </a:p>
        </p:txBody>
      </p:sp>
      <p:sp>
        <p:nvSpPr>
          <p:cNvPr id="14" name="Text 12"/>
          <p:cNvSpPr txBox="1"/>
          <p:nvPr/>
        </p:nvSpPr>
        <p:spPr>
          <a:xfrm>
            <a:off x="3665144" y="3063240"/>
            <a:ext cx="2019224"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15 min</a:t>
            </a:r>
            <a:endParaRPr lang="en-US" sz="1500" dirty="0"/>
          </a:p>
        </p:txBody>
      </p:sp>
      <p:sp>
        <p:nvSpPr>
          <p:cNvPr id="15" name="Text 13"/>
          <p:cNvSpPr txBox="1"/>
          <p:nvPr/>
        </p:nvSpPr>
        <p:spPr>
          <a:xfrm>
            <a:off x="3665144" y="3429000"/>
            <a:ext cx="2019224"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Importar, limpiar, resumir, unir</a:t>
            </a:r>
            <a:endParaRPr lang="en-US" sz="1350" dirty="0"/>
          </a:p>
        </p:txBody>
      </p:sp>
      <p:sp>
        <p:nvSpPr>
          <p:cNvPr id="16" name="Shape 14"/>
          <p:cNvSpPr/>
          <p:nvPr/>
        </p:nvSpPr>
        <p:spPr>
          <a:xfrm>
            <a:off x="6233008" y="1691640"/>
            <a:ext cx="2567864" cy="2468880"/>
          </a:xfrm>
          <a:prstGeom prst="roundRect">
            <a:avLst>
              <a:gd name="adj" fmla="val 370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17" name="Shape 15"/>
          <p:cNvSpPr/>
          <p:nvPr/>
        </p:nvSpPr>
        <p:spPr>
          <a:xfrm>
            <a:off x="6507328" y="1920240"/>
            <a:ext cx="548640" cy="548640"/>
          </a:xfrm>
          <a:prstGeom prst="ellipse">
            <a:avLst/>
          </a:prstGeom>
          <a:solidFill>
            <a:srgbClr val="21295C"/>
          </a:solidFill>
          <a:ln/>
        </p:spPr>
      </p:sp>
      <p:sp>
        <p:nvSpPr>
          <p:cNvPr id="18" name="Text 16"/>
          <p:cNvSpPr txBox="1"/>
          <p:nvPr/>
        </p:nvSpPr>
        <p:spPr>
          <a:xfrm>
            <a:off x="6507328"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9" name="Text 17"/>
          <p:cNvSpPr txBox="1"/>
          <p:nvPr/>
        </p:nvSpPr>
        <p:spPr>
          <a:xfrm>
            <a:off x="6507328" y="2651760"/>
            <a:ext cx="2019224"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dplyr avanzado</a:t>
            </a:r>
            <a:endParaRPr lang="en-US" sz="1900" dirty="0"/>
          </a:p>
        </p:txBody>
      </p:sp>
      <p:sp>
        <p:nvSpPr>
          <p:cNvPr id="20" name="Text 18"/>
          <p:cNvSpPr txBox="1"/>
          <p:nvPr/>
        </p:nvSpPr>
        <p:spPr>
          <a:xfrm>
            <a:off x="6507328" y="3063240"/>
            <a:ext cx="2019224"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15 min</a:t>
            </a:r>
            <a:endParaRPr lang="en-US" sz="1500" dirty="0"/>
          </a:p>
        </p:txBody>
      </p:sp>
      <p:sp>
        <p:nvSpPr>
          <p:cNvPr id="21" name="Text 19"/>
          <p:cNvSpPr txBox="1"/>
          <p:nvPr/>
        </p:nvSpPr>
        <p:spPr>
          <a:xfrm>
            <a:off x="6507328" y="3429000"/>
            <a:ext cx="2019224"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across(), pick(), if_all(), .by</a:t>
            </a:r>
            <a:endParaRPr lang="en-US" sz="1350" dirty="0"/>
          </a:p>
        </p:txBody>
      </p:sp>
      <p:sp>
        <p:nvSpPr>
          <p:cNvPr id="22" name="Shape 20"/>
          <p:cNvSpPr/>
          <p:nvPr/>
        </p:nvSpPr>
        <p:spPr>
          <a:xfrm>
            <a:off x="9075191" y="1691640"/>
            <a:ext cx="2567864" cy="2468880"/>
          </a:xfrm>
          <a:prstGeom prst="roundRect">
            <a:avLst>
              <a:gd name="adj" fmla="val 370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23" name="Shape 21"/>
          <p:cNvSpPr/>
          <p:nvPr/>
        </p:nvSpPr>
        <p:spPr>
          <a:xfrm>
            <a:off x="9349511" y="1920240"/>
            <a:ext cx="548640" cy="548640"/>
          </a:xfrm>
          <a:prstGeom prst="ellipse">
            <a:avLst/>
          </a:prstGeom>
          <a:solidFill>
            <a:srgbClr val="2E8B6A"/>
          </a:solidFill>
          <a:ln/>
        </p:spPr>
      </p:sp>
      <p:sp>
        <p:nvSpPr>
          <p:cNvPr id="24" name="Text 22"/>
          <p:cNvSpPr txBox="1"/>
          <p:nvPr/>
        </p:nvSpPr>
        <p:spPr>
          <a:xfrm>
            <a:off x="9349511"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5" name="Text 23"/>
          <p:cNvSpPr txBox="1"/>
          <p:nvPr/>
        </p:nvSpPr>
        <p:spPr>
          <a:xfrm>
            <a:off x="9349511" y="2651760"/>
            <a:ext cx="2019224" cy="411480"/>
          </a:xfrm>
          <a:prstGeom prst="rect">
            <a:avLst/>
          </a:prstGeom>
          <a:noFill/>
          <a:ln/>
        </p:spPr>
        <p:txBody>
          <a:bodyPr wrap="square" lIns="0" tIns="0" rIns="0" bIns="0" rtlCol="0" anchor="ctr"/>
          <a:lstStyle/>
          <a:p>
            <a:pPr indent="0" marL="0">
              <a:buNone/>
            </a:pPr>
            <a:r>
              <a:rPr lang="en-US" sz="1900" b="1" dirty="0">
                <a:solidFill>
                  <a:srgbClr val="21295C"/>
                </a:solidFill>
                <a:latin typeface="Cambria" pitchFamily="34" charset="0"/>
                <a:ea typeface="Cambria" pitchFamily="34" charset="-122"/>
                <a:cs typeface="Cambria" pitchFamily="34" charset="-120"/>
              </a:rPr>
              <a:t>Git</a:t>
            </a:r>
            <a:endParaRPr lang="en-US" sz="1900" dirty="0"/>
          </a:p>
        </p:txBody>
      </p:sp>
      <p:sp>
        <p:nvSpPr>
          <p:cNvPr id="26" name="Text 24"/>
          <p:cNvSpPr txBox="1"/>
          <p:nvPr/>
        </p:nvSpPr>
        <p:spPr>
          <a:xfrm>
            <a:off x="9349511" y="3063240"/>
            <a:ext cx="2019224" cy="32004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20 min</a:t>
            </a:r>
            <a:endParaRPr lang="en-US" sz="1500" dirty="0"/>
          </a:p>
        </p:txBody>
      </p:sp>
      <p:sp>
        <p:nvSpPr>
          <p:cNvPr id="27" name="Text 25"/>
          <p:cNvSpPr txBox="1"/>
          <p:nvPr/>
        </p:nvSpPr>
        <p:spPr>
          <a:xfrm>
            <a:off x="9349511" y="3429000"/>
            <a:ext cx="2019224" cy="640080"/>
          </a:xfrm>
          <a:prstGeom prst="rect">
            <a:avLst/>
          </a:prstGeom>
          <a:noFill/>
          <a:ln/>
        </p:spPr>
        <p:txBody>
          <a:bodyPr wrap="square" lIns="0" tIns="0" rIns="0" bIns="0" rtlCol="0" anchor="t"/>
          <a:lstStyle/>
          <a:p>
            <a:pPr indent="0" marL="0">
              <a:buNone/>
            </a:pPr>
            <a:r>
              <a:rPr lang="en-US" sz="1350" dirty="0">
                <a:solidFill>
                  <a:srgbClr val="5B6B79"/>
                </a:solidFill>
                <a:latin typeface="Calibri" pitchFamily="34" charset="0"/>
                <a:ea typeface="Calibri" pitchFamily="34" charset="-122"/>
                <a:cs typeface="Calibri" pitchFamily="34" charset="-120"/>
              </a:rPr>
              <a:t>init, commit, restore, ramas</a:t>
            </a:r>
            <a:endParaRPr lang="en-US" sz="1350" dirty="0"/>
          </a:p>
        </p:txBody>
      </p:sp>
      <p:sp>
        <p:nvSpPr>
          <p:cNvPr id="28" name="Shape 26"/>
          <p:cNvSpPr/>
          <p:nvPr/>
        </p:nvSpPr>
        <p:spPr>
          <a:xfrm>
            <a:off x="548640" y="4434840"/>
            <a:ext cx="11094415" cy="1554480"/>
          </a:xfrm>
          <a:prstGeom prst="roundRect">
            <a:avLst>
              <a:gd name="adj" fmla="val 5882"/>
            </a:avLst>
          </a:prstGeom>
          <a:solidFill>
            <a:srgbClr val="E4EEF2"/>
          </a:solidFill>
          <a:ln w="12700">
            <a:solidFill>
              <a:srgbClr val="E4EEF2"/>
            </a:solidFill>
            <a:prstDash val="solid"/>
          </a:ln>
        </p:spPr>
      </p:sp>
      <p:sp>
        <p:nvSpPr>
          <p:cNvPr id="29" name="Text 27"/>
          <p:cNvSpPr txBox="1"/>
          <p:nvPr/>
        </p:nvSpPr>
        <p:spPr>
          <a:xfrm>
            <a:off x="868680" y="4572000"/>
            <a:ext cx="10454335" cy="132588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F2A37"/>
                </a:solidFill>
                <a:latin typeface="Calibri" pitchFamily="34" charset="0"/>
                <a:ea typeface="Calibri" pitchFamily="34" charset="-122"/>
                <a:cs typeface="Calibri" pitchFamily="34" charset="-120"/>
              </a:rPr>
              <a:t>Material: guía de práctica (.qmd y .html), encuesta_postgrado.csv y programas.csv. Los datos son simulados.</a:t>
            </a:r>
            <a:endParaRPr lang="en-US" sz="1450" dirty="0"/>
          </a:p>
          <a:p>
            <a:pPr marL="203200" indent="-203200">
              <a:spcAft>
                <a:spcPts val="600"/>
              </a:spcAft>
              <a:buSzPct val="100000"/>
              <a:buChar char="•"/>
            </a:pPr>
            <a:r>
              <a:rPr lang="en-US" sz="1450" dirty="0">
                <a:solidFill>
                  <a:srgbClr val="1F2A37"/>
                </a:solidFill>
                <a:latin typeface="Calibri" pitchFamily="34" charset="0"/>
                <a:ea typeface="Calibri" pitchFamily="34" charset="-122"/>
                <a:cs typeface="Calibri" pitchFamily="34" charset="-120"/>
              </a:rPr>
              <a:t>Escribe tu código en tu propio script (R/analisis.R); la guía solo te orienta.</a:t>
            </a:r>
            <a:endParaRPr lang="en-US" sz="1450" dirty="0"/>
          </a:p>
          <a:p>
            <a:pPr marL="203200" indent="-203200">
              <a:spcAft>
                <a:spcPts val="600"/>
              </a:spcAft>
              <a:buSzPct val="100000"/>
              <a:buChar char="•"/>
            </a:pPr>
            <a:r>
              <a:rPr lang="en-US" sz="1450" dirty="0">
                <a:solidFill>
                  <a:srgbClr val="1F2A37"/>
                </a:solidFill>
                <a:latin typeface="Calibri" pitchFamily="34" charset="0"/>
                <a:ea typeface="Calibri" pitchFamily="34" charset="-122"/>
                <a:cs typeface="Calibri" pitchFamily="34" charset="-120"/>
              </a:rPr>
              <a:t>Si te trabas más de 3 minutos, pasa al siguiente ejercicio y pregunta en el chat.</a:t>
            </a:r>
            <a:endParaRPr lang="en-US" sz="1450" dirty="0"/>
          </a:p>
        </p:txBody>
      </p:sp>
      <p:sp>
        <p:nvSpPr>
          <p:cNvPr id="30" name="Text 28"/>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31" name="Text 29"/>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PARA LLEVAR</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t"/>
          <a:lstStyle/>
          <a:p>
            <a:pPr indent="0" marL="0">
              <a:buNone/>
            </a:pPr>
            <a:r>
              <a:rPr lang="en-US" sz="2800" b="1" dirty="0">
                <a:solidFill>
                  <a:srgbClr val="21295C"/>
                </a:solidFill>
                <a:latin typeface="Cambria" pitchFamily="34" charset="0"/>
                <a:ea typeface="Cambria" pitchFamily="34" charset="-122"/>
                <a:cs typeface="Cambria" pitchFamily="34" charset="-120"/>
              </a:rPr>
              <a:t>Lo esencial y dónde seguir</a:t>
            </a:r>
            <a:endParaRPr lang="en-US" sz="2800" dirty="0"/>
          </a:p>
        </p:txBody>
      </p:sp>
      <p:sp>
        <p:nvSpPr>
          <p:cNvPr id="4" name="Text 2"/>
          <p:cNvSpPr txBox="1"/>
          <p:nvPr/>
        </p:nvSpPr>
        <p:spPr>
          <a:xfrm>
            <a:off x="548640" y="1645920"/>
            <a:ext cx="36576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LO ESENCIAL</a:t>
            </a:r>
            <a:endParaRPr lang="en-US" sz="1100" dirty="0"/>
          </a:p>
        </p:txBody>
      </p:sp>
      <p:sp>
        <p:nvSpPr>
          <p:cNvPr id="5" name="Text 3"/>
          <p:cNvSpPr txBox="1"/>
          <p:nvPr/>
        </p:nvSpPr>
        <p:spPr>
          <a:xfrm>
            <a:off x="548640" y="1965960"/>
            <a:ext cx="5394960" cy="3840480"/>
          </a:xfrm>
          <a:prstGeom prst="rect">
            <a:avLst/>
          </a:prstGeom>
          <a:noFill/>
          <a:ln/>
        </p:spPr>
        <p:txBody>
          <a:bodyPr wrap="square" lIns="0" tIns="0" rIns="0" bIns="0" rtlCol="0" anchor="t"/>
          <a:lstStyle/>
          <a:p>
            <a:pPr marL="203200" indent="-203200">
              <a:spcAft>
                <a:spcPts val="1100"/>
              </a:spcAft>
              <a:buSzPct val="100000"/>
              <a:buChar char="•"/>
            </a:pPr>
            <a:r>
              <a:rPr lang="en-US" sz="1550" dirty="0">
                <a:solidFill>
                  <a:srgbClr val="1F2A37"/>
                </a:solidFill>
                <a:latin typeface="Calibri" pitchFamily="34" charset="0"/>
                <a:ea typeface="Calibri" pitchFamily="34" charset="-122"/>
                <a:cs typeface="Calibri" pitchFamily="34" charset="-120"/>
              </a:rPr>
              <a:t>Un proyecto = una carpeta; rutas con here().</a:t>
            </a:r>
            <a:endParaRPr lang="en-US" sz="1550" dirty="0"/>
          </a:p>
          <a:p>
            <a:pPr marL="203200" indent="-203200">
              <a:spcAft>
                <a:spcPts val="1100"/>
              </a:spcAft>
              <a:buSzPct val="100000"/>
              <a:buChar char="•"/>
            </a:pPr>
            <a:r>
              <a:rPr lang="en-US" sz="1550" dirty="0">
                <a:solidFill>
                  <a:srgbClr val="1F2A37"/>
                </a:solidFill>
                <a:latin typeface="Calibri" pitchFamily="34" charset="0"/>
                <a:ea typeface="Calibri" pitchFamily="34" charset="-122"/>
                <a:cs typeface="Calibri" pitchFamily="34" charset="-120"/>
              </a:rPr>
              <a:t>across() aplica una operación a muchas columnas; pick(), if_all() e if_any() trabajan por fila.</a:t>
            </a:r>
            <a:endParaRPr lang="en-US" sz="1550" dirty="0"/>
          </a:p>
          <a:p>
            <a:pPr marL="203200" indent="-203200">
              <a:spcAft>
                <a:spcPts val="1100"/>
              </a:spcAft>
              <a:buSzPct val="100000"/>
              <a:buChar char="•"/>
            </a:pPr>
            <a:r>
              <a:rPr lang="en-US" sz="1550" dirty="0">
                <a:solidFill>
                  <a:srgbClr val="1F2A37"/>
                </a:solidFill>
                <a:latin typeface="Calibri" pitchFamily="34" charset="0"/>
                <a:ea typeface="Calibri" pitchFamily="34" charset="-122"/>
                <a:cs typeface="Calibri" pitchFamily="34" charset="-120"/>
              </a:rPr>
              <a:t>.by agrupa solo para esa operación.</a:t>
            </a:r>
            <a:endParaRPr lang="en-US" sz="1550" dirty="0"/>
          </a:p>
          <a:p>
            <a:pPr marL="203200" indent="-203200">
              <a:spcAft>
                <a:spcPts val="1100"/>
              </a:spcAft>
              <a:buSzPct val="100000"/>
              <a:buChar char="•"/>
            </a:pPr>
            <a:r>
              <a:rPr lang="en-US" sz="1550" dirty="0">
                <a:solidFill>
                  <a:srgbClr val="1F2A37"/>
                </a:solidFill>
                <a:latin typeface="Calibri" pitchFamily="34" charset="0"/>
                <a:ea typeface="Calibri" pitchFamily="34" charset="-122"/>
                <a:cs typeface="Calibri" pitchFamily="34" charset="-120"/>
              </a:rPr>
              <a:t>Un commit es una fotografía explícita con un mensaje.</a:t>
            </a:r>
            <a:endParaRPr lang="en-US" sz="1550" dirty="0"/>
          </a:p>
          <a:p>
            <a:pPr marL="203200" indent="-203200">
              <a:spcAft>
                <a:spcPts val="1100"/>
              </a:spcAft>
              <a:buSzPct val="100000"/>
              <a:buChar char="•"/>
            </a:pPr>
            <a:r>
              <a:rPr lang="en-US" sz="1550" dirty="0">
                <a:solidFill>
                  <a:srgbClr val="1F2A37"/>
                </a:solidFill>
                <a:latin typeface="Calibri" pitchFamily="34" charset="0"/>
                <a:ea typeface="Calibri" pitchFamily="34" charset="-122"/>
                <a:cs typeface="Calibri" pitchFamily="34" charset="-120"/>
              </a:rPr>
              <a:t>Los datos sensibles nunca se versionan.</a:t>
            </a:r>
            <a:endParaRPr lang="en-US" sz="1550" dirty="0"/>
          </a:p>
        </p:txBody>
      </p:sp>
      <p:sp>
        <p:nvSpPr>
          <p:cNvPr id="6" name="Shape 4"/>
          <p:cNvSpPr/>
          <p:nvPr/>
        </p:nvSpPr>
        <p:spPr>
          <a:xfrm>
            <a:off x="6492240" y="1645920"/>
            <a:ext cx="5150815" cy="4206240"/>
          </a:xfrm>
          <a:prstGeom prst="roundRect">
            <a:avLst>
              <a:gd name="adj" fmla="val 2174"/>
            </a:avLst>
          </a:prstGeom>
          <a:solidFill>
            <a:srgbClr val="FFFFFF"/>
          </a:solidFill>
          <a:ln w="12700">
            <a:solidFill>
              <a:srgbClr val="DCEAF0"/>
            </a:solidFill>
            <a:prstDash val="solid"/>
          </a:ln>
          <a:effectLst>
            <a:outerShdw sx="100000" sy="100000" kx="0" ky="0" algn="bl" rotWithShape="0" blurRad="88900" dist="25400" dir="5400000">
              <a:srgbClr val="21295C">
                <a:alpha val="16000"/>
              </a:srgbClr>
            </a:outerShdw>
          </a:effectLst>
        </p:spPr>
      </p:sp>
      <p:sp>
        <p:nvSpPr>
          <p:cNvPr id="7" name="Text 5"/>
          <p:cNvSpPr txBox="1"/>
          <p:nvPr/>
        </p:nvSpPr>
        <p:spPr>
          <a:xfrm>
            <a:off x="6766560" y="1828800"/>
            <a:ext cx="4572000" cy="256032"/>
          </a:xfrm>
          <a:prstGeom prst="rect">
            <a:avLst/>
          </a:prstGeom>
          <a:noFill/>
          <a:ln/>
        </p:spPr>
        <p:txBody>
          <a:bodyPr wrap="square" lIns="0" tIns="0" rIns="0" bIns="0" rtlCol="0" anchor="ctr"/>
          <a:lstStyle/>
          <a:p>
            <a:pPr indent="0" marL="0">
              <a:buNone/>
            </a:pPr>
            <a:r>
              <a:rPr lang="en-US" sz="1100" b="1" spc="150" kern="0" dirty="0">
                <a:solidFill>
                  <a:srgbClr val="1C7293"/>
                </a:solidFill>
                <a:latin typeface="Calibri" pitchFamily="34" charset="0"/>
                <a:ea typeface="Calibri" pitchFamily="34" charset="-122"/>
                <a:cs typeface="Calibri" pitchFamily="34" charset="-120"/>
              </a:rPr>
              <a:t>RECURSOS (GRATUITOS)</a:t>
            </a:r>
            <a:endParaRPr lang="en-US" sz="1100" dirty="0"/>
          </a:p>
        </p:txBody>
      </p:sp>
      <p:sp>
        <p:nvSpPr>
          <p:cNvPr id="8" name="Text 6"/>
          <p:cNvSpPr txBox="1"/>
          <p:nvPr/>
        </p:nvSpPr>
        <p:spPr>
          <a:xfrm>
            <a:off x="6766560" y="2194560"/>
            <a:ext cx="4602175"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 for Data Science (2e)</a:t>
            </a:r>
            <a:endParaRPr lang="en-US" sz="1600" dirty="0"/>
          </a:p>
        </p:txBody>
      </p:sp>
      <p:sp>
        <p:nvSpPr>
          <p:cNvPr id="9" name="Text 7"/>
          <p:cNvSpPr txBox="1"/>
          <p:nvPr/>
        </p:nvSpPr>
        <p:spPr>
          <a:xfrm>
            <a:off x="6766560" y="2542032"/>
            <a:ext cx="4602175" cy="320040"/>
          </a:xfrm>
          <a:prstGeom prst="rect">
            <a:avLst/>
          </a:prstGeom>
          <a:noFill/>
          <a:ln/>
        </p:spPr>
        <p:txBody>
          <a:bodyPr wrap="square" lIns="0" tIns="0" rIns="0" bIns="0" rtlCol="0" anchor="ctr"/>
          <a:lstStyle/>
          <a:p>
            <a:pPr indent="0" marL="0">
              <a:buNone/>
            </a:pPr>
            <a:r>
              <a:rPr lang="en-US" sz="1250" dirty="0">
                <a:solidFill>
                  <a:srgbClr val="065A82"/>
                </a:solidFill>
                <a:latin typeface="Courier New" pitchFamily="34" charset="0"/>
                <a:ea typeface="Courier New" pitchFamily="34" charset="-122"/>
                <a:cs typeface="Courier New" pitchFamily="34" charset="-120"/>
              </a:rPr>
              <a:t>r4ds.hadley.nz</a:t>
            </a:r>
            <a:endParaRPr lang="en-US" sz="1250" dirty="0"/>
          </a:p>
        </p:txBody>
      </p:sp>
      <p:sp>
        <p:nvSpPr>
          <p:cNvPr id="10" name="Text 8"/>
          <p:cNvSpPr txBox="1"/>
          <p:nvPr/>
        </p:nvSpPr>
        <p:spPr>
          <a:xfrm>
            <a:off x="6766560" y="3090672"/>
            <a:ext cx="4602175"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Happy Git and GitHub for the useR</a:t>
            </a:r>
            <a:endParaRPr lang="en-US" sz="1600" dirty="0"/>
          </a:p>
        </p:txBody>
      </p:sp>
      <p:sp>
        <p:nvSpPr>
          <p:cNvPr id="11" name="Text 9"/>
          <p:cNvSpPr txBox="1"/>
          <p:nvPr/>
        </p:nvSpPr>
        <p:spPr>
          <a:xfrm>
            <a:off x="6766560" y="3438144"/>
            <a:ext cx="4602175" cy="320040"/>
          </a:xfrm>
          <a:prstGeom prst="rect">
            <a:avLst/>
          </a:prstGeom>
          <a:noFill/>
          <a:ln/>
        </p:spPr>
        <p:txBody>
          <a:bodyPr wrap="square" lIns="0" tIns="0" rIns="0" bIns="0" rtlCol="0" anchor="ctr"/>
          <a:lstStyle/>
          <a:p>
            <a:pPr indent="0" marL="0">
              <a:buNone/>
            </a:pPr>
            <a:r>
              <a:rPr lang="en-US" sz="1250" dirty="0">
                <a:solidFill>
                  <a:srgbClr val="065A82"/>
                </a:solidFill>
                <a:latin typeface="Courier New" pitchFamily="34" charset="0"/>
                <a:ea typeface="Courier New" pitchFamily="34" charset="-122"/>
                <a:cs typeface="Courier New" pitchFamily="34" charset="-120"/>
              </a:rPr>
              <a:t>happygitwithr.com</a:t>
            </a:r>
            <a:endParaRPr lang="en-US" sz="1250" dirty="0"/>
          </a:p>
        </p:txBody>
      </p:sp>
      <p:sp>
        <p:nvSpPr>
          <p:cNvPr id="12" name="Text 10"/>
          <p:cNvSpPr txBox="1"/>
          <p:nvPr/>
        </p:nvSpPr>
        <p:spPr>
          <a:xfrm>
            <a:off x="6766560" y="3986784"/>
            <a:ext cx="4602175"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Pro Git, en español</a:t>
            </a:r>
            <a:endParaRPr lang="en-US" sz="1600" dirty="0"/>
          </a:p>
        </p:txBody>
      </p:sp>
      <p:sp>
        <p:nvSpPr>
          <p:cNvPr id="13" name="Text 11"/>
          <p:cNvSpPr txBox="1"/>
          <p:nvPr/>
        </p:nvSpPr>
        <p:spPr>
          <a:xfrm>
            <a:off x="6766560" y="4334256"/>
            <a:ext cx="4602175" cy="320040"/>
          </a:xfrm>
          <a:prstGeom prst="rect">
            <a:avLst/>
          </a:prstGeom>
          <a:noFill/>
          <a:ln/>
        </p:spPr>
        <p:txBody>
          <a:bodyPr wrap="square" lIns="0" tIns="0" rIns="0" bIns="0" rtlCol="0" anchor="ctr"/>
          <a:lstStyle/>
          <a:p>
            <a:pPr indent="0" marL="0">
              <a:buNone/>
            </a:pPr>
            <a:r>
              <a:rPr lang="en-US" sz="1250" dirty="0">
                <a:solidFill>
                  <a:srgbClr val="065A82"/>
                </a:solidFill>
                <a:latin typeface="Courier New" pitchFamily="34" charset="0"/>
                <a:ea typeface="Courier New" pitchFamily="34" charset="-122"/>
                <a:cs typeface="Courier New" pitchFamily="34" charset="-120"/>
              </a:rPr>
              <a:t>git-scm.com/book/es/v2</a:t>
            </a:r>
            <a:endParaRPr lang="en-US" sz="1250" dirty="0"/>
          </a:p>
        </p:txBody>
      </p:sp>
      <p:sp>
        <p:nvSpPr>
          <p:cNvPr id="14" name="Text 12"/>
          <p:cNvSpPr txBox="1"/>
          <p:nvPr/>
        </p:nvSpPr>
        <p:spPr>
          <a:xfrm>
            <a:off x="6766560" y="4882896"/>
            <a:ext cx="4602175" cy="3200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dplyr: column-wise operations</a:t>
            </a:r>
            <a:endParaRPr lang="en-US" sz="1600" dirty="0"/>
          </a:p>
        </p:txBody>
      </p:sp>
      <p:sp>
        <p:nvSpPr>
          <p:cNvPr id="15" name="Text 13"/>
          <p:cNvSpPr txBox="1"/>
          <p:nvPr/>
        </p:nvSpPr>
        <p:spPr>
          <a:xfrm>
            <a:off x="6766560" y="5230368"/>
            <a:ext cx="4602175" cy="320040"/>
          </a:xfrm>
          <a:prstGeom prst="rect">
            <a:avLst/>
          </a:prstGeom>
          <a:noFill/>
          <a:ln/>
        </p:spPr>
        <p:txBody>
          <a:bodyPr wrap="square" lIns="0" tIns="0" rIns="0" bIns="0" rtlCol="0" anchor="ctr"/>
          <a:lstStyle/>
          <a:p>
            <a:pPr indent="0" marL="0">
              <a:buNone/>
            </a:pPr>
            <a:r>
              <a:rPr lang="en-US" sz="1250" dirty="0">
                <a:solidFill>
                  <a:srgbClr val="065A82"/>
                </a:solidFill>
                <a:latin typeface="Courier New" pitchFamily="34" charset="0"/>
                <a:ea typeface="Courier New" pitchFamily="34" charset="-122"/>
                <a:cs typeface="Courier New" pitchFamily="34" charset="-120"/>
              </a:rPr>
              <a:t>dplyr.tidyverse.org/articles/colwise.html</a:t>
            </a:r>
            <a:endParaRPr lang="en-US" sz="1250" dirty="0"/>
          </a:p>
        </p:txBody>
      </p:sp>
      <p:sp>
        <p:nvSpPr>
          <p:cNvPr id="16" name="Text 14"/>
          <p:cNvSpPr txBox="1"/>
          <p:nvPr/>
        </p:nvSpPr>
        <p:spPr>
          <a:xfrm>
            <a:off x="548640" y="6492240"/>
            <a:ext cx="73152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Análisis de Datos en R · Nivel Básico-Intermedio · Sesión 1</a:t>
            </a:r>
            <a:endParaRPr lang="en-US" sz="1000" dirty="0"/>
          </a:p>
        </p:txBody>
      </p:sp>
      <p:sp>
        <p:nvSpPr>
          <p:cNvPr id="17" name="Text 15"/>
          <p:cNvSpPr txBox="1"/>
          <p:nvPr/>
        </p:nvSpPr>
        <p:spPr>
          <a:xfrm>
            <a:off x="10728655" y="6492240"/>
            <a:ext cx="914400" cy="256032"/>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2026-10-06T00:33:55Z</dcterms:created>
  <dcterms:modified xsi:type="dcterms:W3CDTF">2026-10-06T00:33:55Z</dcterms:modified>
</cp:coreProperties>
</file>