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1:00 · 1 min] Portada: Regresión lineal
Bienvenidas y bienvenidos a la cuarta sesión. Hasta aquí aprendieron a ordenar datos, a programar con funciones y a graficar. Hoy damos el paso a modelar: usar los datos para responder preguntas del tipo "¿cuánto cambia Y cuando cambia X?". La herramienta es la regresión lineal, que es la base de casi todo lo que viene después. Confirmo que la grabación está activa y les pido que abran RStudio con el proyecto del curso.
Destacar:
• Confirma que la grabación esté activa.
• Pregunta por el chat quién terminó la tarea de la sesión 3 (subir theme_posgrado() a R/funciones.R); calibra el ritmo.
• Hoy no hay paquetes nuevos que instalar: se usan stats (viene con R), broom y tidyverse, que ya tienen.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2:30 · 1 min 30 s] La sesión de hoy: 2 horas, tres partes
La sesión dura dos horas: una de charla y una de práctica. En la charla vemos tres partes. Primero, la regresión simple: ajustar un modelo con lm, leer su salida e interpretar pendiente, intervalo, valor p y R cuadrado. Segundo, la regresión múltiple: por qué agregar variables, qué significa "manteniendo lo demás constante", cómo entran las variables categóricas y cómo comparar modelos. Tercero, los cuidados: correlación no es causalidad, no extrapolar y un primer vistazo a los supuestos, que profundizamos en la sesión cinco. En la práctica hay tres bloques equivalentes.
Destacar:
• La charla da el mapa y los criterios; la práctica es donde se consolida.
• Señala que hoy el énfasis está en interpretar, no en calcular: R calcula, la persona interpreta.
• Recuerda que la clase queda grabada.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3:30 · 1 min] Al terminar la sesión podrás…
Tres objetivos. Primero, ajustar un modelo de regresión lineal en R y leer su salida con seguridad: qué es cada número y qué no. Segundo, interpretar coeficientes en lenguaje claro, incluidos los de variables categóricas y los de un modelo con varias variables. Y tercero, saber qué afirmaciones permite un modelo y cuáles no: no es lo mismo asociación que causa, ni interpolar que extrapolar.
Destacar:
• El hilo conductor es una idea: un modelo es una forma de resumir y comparar, no una máquina de verdades.
• Conecta con la sesión 3: los gráficos de hoy (coeficientes, rectas) usan lo aprendido.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6:00 · 2 min 30 s] El gancho: ¿más horas, más meses?
Tenemos datos de 200 egresados de posgrado: las horas semanales que dedicaron a investigación y los meses que tardaron en titularse. Pregunta natural: ¿dedicar más horas ayuda a titularse antes? Miren el gráfico: la recta sube. Cada hora semanal adicional se asocia con casi un mes más hasta la titulación. ¿Significa que investigar más retrasa la titulación? Antes de contestar, guárdense la duda: en esta sesión vamos a ver cómo se obtiene esa recta, qué dice y qué no dice, y al final de la Parte 2 vamos a descubrir que este gráfico nos estaba engañando.
Destacar:
• Pausa de 15–20 segundos: pide que levanten la mano quienes creen que "más horas retrasa".
• No reveles aún la razón (el nivel: doctorado o magíster). Es el cliffhanger de la sesión.
• Los datos son simulados con fines didácticos; el fenómeno (confusión) es real en investigación.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6:20 · 0 min 20 s] Divisor: Parte 1 · Regresión simple
Empezamos con la primera parte: regresión lineal simple. Dieciocho minutos y medio.
Destacar:
• Punto de control: deberías estar en el minuto 6.
• Pregunta de enganche: ¿cuántas veces han leído "la relación es significativa" sin saber qué significa?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 8:20 · 2 min] La idea: una recta que resume la nube
La regresión simple ajusta una recta a una nube de puntos. La recta tiene dos números: el intercepto, que es el valor esperado de Y cuando X vale cero, y la pendiente, que es cuánto cambia Y, en promedio, por cada unidad de X. Los segmentos rojos son los residuos: la distancia entre cada punto y la recta. Los puntos nunca caen exactamente sobre la línea, y eso está bien: el modelo incluye un error. ¿Cuál recta es la mejor? La que hace mínima la suma de los residuos al cuadrado; por eso se llama mínimos cuadrados ordinarios. No necesitan calcularlo a mano, pero sí recordar qué se minimiza.
Destacar:
• Escribe la ecuación en el aire: Y = b0 + b1·X + error.
• Destaca: la recta describe el promedio de Y para cada X, no a cada persona.
• Si preguntan por qué al cuadrado: para que los residuos positivos y negativos no se cancelen y para penalizar más los errores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 – 10:20 · 2 min] lm() y la sintaxis de fórmulas
En R, el modelo se ajusta con la función lm, de linear model. Lleva dos cosas: una fórmula y los datos. La fórmula se lee "Y en función de X": a la izquierda de la virgulilla va la variable que queremos explicar, la respuesta, y a la derecha las que usamos para explicarla, los predictores. Guardamos el resultado en un objeto, aquí m1. Ese objeto contiene todo: coeficientes, residuos, valores ajustados. Y se consulta con funciones: summary, coef, confint, predict. Este patrón, fórmula más datos, lo van a reencontrar en casi todos los modelos de R.
Destacar:
• Señala la virgulilla (~): se lee "en función de".
• Siempre pasa data = ; evita la forma d$x ~ d$y porque rompe predict().
• Menciona que la respuesta va a la izquierda; invertirlas es un error clásico.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 – 13:00 · 2 min 40 s] Leer summary(): anatomía de la salida
Esta es la salida de summary, y vale la pena leerla por zonas. Arriba, la fórmula y un resumen de los residuos. En el centro, la tabla de coeficientes: una fila por término, con la estimación, el error estándar, el estadístico t y el valor p. Abajo, tres números del modelo completo: el error estándar residual, que está en las unidades de Y, el R cuadrado y el R cuadrado ajustado, y el estadístico F con su valor p. Hoy aprendemos a interpretar cada zona. Noten que el intercepto es 25,8 y la pendiente 0,90: la recta que vimos.
Destacar:
• Recorre con el cursor las tres zonas: residuos, coeficientes, resumen del modelo.
• No te detengas en el estadístico t ni en F: se explican en la sesión 5.
• Destaca que el error estándar residual (12,2) está en meses: es el error típico de predicción.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 – 15:10 · 2 min 10 s] Interpretar intercepto y pendiente
Interpretemos. La pendiente es 0,90: por cada hora semanal adicional de investigación, los meses hasta titularse son, en promedio, 0,9 más. Fíjense en tres cosas de esa frase: usa las unidades de las variables, dice "en promedio", y habla de una asociación, no de un efecto garantizado. El intercepto es 25,8: el valor esperado de meses cuando las horas valen cero. Cuidado: cero horas está fuera de lo observado, nadie dedica cero horas a investigar, así que el intercepto aquí es solo el ancla matemática de la recta, no algo para interpretar sustantivamente. Una buena práctica: centrar la variable cuando el cero no tiene sentido.
Destacar:
• Haz que lean en voz alta la frase de la pendiente; la estructura se repite en toda la sesión.
• Advierte: el intercepto solo se interpreta si X = 0 es un valor plausible.
• Menciona la opción de centrar: I(horas - mean(horas)) o scale(horas, scale =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[15:10 – 17:20 · 2 min 10 s] Incertidumbre: error estándar, IC y valor p
La pendiente 0,90 sale de una muestra, y otra muestra daría otra pendiente. El error estándar mide cuánto varía esa estimación de muestra en muestra; aquí, 0,12. El intervalo de confianza del 95% va de 0,66 a 1,14: un rango de valores de la pendiente compatibles con los datos. Este gráfico lo muestra: en 30 muestras distintas, los intervalos cambian de lugar, y la mayoría cubre la pendiente con los 200 casos. El valor p, aquí 4 por diez a la menos doce, responde una pregunta muy específica: si la pendiente real fuera cero, ¿qué tan raro sería ver una pendiente como esta? Es muy raro. Pero un valor p pequeño no dice que el efecto sea grande ni importante. Para eso está el intervalo.
Destacar:
• Prioriza el IC sobre el valor p: dice dónde está el efecto y qué tan grande puede ser.
• El valor p no es la probabilidad de que la hipótesis sea cierta; es una frase frecuente a corregir.
• Si el IC incluye al cero, la pendiente no es distinguible de cero al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[17:20 – 19:20 · 2 min] R²: cuánta variación explica el modelo
El R cuadrado responde: de toda la variación de Y, ¿qué proporción explica el modelo? Va de cero a uno. En nuestro modelo es 0,22: las horas explican un 22% de la variación de los meses hasta la titulación; el 78% restante queda sin explicar. Miren los tres paneles: con R cuadrado alto los puntos están pegados a la recta; con uno bajo, la nube es ancha, aunque la recta tenga la misma pendiente. Dos aclaraciones. Un R cuadrado bajo no hace inútil al modelo: en ciencias sociales y de la salud es lo normal. Y uno alto no prueba que el modelo sea correcto. En regresión simple, R cuadrado es el cuadrado de la correlación.
Destacar:
• Frase para el chat: R² = proporción de la variación de Y que el modelo explica.
• Un R² "bueno" depende del campo: 0,2 puede ser valioso en educación, insuficiente en física.
• Comprueba en vivo, si hay tiempo: cor(horas, meses)^2 da 0,2158.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[19:20 – 21:20 · 2 min] broom: resultados como tablas ordenadas
La salida de summary es para leer, no para usar. Si queremos una tabla, un gráfico o una comparación, el paquete broom convierte el modelo en tibbles. Tres funciones: tidy da una fila por coeficiente, con estimación, error estándar, estadístico y valor p, y con conf.int igual a TRUE agrega el intervalo. glance da una sola fila con las métricas del modelo: R cuadrado, ajustado, sigma, F. Y augment devuelve los datos originales con los valores ajustados y los residuos, perfecto para graficar. Esto conecta con la sesión 2: como los resultados son tablas, podemos aplicar purrr a muchos modelos.
Destacar:
• tidy / glance / augment = coeficientes / modelo / observaciones.
• Los tibbles resultantes se pueden graficar con ggplot2, como veremos en la lámina 23.
• Mantén la lámina como referencia: es la que más usarán al reportar.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[21:20 – 23:00 · 1 min 40 s] predict(): usar el modelo para predecir
Un modelo sirve también para predecir. Con predict damos un data frame con los valores nuevos de X, newdata, y obtenemos el valor esperado. Para 25 horas semanales, el modelo predice 48,3 meses. Pero hay dos intervalos distintos. El intervalo de confianza, de 46,6 a 50,0, es el de la media: dónde está el promedio de todos los egresados que dedican 25 horas. El intervalo de predicción, de 24,2 a 72,4, es el de un egresado individual, y es mucho más ancho porque incluye la variación individual. Si hablan de una persona, usen el de predicción.
Destacar:
• Insiste en la diferencia de la banda angosta vs la ancha: preguntas distintas.
• newdata debe tener exactamente los nombres de las variables del modelo.
• Usa interval = "confidence" o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 – 24:40 · 1 min 40 s] Chequeo de la Parte 1
Un chequeo rápido. Les muestro una salida distinta: una regresión de peso sobre estatura, con pendiente 0,8 y un intervalo de confianza de 0,6 a 1,0. Primera pregunta: ¿cómo interpretan la pendiente? Respuesta esperada: por cada centímetro más de estatura, el peso es en promedio 0,8 kilos mayor. Segunda: ¿es "significativa"? Sí, porque el intervalo no incluye al cero. Tercera: si el R cuadrado fuera 0,05, ¿qué diríamos? Que la estatura explica solo un 5% de la variación del peso. Respondan por el chat y comentamos.
Destacar:
• Deja 30–40 segundos para que escriban en el chat.
• Comenta primero las respuestas correctas, luego las dudas.
• Si hay confusión con el intercepto, vuelve a la lámina 9 (X = 0 como ancla).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[24:40 – 25:00 · 0 min 20 s] Divisor: Parte 2 · Regresión múltiple
Pasamos a la segunda parte: regresión múltiple. Dieciocho minutos.
Destacar:
• Punto de control: deberías estar en el minuto 24:40.
• Pregunta de enganche: ¿les parece suficiente una sola variable para explicar un fenómeno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 – 27:30 · 2 min 30 s] Por qué agregar variables: la confusión
Volvamos al gancho. A la izquierda, ignorando el nivel del programa, la recta sube. A la derecha, separamos por nivel: doctorado en ámbar, magíster en azul. Dentro de cada nivel la recta baja. ¿Qué pasó? Los doctorandos dedican más horas y además tardan más meses, porque su programa es más largo. El nivel influye en ambas variables y crea una asociación aparente entre horas y meses. Eso se llama confusión, y es la razón principal para usar regresión múltiple: comparar a las personas dentro del mismo nivel. Al agregar el nivel al modelo, la pendiente de las horas pasa de más 0,90 a menos 0,53. Cambió incluso el signo.
Destacar:
• Es la lámina central de la sesión: dale tiempo y vuelve a la pregunta del gancho.
• Pregunta: ¿qué otras variables de su investigación podrían confundir una relación?
• Aclara: el nivel no "causa" la recta; el nivel es una tercera variable que está asociada con ambas.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 – 29:20 · 1 min 50 s] Sintaxis del modelo múltiple
Agregar variables es tan simple como sumarlas en la fórmula con el signo más. Primero, el modelo con horas y nivel. Después, uno más completo con satisfacción con la supervisión, tener beca, el área y la edad de ingreso. R maneja automáticamente las variables categóricas, y la salida tiene una fila por cada coeficiente. Dos puntos prácticos. Uno: si hay datos faltantes en alguna variable, R elimina esas filas del modelo, lo que se llama eliminación por casos completos, y lo informa en la salida. En nuestros datos faltan 6 valores de satisfacción, y el modelo completo usa 194 egresados, no 200. Dos: el signo más en una fórmula no es una suma matemática, es un "y además".
Destacar:
• Muestra la línea "(6 observations deleted due to missingness)" de la salida.
• Comparar modelos con distinto n es un error común: se verá en la lámina 21.
• Recuerda que en la fórmula la suma significa "agregar este término".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[29:20 – 31:50 · 2 min 30 s] "Manteniendo constantes las demás variables"
La frase más importante de la regresión múltiple: cada coeficiente se interpreta "manteniendo constantes las demás variables". Miren el modelo completo. Las horas: menos 0,52. Por cada hora semanal adicional, los meses hasta titularse bajan 0,5 en promedio, comparando egresados del mismo nivel, la misma satisfacción, con la misma beca, del mismo área y la misma edad. La satisfacción con la supervisión: menos 2,4 meses por cada punto adicional. Fíjense que no hacemos nada con los demás: el modelo los neutraliza matemáticamente. Y fíjense en la edad de ingreso: 0,01, con un valor p de 0,90: no hay evidencia de que la edad se asocie con el tiempo, una vez controlado el resto.
Destacar:
• Haz que lean una frase de interpretación completa, con "manteniendo constantes…".
• Señala la diferencia entre significativo (edad: no) y relevante (nivel: enorme).
• Los coeficientes no son comparables entre sí si las variables tienen escalas distintas (reto de estandarizar).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[31:50 – 34:10 · 2 min 20 s] Variables categóricas: dummies y nivel de referencia
Una variable categórica entra al modelo como variables indicadoras, o dummies, de cero y uno. R toma una categoría como referencia, por defecto la primera en orden alfabético, y los coeficientes se leen contra esa referencia. Aquí, el área de referencia es Ciencias Naturales; el coeficiente de Ciencias Sociales es más 4,8: los egresados de Ciencias Sociales tardan en promedio 4,8 meses más que los de Naturales, manteniendo lo demás constante. Para el nivel, el coeficiente de Magíster es menos 30: los magísteres se titulan en promedio 30 meses antes que los doctores. Si queremos otra referencia, la cambiamos con relevel o con factor y levels; el modelo es el mismo, solo cambia la lectura.
Destacar:
• Recalca: cada coeficiente dummy compara contra la referencia, no contra el promedio.
• Si preguntan por tres categorías: R crea k − 1 dummies; la referencia queda en el intercepto.
• Cambiar el nivel de referencia no cambia el ajuste (R², predicciones), solo la comparación.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[34:10 – 36:10 · 2 min] R² vs R² ajustado
Agregar variables siempre sube el R cuadrado, aunque la variable sea basura. Lo comprobé: partí de un modelo con horas y nivel, y fui agregando columnas de ruido aleatorio. El R cuadrado, en ámbar, sube casi continuamente; el R cuadrado ajustado, en azul, no. Esto último penaliza por cada variable adicional, de modo que solo sube si la variable aporta más de lo esperable por azar. Por eso, para comparar modelos con distinto número de predictores, usen el ajustado. En el modelo completo, el R cuadrado es 0,80 y el ajustado 0,79: la diferencia es pequeña, buena señal.
Destacar:
• Mensaje: R² no sirve para decidir si agregar variables; el ajustado ayuda, pero tampoco es perfecto.
• Menciona AIC y BIC como alternativas, sin entrar en detalle.
• Valor p de cada coeficiente no es un criterio de selección de variables: es un error frecuente.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[36:10 – 37:50 · 1 min 40 s · OPCIONAL] Comparar modelos anidados con anova()
Si un modelo contiene al otro, se dicen anidados, y podemos preguntar con anova si las variables adicionales mejoran significativamente el ajuste. Comparamos el modelo con horas y nivel contra el modelo completo: el valor p del test F es menor a una milésima, así que las cinco variables adicionales, en conjunto, mejoran el ajuste. Condición: los dos modelos deben ajustarse con las mismas filas. Como el modelo completo elimina seis casos por datos faltantes, primero hay que filtrar con drop_na, o anova dará un error.
Destacar:
• Lámina opcional: si vas atrasado, solo di que anova() compara modelos anidados; la práctica lo incluye.
• Enfatiza la condición de mismo n: es el error que más se encuentra.
Si vas atrasado: Sáltala: se trabaja con la guía de práctica (Bloque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[37:50 – 39:10 · 1 min 20 s · OPCIONAL] Interacciones: cuando el efecto depende de otra variable
Hasta ahora supusimos que el efecto de las horas es el mismo en doctorado y en magíster. Una interacción permite que la pendiente cambie. Se escribe con un asterisco: horas por nivel. En los datos, la pendiente de las horas en doctorado es menos 0,82 y en magíster menos 0,22: el término de interacción vale más 0,61 y es significativo. Cuando hay interacción, ya no existe "el" efecto de las horas: depende del nivel. Úsenla cuando la teoría lo sugiera, no sistemáticamente.
Destacar:
• Lámina opcional: sirve si hay interés por modelos más avanzados.
• Señala el gráfico: las dos rectas no son paralelas.
• Tip: leer la interacción siempre con un gráfico, no solo con la tabla.
Si vas atrasado: Sáltala; se menciona como reto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[39:10 – 41:20 · 2 min 10 s] Presentar resultados: tabla y gráfico de coeficientes
Una tabla de coeficientes es precisa, pero un gráfico de coeficientes se entiende más rápido. Con tidy y conf.int igual a TRUE, obtenemos la estimación y el intervalo de cada término; con ggplot2 los dibujamos como puntos con barras y una línea vertical en cero. Lo que cruza el cero no se distingue de cero: es el caso de la edad. Lo que queda lejos, como el nivel, es lo grande. Dos buenas prácticas: ordenar los términos por tamaño y escribir etiquetas legibles, con unidades: "por cada hora" o "Sociales vs Naturales". Es el mismo criterio de la sesión 3: el gráfico debe comunicar.
Destacar:
• Conecta con la sesión 3: tema limpio, orden y etiquetas con sentido.
• Advierte: comparar coeficientes entre variables de distintas unidades es engañoso.
• En reportes formales: tabla de coeficientes con IC, más el gráfico como apoyo.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[41:20 – 43:00 · 1 min 40 s] Chequeo de la Parte 2
Chequeo de la segunda parte. Tres preguntas. Primera: en un modelo con horas y nivel, la pendiente de horas es menos 0,53; ¿cómo la interpretan? Respuesta: manteniendo constante el nivel, una hora semanal más se asocia con 0,53 meses menos. Segunda: el coeficiente de Magíster es menos 28,8; ¿contra qué se compara? Contra la referencia, Doctorado. Tercera: agrego una variable y el R cuadrado sube de 0,741 a 0,742 pero el ajustado baja; ¿conservo la variable? Probablemente no. Respondan por el chat.
Destacar:
• Deja 30–40 segundos para el chat.
• Si hay muchos errores en la pregunta 2, vuelve a la lámina 19.
• Anuncia que la Parte 3 son cuidados: lo que hay que evitar al interpretar.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[43:00 – 43:20 · 0 min 20 s] Divisor: Parte 3 · Cuidados al interpretar
Tercera parte: cuidados al interpretar. Siete minutos y medio.
Destacar:
• Punto de control: deberías estar en el minuto 43:00.
• Si vas más de 2 minutos atrasado, omite la lámina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[43:20 – 45:20 · 2 min] Correlación no es causalidad
Un modelo de regresión describe asociaciones. Que la pendiente sea distinta de cero no prueba que X cause Y. Este diagrama lo resume con nuestro caso: el nivel del programa influye tanto en las horas como en los meses, y por eso horas y meses aparecen asociados sin que las horas sean la causa. Controlar por el nivel ayudó, pero solo podemos controlar lo que medimos. Para hablar de efectos causales necesitamos un diseño, como un experimento, o supuestos explícitos y un modelo causal. Moraleja práctica: usen un lenguaje de asociación. "Se asocia con" y no "provoca", salvo que el diseño lo permita.
Destacar:
• Pregunta: ¿qué otra variable no medida podría confundir la relación horas–meses?
• Distingue: predicción (el modelo puede ser útil aunque no sea causal) vs explicación causal.
• Menciona que el tema de inferencia causal es un campo propio (más allá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[45:20 – 46:50 · 1 min 30 s · OPCIONAL] No extrapolar fuera del rango observado
La recta continúa para siempre, pero los datos no. Este gráfico solo usa doctorandos, que dedican entre 17 y 43 horas semanales. Si usamos el modelo para predecir lo que pasa con 110 horas, nos da meses negativos, algo imposible, y 110 horas es más que lo humanamente posible en una semana de trabajo. Moraleja: el modelo solo es confiable dentro del rango de los datos. Fuera de él, la recta es un supuesto, no un resultado. En la práctica lo comprobarán con predict.
Destacar:
• Lámina opcional, pero muy concreta: úsala si hay tiempo.
• Otra forma de extrapolar: aplicar el modelo a una población distinta de la muestra.
Si vas atrasado: Sáltala: queda como ejercicio en el Bloque 3 de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[46:50 – 48:50 · 2 min] Vistazo a los supuestos: residuos
La regresión lineal descansa en supuestos: linealidad, errores con varianza constante, errores aproximadamente normales, independencia, y que los predictores no sean casi copias entre sí. Se revisan mirando los residuos. A la izquierda, residuos contra valores ajustados: buscamos una nube sin patrón. A la derecha, el gráfico cuantil-cuantil: buscamos puntos cerca de la línea. Aquí se ve una leve curvatura a la izquierda; viene de la interacción que no incluimos. Hoy solo les muestro cómo mirar. La sesión 5 está dedicada a diagnosticar estos supuestos y qué hacer cuando fallan.
Destacar:
• No entres en test formales ni transformaciones: es el contenido de la sesión 5.
• Mensaje: nunca reporten un modelo sin mirar sus residuos.
• augment() de broom entrega .fitted y .resid listos para graficar.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[48:50 – 50:40 · 1 min 50 s] Cómo reportar un modelo
Un buen reporte tiene cinco elementos. Uno: el modelo y la muestra: qué variables, cuántos casos y cuántos se perdieron por datos faltantes. Dos: la estimación principal con su intervalo de confianza y en las unidades de la variable. Tres: el R cuadrado ajustado como medida de ajuste. Cuatro: la advertencia de interpretación: asociación, no causa. Y cinco: el gráfico de los coeficientes o una tabla ordenada. Aquí hay un ejemplo de frase para un artículo: "Manteniendo constante el nivel, cada hora semanal adicional de investigación se asoció con 0,52 meses menos hasta la titulación (IC 95%: −0,70 a −0,34)".
Destacar:
• Pide que copien la frase de ejemplo como plantilla.
• Evita reportar solo "p &lt; 0,05": informa el tamaño y el intervalo.
• Conecta con la sesión 7: todo esto saldrá automáticamente de un reporte Quarto.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[50:40 – 52:30 · 1 min 50 s] La receta: del dato al modelo
Una receta de seis pasos para no perderse. Uno: explorar con un gráfico y la correlación antes de modelar. Dos: ajustar el modelo simple con lm. Tres: agregar las variables que importan y que la teoría respalda. Cuatro: interpretar coeficientes con unidades y "manteniendo constante". Cinco: mirar residuos, que es la puerta a la sesión 5. Seis: reportar con intervalos y un lenguaje de asociación. Fíjense que modelar es un proceso, no un comando: el comando lm es el paso dos de seis.
Destacar:
• Si solo recuerdan un paso: el 1. Primero se grafica.
• Es la estructura que sigue la guía de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[52:30 – 55:20 · 2 min 50 s] Caso integrado: del modelo simple al múltiple
Un caso que une todo. Partimos con un modelo simple de meses sobre horas y lo resumimos con glance: R cuadrado de 0,22. Todos los modelos se ajustan con los mismos 194 casos completos. Luego agregamos el nivel: el R cuadrado salta a 0,735 y la pendiente cambia de signo. Después sumamos las otras variables: 0,80, con la pendiente estable en torno a menos 0,5. Esta tabla comparativa muestra cómo cambia el coeficiente de las horas a medida que se controla por más variables. Con unas pocas líneas, y usando map de purrr sobre una lista de fórmulas, podemos ajustar los tres modelos y reunir sus métricas en una tabla. Es el patrón de las sesiones 2 y 4 trabajando juntas.
Destacar:
• Es una demostración: si puedes, ejecútala en vivo y cambia una fórmula.
• Conecta tres ideas: lista de fórmulas, map() y broom::glance().
• Pregunta: ¿qué pasaría si agregáramos una cuarta fórmula? (se agrega a la lista).
Si vas atrasado: Muestra solo la tabla final y comenta el código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[55:20 – 57:10 · 1 min 50 s] Errores frecuentes y buenas prácticas
Cinco trampas para cerrar. Una: interpretar la pendiente sin unidades o sin "en promedio". Dos: decir que una variable "no tiene efecto" porque no fue significativa; solo no hay evidencia suficiente, mire el intervalo. Tres: comparar el R cuadrado de modelos con distinto número de predictores o distinto número de filas. Cuatro: interpretar el intercepto cuando cero no es un valor posible. Y cinco: omitir el nivel de referencia al leer variables categóricas. Y una buena práctica: ajusten y reporten el modelo siempre con código reproducible, en un script o un Quarto.
Destacar:
• Si alguien tiene un caso real de estos errores, pídele que lo comparta.
• Cierra con la idea: el modelo no es el resultado; la interpretación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[57:10 – 58:40 · 1 min 30 s] Ahora, a practicar (60 minutos)
Ahora a practicar, una hora, con tres bloques. Una preparación de cinco minutos: crear R/sesion4.R y copiar los datos nuevos. Después, regresión simple, veinte minutos. Luego, regresión múltiple, otros veinte, y por último, cuidados y reporte, diez; y cinco más para el cierre. Escriban su código en el script y usen la guía como hoja de ruta. Si se traban más de tres minutos, avancen y pregunten por el chat.
Destacar:
• Verifica que todos tengan los datos: egresados.csv en data/raw.
• Comparte el enlace o los archivos del material.
• Avisa que estarás disponible durante la práctica; quien termine antes puede intentar los retos.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[58:40 – 60:00 · 1 min 20 s] Lo esencial y dónde seguir
Para llevar: lm ajusta la recta con una fórmula; la pendiente se interpreta con unidades y "en promedio"; el intervalo dice más que el valor p; el R cuadrado dice cuánto explica el modelo y el ajustado permite comparar; en regresión múltiple cada coeficiente se lee "manteniendo constantes las demás"; y regresión describe asociaciones, no causas. Para seguir, los libros "An Introduction to Statistical Learning" (James y colaboradores) y "Regression and Other Stories" (Gelman, Hill y Vehtari). La próxima sesión es diagnóstico de modelos: cómo comprobar los supuestos que hoy solo vimos de pasada.
Destacar:
• Deja esta lámina visible mientras comienza la práctica.
• Próxima sesión: Diagnóstico de modelos (normalidad, homocedasticidad, multicolinealidad).
• Tarea sugerida: terminar los retos y guardar el modelo completo para diagnosticarlo en la sesión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sp>
      <p:sp>
        <p:nvSpPr>
          <p:cNvPr id="4" name="Text 2"/>
          <p:cNvSpPr txBox="1"/>
          <p:nvPr/>
        </p:nvSpPr>
        <p:spPr>
          <a:xfrm>
            <a:off x="731520" y="1828800"/>
            <a:ext cx="10058400" cy="274320"/>
          </a:xfrm>
          <a:prstGeom prst="rect">
            <a:avLst/>
          </a:prstGeom>
          <a:noFill/>
          <a:ln/>
        </p:spPr>
        <p:txBody>
          <a:bodyPr wrap="square" lIns="0" tIns="0" rIns="0" bIns="0" rtlCol="0" anchor="ctr"/>
          <a:lstStyle/>
          <a:p>
            <a:pPr indent="0" marL="0">
              <a:buNone/>
            </a:pPr>
            <a:r>
              <a:rPr lang="en-US" sz="1100" b="1" spc="300" kern="0" dirty="0">
                <a:solidFill>
                  <a:srgbClr val="8FB8D8"/>
                </a:solidFill>
                <a:latin typeface="Calibri" pitchFamily="34" charset="0"/>
                <a:ea typeface="Calibri" pitchFamily="34" charset="-122"/>
                <a:cs typeface="Calibri" pitchFamily="34" charset="-120"/>
              </a:rPr>
              <a:t>ANÁLISIS DE DATOS EN R · NIVEL BÁSICO-INTERMEDIO</a:t>
            </a:r>
            <a:endParaRPr lang="en-US" sz="1100" dirty="0"/>
          </a:p>
        </p:txBody>
      </p:sp>
      <p:sp>
        <p:nvSpPr>
          <p:cNvPr id="5" name="Text 3"/>
          <p:cNvSpPr txBox="1"/>
          <p:nvPr/>
        </p:nvSpPr>
        <p:spPr>
          <a:xfrm>
            <a:off x="731520" y="228600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Regresión lineal</a:t>
            </a:r>
            <a:endParaRPr lang="en-US" sz="4400" dirty="0"/>
          </a:p>
        </p:txBody>
      </p:sp>
      <p:sp>
        <p:nvSpPr>
          <p:cNvPr id="6" name="Text 4"/>
          <p:cNvSpPr txBox="1"/>
          <p:nvPr/>
        </p:nvSpPr>
        <p:spPr>
          <a:xfrm>
            <a:off x="731520" y="3246120"/>
            <a:ext cx="10515600" cy="457200"/>
          </a:xfrm>
          <a:prstGeom prst="rect">
            <a:avLst/>
          </a:prstGeom>
          <a:noFill/>
          <a:ln/>
        </p:spPr>
        <p:txBody>
          <a:bodyPr wrap="square" lIns="0" tIns="0" rIns="0" bIns="0" rtlCol="0" anchor="ctr"/>
          <a:lstStyle/>
          <a:p>
            <a:pPr indent="0" marL="0">
              <a:buNone/>
            </a:pPr>
            <a:r>
              <a:rPr lang="en-US" sz="2000" dirty="0">
                <a:solidFill>
                  <a:srgbClr val="C9DDEC"/>
                </a:solidFill>
                <a:latin typeface="Calibri" pitchFamily="34" charset="0"/>
                <a:ea typeface="Calibri" pitchFamily="34" charset="-122"/>
                <a:cs typeface="Calibri" pitchFamily="34" charset="-120"/>
              </a:rPr>
              <a:t>Modelos simples y múltiples, interpretación de coeficientes y R²</a:t>
            </a:r>
            <a:endParaRPr lang="en-US" sz="2000" dirty="0"/>
          </a:p>
        </p:txBody>
      </p:sp>
      <p:sp>
        <p:nvSpPr>
          <p:cNvPr id="7" name="Text 5"/>
          <p:cNvSpPr txBox="1"/>
          <p:nvPr/>
        </p:nvSpPr>
        <p:spPr>
          <a:xfrm>
            <a:off x="731520" y="4023360"/>
            <a:ext cx="8229600" cy="320040"/>
          </a:xfrm>
          <a:prstGeom prst="rect">
            <a:avLst/>
          </a:prstGeom>
          <a:noFill/>
          <a:ln/>
        </p:spPr>
        <p:txBody>
          <a:bodyPr wrap="square" lIns="0" tIns="0" rIns="0" bIns="0" rtlCol="0" anchor="ctr"/>
          <a:lstStyle/>
          <a:p>
            <a:pPr indent="0" marL="0">
              <a:buNone/>
            </a:pPr>
            <a:r>
              <a:rPr lang="en-US" sz="1400" dirty="0">
                <a:solidFill>
                  <a:srgbClr val="9DB8CE"/>
                </a:solidFill>
                <a:latin typeface="Calibri" pitchFamily="34" charset="0"/>
                <a:ea typeface="Calibri" pitchFamily="34" charset="-122"/>
                <a:cs typeface="Calibri" pitchFamily="34" charset="-120"/>
              </a:rPr>
              <a:t>Sesión 4 de 8 · Charla (1 h) + Práctica guiada (1 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PANORAMA</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La sesión de hoy: 2 horas, tres partes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a:t>
            </a:r>
            <a:endParaRPr lang="en-US" sz="800" dirty="0"/>
          </a:p>
        </p:txBody>
      </p:sp>
      <p:sp>
        <p:nvSpPr>
          <p:cNvPr id="7" name="Shape 4"/>
          <p:cNvSpPr/>
          <p:nvPr/>
        </p:nvSpPr>
        <p:spPr>
          <a:xfrm>
            <a:off x="548640" y="1463040"/>
            <a:ext cx="5330952" cy="4480560"/>
          </a:xfrm>
          <a:prstGeom prst="roundRect">
            <a:avLst>
              <a:gd name="adj" fmla="val 1429"/>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822960" y="1645920"/>
            <a:ext cx="4572000" cy="36576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Charla · 60 min</a:t>
            </a:r>
            <a:endParaRPr lang="en-US" sz="1800" dirty="0"/>
          </a:p>
        </p:txBody>
      </p:sp>
      <p:sp>
        <p:nvSpPr>
          <p:cNvPr id="9" name="Shape 6"/>
          <p:cNvSpPr/>
          <p:nvPr/>
        </p:nvSpPr>
        <p:spPr>
          <a:xfrm>
            <a:off x="822960" y="2148840"/>
            <a:ext cx="450799" cy="164592"/>
          </a:xfrm>
          <a:prstGeom prst="rect">
            <a:avLst/>
          </a:prstGeom>
          <a:solidFill>
            <a:srgbClr val="065A82"/>
          </a:solidFill>
          <a:ln w="12700">
            <a:solidFill>
              <a:srgbClr val="065A82"/>
            </a:solidFill>
            <a:prstDash val="solid"/>
          </a:ln>
        </p:spPr>
      </p:sp>
      <p:sp>
        <p:nvSpPr>
          <p:cNvPr id="10" name="Shape 7"/>
          <p:cNvSpPr/>
          <p:nvPr/>
        </p:nvSpPr>
        <p:spPr>
          <a:xfrm>
            <a:off x="1301191" y="2148840"/>
            <a:ext cx="1486967" cy="164592"/>
          </a:xfrm>
          <a:prstGeom prst="rect">
            <a:avLst/>
          </a:prstGeom>
          <a:solidFill>
            <a:srgbClr val="1C7293"/>
          </a:solidFill>
          <a:ln w="12700">
            <a:solidFill>
              <a:srgbClr val="1C7293"/>
            </a:solidFill>
            <a:prstDash val="solid"/>
          </a:ln>
        </p:spPr>
      </p:sp>
      <p:sp>
        <p:nvSpPr>
          <p:cNvPr id="11" name="Shape 8"/>
          <p:cNvSpPr/>
          <p:nvPr/>
        </p:nvSpPr>
        <p:spPr>
          <a:xfrm>
            <a:off x="2815590" y="2148840"/>
            <a:ext cx="1407262" cy="164592"/>
          </a:xfrm>
          <a:prstGeom prst="rect">
            <a:avLst/>
          </a:prstGeom>
          <a:solidFill>
            <a:srgbClr val="065A82"/>
          </a:solidFill>
          <a:ln w="12700">
            <a:solidFill>
              <a:srgbClr val="065A82"/>
            </a:solidFill>
            <a:prstDash val="solid"/>
          </a:ln>
        </p:spPr>
      </p:sp>
      <p:sp>
        <p:nvSpPr>
          <p:cNvPr id="12" name="Shape 9"/>
          <p:cNvSpPr/>
          <p:nvPr/>
        </p:nvSpPr>
        <p:spPr>
          <a:xfrm>
            <a:off x="4250284" y="2148840"/>
            <a:ext cx="610210" cy="164592"/>
          </a:xfrm>
          <a:prstGeom prst="rect">
            <a:avLst/>
          </a:prstGeom>
          <a:solidFill>
            <a:srgbClr val="1C7293"/>
          </a:solidFill>
          <a:ln w="12700">
            <a:solidFill>
              <a:srgbClr val="1C7293"/>
            </a:solidFill>
            <a:prstDash val="solid"/>
          </a:ln>
        </p:spPr>
      </p:sp>
      <p:sp>
        <p:nvSpPr>
          <p:cNvPr id="13" name="Shape 10"/>
          <p:cNvSpPr/>
          <p:nvPr/>
        </p:nvSpPr>
        <p:spPr>
          <a:xfrm>
            <a:off x="4887925" y="2148840"/>
            <a:ext cx="689915" cy="164592"/>
          </a:xfrm>
          <a:prstGeom prst="rect">
            <a:avLst/>
          </a:prstGeom>
          <a:solidFill>
            <a:srgbClr val="065A82"/>
          </a:solidFill>
          <a:ln w="12700">
            <a:solidFill>
              <a:srgbClr val="065A82"/>
            </a:solidFill>
            <a:prstDash val="solid"/>
          </a:ln>
        </p:spPr>
      </p:sp>
      <p:sp>
        <p:nvSpPr>
          <p:cNvPr id="14" name="Text 11"/>
          <p:cNvSpPr txBox="1"/>
          <p:nvPr/>
        </p:nvSpPr>
        <p:spPr>
          <a:xfrm>
            <a:off x="822960" y="2606040"/>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Apertura</a:t>
            </a:r>
            <a:endParaRPr lang="en-US" sz="1300" dirty="0"/>
          </a:p>
        </p:txBody>
      </p:sp>
      <p:sp>
        <p:nvSpPr>
          <p:cNvPr id="15" name="Text 12"/>
          <p:cNvSpPr txBox="1"/>
          <p:nvPr/>
        </p:nvSpPr>
        <p:spPr>
          <a:xfrm>
            <a:off x="4389120" y="2606040"/>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6 min</a:t>
            </a:r>
            <a:endParaRPr lang="en-US" sz="1300" dirty="0"/>
          </a:p>
        </p:txBody>
      </p:sp>
      <p:sp>
        <p:nvSpPr>
          <p:cNvPr id="16" name="Shape 13"/>
          <p:cNvSpPr/>
          <p:nvPr/>
        </p:nvSpPr>
        <p:spPr>
          <a:xfrm>
            <a:off x="822960" y="3063240"/>
            <a:ext cx="4782312" cy="0"/>
          </a:xfrm>
          <a:prstGeom prst="line">
            <a:avLst/>
          </a:prstGeom>
          <a:noFill/>
          <a:ln w="9525">
            <a:solidFill>
              <a:srgbClr val="E4EEF2"/>
            </a:solidFill>
            <a:prstDash val="solid"/>
          </a:ln>
        </p:spPr>
      </p:sp>
      <p:sp>
        <p:nvSpPr>
          <p:cNvPr id="17" name="Text 14"/>
          <p:cNvSpPr txBox="1"/>
          <p:nvPr/>
        </p:nvSpPr>
        <p:spPr>
          <a:xfrm>
            <a:off x="822960" y="3227832"/>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Regresión simple</a:t>
            </a:r>
            <a:endParaRPr lang="en-US" sz="1300" dirty="0"/>
          </a:p>
        </p:txBody>
      </p:sp>
      <p:sp>
        <p:nvSpPr>
          <p:cNvPr id="18" name="Text 15"/>
          <p:cNvSpPr txBox="1"/>
          <p:nvPr/>
        </p:nvSpPr>
        <p:spPr>
          <a:xfrm>
            <a:off x="4389120" y="3227832"/>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19 min</a:t>
            </a:r>
            <a:endParaRPr lang="en-US" sz="1300" dirty="0"/>
          </a:p>
        </p:txBody>
      </p:sp>
      <p:sp>
        <p:nvSpPr>
          <p:cNvPr id="19" name="Shape 16"/>
          <p:cNvSpPr/>
          <p:nvPr/>
        </p:nvSpPr>
        <p:spPr>
          <a:xfrm>
            <a:off x="822960" y="3685032"/>
            <a:ext cx="4782312" cy="0"/>
          </a:xfrm>
          <a:prstGeom prst="line">
            <a:avLst/>
          </a:prstGeom>
          <a:noFill/>
          <a:ln w="9525">
            <a:solidFill>
              <a:srgbClr val="E4EEF2"/>
            </a:solidFill>
            <a:prstDash val="solid"/>
          </a:ln>
        </p:spPr>
      </p:sp>
      <p:sp>
        <p:nvSpPr>
          <p:cNvPr id="20" name="Text 17"/>
          <p:cNvSpPr txBox="1"/>
          <p:nvPr/>
        </p:nvSpPr>
        <p:spPr>
          <a:xfrm>
            <a:off x="822960" y="3849624"/>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Regresión múltiple</a:t>
            </a:r>
            <a:endParaRPr lang="en-US" sz="1300" dirty="0"/>
          </a:p>
        </p:txBody>
      </p:sp>
      <p:sp>
        <p:nvSpPr>
          <p:cNvPr id="21" name="Text 18"/>
          <p:cNvSpPr txBox="1"/>
          <p:nvPr/>
        </p:nvSpPr>
        <p:spPr>
          <a:xfrm>
            <a:off x="4389120" y="3849624"/>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18 min</a:t>
            </a:r>
            <a:endParaRPr lang="en-US" sz="1300" dirty="0"/>
          </a:p>
        </p:txBody>
      </p:sp>
      <p:sp>
        <p:nvSpPr>
          <p:cNvPr id="22" name="Shape 19"/>
          <p:cNvSpPr/>
          <p:nvPr/>
        </p:nvSpPr>
        <p:spPr>
          <a:xfrm>
            <a:off x="822960" y="4306824"/>
            <a:ext cx="4782312" cy="0"/>
          </a:xfrm>
          <a:prstGeom prst="line">
            <a:avLst/>
          </a:prstGeom>
          <a:noFill/>
          <a:ln w="9525">
            <a:solidFill>
              <a:srgbClr val="E4EEF2"/>
            </a:solidFill>
            <a:prstDash val="solid"/>
          </a:ln>
        </p:spPr>
      </p:sp>
      <p:sp>
        <p:nvSpPr>
          <p:cNvPr id="23" name="Text 20"/>
          <p:cNvSpPr txBox="1"/>
          <p:nvPr/>
        </p:nvSpPr>
        <p:spPr>
          <a:xfrm>
            <a:off x="822960" y="4471416"/>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Cuidados al interpretar</a:t>
            </a:r>
            <a:endParaRPr lang="en-US" sz="1300" dirty="0"/>
          </a:p>
        </p:txBody>
      </p:sp>
      <p:sp>
        <p:nvSpPr>
          <p:cNvPr id="24" name="Text 21"/>
          <p:cNvSpPr txBox="1"/>
          <p:nvPr/>
        </p:nvSpPr>
        <p:spPr>
          <a:xfrm>
            <a:off x="4389120" y="4471416"/>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8 min</a:t>
            </a:r>
            <a:endParaRPr lang="en-US" sz="1300" dirty="0"/>
          </a:p>
        </p:txBody>
      </p:sp>
      <p:sp>
        <p:nvSpPr>
          <p:cNvPr id="25" name="Shape 22"/>
          <p:cNvSpPr/>
          <p:nvPr/>
        </p:nvSpPr>
        <p:spPr>
          <a:xfrm>
            <a:off x="822960" y="4928616"/>
            <a:ext cx="4782312" cy="0"/>
          </a:xfrm>
          <a:prstGeom prst="line">
            <a:avLst/>
          </a:prstGeom>
          <a:noFill/>
          <a:ln w="9525">
            <a:solidFill>
              <a:srgbClr val="E4EEF2"/>
            </a:solidFill>
            <a:prstDash val="solid"/>
          </a:ln>
        </p:spPr>
      </p:sp>
      <p:sp>
        <p:nvSpPr>
          <p:cNvPr id="26" name="Text 23"/>
          <p:cNvSpPr txBox="1"/>
          <p:nvPr/>
        </p:nvSpPr>
        <p:spPr>
          <a:xfrm>
            <a:off x="822960" y="5093208"/>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Integración y cierre</a:t>
            </a:r>
            <a:endParaRPr lang="en-US" sz="1300" dirty="0"/>
          </a:p>
        </p:txBody>
      </p:sp>
      <p:sp>
        <p:nvSpPr>
          <p:cNvPr id="27" name="Text 24"/>
          <p:cNvSpPr txBox="1"/>
          <p:nvPr/>
        </p:nvSpPr>
        <p:spPr>
          <a:xfrm>
            <a:off x="4389120" y="5093208"/>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9 min</a:t>
            </a:r>
            <a:endParaRPr lang="en-US" sz="1300" dirty="0"/>
          </a:p>
        </p:txBody>
      </p:sp>
      <p:sp>
        <p:nvSpPr>
          <p:cNvPr id="28" name="Shape 25"/>
          <p:cNvSpPr/>
          <p:nvPr/>
        </p:nvSpPr>
        <p:spPr>
          <a:xfrm>
            <a:off x="6309360" y="1463040"/>
            <a:ext cx="5330952" cy="4480560"/>
          </a:xfrm>
          <a:prstGeom prst="roundRect">
            <a:avLst>
              <a:gd name="adj" fmla="val 1429"/>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9" name="Text 26"/>
          <p:cNvSpPr txBox="1"/>
          <p:nvPr/>
        </p:nvSpPr>
        <p:spPr>
          <a:xfrm>
            <a:off x="6583680" y="1645920"/>
            <a:ext cx="4572000" cy="36576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Práctica · 60 min</a:t>
            </a:r>
            <a:endParaRPr lang="en-US" sz="1800" dirty="0"/>
          </a:p>
        </p:txBody>
      </p:sp>
      <p:sp>
        <p:nvSpPr>
          <p:cNvPr id="30" name="Shape 27"/>
          <p:cNvSpPr/>
          <p:nvPr/>
        </p:nvSpPr>
        <p:spPr>
          <a:xfrm>
            <a:off x="6583680" y="2148840"/>
            <a:ext cx="371094" cy="164592"/>
          </a:xfrm>
          <a:prstGeom prst="rect">
            <a:avLst/>
          </a:prstGeom>
          <a:solidFill>
            <a:srgbClr val="065A82"/>
          </a:solidFill>
          <a:ln w="12700">
            <a:solidFill>
              <a:srgbClr val="065A82"/>
            </a:solidFill>
            <a:prstDash val="solid"/>
          </a:ln>
        </p:spPr>
      </p:sp>
      <p:sp>
        <p:nvSpPr>
          <p:cNvPr id="31" name="Shape 28"/>
          <p:cNvSpPr/>
          <p:nvPr/>
        </p:nvSpPr>
        <p:spPr>
          <a:xfrm>
            <a:off x="6982206" y="2148840"/>
            <a:ext cx="1566672" cy="164592"/>
          </a:xfrm>
          <a:prstGeom prst="rect">
            <a:avLst/>
          </a:prstGeom>
          <a:solidFill>
            <a:srgbClr val="1C7293"/>
          </a:solidFill>
          <a:ln w="12700">
            <a:solidFill>
              <a:srgbClr val="1C7293"/>
            </a:solidFill>
            <a:prstDash val="solid"/>
          </a:ln>
        </p:spPr>
      </p:sp>
      <p:sp>
        <p:nvSpPr>
          <p:cNvPr id="32" name="Shape 29"/>
          <p:cNvSpPr/>
          <p:nvPr/>
        </p:nvSpPr>
        <p:spPr>
          <a:xfrm>
            <a:off x="8576310" y="2148840"/>
            <a:ext cx="1566672" cy="164592"/>
          </a:xfrm>
          <a:prstGeom prst="rect">
            <a:avLst/>
          </a:prstGeom>
          <a:solidFill>
            <a:srgbClr val="065A82"/>
          </a:solidFill>
          <a:ln w="12700">
            <a:solidFill>
              <a:srgbClr val="065A82"/>
            </a:solidFill>
            <a:prstDash val="solid"/>
          </a:ln>
        </p:spPr>
      </p:sp>
      <p:sp>
        <p:nvSpPr>
          <p:cNvPr id="33" name="Shape 30"/>
          <p:cNvSpPr/>
          <p:nvPr/>
        </p:nvSpPr>
        <p:spPr>
          <a:xfrm>
            <a:off x="10170414" y="2148840"/>
            <a:ext cx="769620" cy="164592"/>
          </a:xfrm>
          <a:prstGeom prst="rect">
            <a:avLst/>
          </a:prstGeom>
          <a:solidFill>
            <a:srgbClr val="1C7293"/>
          </a:solidFill>
          <a:ln w="12700">
            <a:solidFill>
              <a:srgbClr val="1C7293"/>
            </a:solidFill>
            <a:prstDash val="solid"/>
          </a:ln>
        </p:spPr>
      </p:sp>
      <p:sp>
        <p:nvSpPr>
          <p:cNvPr id="34" name="Shape 31"/>
          <p:cNvSpPr/>
          <p:nvPr/>
        </p:nvSpPr>
        <p:spPr>
          <a:xfrm>
            <a:off x="10967466" y="2148840"/>
            <a:ext cx="371094" cy="164592"/>
          </a:xfrm>
          <a:prstGeom prst="rect">
            <a:avLst/>
          </a:prstGeom>
          <a:solidFill>
            <a:srgbClr val="065A82"/>
          </a:solidFill>
          <a:ln w="12700">
            <a:solidFill>
              <a:srgbClr val="065A82"/>
            </a:solidFill>
            <a:prstDash val="solid"/>
          </a:ln>
        </p:spPr>
      </p:sp>
      <p:sp>
        <p:nvSpPr>
          <p:cNvPr id="35" name="Text 32"/>
          <p:cNvSpPr txBox="1"/>
          <p:nvPr/>
        </p:nvSpPr>
        <p:spPr>
          <a:xfrm>
            <a:off x="6583680" y="2606040"/>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Bloque 0 · Preparación</a:t>
            </a:r>
            <a:endParaRPr lang="en-US" sz="1300" dirty="0"/>
          </a:p>
        </p:txBody>
      </p:sp>
      <p:sp>
        <p:nvSpPr>
          <p:cNvPr id="36" name="Text 33"/>
          <p:cNvSpPr txBox="1"/>
          <p:nvPr/>
        </p:nvSpPr>
        <p:spPr>
          <a:xfrm>
            <a:off x="10149840" y="2606040"/>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37" name="Shape 34"/>
          <p:cNvSpPr/>
          <p:nvPr/>
        </p:nvSpPr>
        <p:spPr>
          <a:xfrm>
            <a:off x="6583680" y="3063240"/>
            <a:ext cx="4782312" cy="0"/>
          </a:xfrm>
          <a:prstGeom prst="line">
            <a:avLst/>
          </a:prstGeom>
          <a:noFill/>
          <a:ln w="9525">
            <a:solidFill>
              <a:srgbClr val="E4EEF2"/>
            </a:solidFill>
            <a:prstDash val="solid"/>
          </a:ln>
        </p:spPr>
      </p:sp>
      <p:sp>
        <p:nvSpPr>
          <p:cNvPr id="38" name="Text 35"/>
          <p:cNvSpPr txBox="1"/>
          <p:nvPr/>
        </p:nvSpPr>
        <p:spPr>
          <a:xfrm>
            <a:off x="6583680" y="3227832"/>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Bloque 1 · Regresión simple</a:t>
            </a:r>
            <a:endParaRPr lang="en-US" sz="1300" dirty="0"/>
          </a:p>
        </p:txBody>
      </p:sp>
      <p:sp>
        <p:nvSpPr>
          <p:cNvPr id="39" name="Text 36"/>
          <p:cNvSpPr txBox="1"/>
          <p:nvPr/>
        </p:nvSpPr>
        <p:spPr>
          <a:xfrm>
            <a:off x="10149840" y="3227832"/>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40" name="Shape 37"/>
          <p:cNvSpPr/>
          <p:nvPr/>
        </p:nvSpPr>
        <p:spPr>
          <a:xfrm>
            <a:off x="6583680" y="3685032"/>
            <a:ext cx="4782312" cy="0"/>
          </a:xfrm>
          <a:prstGeom prst="line">
            <a:avLst/>
          </a:prstGeom>
          <a:noFill/>
          <a:ln w="9525">
            <a:solidFill>
              <a:srgbClr val="E4EEF2"/>
            </a:solidFill>
            <a:prstDash val="solid"/>
          </a:ln>
        </p:spPr>
      </p:sp>
      <p:sp>
        <p:nvSpPr>
          <p:cNvPr id="41" name="Text 38"/>
          <p:cNvSpPr txBox="1"/>
          <p:nvPr/>
        </p:nvSpPr>
        <p:spPr>
          <a:xfrm>
            <a:off x="6583680" y="3849624"/>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Bloque 2 · Regresión múltiple</a:t>
            </a:r>
            <a:endParaRPr lang="en-US" sz="1300" dirty="0"/>
          </a:p>
        </p:txBody>
      </p:sp>
      <p:sp>
        <p:nvSpPr>
          <p:cNvPr id="42" name="Text 39"/>
          <p:cNvSpPr txBox="1"/>
          <p:nvPr/>
        </p:nvSpPr>
        <p:spPr>
          <a:xfrm>
            <a:off x="10149840" y="3849624"/>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43" name="Shape 40"/>
          <p:cNvSpPr/>
          <p:nvPr/>
        </p:nvSpPr>
        <p:spPr>
          <a:xfrm>
            <a:off x="6583680" y="4306824"/>
            <a:ext cx="4782312" cy="0"/>
          </a:xfrm>
          <a:prstGeom prst="line">
            <a:avLst/>
          </a:prstGeom>
          <a:noFill/>
          <a:ln w="9525">
            <a:solidFill>
              <a:srgbClr val="E4EEF2"/>
            </a:solidFill>
            <a:prstDash val="solid"/>
          </a:ln>
        </p:spPr>
      </p:sp>
      <p:sp>
        <p:nvSpPr>
          <p:cNvPr id="44" name="Text 41"/>
          <p:cNvSpPr txBox="1"/>
          <p:nvPr/>
        </p:nvSpPr>
        <p:spPr>
          <a:xfrm>
            <a:off x="6583680" y="4471416"/>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Bloque 3 · Cuidados y reporte</a:t>
            </a:r>
            <a:endParaRPr lang="en-US" sz="1300" dirty="0"/>
          </a:p>
        </p:txBody>
      </p:sp>
      <p:sp>
        <p:nvSpPr>
          <p:cNvPr id="45" name="Text 42"/>
          <p:cNvSpPr txBox="1"/>
          <p:nvPr/>
        </p:nvSpPr>
        <p:spPr>
          <a:xfrm>
            <a:off x="10149840" y="4471416"/>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10 min</a:t>
            </a:r>
            <a:endParaRPr lang="en-US" sz="1300" dirty="0"/>
          </a:p>
        </p:txBody>
      </p:sp>
      <p:sp>
        <p:nvSpPr>
          <p:cNvPr id="46" name="Shape 43"/>
          <p:cNvSpPr/>
          <p:nvPr/>
        </p:nvSpPr>
        <p:spPr>
          <a:xfrm>
            <a:off x="6583680" y="4928616"/>
            <a:ext cx="4782312" cy="0"/>
          </a:xfrm>
          <a:prstGeom prst="line">
            <a:avLst/>
          </a:prstGeom>
          <a:noFill/>
          <a:ln w="9525">
            <a:solidFill>
              <a:srgbClr val="E4EEF2"/>
            </a:solidFill>
            <a:prstDash val="solid"/>
          </a:ln>
        </p:spPr>
      </p:sp>
      <p:sp>
        <p:nvSpPr>
          <p:cNvPr id="47" name="Text 44"/>
          <p:cNvSpPr txBox="1"/>
          <p:nvPr/>
        </p:nvSpPr>
        <p:spPr>
          <a:xfrm>
            <a:off x="6583680" y="5093208"/>
            <a:ext cx="3657600" cy="36576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Cierre y dudas</a:t>
            </a:r>
            <a:endParaRPr lang="en-US" sz="1300" dirty="0"/>
          </a:p>
        </p:txBody>
      </p:sp>
      <p:sp>
        <p:nvSpPr>
          <p:cNvPr id="48" name="Text 45"/>
          <p:cNvSpPr txBox="1"/>
          <p:nvPr/>
        </p:nvSpPr>
        <p:spPr>
          <a:xfrm>
            <a:off x="10149840" y="5093208"/>
            <a:ext cx="1216152" cy="365760"/>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OBJETIVOS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Al terminar la sesión podrás…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3</a:t>
            </a:r>
            <a:endParaRPr lang="en-US" sz="800" dirty="0"/>
          </a:p>
        </p:txBody>
      </p:sp>
      <p:sp>
        <p:nvSpPr>
          <p:cNvPr id="7" name="Shape 4"/>
          <p:cNvSpPr/>
          <p:nvPr/>
        </p:nvSpPr>
        <p:spPr>
          <a:xfrm>
            <a:off x="548640" y="1600200"/>
            <a:ext cx="3584448" cy="3246120"/>
          </a:xfrm>
          <a:prstGeom prst="roundRect">
            <a:avLst>
              <a:gd name="adj" fmla="val 197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868680" y="1920240"/>
            <a:ext cx="868680" cy="868680"/>
          </a:xfrm>
          <a:prstGeom prst="ellipse">
            <a:avLst/>
          </a:prstGeom>
          <a:solidFill>
            <a:srgbClr val="21295C"/>
          </a:solidFill>
          <a:ln w="12700">
            <a:solidFill>
              <a:srgbClr val="21295C"/>
            </a:solidFill>
            <a:prstDash val="solid"/>
          </a:ln>
        </p:spPr>
      </p:sp>
      <p:pic>
        <p:nvPicPr>
          <p:cNvPr id="9" name="Image 0" descr="preencoded.png">    </p:cNvPr>
          <p:cNvPicPr>
            <a:picLocks noChangeAspect="1"/>
          </p:cNvPicPr>
          <p:nvPr/>
        </p:nvPicPr>
        <p:blipFill>
          <a:blip r:embed="rId1"/>
          <a:stretch>
            <a:fillRect/>
          </a:stretch>
        </p:blipFill>
        <p:spPr>
          <a:xfrm>
            <a:off x="1115568" y="2167128"/>
            <a:ext cx="374904" cy="374904"/>
          </a:xfrm>
          <a:prstGeom prst="rect">
            <a:avLst/>
          </a:prstGeom>
        </p:spPr>
      </p:pic>
      <p:sp>
        <p:nvSpPr>
          <p:cNvPr id="10" name="Text 6"/>
          <p:cNvSpPr txBox="1"/>
          <p:nvPr/>
        </p:nvSpPr>
        <p:spPr>
          <a:xfrm>
            <a:off x="868680" y="3017520"/>
            <a:ext cx="3017520" cy="41148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Ajustar y leer un modelo</a:t>
            </a:r>
            <a:endParaRPr lang="en-US" sz="1900" dirty="0"/>
          </a:p>
        </p:txBody>
      </p:sp>
      <p:sp>
        <p:nvSpPr>
          <p:cNvPr id="11" name="Text 7"/>
          <p:cNvSpPr txBox="1"/>
          <p:nvPr/>
        </p:nvSpPr>
        <p:spPr>
          <a:xfrm>
            <a:off x="868680" y="3520440"/>
            <a:ext cx="2971800" cy="1371600"/>
          </a:xfrm>
          <a:prstGeom prst="rect">
            <a:avLst/>
          </a:prstGeom>
          <a:noFill/>
          <a:ln/>
        </p:spPr>
        <p:txBody>
          <a:bodyPr wrap="square" lIns="0" tIns="0" rIns="0" bIns="0" rtlCol="0" anchor="t"/>
          <a:lstStyle/>
          <a:p>
            <a:pPr indent="0" marL="0">
              <a:buNone/>
            </a:pPr>
            <a:r>
              <a:rPr lang="en-US" sz="1400" dirty="0">
                <a:solidFill>
                  <a:srgbClr val="1E2A44"/>
                </a:solidFill>
                <a:latin typeface="Calibri" pitchFamily="34" charset="0"/>
                <a:ea typeface="Calibri" pitchFamily="34" charset="-122"/>
                <a:cs typeface="Calibri" pitchFamily="34" charset="-120"/>
              </a:rPr>
              <a:t>Usar lm() y entender cada número de summary(): coeficientes, error estándar, intervalo, valor p y R².</a:t>
            </a:r>
            <a:endParaRPr lang="en-US" sz="1400" dirty="0"/>
          </a:p>
        </p:txBody>
      </p:sp>
      <p:sp>
        <p:nvSpPr>
          <p:cNvPr id="12" name="Shape 8"/>
          <p:cNvSpPr/>
          <p:nvPr/>
        </p:nvSpPr>
        <p:spPr>
          <a:xfrm>
            <a:off x="4297680" y="1600200"/>
            <a:ext cx="3584448" cy="3246120"/>
          </a:xfrm>
          <a:prstGeom prst="roundRect">
            <a:avLst>
              <a:gd name="adj" fmla="val 197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Shape 9"/>
          <p:cNvSpPr/>
          <p:nvPr/>
        </p:nvSpPr>
        <p:spPr>
          <a:xfrm>
            <a:off x="4617720" y="1920240"/>
            <a:ext cx="868680" cy="868680"/>
          </a:xfrm>
          <a:prstGeom prst="ellipse">
            <a:avLst/>
          </a:prstGeom>
          <a:solidFill>
            <a:srgbClr val="065A82"/>
          </a:solidFill>
          <a:ln w="12700">
            <a:solidFill>
              <a:srgbClr val="065A82"/>
            </a:solidFill>
            <a:prstDash val="solid"/>
          </a:ln>
        </p:spPr>
      </p:sp>
      <p:pic>
        <p:nvPicPr>
          <p:cNvPr id="14" name="Image 1" descr="preencoded.png">    </p:cNvPr>
          <p:cNvPicPr>
            <a:picLocks noChangeAspect="1"/>
          </p:cNvPicPr>
          <p:nvPr/>
        </p:nvPicPr>
        <p:blipFill>
          <a:blip r:embed="rId2"/>
          <a:stretch>
            <a:fillRect/>
          </a:stretch>
        </p:blipFill>
        <p:spPr>
          <a:xfrm>
            <a:off x="4864608" y="2167128"/>
            <a:ext cx="374904" cy="374904"/>
          </a:xfrm>
          <a:prstGeom prst="rect">
            <a:avLst/>
          </a:prstGeom>
        </p:spPr>
      </p:pic>
      <p:sp>
        <p:nvSpPr>
          <p:cNvPr id="15" name="Text 10"/>
          <p:cNvSpPr txBox="1"/>
          <p:nvPr/>
        </p:nvSpPr>
        <p:spPr>
          <a:xfrm>
            <a:off x="4617720" y="3017520"/>
            <a:ext cx="3017520" cy="41148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Interpretar coeficientes</a:t>
            </a:r>
            <a:endParaRPr lang="en-US" sz="1900" dirty="0"/>
          </a:p>
        </p:txBody>
      </p:sp>
      <p:sp>
        <p:nvSpPr>
          <p:cNvPr id="16" name="Text 11"/>
          <p:cNvSpPr txBox="1"/>
          <p:nvPr/>
        </p:nvSpPr>
        <p:spPr>
          <a:xfrm>
            <a:off x="4617720" y="3520440"/>
            <a:ext cx="2971800" cy="1371600"/>
          </a:xfrm>
          <a:prstGeom prst="rect">
            <a:avLst/>
          </a:prstGeom>
          <a:noFill/>
          <a:ln/>
        </p:spPr>
        <p:txBody>
          <a:bodyPr wrap="square" lIns="0" tIns="0" rIns="0" bIns="0" rtlCol="0" anchor="t"/>
          <a:lstStyle/>
          <a:p>
            <a:pPr indent="0" marL="0">
              <a:buNone/>
            </a:pPr>
            <a:r>
              <a:rPr lang="en-US" sz="1400" dirty="0">
                <a:solidFill>
                  <a:srgbClr val="1E2A44"/>
                </a:solidFill>
                <a:latin typeface="Calibri" pitchFamily="34" charset="0"/>
                <a:ea typeface="Calibri" pitchFamily="34" charset="-122"/>
                <a:cs typeface="Calibri" pitchFamily="34" charset="-120"/>
              </a:rPr>
              <a:t>Decir en lenguaje claro qué significa cada coeficiente, incluidos los categóricos y los de un modelo múltiple.</a:t>
            </a:r>
            <a:endParaRPr lang="en-US" sz="1400" dirty="0"/>
          </a:p>
        </p:txBody>
      </p:sp>
      <p:sp>
        <p:nvSpPr>
          <p:cNvPr id="17" name="Shape 12"/>
          <p:cNvSpPr/>
          <p:nvPr/>
        </p:nvSpPr>
        <p:spPr>
          <a:xfrm>
            <a:off x="8046720" y="1600200"/>
            <a:ext cx="3584448" cy="3246120"/>
          </a:xfrm>
          <a:prstGeom prst="roundRect">
            <a:avLst>
              <a:gd name="adj" fmla="val 197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Shape 13"/>
          <p:cNvSpPr/>
          <p:nvPr/>
        </p:nvSpPr>
        <p:spPr>
          <a:xfrm>
            <a:off x="8366760" y="1920240"/>
            <a:ext cx="868680" cy="868680"/>
          </a:xfrm>
          <a:prstGeom prst="ellipse">
            <a:avLst/>
          </a:prstGeom>
          <a:solidFill>
            <a:srgbClr val="1C7293"/>
          </a:solidFill>
          <a:ln w="12700">
            <a:solidFill>
              <a:srgbClr val="1C7293"/>
            </a:solidFill>
            <a:prstDash val="solid"/>
          </a:ln>
        </p:spPr>
      </p:sp>
      <p:pic>
        <p:nvPicPr>
          <p:cNvPr id="19" name="Image 2" descr="preencoded.png">    </p:cNvPr>
          <p:cNvPicPr>
            <a:picLocks noChangeAspect="1"/>
          </p:cNvPicPr>
          <p:nvPr/>
        </p:nvPicPr>
        <p:blipFill>
          <a:blip r:embed="rId3"/>
          <a:stretch>
            <a:fillRect/>
          </a:stretch>
        </p:blipFill>
        <p:spPr>
          <a:xfrm>
            <a:off x="8613648" y="2167128"/>
            <a:ext cx="374904" cy="374904"/>
          </a:xfrm>
          <a:prstGeom prst="rect">
            <a:avLst/>
          </a:prstGeom>
        </p:spPr>
      </p:pic>
      <p:sp>
        <p:nvSpPr>
          <p:cNvPr id="20" name="Text 14"/>
          <p:cNvSpPr txBox="1"/>
          <p:nvPr/>
        </p:nvSpPr>
        <p:spPr>
          <a:xfrm>
            <a:off x="8366760" y="3017520"/>
            <a:ext cx="3017520" cy="41148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Saber qué afirmar</a:t>
            </a:r>
            <a:endParaRPr lang="en-US" sz="1900" dirty="0"/>
          </a:p>
        </p:txBody>
      </p:sp>
      <p:sp>
        <p:nvSpPr>
          <p:cNvPr id="21" name="Text 15"/>
          <p:cNvSpPr txBox="1"/>
          <p:nvPr/>
        </p:nvSpPr>
        <p:spPr>
          <a:xfrm>
            <a:off x="8366760" y="3520440"/>
            <a:ext cx="2971800" cy="1371600"/>
          </a:xfrm>
          <a:prstGeom prst="rect">
            <a:avLst/>
          </a:prstGeom>
          <a:noFill/>
          <a:ln/>
        </p:spPr>
        <p:txBody>
          <a:bodyPr wrap="square" lIns="0" tIns="0" rIns="0" bIns="0" rtlCol="0" anchor="t"/>
          <a:lstStyle/>
          <a:p>
            <a:pPr indent="0" marL="0">
              <a:buNone/>
            </a:pPr>
            <a:r>
              <a:rPr lang="en-US" sz="1400" dirty="0">
                <a:solidFill>
                  <a:srgbClr val="1E2A44"/>
                </a:solidFill>
                <a:latin typeface="Calibri" pitchFamily="34" charset="0"/>
                <a:ea typeface="Calibri" pitchFamily="34" charset="-122"/>
                <a:cs typeface="Calibri" pitchFamily="34" charset="-120"/>
              </a:rPr>
              <a:t>Distinguir asociación de causa, interpolar de extrapolar, y qué mirar antes de confiar en un modelo.</a:t>
            </a:r>
            <a:endParaRPr lang="en-US" sz="1400" dirty="0"/>
          </a:p>
        </p:txBody>
      </p:sp>
      <p:sp>
        <p:nvSpPr>
          <p:cNvPr id="22" name="Shape 16"/>
          <p:cNvSpPr/>
          <p:nvPr/>
        </p:nvSpPr>
        <p:spPr>
          <a:xfrm>
            <a:off x="548640" y="5166360"/>
            <a:ext cx="11091672" cy="548640"/>
          </a:xfrm>
          <a:prstGeom prst="rect">
            <a:avLst/>
          </a:prstGeom>
          <a:solidFill>
            <a:srgbClr val="E4EEF2"/>
          </a:solidFill>
          <a:ln w="12700">
            <a:solidFill>
              <a:srgbClr val="E4EEF2"/>
            </a:solidFill>
            <a:prstDash val="solid"/>
          </a:ln>
        </p:spPr>
      </p:sp>
      <p:sp>
        <p:nvSpPr>
          <p:cNvPr id="23" name="Shape 17"/>
          <p:cNvSpPr/>
          <p:nvPr/>
        </p:nvSpPr>
        <p:spPr>
          <a:xfrm>
            <a:off x="548640" y="5166360"/>
            <a:ext cx="64008" cy="548640"/>
          </a:xfrm>
          <a:prstGeom prst="rect">
            <a:avLst/>
          </a:prstGeom>
          <a:solidFill>
            <a:srgbClr val="1C7293"/>
          </a:solidFill>
          <a:ln w="12700">
            <a:solidFill>
              <a:srgbClr val="1C7293"/>
            </a:solidFill>
            <a:prstDash val="solid"/>
          </a:ln>
        </p:spPr>
      </p:sp>
      <p:sp>
        <p:nvSpPr>
          <p:cNvPr id="24" name="Text 18"/>
          <p:cNvSpPr txBox="1"/>
          <p:nvPr/>
        </p:nvSpPr>
        <p:spPr>
          <a:xfrm>
            <a:off x="749808" y="5166360"/>
            <a:ext cx="10771632" cy="548640"/>
          </a:xfrm>
          <a:prstGeom prst="rect">
            <a:avLst/>
          </a:prstGeom>
          <a:noFill/>
          <a:ln/>
        </p:spPr>
        <p:txBody>
          <a:bodyPr wrap="square" lIns="0" tIns="0" rIns="0" bIns="0" rtlCol="0" anchor="ctr"/>
          <a:lstStyle/>
          <a:p>
            <a:pPr indent="0" marL="0">
              <a:buNone/>
            </a:pPr>
            <a:r>
              <a:rPr lang="en-US" sz="1300" i="1" dirty="0">
                <a:solidFill>
                  <a:srgbClr val="1E2A44"/>
                </a:solidFill>
                <a:latin typeface="Calibri" pitchFamily="34" charset="0"/>
                <a:ea typeface="Calibri" pitchFamily="34" charset="-122"/>
                <a:cs typeface="Calibri" pitchFamily="34" charset="-120"/>
              </a:rPr>
              <a:t>Hilo conductor: un modelo es una forma de resumir y comparar, no una máquina de verdades.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MOTIVACIÓN</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El gancho: ¿más horas, más meses?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4</a:t>
            </a:r>
            <a:endParaRPr lang="en-US" sz="800" dirty="0"/>
          </a:p>
        </p:txBody>
      </p:sp>
      <p:sp>
        <p:nvSpPr>
          <p:cNvPr id="7" name="Shape 4"/>
          <p:cNvSpPr/>
          <p:nvPr/>
        </p:nvSpPr>
        <p:spPr>
          <a:xfrm>
            <a:off x="548640" y="1399032"/>
            <a:ext cx="6437376" cy="3913632"/>
          </a:xfrm>
          <a:prstGeom prst="roundRect">
            <a:avLst>
              <a:gd name="adj" fmla="val 116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01_gancho.png">    </p:cNvPr>
          <p:cNvPicPr>
            <a:picLocks noChangeAspect="1"/>
          </p:cNvPicPr>
          <p:nvPr/>
        </p:nvPicPr>
        <p:blipFill>
          <a:blip r:embed="rId1"/>
          <a:stretch>
            <a:fillRect/>
          </a:stretch>
        </p:blipFill>
        <p:spPr>
          <a:xfrm>
            <a:off x="612648" y="1463040"/>
            <a:ext cx="6309360" cy="3785616"/>
          </a:xfrm>
          <a:prstGeom prst="rect">
            <a:avLst/>
          </a:prstGeom>
        </p:spPr>
      </p:pic>
      <p:sp>
        <p:nvSpPr>
          <p:cNvPr id="9" name="Shape 5"/>
          <p:cNvSpPr/>
          <p:nvPr/>
        </p:nvSpPr>
        <p:spPr>
          <a:xfrm>
            <a:off x="8092440" y="1399032"/>
            <a:ext cx="3547872" cy="1965960"/>
          </a:xfrm>
          <a:prstGeom prst="roundRect">
            <a:avLst>
              <a:gd name="adj" fmla="val 3256"/>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0" name="Text 6"/>
          <p:cNvSpPr txBox="1"/>
          <p:nvPr/>
        </p:nvSpPr>
        <p:spPr>
          <a:xfrm>
            <a:off x="8321040" y="1554480"/>
            <a:ext cx="310896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LOS DATOS</a:t>
            </a:r>
            <a:endParaRPr lang="en-US" sz="900" dirty="0"/>
          </a:p>
        </p:txBody>
      </p:sp>
      <p:sp>
        <p:nvSpPr>
          <p:cNvPr id="11" name="Text 7"/>
          <p:cNvSpPr txBox="1"/>
          <p:nvPr/>
        </p:nvSpPr>
        <p:spPr>
          <a:xfrm>
            <a:off x="8321040" y="1874520"/>
            <a:ext cx="3200400" cy="137160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200 egresados de posgrado</a:t>
            </a:r>
            <a:endParaRPr lang="en-US" sz="1300" dirty="0"/>
          </a:p>
          <a:p>
            <a:pPr indent="0" marL="0">
              <a:buNone/>
            </a:pPr>
            <a:r>
              <a:rPr lang="en-US" sz="1300" dirty="0">
                <a:solidFill>
                  <a:srgbClr val="1E2A44"/>
                </a:solidFill>
                <a:latin typeface="Calibri" pitchFamily="34" charset="0"/>
                <a:ea typeface="Calibri" pitchFamily="34" charset="-122"/>
                <a:cs typeface="Calibri" pitchFamily="34" charset="-120"/>
              </a:rPr>
              <a:t>Horas semanales de investigación</a:t>
            </a:r>
            <a:endParaRPr lang="en-US" sz="1300" dirty="0"/>
          </a:p>
          <a:p>
            <a:pPr indent="0" marL="0">
              <a:buNone/>
            </a:pPr>
            <a:r>
              <a:rPr lang="en-US" sz="1300" dirty="0">
                <a:solidFill>
                  <a:srgbClr val="1E2A44"/>
                </a:solidFill>
                <a:latin typeface="Calibri" pitchFamily="34" charset="0"/>
                <a:ea typeface="Calibri" pitchFamily="34" charset="-122"/>
                <a:cs typeface="Calibri" pitchFamily="34" charset="-120"/>
              </a:rPr>
              <a:t>Meses hasta titularse</a:t>
            </a:r>
            <a:endParaRPr lang="en-US" sz="1300" dirty="0"/>
          </a:p>
        </p:txBody>
      </p:sp>
      <p:sp>
        <p:nvSpPr>
          <p:cNvPr id="12" name="Shape 8"/>
          <p:cNvSpPr/>
          <p:nvPr/>
        </p:nvSpPr>
        <p:spPr>
          <a:xfrm>
            <a:off x="8092440" y="3566160"/>
            <a:ext cx="3547872" cy="1600200"/>
          </a:xfrm>
          <a:prstGeom prst="roundRect">
            <a:avLst>
              <a:gd name="adj" fmla="val 4000"/>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8321040" y="3703320"/>
            <a:ext cx="3017520" cy="274320"/>
          </a:xfrm>
          <a:prstGeom prst="rect">
            <a:avLst/>
          </a:prstGeom>
          <a:noFill/>
          <a:ln/>
        </p:spPr>
        <p:txBody>
          <a:bodyPr wrap="square" lIns="0" tIns="0" rIns="0" bIns="0" rtlCol="0" anchor="t"/>
          <a:lstStyle/>
          <a:p>
            <a:pPr indent="0" marL="0">
              <a:buNone/>
            </a:pPr>
            <a:r>
              <a:rPr lang="en-US" sz="1400" b="1" dirty="0">
                <a:solidFill>
                  <a:srgbClr val="B7791F"/>
                </a:solidFill>
                <a:latin typeface="Cambria" pitchFamily="34" charset="0"/>
                <a:ea typeface="Cambria" pitchFamily="34" charset="-122"/>
                <a:cs typeface="Cambria" pitchFamily="34" charset="-120"/>
              </a:rPr>
              <a:t>Pregunta</a:t>
            </a:r>
            <a:endParaRPr lang="en-US" sz="1400" dirty="0"/>
          </a:p>
        </p:txBody>
      </p:sp>
      <p:sp>
        <p:nvSpPr>
          <p:cNvPr id="14" name="Text 10"/>
          <p:cNvSpPr txBox="1"/>
          <p:nvPr/>
        </p:nvSpPr>
        <p:spPr>
          <a:xfrm>
            <a:off x="8321040" y="4023360"/>
            <a:ext cx="3108960" cy="1005840"/>
          </a:xfrm>
          <a:prstGeom prst="rect">
            <a:avLst/>
          </a:prstGeom>
          <a:noFill/>
          <a:ln/>
        </p:spPr>
        <p:txBody>
          <a:bodyPr wrap="square" lIns="0" tIns="0" rIns="0" bIns="0" rtlCol="0" anchor="t"/>
          <a:lstStyle/>
          <a:p>
            <a:pPr indent="0" marL="0">
              <a:buNone/>
            </a:pPr>
            <a:r>
              <a:rPr lang="en-US" sz="1400" b="1" dirty="0">
                <a:solidFill>
                  <a:srgbClr val="1E2A44"/>
                </a:solidFill>
                <a:latin typeface="Calibri" pitchFamily="34" charset="0"/>
                <a:ea typeface="Calibri" pitchFamily="34" charset="-122"/>
                <a:cs typeface="Calibri" pitchFamily="34" charset="-120"/>
              </a:rPr>
              <a:t>¿Dedicar más horas a investigar retrasa la titulación?</a:t>
            </a:r>
            <a:endParaRPr lang="en-US" sz="1400" dirty="0"/>
          </a:p>
        </p:txBody>
      </p:sp>
      <p:sp>
        <p:nvSpPr>
          <p:cNvPr id="15" name="Shape 11"/>
          <p:cNvSpPr/>
          <p:nvPr/>
        </p:nvSpPr>
        <p:spPr>
          <a:xfrm>
            <a:off x="548640" y="5440680"/>
            <a:ext cx="11091672" cy="685800"/>
          </a:xfrm>
          <a:prstGeom prst="rect">
            <a:avLst/>
          </a:prstGeom>
          <a:solidFill>
            <a:srgbClr val="E4EEF2"/>
          </a:solidFill>
          <a:ln w="12700">
            <a:solidFill>
              <a:srgbClr val="E4EEF2"/>
            </a:solidFill>
            <a:prstDash val="solid"/>
          </a:ln>
        </p:spPr>
      </p:sp>
      <p:sp>
        <p:nvSpPr>
          <p:cNvPr id="16" name="Shape 12"/>
          <p:cNvSpPr/>
          <p:nvPr/>
        </p:nvSpPr>
        <p:spPr>
          <a:xfrm>
            <a:off x="548640" y="5440680"/>
            <a:ext cx="64008" cy="685800"/>
          </a:xfrm>
          <a:prstGeom prst="rect">
            <a:avLst/>
          </a:prstGeom>
          <a:solidFill>
            <a:srgbClr val="1C7293"/>
          </a:solidFill>
          <a:ln w="12700">
            <a:solidFill>
              <a:srgbClr val="1C7293"/>
            </a:solidFill>
            <a:prstDash val="solid"/>
          </a:ln>
        </p:spPr>
      </p:sp>
      <p:sp>
        <p:nvSpPr>
          <p:cNvPr id="17" name="Text 13"/>
          <p:cNvSpPr txBox="1"/>
          <p:nvPr/>
        </p:nvSpPr>
        <p:spPr>
          <a:xfrm>
            <a:off x="749808" y="5440680"/>
            <a:ext cx="10771632" cy="685800"/>
          </a:xfrm>
          <a:prstGeom prst="rect">
            <a:avLst/>
          </a:prstGeom>
          <a:noFill/>
          <a:ln/>
        </p:spPr>
        <p:txBody>
          <a:bodyPr wrap="square" lIns="0" tIns="0" rIns="0" bIns="0" rtlCol="0" anchor="ctr"/>
          <a:lstStyle/>
          <a:p>
            <a:pPr indent="0" marL="0">
              <a:buNone/>
            </a:pPr>
            <a:r>
              <a:rPr lang="en-US" sz="1350" i="1" dirty="0">
                <a:solidFill>
                  <a:srgbClr val="1E2A44"/>
                </a:solidFill>
                <a:latin typeface="Calibri" pitchFamily="34" charset="0"/>
                <a:ea typeface="Calibri" pitchFamily="34" charset="-122"/>
                <a:cs typeface="Calibri" pitchFamily="34" charset="-120"/>
              </a:rPr>
              <a:t>Guarda la duda: al final de la Parte 2 descubriremos que este gráfico nos estaba engañando.</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sp>
      <p:sp>
        <p:nvSpPr>
          <p:cNvPr id="4" name="Text 2"/>
          <p:cNvSpPr txBox="1"/>
          <p:nvPr/>
        </p:nvSpPr>
        <p:spPr>
          <a:xfrm>
            <a:off x="731520" y="2331720"/>
            <a:ext cx="7315200" cy="274320"/>
          </a:xfrm>
          <a:prstGeom prst="rect">
            <a:avLst/>
          </a:prstGeom>
          <a:noFill/>
          <a:ln/>
        </p:spPr>
        <p:txBody>
          <a:bodyPr wrap="square" lIns="0" tIns="0" rIns="0" bIns="0" rtlCol="0" anchor="ctr"/>
          <a:lstStyle/>
          <a:p>
            <a:pPr indent="0" marL="0">
              <a:buNone/>
            </a:pPr>
            <a:r>
              <a:rPr lang="en-US" sz="1100" b="1" spc="300" kern="0" dirty="0">
                <a:solidFill>
                  <a:srgbClr val="8FB8D8"/>
                </a:solidFill>
                <a:latin typeface="Calibri" pitchFamily="34" charset="0"/>
                <a:ea typeface="Calibri" pitchFamily="34" charset="-122"/>
                <a:cs typeface="Calibri" pitchFamily="34" charset="-120"/>
              </a:rPr>
              <a:t>PARTE 1</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Regresión lineal simple</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indent="0" marL="0">
              <a:buNone/>
            </a:pPr>
            <a:r>
              <a:rPr lang="en-US" sz="1800" dirty="0">
                <a:solidFill>
                  <a:srgbClr val="C9DDEC"/>
                </a:solidFill>
                <a:latin typeface="Calibri" pitchFamily="34" charset="0"/>
                <a:ea typeface="Calibri" pitchFamily="34" charset="-122"/>
                <a:cs typeface="Calibri" pitchFamily="34" charset="-120"/>
              </a:rPr>
              <a:t>lm(), summary(), coeficientes, incertidumbre, R² y predicciones</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indent="0" marL="0">
              <a:buNone/>
            </a:pPr>
            <a:r>
              <a:rPr lang="en-US" sz="1300" dirty="0">
                <a:solidFill>
                  <a:srgbClr val="9DB8CE"/>
                </a:solidFill>
                <a:latin typeface="Calibri" pitchFamily="34" charset="0"/>
                <a:ea typeface="Calibri" pitchFamily="34" charset="-122"/>
                <a:cs typeface="Calibri" pitchFamily="34" charset="-120"/>
              </a:rPr>
              <a:t>19 minutos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La idea: una recta que resume la nube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6</a:t>
            </a:r>
            <a:endParaRPr lang="en-US" sz="800" dirty="0"/>
          </a:p>
        </p:txBody>
      </p:sp>
      <p:sp>
        <p:nvSpPr>
          <p:cNvPr id="7" name="Shape 4"/>
          <p:cNvSpPr/>
          <p:nvPr/>
        </p:nvSpPr>
        <p:spPr>
          <a:xfrm>
            <a:off x="548640" y="1399032"/>
            <a:ext cx="6163056" cy="3749040"/>
          </a:xfrm>
          <a:prstGeom prst="roundRect">
            <a:avLst>
              <a:gd name="adj" fmla="val 122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02_residuos.png">    </p:cNvPr>
          <p:cNvPicPr>
            <a:picLocks noChangeAspect="1"/>
          </p:cNvPicPr>
          <p:nvPr/>
        </p:nvPicPr>
        <p:blipFill>
          <a:blip r:embed="rId1"/>
          <a:stretch>
            <a:fillRect/>
          </a:stretch>
        </p:blipFill>
        <p:spPr>
          <a:xfrm>
            <a:off x="612648" y="1463040"/>
            <a:ext cx="6035040" cy="3621024"/>
          </a:xfrm>
          <a:prstGeom prst="rect">
            <a:avLst/>
          </a:prstGeom>
        </p:spPr>
      </p:pic>
      <p:sp>
        <p:nvSpPr>
          <p:cNvPr id="9" name="Shape 5"/>
          <p:cNvSpPr/>
          <p:nvPr/>
        </p:nvSpPr>
        <p:spPr>
          <a:xfrm>
            <a:off x="7863840" y="1399032"/>
            <a:ext cx="3776472" cy="1234440"/>
          </a:xfrm>
          <a:prstGeom prst="roundRect">
            <a:avLst>
              <a:gd name="adj" fmla="val 518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0" name="Text 6"/>
          <p:cNvSpPr txBox="1"/>
          <p:nvPr/>
        </p:nvSpPr>
        <p:spPr>
          <a:xfrm>
            <a:off x="8092440" y="1554480"/>
            <a:ext cx="329184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EL MODELO</a:t>
            </a:r>
            <a:endParaRPr lang="en-US" sz="900" dirty="0"/>
          </a:p>
        </p:txBody>
      </p:sp>
      <p:sp>
        <p:nvSpPr>
          <p:cNvPr id="11" name="Text 7"/>
          <p:cNvSpPr txBox="1"/>
          <p:nvPr/>
        </p:nvSpPr>
        <p:spPr>
          <a:xfrm>
            <a:off x="8092440" y="1874520"/>
            <a:ext cx="3383280" cy="502920"/>
          </a:xfrm>
          <a:prstGeom prst="rect">
            <a:avLst/>
          </a:prstGeom>
          <a:noFill/>
          <a:ln/>
        </p:spPr>
        <p:txBody>
          <a:bodyPr wrap="square" lIns="0" tIns="0" rIns="0" bIns="0" rtlCol="0" anchor="t"/>
          <a:lstStyle/>
          <a:p>
            <a:pPr indent="0" marL="0">
              <a:buNone/>
            </a:pPr>
            <a:r>
              <a:rPr lang="en-US" sz="2200" b="1" dirty="0">
                <a:solidFill>
                  <a:srgbClr val="21295C"/>
                </a:solidFill>
                <a:latin typeface="Cambria" pitchFamily="34" charset="0"/>
                <a:ea typeface="Cambria" pitchFamily="34" charset="-122"/>
                <a:cs typeface="Cambria" pitchFamily="34" charset="-120"/>
              </a:rPr>
              <a:t>Y = β₀ + β₁·X + ε</a:t>
            </a:r>
            <a:endParaRPr lang="en-US" sz="2200" dirty="0"/>
          </a:p>
        </p:txBody>
      </p:sp>
      <p:sp>
        <p:nvSpPr>
          <p:cNvPr id="12" name="Shape 8"/>
          <p:cNvSpPr/>
          <p:nvPr/>
        </p:nvSpPr>
        <p:spPr>
          <a:xfrm>
            <a:off x="7863840" y="2834640"/>
            <a:ext cx="3776472" cy="731520"/>
          </a:xfrm>
          <a:prstGeom prst="roundRect">
            <a:avLst>
              <a:gd name="adj" fmla="val 875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8092440" y="2926080"/>
            <a:ext cx="3383280" cy="274320"/>
          </a:xfrm>
          <a:prstGeom prst="rect">
            <a:avLst/>
          </a:prstGeom>
          <a:noFill/>
          <a:ln/>
        </p:spPr>
        <p:txBody>
          <a:bodyPr wrap="square" lIns="0" tIns="0" rIns="0" bIns="0" rtlCol="0" anchor="t"/>
          <a:lstStyle/>
          <a:p>
            <a:pPr indent="0" marL="0">
              <a:buNone/>
            </a:pPr>
            <a:r>
              <a:rPr lang="en-US" sz="1350" b="1" dirty="0">
                <a:solidFill>
                  <a:srgbClr val="065A82"/>
                </a:solidFill>
                <a:latin typeface="Cambria" pitchFamily="34" charset="0"/>
                <a:ea typeface="Cambria" pitchFamily="34" charset="-122"/>
                <a:cs typeface="Cambria" pitchFamily="34" charset="-120"/>
              </a:rPr>
              <a:t>β₀  intercepto</a:t>
            </a:r>
            <a:endParaRPr lang="en-US" sz="1350" dirty="0"/>
          </a:p>
        </p:txBody>
      </p:sp>
      <p:sp>
        <p:nvSpPr>
          <p:cNvPr id="14" name="Text 10"/>
          <p:cNvSpPr txBox="1"/>
          <p:nvPr/>
        </p:nvSpPr>
        <p:spPr>
          <a:xfrm>
            <a:off x="8092440" y="3200400"/>
            <a:ext cx="338328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valor esperado de Y cuando X = 0</a:t>
            </a:r>
            <a:endParaRPr lang="en-US" sz="1200" dirty="0"/>
          </a:p>
        </p:txBody>
      </p:sp>
      <p:sp>
        <p:nvSpPr>
          <p:cNvPr id="15" name="Shape 11"/>
          <p:cNvSpPr/>
          <p:nvPr/>
        </p:nvSpPr>
        <p:spPr>
          <a:xfrm>
            <a:off x="7863840" y="3675888"/>
            <a:ext cx="3776472" cy="731520"/>
          </a:xfrm>
          <a:prstGeom prst="roundRect">
            <a:avLst>
              <a:gd name="adj" fmla="val 875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6" name="Text 12"/>
          <p:cNvSpPr txBox="1"/>
          <p:nvPr/>
        </p:nvSpPr>
        <p:spPr>
          <a:xfrm>
            <a:off x="8092440" y="3767328"/>
            <a:ext cx="3383280" cy="274320"/>
          </a:xfrm>
          <a:prstGeom prst="rect">
            <a:avLst/>
          </a:prstGeom>
          <a:noFill/>
          <a:ln/>
        </p:spPr>
        <p:txBody>
          <a:bodyPr wrap="square" lIns="0" tIns="0" rIns="0" bIns="0" rtlCol="0" anchor="t"/>
          <a:lstStyle/>
          <a:p>
            <a:pPr indent="0" marL="0">
              <a:buNone/>
            </a:pPr>
            <a:r>
              <a:rPr lang="en-US" sz="1350" b="1" dirty="0">
                <a:solidFill>
                  <a:srgbClr val="065A82"/>
                </a:solidFill>
                <a:latin typeface="Cambria" pitchFamily="34" charset="0"/>
                <a:ea typeface="Cambria" pitchFamily="34" charset="-122"/>
                <a:cs typeface="Cambria" pitchFamily="34" charset="-120"/>
              </a:rPr>
              <a:t>β₁  pendiente</a:t>
            </a:r>
            <a:endParaRPr lang="en-US" sz="1350" dirty="0"/>
          </a:p>
        </p:txBody>
      </p:sp>
      <p:sp>
        <p:nvSpPr>
          <p:cNvPr id="17" name="Text 13"/>
          <p:cNvSpPr txBox="1"/>
          <p:nvPr/>
        </p:nvSpPr>
        <p:spPr>
          <a:xfrm>
            <a:off x="8092440" y="4041648"/>
            <a:ext cx="338328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cambio medio de Y por cada unidad de X</a:t>
            </a:r>
            <a:endParaRPr lang="en-US" sz="1200" dirty="0"/>
          </a:p>
        </p:txBody>
      </p:sp>
      <p:sp>
        <p:nvSpPr>
          <p:cNvPr id="18" name="Shape 14"/>
          <p:cNvSpPr/>
          <p:nvPr/>
        </p:nvSpPr>
        <p:spPr>
          <a:xfrm>
            <a:off x="7863840" y="4517136"/>
            <a:ext cx="3776472" cy="731520"/>
          </a:xfrm>
          <a:prstGeom prst="roundRect">
            <a:avLst>
              <a:gd name="adj" fmla="val 875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9" name="Text 15"/>
          <p:cNvSpPr txBox="1"/>
          <p:nvPr/>
        </p:nvSpPr>
        <p:spPr>
          <a:xfrm>
            <a:off x="8092440" y="4608576"/>
            <a:ext cx="3383280" cy="274320"/>
          </a:xfrm>
          <a:prstGeom prst="rect">
            <a:avLst/>
          </a:prstGeom>
          <a:noFill/>
          <a:ln/>
        </p:spPr>
        <p:txBody>
          <a:bodyPr wrap="square" lIns="0" tIns="0" rIns="0" bIns="0" rtlCol="0" anchor="t"/>
          <a:lstStyle/>
          <a:p>
            <a:pPr indent="0" marL="0">
              <a:buNone/>
            </a:pPr>
            <a:r>
              <a:rPr lang="en-US" sz="1350" b="1" dirty="0">
                <a:solidFill>
                  <a:srgbClr val="065A82"/>
                </a:solidFill>
                <a:latin typeface="Cambria" pitchFamily="34" charset="0"/>
                <a:ea typeface="Cambria" pitchFamily="34" charset="-122"/>
                <a:cs typeface="Cambria" pitchFamily="34" charset="-120"/>
              </a:rPr>
              <a:t>ε  error</a:t>
            </a:r>
            <a:endParaRPr lang="en-US" sz="1350" dirty="0"/>
          </a:p>
        </p:txBody>
      </p:sp>
      <p:sp>
        <p:nvSpPr>
          <p:cNvPr id="20" name="Text 16"/>
          <p:cNvSpPr txBox="1"/>
          <p:nvPr/>
        </p:nvSpPr>
        <p:spPr>
          <a:xfrm>
            <a:off x="8092440" y="4882896"/>
            <a:ext cx="338328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lo que la recta no explica</a:t>
            </a:r>
            <a:endParaRPr lang="en-US" sz="1200" dirty="0"/>
          </a:p>
        </p:txBody>
      </p:sp>
      <p:sp>
        <p:nvSpPr>
          <p:cNvPr id="21" name="Shape 17"/>
          <p:cNvSpPr/>
          <p:nvPr/>
        </p:nvSpPr>
        <p:spPr>
          <a:xfrm>
            <a:off x="548640" y="5394960"/>
            <a:ext cx="11091672" cy="731520"/>
          </a:xfrm>
          <a:prstGeom prst="rect">
            <a:avLst/>
          </a:prstGeom>
          <a:solidFill>
            <a:srgbClr val="E4EEF2"/>
          </a:solidFill>
          <a:ln w="12700">
            <a:solidFill>
              <a:srgbClr val="E4EEF2"/>
            </a:solidFill>
            <a:prstDash val="solid"/>
          </a:ln>
        </p:spPr>
      </p:sp>
      <p:sp>
        <p:nvSpPr>
          <p:cNvPr id="22" name="Shape 18"/>
          <p:cNvSpPr/>
          <p:nvPr/>
        </p:nvSpPr>
        <p:spPr>
          <a:xfrm>
            <a:off x="548640" y="5394960"/>
            <a:ext cx="64008" cy="731520"/>
          </a:xfrm>
          <a:prstGeom prst="rect">
            <a:avLst/>
          </a:prstGeom>
          <a:solidFill>
            <a:srgbClr val="1C7293"/>
          </a:solidFill>
          <a:ln w="12700">
            <a:solidFill>
              <a:srgbClr val="1C7293"/>
            </a:solidFill>
            <a:prstDash val="solid"/>
          </a:ln>
        </p:spPr>
      </p:sp>
      <p:sp>
        <p:nvSpPr>
          <p:cNvPr id="23" name="Text 19"/>
          <p:cNvSpPr txBox="1"/>
          <p:nvPr/>
        </p:nvSpPr>
        <p:spPr>
          <a:xfrm>
            <a:off x="749808" y="5394960"/>
            <a:ext cx="10771632" cy="731520"/>
          </a:xfrm>
          <a:prstGeom prst="rect">
            <a:avLst/>
          </a:prstGeom>
          <a:noFill/>
          <a:ln/>
        </p:spPr>
        <p:txBody>
          <a:bodyPr wrap="square" lIns="0" tIns="0" rIns="0" bIns="0" rtlCol="0" anchor="ctr"/>
          <a:lstStyle/>
          <a:p>
            <a:pPr indent="0" marL="0">
              <a:buNone/>
            </a:pPr>
            <a:r>
              <a:rPr lang="en-US" sz="1450" b="1" dirty="0">
                <a:solidFill>
                  <a:srgbClr val="1E2A44"/>
                </a:solidFill>
                <a:latin typeface="Calibri" pitchFamily="34" charset="0"/>
                <a:ea typeface="Calibri" pitchFamily="34" charset="-122"/>
                <a:cs typeface="Calibri" pitchFamily="34" charset="-120"/>
              </a:rPr>
              <a:t>Mínimos cuadrados: la recta elegida hace mínima la suma de los residuos al cuadrado.</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lm() y la sintaxis de fórmulas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7</a:t>
            </a:r>
            <a:endParaRPr lang="en-US" sz="800" dirty="0"/>
          </a:p>
        </p:txBody>
      </p:sp>
      <p:sp>
        <p:nvSpPr>
          <p:cNvPr id="7" name="Shape 4"/>
          <p:cNvSpPr/>
          <p:nvPr/>
        </p:nvSpPr>
        <p:spPr>
          <a:xfrm>
            <a:off x="548640" y="1463040"/>
            <a:ext cx="6583680" cy="2114296"/>
          </a:xfrm>
          <a:prstGeom prst="roundRect">
            <a:avLst>
              <a:gd name="adj" fmla="val 2595"/>
            </a:avLst>
          </a:prstGeom>
          <a:solidFill>
            <a:srgbClr val="162044"/>
          </a:solidFill>
          <a:ln w="12700">
            <a:solidFill>
              <a:srgbClr val="162044"/>
            </a:solidFill>
            <a:prstDash val="solid"/>
          </a:ln>
        </p:spPr>
      </p:sp>
      <p:sp>
        <p:nvSpPr>
          <p:cNvPr id="8" name="Shape 5"/>
          <p:cNvSpPr/>
          <p:nvPr/>
        </p:nvSpPr>
        <p:spPr>
          <a:xfrm>
            <a:off x="621792" y="1591056"/>
            <a:ext cx="6437376" cy="225425"/>
          </a:xfrm>
          <a:prstGeom prst="rect">
            <a:avLst/>
          </a:prstGeom>
          <a:solidFill>
            <a:srgbClr val="D69E2E">
              <a:alpha val="28000"/>
            </a:srgbClr>
          </a:solidFill>
          <a:ln w="12700">
            <a:solidFill>
              <a:srgbClr val="D69E2E">
                <a:alpha val="0"/>
              </a:srgbClr>
            </a:solidFill>
            <a:prstDash val="solid"/>
          </a:ln>
        </p:spPr>
      </p:sp>
      <p:sp>
        <p:nvSpPr>
          <p:cNvPr id="9" name="Shape 6"/>
          <p:cNvSpPr/>
          <p:nvPr/>
        </p:nvSpPr>
        <p:spPr>
          <a:xfrm>
            <a:off x="621792" y="1816481"/>
            <a:ext cx="6437376" cy="225425"/>
          </a:xfrm>
          <a:prstGeom prst="rect">
            <a:avLst/>
          </a:prstGeom>
          <a:solidFill>
            <a:srgbClr val="D69E2E">
              <a:alpha val="28000"/>
            </a:srgbClr>
          </a:solidFill>
          <a:ln w="12700">
            <a:solidFill>
              <a:srgbClr val="D69E2E">
                <a:alpha val="0"/>
              </a:srgbClr>
            </a:solidFill>
            <a:prstDash val="solid"/>
          </a:ln>
        </p:spPr>
      </p:sp>
      <p:sp>
        <p:nvSpPr>
          <p:cNvPr id="10" name="Text 7"/>
          <p:cNvSpPr txBox="1"/>
          <p:nvPr/>
        </p:nvSpPr>
        <p:spPr>
          <a:xfrm>
            <a:off x="731520" y="1591056"/>
            <a:ext cx="6217920" cy="1803400"/>
          </a:xfrm>
          <a:prstGeom prst="rect">
            <a:avLst/>
          </a:prstGeom>
          <a:noFill/>
          <a:ln/>
        </p:spPr>
        <p:txBody>
          <a:bodyPr wrap="square" lIns="0" tIns="0" rIns="0" bIns="0" rtlCol="0" anchor="t"/>
          <a:lstStyle/>
          <a:p>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m1 </a:t>
            </a:r>
            <a:pPr indent="0" marL="0">
              <a:lnSpc>
                <a:spcPts val="1775"/>
              </a:lnSpc>
              <a:buNone/>
            </a:pPr>
            <a:r>
              <a:rPr lang="en-US" sz="1250" dirty="0">
                <a:solidFill>
                  <a:srgbClr val="A5D8FF"/>
                </a:solidFill>
                <a:latin typeface="Courier New" pitchFamily="34" charset="0"/>
                <a:ea typeface="Courier New" pitchFamily="34" charset="-122"/>
                <a:cs typeface="Courier New" pitchFamily="34" charset="-120"/>
              </a:rPr>
              <a:t>&lt;-</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775"/>
              </a:lnSpc>
              <a:buNone/>
            </a:pPr>
            <a:r>
              <a:rPr lang="en-US" sz="1250" dirty="0">
                <a:solidFill>
                  <a:srgbClr val="7DD3FC"/>
                </a:solidFill>
                <a:latin typeface="Courier New" pitchFamily="34" charset="0"/>
                <a:ea typeface="Courier New" pitchFamily="34" charset="-122"/>
                <a:cs typeface="Courier New" pitchFamily="34" charset="-120"/>
              </a:rPr>
              <a:t>lm</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(meses_titulacion </a:t>
            </a:r>
            <a:pPr indent="0" marL="0">
              <a:lnSpc>
                <a:spcPts val="1775"/>
              </a:lnSpc>
              <a:buNone/>
            </a:pPr>
            <a:r>
              <a:rPr lang="en-US" sz="1250" dirty="0">
                <a:solidFill>
                  <a:srgbClr val="A5D8FF"/>
                </a:solidFill>
                <a:latin typeface="Courier New" pitchFamily="34" charset="0"/>
                <a:ea typeface="Courier New" pitchFamily="34" charset="-122"/>
                <a:cs typeface="Courier New" pitchFamily="34" charset="-120"/>
              </a:rPr>
              <a:t>~</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 horas_investigacion_sem,</a:t>
            </a:r>
            <a:endParaRPr lang="en-US" sz="1250" dirty="0"/>
          </a:p>
          <a:p>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         data = egresados)</a:t>
            </a:r>
            <a:endParaRPr lang="en-US" sz="1250" dirty="0"/>
          </a:p>
          <a:p>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lnSpc>
                <a:spcPts val="1775"/>
              </a:lnSpc>
              <a:buNone/>
            </a:pPr>
            <a:r>
              <a:rPr lang="en-US" sz="1250" dirty="0">
                <a:solidFill>
                  <a:srgbClr val="7DD3FC"/>
                </a:solidFill>
                <a:latin typeface="Courier New" pitchFamily="34" charset="0"/>
                <a:ea typeface="Courier New" pitchFamily="34" charset="-122"/>
                <a:cs typeface="Courier New" pitchFamily="34" charset="-120"/>
              </a:rPr>
              <a:t>summary</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(m1)        </a:t>
            </a:r>
            <a:pPr indent="0" marL="0">
              <a:lnSpc>
                <a:spcPts val="1775"/>
              </a:lnSpc>
              <a:buNone/>
            </a:pPr>
            <a:r>
              <a:rPr lang="en-US" sz="1250" i="1" dirty="0">
                <a:solidFill>
                  <a:srgbClr val="8196BC"/>
                </a:solidFill>
                <a:latin typeface="Courier New" pitchFamily="34" charset="0"/>
                <a:ea typeface="Courier New" pitchFamily="34" charset="-122"/>
                <a:cs typeface="Courier New" pitchFamily="34" charset="-120"/>
              </a:rPr>
              <a:t># resumen completo</a:t>
            </a:r>
            <a:endParaRPr lang="en-US" sz="1250" dirty="0"/>
          </a:p>
          <a:p>
            <a:pPr indent="0" marL="0">
              <a:lnSpc>
                <a:spcPts val="1775"/>
              </a:lnSpc>
              <a:buNone/>
            </a:pPr>
            <a:r>
              <a:rPr lang="en-US" sz="1250" dirty="0">
                <a:solidFill>
                  <a:srgbClr val="7DD3FC"/>
                </a:solidFill>
                <a:latin typeface="Courier New" pitchFamily="34" charset="0"/>
                <a:ea typeface="Courier New" pitchFamily="34" charset="-122"/>
                <a:cs typeface="Courier New" pitchFamily="34" charset="-120"/>
              </a:rPr>
              <a:t>coef</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(m1)           </a:t>
            </a:r>
            <a:pPr indent="0" marL="0">
              <a:lnSpc>
                <a:spcPts val="1775"/>
              </a:lnSpc>
              <a:buNone/>
            </a:pPr>
            <a:r>
              <a:rPr lang="en-US" sz="1250" i="1" dirty="0">
                <a:solidFill>
                  <a:srgbClr val="8196BC"/>
                </a:solidFill>
                <a:latin typeface="Courier New" pitchFamily="34" charset="0"/>
                <a:ea typeface="Courier New" pitchFamily="34" charset="-122"/>
                <a:cs typeface="Courier New" pitchFamily="34" charset="-120"/>
              </a:rPr>
              <a:t># solo los coeficientes</a:t>
            </a:r>
            <a:endParaRPr lang="en-US" sz="1250" dirty="0"/>
          </a:p>
          <a:p>
            <a:pPr indent="0" marL="0">
              <a:lnSpc>
                <a:spcPts val="1775"/>
              </a:lnSpc>
              <a:buNone/>
            </a:pPr>
            <a:r>
              <a:rPr lang="en-US" sz="1250" dirty="0">
                <a:solidFill>
                  <a:srgbClr val="7DD3FC"/>
                </a:solidFill>
                <a:latin typeface="Courier New" pitchFamily="34" charset="0"/>
                <a:ea typeface="Courier New" pitchFamily="34" charset="-122"/>
                <a:cs typeface="Courier New" pitchFamily="34" charset="-120"/>
              </a:rPr>
              <a:t>confint</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(m1)        </a:t>
            </a:r>
            <a:pPr indent="0" marL="0">
              <a:lnSpc>
                <a:spcPts val="1775"/>
              </a:lnSpc>
              <a:buNone/>
            </a:pPr>
            <a:r>
              <a:rPr lang="en-US" sz="1250" i="1" dirty="0">
                <a:solidFill>
                  <a:srgbClr val="8196BC"/>
                </a:solidFill>
                <a:latin typeface="Courier New" pitchFamily="34" charset="0"/>
                <a:ea typeface="Courier New" pitchFamily="34" charset="-122"/>
                <a:cs typeface="Courier New" pitchFamily="34" charset="-120"/>
              </a:rPr>
              <a:t># intervalos de confianza</a:t>
            </a:r>
            <a:endParaRPr lang="en-US" sz="1250" dirty="0"/>
          </a:p>
          <a:p>
            <a:pPr indent="0" marL="0">
              <a:lnSpc>
                <a:spcPts val="1775"/>
              </a:lnSpc>
              <a:buNone/>
            </a:pPr>
            <a:r>
              <a:rPr lang="en-US" sz="1250" dirty="0">
                <a:solidFill>
                  <a:srgbClr val="7DD3FC"/>
                </a:solidFill>
                <a:latin typeface="Courier New" pitchFamily="34" charset="0"/>
                <a:ea typeface="Courier New" pitchFamily="34" charset="-122"/>
                <a:cs typeface="Courier New" pitchFamily="34" charset="-120"/>
              </a:rPr>
              <a:t>predict</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(m1, newdata = nuevos)  </a:t>
            </a:r>
            <a:pPr indent="0" marL="0">
              <a:lnSpc>
                <a:spcPts val="1775"/>
              </a:lnSpc>
              <a:buNone/>
            </a:pPr>
            <a:r>
              <a:rPr lang="en-US" sz="1250" i="1" dirty="0">
                <a:solidFill>
                  <a:srgbClr val="8196BC"/>
                </a:solidFill>
                <a:latin typeface="Courier New" pitchFamily="34" charset="0"/>
                <a:ea typeface="Courier New" pitchFamily="34" charset="-122"/>
                <a:cs typeface="Courier New" pitchFamily="34" charset="-120"/>
              </a:rPr>
              <a:t># predicciones</a:t>
            </a:r>
            <a:endParaRPr lang="en-US" sz="1250" dirty="0"/>
          </a:p>
          <a:p>
            <a:pPr indent="0" marL="0">
              <a:lnSpc>
                <a:spcPts val="1775"/>
              </a:lnSpc>
              <a:buNone/>
            </a:pPr>
            <a:r>
              <a:rPr lang="en-US" sz="1250" dirty="0">
                <a:solidFill>
                  <a:srgbClr val="7DD3FC"/>
                </a:solidFill>
                <a:latin typeface="Courier New" pitchFamily="34" charset="0"/>
                <a:ea typeface="Courier New" pitchFamily="34" charset="-122"/>
                <a:cs typeface="Courier New" pitchFamily="34" charset="-120"/>
              </a:rPr>
              <a:t>residuals</a:t>
            </a:r>
            <a:pPr indent="0" marL="0">
              <a:lnSpc>
                <a:spcPts val="1775"/>
              </a:lnSpc>
              <a:buNone/>
            </a:pPr>
            <a:r>
              <a:rPr lang="en-US" sz="1250" dirty="0">
                <a:solidFill>
                  <a:srgbClr val="E6EDF7"/>
                </a:solidFill>
                <a:latin typeface="Courier New" pitchFamily="34" charset="0"/>
                <a:ea typeface="Courier New" pitchFamily="34" charset="-122"/>
                <a:cs typeface="Courier New" pitchFamily="34" charset="-120"/>
              </a:rPr>
              <a:t>(m1)      </a:t>
            </a:r>
            <a:pPr indent="0" marL="0">
              <a:lnSpc>
                <a:spcPts val="1775"/>
              </a:lnSpc>
              <a:buNone/>
            </a:pPr>
            <a:r>
              <a:rPr lang="en-US" sz="1250" i="1" dirty="0">
                <a:solidFill>
                  <a:srgbClr val="8196BC"/>
                </a:solidFill>
                <a:latin typeface="Courier New" pitchFamily="34" charset="0"/>
                <a:ea typeface="Courier New" pitchFamily="34" charset="-122"/>
                <a:cs typeface="Courier New" pitchFamily="34" charset="-120"/>
              </a:rPr>
              <a:t># residuos</a:t>
            </a:r>
            <a:endParaRPr lang="en-US" sz="1250" dirty="0"/>
          </a:p>
        </p:txBody>
      </p:sp>
      <p:sp>
        <p:nvSpPr>
          <p:cNvPr id="11" name="Shape 8"/>
          <p:cNvSpPr/>
          <p:nvPr/>
        </p:nvSpPr>
        <p:spPr>
          <a:xfrm>
            <a:off x="548640" y="3851656"/>
            <a:ext cx="6583680" cy="1325880"/>
          </a:xfrm>
          <a:prstGeom prst="roundRect">
            <a:avLst>
              <a:gd name="adj" fmla="val 4828"/>
            </a:avLst>
          </a:prstGeom>
          <a:solidFill>
            <a:srgbClr val="E4EEF2"/>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2" name="Text 9"/>
          <p:cNvSpPr txBox="1"/>
          <p:nvPr/>
        </p:nvSpPr>
        <p:spPr>
          <a:xfrm>
            <a:off x="777240" y="3988816"/>
            <a:ext cx="6126480" cy="457200"/>
          </a:xfrm>
          <a:prstGeom prst="rect">
            <a:avLst/>
          </a:prstGeom>
          <a:noFill/>
          <a:ln/>
        </p:spPr>
        <p:txBody>
          <a:bodyPr wrap="square" lIns="0" tIns="0" rIns="0" bIns="0" rtlCol="0" anchor="t"/>
          <a:lstStyle/>
          <a:p>
            <a:pPr indent="0" marL="0">
              <a:buNone/>
            </a:pPr>
            <a:r>
              <a:rPr lang="en-US" sz="1350" b="1" dirty="0">
                <a:solidFill>
                  <a:srgbClr val="21295C"/>
                </a:solidFill>
                <a:latin typeface="Calibri" pitchFamily="34" charset="0"/>
                <a:ea typeface="Calibri" pitchFamily="34" charset="-122"/>
                <a:cs typeface="Calibri" pitchFamily="34" charset="-120"/>
              </a:rPr>
              <a:t>Se lee: “meses_titulacion EN FUNCIÓN DE horas_investigacion_sem”</a:t>
            </a:r>
            <a:endParaRPr lang="en-US" sz="1350" dirty="0"/>
          </a:p>
        </p:txBody>
      </p:sp>
      <p:sp>
        <p:nvSpPr>
          <p:cNvPr id="13" name="Text 10"/>
          <p:cNvSpPr txBox="1"/>
          <p:nvPr/>
        </p:nvSpPr>
        <p:spPr>
          <a:xfrm>
            <a:off x="777240" y="4446016"/>
            <a:ext cx="6126480" cy="45720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Izquierda de ~ : la respuesta (lo que quiero explicar).  Derecha: los predictores.</a:t>
            </a:r>
            <a:endParaRPr lang="en-US" sz="1250" dirty="0"/>
          </a:p>
        </p:txBody>
      </p:sp>
      <p:sp>
        <p:nvSpPr>
          <p:cNvPr id="14" name="Text 11"/>
          <p:cNvSpPr txBox="1"/>
          <p:nvPr/>
        </p:nvSpPr>
        <p:spPr>
          <a:xfrm>
            <a:off x="7498080" y="1371600"/>
            <a:ext cx="41148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FÓRMULAS MÁS USADAS</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98080" y="1691640"/>
          <a:ext cx="4142232" cy="914400"/>
        </p:xfrm>
        <a:graphic>
          <a:graphicData uri="http://schemas.openxmlformats.org/drawingml/2006/table">
            <a:tbl>
              <a:tblPr/>
              <a:tblGrid>
                <a:gridCol w="1783080"/>
                <a:gridCol w="2359152"/>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Fórmula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Significa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r>
              <a:tr h="411480">
                <a:tc>
                  <a:txBody>
                    <a:bodyPr/>
                    <a:lstStyle/>
                    <a:p>
                      <a:pPr algn="l" indent="0" marL="0">
                        <a:buNone/>
                      </a:pPr>
                      <a:r>
                        <a:rPr lang="en-US" sz="1100" dirty="0">
                          <a:solidFill>
                            <a:srgbClr val="065A82"/>
                          </a:solidFill>
                          <a:latin typeface="Courier New" pitchFamily="34" charset="0"/>
                          <a:ea typeface="Courier New" pitchFamily="34" charset="-122"/>
                          <a:cs typeface="Courier New" pitchFamily="34" charset="-120"/>
                        </a:rPr>
                        <a:t>y ~ x</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A44"/>
                          </a:solidFill>
                          <a:latin typeface="Calibri" pitchFamily="34" charset="0"/>
                          <a:ea typeface="Calibri" pitchFamily="34" charset="-122"/>
                          <a:cs typeface="Calibri" pitchFamily="34" charset="-120"/>
                        </a:rPr>
                        <a:t>una variable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r h="411480">
                <a:tc>
                  <a:txBody>
                    <a:bodyPr/>
                    <a:lstStyle/>
                    <a:p>
                      <a:pPr algn="l" indent="0" marL="0">
                        <a:buNone/>
                      </a:pPr>
                      <a:r>
                        <a:rPr lang="en-US" sz="1100" dirty="0">
                          <a:solidFill>
                            <a:srgbClr val="065A82"/>
                          </a:solidFill>
                          <a:latin typeface="Courier New" pitchFamily="34" charset="0"/>
                          <a:ea typeface="Courier New" pitchFamily="34" charset="-122"/>
                          <a:cs typeface="Courier New" pitchFamily="34" charset="-120"/>
                        </a:rPr>
                        <a:t>y ~ x1 + x2</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l" indent="0" marL="0">
                        <a:buNone/>
                      </a:pPr>
                      <a:r>
                        <a:rPr lang="en-US" sz="1200" dirty="0">
                          <a:solidFill>
                            <a:srgbClr val="1E2A44"/>
                          </a:solidFill>
                          <a:latin typeface="Calibri" pitchFamily="34" charset="0"/>
                          <a:ea typeface="Calibri" pitchFamily="34" charset="-122"/>
                          <a:cs typeface="Calibri" pitchFamily="34" charset="-120"/>
                        </a:rPr>
                        <a:t>dos, sin interacción</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r>
              <a:tr h="411480">
                <a:tc>
                  <a:txBody>
                    <a:bodyPr/>
                    <a:lstStyle/>
                    <a:p>
                      <a:pPr algn="l" indent="0" marL="0">
                        <a:buNone/>
                      </a:pPr>
                      <a:r>
                        <a:rPr lang="en-US" sz="1100" dirty="0">
                          <a:solidFill>
                            <a:srgbClr val="065A82"/>
                          </a:solidFill>
                          <a:latin typeface="Courier New" pitchFamily="34" charset="0"/>
                          <a:ea typeface="Courier New" pitchFamily="34" charset="-122"/>
                          <a:cs typeface="Courier New" pitchFamily="34" charset="-120"/>
                        </a:rPr>
                        <a:t>y ~ x1 * x2</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A44"/>
                          </a:solidFill>
                          <a:latin typeface="Calibri" pitchFamily="34" charset="0"/>
                          <a:ea typeface="Calibri" pitchFamily="34" charset="-122"/>
                          <a:cs typeface="Calibri" pitchFamily="34" charset="-120"/>
                        </a:rPr>
                        <a:t>además x1:x2</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r h="411480">
                <a:tc>
                  <a:txBody>
                    <a:bodyPr/>
                    <a:lstStyle/>
                    <a:p>
                      <a:pPr algn="l" indent="0" marL="0">
                        <a:buNone/>
                      </a:pPr>
                      <a:r>
                        <a:rPr lang="en-US" sz="1100" dirty="0">
                          <a:solidFill>
                            <a:srgbClr val="065A82"/>
                          </a:solidFill>
                          <a:latin typeface="Courier New" pitchFamily="34" charset="0"/>
                          <a:ea typeface="Courier New" pitchFamily="34" charset="-122"/>
                          <a:cs typeface="Courier New" pitchFamily="34" charset="-120"/>
                        </a:rPr>
                        <a:t>y ~ .</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l" indent="0" marL="0">
                        <a:buNone/>
                      </a:pPr>
                      <a:r>
                        <a:rPr lang="en-US" sz="1200" dirty="0">
                          <a:solidFill>
                            <a:srgbClr val="1E2A44"/>
                          </a:solidFill>
                          <a:latin typeface="Calibri" pitchFamily="34" charset="0"/>
                          <a:ea typeface="Calibri" pitchFamily="34" charset="-122"/>
                          <a:cs typeface="Calibri" pitchFamily="34" charset="-120"/>
                        </a:rPr>
                        <a:t>todas las demás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r>
              <a:tr h="411480">
                <a:tc>
                  <a:txBody>
                    <a:bodyPr/>
                    <a:lstStyle/>
                    <a:p>
                      <a:pPr algn="l" indent="0" marL="0">
                        <a:buNone/>
                      </a:pPr>
                      <a:r>
                        <a:rPr lang="en-US" sz="1100" dirty="0">
                          <a:solidFill>
                            <a:srgbClr val="065A82"/>
                          </a:solidFill>
                          <a:latin typeface="Courier New" pitchFamily="34" charset="0"/>
                          <a:ea typeface="Courier New" pitchFamily="34" charset="-122"/>
                          <a:cs typeface="Courier New" pitchFamily="34" charset="-120"/>
                        </a:rPr>
                        <a:t>y ~ x - 1</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A44"/>
                          </a:solidFill>
                          <a:latin typeface="Calibri" pitchFamily="34" charset="0"/>
                          <a:ea typeface="Calibri" pitchFamily="34" charset="-122"/>
                          <a:cs typeface="Calibri" pitchFamily="34" charset="-120"/>
                        </a:rPr>
                        <a:t>sin intercepto</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bl>
          </a:graphicData>
        </a:graphic>
      </p:graphicFrame>
      <p:sp>
        <p:nvSpPr>
          <p:cNvPr id="16" name="Shape 12"/>
          <p:cNvSpPr/>
          <p:nvPr/>
        </p:nvSpPr>
        <p:spPr>
          <a:xfrm>
            <a:off x="7498080" y="4343400"/>
            <a:ext cx="4142232" cy="914400"/>
          </a:xfrm>
          <a:prstGeom prst="rect">
            <a:avLst/>
          </a:prstGeom>
          <a:solidFill>
            <a:srgbClr val="E4EEF2"/>
          </a:solidFill>
          <a:ln w="12700">
            <a:solidFill>
              <a:srgbClr val="E4EEF2"/>
            </a:solidFill>
            <a:prstDash val="solid"/>
          </a:ln>
        </p:spPr>
      </p:sp>
      <p:sp>
        <p:nvSpPr>
          <p:cNvPr id="17" name="Shape 13"/>
          <p:cNvSpPr/>
          <p:nvPr/>
        </p:nvSpPr>
        <p:spPr>
          <a:xfrm>
            <a:off x="7498080" y="4343400"/>
            <a:ext cx="64008" cy="914400"/>
          </a:xfrm>
          <a:prstGeom prst="rect">
            <a:avLst/>
          </a:prstGeom>
          <a:solidFill>
            <a:srgbClr val="1C7293"/>
          </a:solidFill>
          <a:ln w="12700">
            <a:solidFill>
              <a:srgbClr val="1C7293"/>
            </a:solidFill>
            <a:prstDash val="solid"/>
          </a:ln>
        </p:spPr>
      </p:sp>
      <p:sp>
        <p:nvSpPr>
          <p:cNvPr id="18" name="Text 14"/>
          <p:cNvSpPr txBox="1"/>
          <p:nvPr/>
        </p:nvSpPr>
        <p:spPr>
          <a:xfrm>
            <a:off x="7699248" y="4343400"/>
            <a:ext cx="3822192" cy="914400"/>
          </a:xfrm>
          <a:prstGeom prst="rect">
            <a:avLst/>
          </a:prstGeom>
          <a:noFill/>
          <a:ln/>
        </p:spPr>
        <p:txBody>
          <a:bodyPr wrap="square" lIns="0" tIns="0" rIns="0" bIns="0" rtlCol="0" anchor="ctr"/>
          <a:lstStyle/>
          <a:p>
            <a:pPr indent="0" marL="0">
              <a:buNone/>
            </a:pPr>
            <a:r>
              <a:rPr lang="en-US" sz="1250" i="1" dirty="0">
                <a:solidFill>
                  <a:srgbClr val="1E2A44"/>
                </a:solidFill>
                <a:latin typeface="Calibri" pitchFamily="34" charset="0"/>
                <a:ea typeface="Calibri" pitchFamily="34" charset="-122"/>
                <a:cs typeface="Calibri" pitchFamily="34" charset="-120"/>
              </a:rPr>
              <a:t>Siempre pasa data = ; así predict() funciona bien.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Leer summary(): anatomía de la salida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8</a:t>
            </a:r>
            <a:endParaRPr lang="en-US" sz="800" dirty="0"/>
          </a:p>
        </p:txBody>
      </p:sp>
      <p:sp>
        <p:nvSpPr>
          <p:cNvPr id="7" name="Shape 4"/>
          <p:cNvSpPr/>
          <p:nvPr/>
        </p:nvSpPr>
        <p:spPr>
          <a:xfrm>
            <a:off x="548640" y="1417320"/>
            <a:ext cx="7406640" cy="3484880"/>
          </a:xfrm>
          <a:prstGeom prst="roundRect">
            <a:avLst>
              <a:gd name="adj" fmla="val 1574"/>
            </a:avLst>
          </a:prstGeom>
          <a:solidFill>
            <a:srgbClr val="162044"/>
          </a:solidFill>
          <a:ln w="12700">
            <a:solidFill>
              <a:srgbClr val="162044"/>
            </a:solidFill>
            <a:prstDash val="solid"/>
          </a:ln>
        </p:spPr>
      </p:sp>
      <p:sp>
        <p:nvSpPr>
          <p:cNvPr id="8" name="Shape 5"/>
          <p:cNvSpPr/>
          <p:nvPr/>
        </p:nvSpPr>
        <p:spPr>
          <a:xfrm>
            <a:off x="621792" y="3132328"/>
            <a:ext cx="7260336" cy="198374"/>
          </a:xfrm>
          <a:prstGeom prst="rect">
            <a:avLst/>
          </a:prstGeom>
          <a:solidFill>
            <a:srgbClr val="D69E2E">
              <a:alpha val="28000"/>
            </a:srgbClr>
          </a:solidFill>
          <a:ln w="12700">
            <a:solidFill>
              <a:srgbClr val="D69E2E">
                <a:alpha val="0"/>
              </a:srgbClr>
            </a:solidFill>
            <a:prstDash val="solid"/>
          </a:ln>
        </p:spPr>
      </p:sp>
      <p:sp>
        <p:nvSpPr>
          <p:cNvPr id="9" name="Shape 6"/>
          <p:cNvSpPr/>
          <p:nvPr/>
        </p:nvSpPr>
        <p:spPr>
          <a:xfrm>
            <a:off x="621792" y="3330702"/>
            <a:ext cx="7260336" cy="198374"/>
          </a:xfrm>
          <a:prstGeom prst="rect">
            <a:avLst/>
          </a:prstGeom>
          <a:solidFill>
            <a:srgbClr val="D69E2E">
              <a:alpha val="28000"/>
            </a:srgbClr>
          </a:solidFill>
          <a:ln w="12700">
            <a:solidFill>
              <a:srgbClr val="D69E2E">
                <a:alpha val="0"/>
              </a:srgbClr>
            </a:solidFill>
            <a:prstDash val="solid"/>
          </a:ln>
        </p:spPr>
      </p:sp>
      <p:sp>
        <p:nvSpPr>
          <p:cNvPr id="10" name="Shape 7"/>
          <p:cNvSpPr/>
          <p:nvPr/>
        </p:nvSpPr>
        <p:spPr>
          <a:xfrm>
            <a:off x="621792" y="3529076"/>
            <a:ext cx="7260336" cy="198374"/>
          </a:xfrm>
          <a:prstGeom prst="rect">
            <a:avLst/>
          </a:prstGeom>
          <a:solidFill>
            <a:srgbClr val="D69E2E">
              <a:alpha val="28000"/>
            </a:srgbClr>
          </a:solidFill>
          <a:ln w="12700">
            <a:solidFill>
              <a:srgbClr val="D69E2E">
                <a:alpha val="0"/>
              </a:srgbClr>
            </a:solidFill>
            <a:prstDash val="solid"/>
          </a:ln>
        </p:spPr>
      </p:sp>
      <p:sp>
        <p:nvSpPr>
          <p:cNvPr id="11" name="Shape 8"/>
          <p:cNvSpPr/>
          <p:nvPr/>
        </p:nvSpPr>
        <p:spPr>
          <a:xfrm>
            <a:off x="621792" y="3727450"/>
            <a:ext cx="7260336" cy="198374"/>
          </a:xfrm>
          <a:prstGeom prst="rect">
            <a:avLst/>
          </a:prstGeom>
          <a:solidFill>
            <a:srgbClr val="D69E2E">
              <a:alpha val="28000"/>
            </a:srgbClr>
          </a:solidFill>
          <a:ln w="12700">
            <a:solidFill>
              <a:srgbClr val="D69E2E">
                <a:alpha val="0"/>
              </a:srgbClr>
            </a:solidFill>
            <a:prstDash val="solid"/>
          </a:ln>
        </p:spPr>
      </p:sp>
      <p:sp>
        <p:nvSpPr>
          <p:cNvPr id="12" name="Text 9"/>
          <p:cNvSpPr txBox="1"/>
          <p:nvPr/>
        </p:nvSpPr>
        <p:spPr>
          <a:xfrm>
            <a:off x="731520" y="1545336"/>
            <a:ext cx="7040880" cy="3173984"/>
          </a:xfrm>
          <a:prstGeom prst="rect">
            <a:avLst/>
          </a:prstGeom>
          <a:noFill/>
          <a:ln/>
        </p:spPr>
        <p:txBody>
          <a:bodyPr wrap="square" lIns="0" tIns="0" rIns="0" bIns="0" rtlCol="0" anchor="t"/>
          <a:lstStyle/>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Call:</a:t>
            </a:r>
            <a:endParaRPr lang="en-US" sz="1100" dirty="0"/>
          </a:p>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lm</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(formula = meses_titulacion </a:t>
            </a:r>
            <a:pPr indent="0" marL="0">
              <a:lnSpc>
                <a:spcPts val="1562"/>
              </a:lnSpc>
              <a:buNone/>
            </a:pPr>
            <a:r>
              <a:rPr lang="en-US" sz="1100" dirty="0">
                <a:solidFill>
                  <a:srgbClr val="A5D8FF"/>
                </a:solidFill>
                <a:latin typeface="Courier New" pitchFamily="34" charset="0"/>
                <a:ea typeface="Courier New" pitchFamily="34" charset="-122"/>
                <a:cs typeface="Courier New" pitchFamily="34" charset="-120"/>
              </a:rPr>
              <a:t>~</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horas_investigacion_sem,</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data = egresados)</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Residuals:</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Min      1Q  Median      3Q     Max</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27.704</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8.602</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1.345</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6.034</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43.802</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Coefficients:</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Estimate Std. Error t value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Pr</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(&gt;|t|)</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(Intercept)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25.7752</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3.0401</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8.479</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5</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.22e-</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15</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horas_investigacion_sem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0.9013</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0.1221</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7.381</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4</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.25e-</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12</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Residual standard error: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12.18</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on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198</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degrees of freedom</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Multiple R-squared: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0.2158</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Adjusted R-squared: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0.2118</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F-statistic: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54.48</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on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and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198</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DF,  p-value: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4</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.25e-</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12</a:t>
            </a:r>
            <a:endParaRPr lang="en-US" sz="1100" dirty="0"/>
          </a:p>
        </p:txBody>
      </p:sp>
      <p:sp>
        <p:nvSpPr>
          <p:cNvPr id="13" name="Shape 10"/>
          <p:cNvSpPr/>
          <p:nvPr/>
        </p:nvSpPr>
        <p:spPr>
          <a:xfrm>
            <a:off x="8321040" y="1417320"/>
            <a:ext cx="3319272" cy="1234440"/>
          </a:xfrm>
          <a:prstGeom prst="roundRect">
            <a:avLst>
              <a:gd name="adj" fmla="val 518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4" name="Shape 11"/>
          <p:cNvSpPr/>
          <p:nvPr/>
        </p:nvSpPr>
        <p:spPr>
          <a:xfrm>
            <a:off x="8503920" y="1600200"/>
            <a:ext cx="310896" cy="310896"/>
          </a:xfrm>
          <a:prstGeom prst="ellipse">
            <a:avLst/>
          </a:prstGeom>
          <a:solidFill>
            <a:srgbClr val="065A82"/>
          </a:solidFill>
          <a:ln w="12700">
            <a:solidFill>
              <a:srgbClr val="065A82"/>
            </a:solidFill>
            <a:prstDash val="solid"/>
          </a:ln>
        </p:spPr>
      </p:sp>
      <p:sp>
        <p:nvSpPr>
          <p:cNvPr id="15" name="Text 12"/>
          <p:cNvSpPr txBox="1"/>
          <p:nvPr/>
        </p:nvSpPr>
        <p:spPr>
          <a:xfrm>
            <a:off x="8503920" y="1600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3"/>
          <p:cNvSpPr txBox="1"/>
          <p:nvPr/>
        </p:nvSpPr>
        <p:spPr>
          <a:xfrm>
            <a:off x="8961120" y="1581912"/>
            <a:ext cx="2560320" cy="32004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Residuos</a:t>
            </a:r>
            <a:endParaRPr lang="en-US" sz="1450" dirty="0"/>
          </a:p>
        </p:txBody>
      </p:sp>
      <p:sp>
        <p:nvSpPr>
          <p:cNvPr id="17" name="Text 14"/>
          <p:cNvSpPr txBox="1"/>
          <p:nvPr/>
        </p:nvSpPr>
        <p:spPr>
          <a:xfrm>
            <a:off x="8503920" y="2011680"/>
            <a:ext cx="3017520" cy="59436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qué tan lejos quedan los puntos de la recta (en meses)</a:t>
            </a:r>
            <a:endParaRPr lang="en-US" sz="1150" dirty="0"/>
          </a:p>
        </p:txBody>
      </p:sp>
      <p:sp>
        <p:nvSpPr>
          <p:cNvPr id="18" name="Shape 15"/>
          <p:cNvSpPr/>
          <p:nvPr/>
        </p:nvSpPr>
        <p:spPr>
          <a:xfrm>
            <a:off x="8321040" y="2788920"/>
            <a:ext cx="3319272" cy="1234440"/>
          </a:xfrm>
          <a:prstGeom prst="roundRect">
            <a:avLst>
              <a:gd name="adj" fmla="val 518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9" name="Shape 16"/>
          <p:cNvSpPr/>
          <p:nvPr/>
        </p:nvSpPr>
        <p:spPr>
          <a:xfrm>
            <a:off x="8503920" y="2971800"/>
            <a:ext cx="310896" cy="310896"/>
          </a:xfrm>
          <a:prstGeom prst="ellipse">
            <a:avLst/>
          </a:prstGeom>
          <a:solidFill>
            <a:srgbClr val="B7791F"/>
          </a:solidFill>
          <a:ln w="12700">
            <a:solidFill>
              <a:srgbClr val="B7791F"/>
            </a:solidFill>
            <a:prstDash val="solid"/>
          </a:ln>
        </p:spPr>
      </p:sp>
      <p:sp>
        <p:nvSpPr>
          <p:cNvPr id="20" name="Text 17"/>
          <p:cNvSpPr txBox="1"/>
          <p:nvPr/>
        </p:nvSpPr>
        <p:spPr>
          <a:xfrm>
            <a:off x="8503920" y="29718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8"/>
          <p:cNvSpPr txBox="1"/>
          <p:nvPr/>
        </p:nvSpPr>
        <p:spPr>
          <a:xfrm>
            <a:off x="8961120" y="2953512"/>
            <a:ext cx="2560320" cy="32004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Coeficientes</a:t>
            </a:r>
            <a:endParaRPr lang="en-US" sz="1450" dirty="0"/>
          </a:p>
        </p:txBody>
      </p:sp>
      <p:sp>
        <p:nvSpPr>
          <p:cNvPr id="22" name="Text 19"/>
          <p:cNvSpPr txBox="1"/>
          <p:nvPr/>
        </p:nvSpPr>
        <p:spPr>
          <a:xfrm>
            <a:off x="8503920" y="3383280"/>
            <a:ext cx="3017520" cy="59436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una fila por término: estimación, error estándar, t y valor p</a:t>
            </a:r>
            <a:endParaRPr lang="en-US" sz="1150" dirty="0"/>
          </a:p>
        </p:txBody>
      </p:sp>
      <p:sp>
        <p:nvSpPr>
          <p:cNvPr id="23" name="Shape 20"/>
          <p:cNvSpPr/>
          <p:nvPr/>
        </p:nvSpPr>
        <p:spPr>
          <a:xfrm>
            <a:off x="8321040" y="4160520"/>
            <a:ext cx="3319272" cy="1234440"/>
          </a:xfrm>
          <a:prstGeom prst="roundRect">
            <a:avLst>
              <a:gd name="adj" fmla="val 518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4" name="Shape 21"/>
          <p:cNvSpPr/>
          <p:nvPr/>
        </p:nvSpPr>
        <p:spPr>
          <a:xfrm>
            <a:off x="8503920" y="4343400"/>
            <a:ext cx="310896" cy="310896"/>
          </a:xfrm>
          <a:prstGeom prst="ellipse">
            <a:avLst/>
          </a:prstGeom>
          <a:solidFill>
            <a:srgbClr val="065A82"/>
          </a:solidFill>
          <a:ln w="12700">
            <a:solidFill>
              <a:srgbClr val="065A82"/>
            </a:solidFill>
            <a:prstDash val="solid"/>
          </a:ln>
        </p:spPr>
      </p:sp>
      <p:sp>
        <p:nvSpPr>
          <p:cNvPr id="25" name="Text 22"/>
          <p:cNvSpPr txBox="1"/>
          <p:nvPr/>
        </p:nvSpPr>
        <p:spPr>
          <a:xfrm>
            <a:off x="8503920" y="43434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8961120" y="4325112"/>
            <a:ext cx="2560320" cy="32004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Modelo completo</a:t>
            </a:r>
            <a:endParaRPr lang="en-US" sz="1450" dirty="0"/>
          </a:p>
        </p:txBody>
      </p:sp>
      <p:sp>
        <p:nvSpPr>
          <p:cNvPr id="27" name="Text 24"/>
          <p:cNvSpPr txBox="1"/>
          <p:nvPr/>
        </p:nvSpPr>
        <p:spPr>
          <a:xfrm>
            <a:off x="8503920" y="4754880"/>
            <a:ext cx="3017520" cy="59436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error residual (en meses), R², R² ajustado y F</a:t>
            </a:r>
            <a:endParaRPr lang="en-US" sz="1150" dirty="0"/>
          </a:p>
        </p:txBody>
      </p:sp>
      <p:sp>
        <p:nvSpPr>
          <p:cNvPr id="28" name="Shape 25"/>
          <p:cNvSpPr/>
          <p:nvPr/>
        </p:nvSpPr>
        <p:spPr>
          <a:xfrm>
            <a:off x="548640" y="5486400"/>
            <a:ext cx="11091672" cy="640080"/>
          </a:xfrm>
          <a:prstGeom prst="rect">
            <a:avLst/>
          </a:prstGeom>
          <a:solidFill>
            <a:srgbClr val="E4EEF2"/>
          </a:solidFill>
          <a:ln w="12700">
            <a:solidFill>
              <a:srgbClr val="E4EEF2"/>
            </a:solidFill>
            <a:prstDash val="solid"/>
          </a:ln>
        </p:spPr>
      </p:sp>
      <p:sp>
        <p:nvSpPr>
          <p:cNvPr id="29" name="Shape 26"/>
          <p:cNvSpPr/>
          <p:nvPr/>
        </p:nvSpPr>
        <p:spPr>
          <a:xfrm>
            <a:off x="548640" y="5486400"/>
            <a:ext cx="64008" cy="640080"/>
          </a:xfrm>
          <a:prstGeom prst="rect">
            <a:avLst/>
          </a:prstGeom>
          <a:solidFill>
            <a:srgbClr val="1C7293"/>
          </a:solidFill>
          <a:ln w="12700">
            <a:solidFill>
              <a:srgbClr val="1C7293"/>
            </a:solidFill>
            <a:prstDash val="solid"/>
          </a:ln>
        </p:spPr>
      </p:sp>
      <p:sp>
        <p:nvSpPr>
          <p:cNvPr id="30" name="Text 27"/>
          <p:cNvSpPr txBox="1"/>
          <p:nvPr/>
        </p:nvSpPr>
        <p:spPr>
          <a:xfrm>
            <a:off x="749808" y="5486400"/>
            <a:ext cx="10771632" cy="640080"/>
          </a:xfrm>
          <a:prstGeom prst="rect">
            <a:avLst/>
          </a:prstGeom>
          <a:noFill/>
          <a:ln/>
        </p:spPr>
        <p:txBody>
          <a:bodyPr wrap="square" lIns="0" tIns="0" rIns="0" bIns="0" rtlCol="0" anchor="ctr"/>
          <a:lstStyle/>
          <a:p>
            <a:pPr indent="0" marL="0">
              <a:buNone/>
            </a:pPr>
            <a:r>
              <a:rPr lang="en-US" sz="1300" b="1" dirty="0">
                <a:solidFill>
                  <a:srgbClr val="1E2A44"/>
                </a:solidFill>
                <a:latin typeface="Calibri" pitchFamily="34" charset="0"/>
                <a:ea typeface="Calibri" pitchFamily="34" charset="-122"/>
                <a:cs typeface="Calibri" pitchFamily="34" charset="-120"/>
              </a:rPr>
              <a:t>Intercepto 25,8 · Pendiente 0,90 · R² 0,22: es la misma recta del gancho.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Interpretar intercepto y pendiente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9</a:t>
            </a:r>
            <a:endParaRPr lang="en-US" sz="800" dirty="0"/>
          </a:p>
        </p:txBody>
      </p:sp>
      <p:sp>
        <p:nvSpPr>
          <p:cNvPr id="7" name="Shape 4"/>
          <p:cNvSpPr/>
          <p:nvPr/>
        </p:nvSpPr>
        <p:spPr>
          <a:xfrm>
            <a:off x="548640" y="1417320"/>
            <a:ext cx="5486400" cy="2788920"/>
          </a:xfrm>
          <a:prstGeom prst="roundRect">
            <a:avLst>
              <a:gd name="adj" fmla="val 229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548640" y="1417320"/>
            <a:ext cx="5486400" cy="64008"/>
          </a:xfrm>
          <a:prstGeom prst="rect">
            <a:avLst/>
          </a:prstGeom>
          <a:solidFill>
            <a:srgbClr val="065A82"/>
          </a:solidFill>
          <a:ln w="12700">
            <a:solidFill>
              <a:srgbClr val="065A82"/>
            </a:solidFill>
            <a:prstDash val="solid"/>
          </a:ln>
        </p:spPr>
      </p:sp>
      <p:sp>
        <p:nvSpPr>
          <p:cNvPr id="9" name="Text 6"/>
          <p:cNvSpPr txBox="1"/>
          <p:nvPr/>
        </p:nvSpPr>
        <p:spPr>
          <a:xfrm>
            <a:off x="822960" y="1645920"/>
            <a:ext cx="4937760" cy="457200"/>
          </a:xfrm>
          <a:prstGeom prst="rect">
            <a:avLst/>
          </a:prstGeom>
          <a:noFill/>
          <a:ln/>
        </p:spPr>
        <p:txBody>
          <a:bodyPr wrap="square" lIns="0" tIns="0" rIns="0" bIns="0" rtlCol="0" anchor="t"/>
          <a:lstStyle/>
          <a:p>
            <a:pPr indent="0" marL="0">
              <a:buNone/>
            </a:pPr>
            <a:r>
              <a:rPr lang="en-US" sz="2200" b="1" dirty="0">
                <a:solidFill>
                  <a:srgbClr val="21295C"/>
                </a:solidFill>
                <a:latin typeface="Cambria" pitchFamily="34" charset="0"/>
                <a:ea typeface="Cambria" pitchFamily="34" charset="-122"/>
                <a:cs typeface="Cambria" pitchFamily="34" charset="-120"/>
              </a:rPr>
              <a:t>Pendiente = 0,90</a:t>
            </a:r>
            <a:endParaRPr lang="en-US" sz="2200" dirty="0"/>
          </a:p>
        </p:txBody>
      </p:sp>
      <p:sp>
        <p:nvSpPr>
          <p:cNvPr id="10" name="Text 7"/>
          <p:cNvSpPr txBox="1"/>
          <p:nvPr/>
        </p:nvSpPr>
        <p:spPr>
          <a:xfrm>
            <a:off x="822960" y="2240280"/>
            <a:ext cx="4937760" cy="1097280"/>
          </a:xfrm>
          <a:prstGeom prst="rect">
            <a:avLst/>
          </a:prstGeom>
          <a:noFill/>
          <a:ln/>
        </p:spPr>
        <p:txBody>
          <a:bodyPr wrap="square" lIns="0" tIns="0" rIns="0" bIns="0" rtlCol="0" anchor="t"/>
          <a:lstStyle/>
          <a:p>
            <a:pPr indent="0" marL="0">
              <a:buNone/>
            </a:pPr>
            <a:r>
              <a:rPr lang="en-US" sz="1500" dirty="0">
                <a:solidFill>
                  <a:srgbClr val="1E2A44"/>
                </a:solidFill>
                <a:latin typeface="Calibri" pitchFamily="34" charset="0"/>
                <a:ea typeface="Calibri" pitchFamily="34" charset="-122"/>
                <a:cs typeface="Calibri" pitchFamily="34" charset="-120"/>
              </a:rPr>
              <a:t>Por cada hora semanal adicional de investigación, los meses hasta titularse son, en promedio, 0,9 más.</a:t>
            </a:r>
            <a:endParaRPr lang="en-US" sz="1500" dirty="0"/>
          </a:p>
        </p:txBody>
      </p:sp>
      <p:sp>
        <p:nvSpPr>
          <p:cNvPr id="11" name="Shape 8"/>
          <p:cNvSpPr/>
          <p:nvPr/>
        </p:nvSpPr>
        <p:spPr>
          <a:xfrm>
            <a:off x="822960" y="3520440"/>
            <a:ext cx="1554480" cy="365760"/>
          </a:xfrm>
          <a:prstGeom prst="roundRect">
            <a:avLst>
              <a:gd name="adj" fmla="val 50000"/>
            </a:avLst>
          </a:prstGeom>
          <a:solidFill>
            <a:srgbClr val="E4EEF2"/>
          </a:solidFill>
          <a:ln w="12700">
            <a:solidFill>
              <a:srgbClr val="E4EEF2"/>
            </a:solidFill>
            <a:prstDash val="solid"/>
          </a:ln>
        </p:spPr>
      </p:sp>
      <p:sp>
        <p:nvSpPr>
          <p:cNvPr id="12" name="Text 9"/>
          <p:cNvSpPr txBox="1"/>
          <p:nvPr/>
        </p:nvSpPr>
        <p:spPr>
          <a:xfrm>
            <a:off x="822960" y="3520440"/>
            <a:ext cx="155448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Con unidades</a:t>
            </a:r>
            <a:endParaRPr lang="en-US" sz="1100" dirty="0"/>
          </a:p>
        </p:txBody>
      </p:sp>
      <p:sp>
        <p:nvSpPr>
          <p:cNvPr id="13" name="Shape 10"/>
          <p:cNvSpPr/>
          <p:nvPr/>
        </p:nvSpPr>
        <p:spPr>
          <a:xfrm>
            <a:off x="2468880" y="3520440"/>
            <a:ext cx="1554480" cy="365760"/>
          </a:xfrm>
          <a:prstGeom prst="roundRect">
            <a:avLst>
              <a:gd name="adj" fmla="val 50000"/>
            </a:avLst>
          </a:prstGeom>
          <a:solidFill>
            <a:srgbClr val="E4EEF2"/>
          </a:solidFill>
          <a:ln w="12700">
            <a:solidFill>
              <a:srgbClr val="E4EEF2"/>
            </a:solidFill>
            <a:prstDash val="solid"/>
          </a:ln>
        </p:spPr>
      </p:sp>
      <p:sp>
        <p:nvSpPr>
          <p:cNvPr id="14" name="Text 11"/>
          <p:cNvSpPr txBox="1"/>
          <p:nvPr/>
        </p:nvSpPr>
        <p:spPr>
          <a:xfrm>
            <a:off x="2468880" y="3520440"/>
            <a:ext cx="155448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En promedio</a:t>
            </a:r>
            <a:endParaRPr lang="en-US" sz="1100" dirty="0"/>
          </a:p>
        </p:txBody>
      </p:sp>
      <p:sp>
        <p:nvSpPr>
          <p:cNvPr id="15" name="Shape 12"/>
          <p:cNvSpPr/>
          <p:nvPr/>
        </p:nvSpPr>
        <p:spPr>
          <a:xfrm>
            <a:off x="4114800" y="3520440"/>
            <a:ext cx="1554480" cy="365760"/>
          </a:xfrm>
          <a:prstGeom prst="roundRect">
            <a:avLst>
              <a:gd name="adj" fmla="val 50000"/>
            </a:avLst>
          </a:prstGeom>
          <a:solidFill>
            <a:srgbClr val="E4EEF2"/>
          </a:solidFill>
          <a:ln w="12700">
            <a:solidFill>
              <a:srgbClr val="E4EEF2"/>
            </a:solidFill>
            <a:prstDash val="solid"/>
          </a:ln>
        </p:spPr>
      </p:sp>
      <p:sp>
        <p:nvSpPr>
          <p:cNvPr id="16" name="Text 13"/>
          <p:cNvSpPr txBox="1"/>
          <p:nvPr/>
        </p:nvSpPr>
        <p:spPr>
          <a:xfrm>
            <a:off x="4114800" y="3520440"/>
            <a:ext cx="155448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Asociación, no efecto</a:t>
            </a:r>
            <a:endParaRPr lang="en-US" sz="1100" dirty="0"/>
          </a:p>
        </p:txBody>
      </p:sp>
      <p:sp>
        <p:nvSpPr>
          <p:cNvPr id="17" name="Shape 14"/>
          <p:cNvSpPr/>
          <p:nvPr/>
        </p:nvSpPr>
        <p:spPr>
          <a:xfrm>
            <a:off x="6263640" y="1417320"/>
            <a:ext cx="5376672" cy="2788920"/>
          </a:xfrm>
          <a:prstGeom prst="roundRect">
            <a:avLst>
              <a:gd name="adj" fmla="val 2295"/>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Shape 15"/>
          <p:cNvSpPr/>
          <p:nvPr/>
        </p:nvSpPr>
        <p:spPr>
          <a:xfrm>
            <a:off x="6263640" y="1417320"/>
            <a:ext cx="5376672" cy="64008"/>
          </a:xfrm>
          <a:prstGeom prst="rect">
            <a:avLst/>
          </a:prstGeom>
          <a:solidFill>
            <a:srgbClr val="B7791F"/>
          </a:solidFill>
          <a:ln w="12700">
            <a:solidFill>
              <a:srgbClr val="B7791F"/>
            </a:solidFill>
            <a:prstDash val="solid"/>
          </a:ln>
        </p:spPr>
      </p:sp>
      <p:sp>
        <p:nvSpPr>
          <p:cNvPr id="19" name="Text 16"/>
          <p:cNvSpPr txBox="1"/>
          <p:nvPr/>
        </p:nvSpPr>
        <p:spPr>
          <a:xfrm>
            <a:off x="6537960" y="1645920"/>
            <a:ext cx="4846320" cy="457200"/>
          </a:xfrm>
          <a:prstGeom prst="rect">
            <a:avLst/>
          </a:prstGeom>
          <a:noFill/>
          <a:ln/>
        </p:spPr>
        <p:txBody>
          <a:bodyPr wrap="square" lIns="0" tIns="0" rIns="0" bIns="0" rtlCol="0" anchor="t"/>
          <a:lstStyle/>
          <a:p>
            <a:pPr indent="0" marL="0">
              <a:buNone/>
            </a:pPr>
            <a:r>
              <a:rPr lang="en-US" sz="2200" b="1" dirty="0">
                <a:solidFill>
                  <a:srgbClr val="21295C"/>
                </a:solidFill>
                <a:latin typeface="Cambria" pitchFamily="34" charset="0"/>
                <a:ea typeface="Cambria" pitchFamily="34" charset="-122"/>
                <a:cs typeface="Cambria" pitchFamily="34" charset="-120"/>
              </a:rPr>
              <a:t>Intercepto = 25,8</a:t>
            </a:r>
            <a:endParaRPr lang="en-US" sz="2200" dirty="0"/>
          </a:p>
        </p:txBody>
      </p:sp>
      <p:sp>
        <p:nvSpPr>
          <p:cNvPr id="20" name="Text 17"/>
          <p:cNvSpPr txBox="1"/>
          <p:nvPr/>
        </p:nvSpPr>
        <p:spPr>
          <a:xfrm>
            <a:off x="6537960" y="2240280"/>
            <a:ext cx="4846320" cy="1097280"/>
          </a:xfrm>
          <a:prstGeom prst="rect">
            <a:avLst/>
          </a:prstGeom>
          <a:noFill/>
          <a:ln/>
        </p:spPr>
        <p:txBody>
          <a:bodyPr wrap="square" lIns="0" tIns="0" rIns="0" bIns="0" rtlCol="0" anchor="t"/>
          <a:lstStyle/>
          <a:p>
            <a:pPr indent="0" marL="0">
              <a:buNone/>
            </a:pPr>
            <a:r>
              <a:rPr lang="en-US" sz="1500" dirty="0">
                <a:solidFill>
                  <a:srgbClr val="1E2A44"/>
                </a:solidFill>
                <a:latin typeface="Calibri" pitchFamily="34" charset="0"/>
                <a:ea typeface="Calibri" pitchFamily="34" charset="-122"/>
                <a:cs typeface="Calibri" pitchFamily="34" charset="-120"/>
              </a:rPr>
              <a:t>Meses esperados cuando las horas valen cero. Pero nadie investiga cero horas: aquí es solo el ancla de la recta.</a:t>
            </a:r>
            <a:endParaRPr lang="en-US" sz="1500" dirty="0"/>
          </a:p>
        </p:txBody>
      </p:sp>
      <p:sp>
        <p:nvSpPr>
          <p:cNvPr id="21" name="Shape 18"/>
          <p:cNvSpPr/>
          <p:nvPr/>
        </p:nvSpPr>
        <p:spPr>
          <a:xfrm>
            <a:off x="6537960" y="3520440"/>
            <a:ext cx="3017520" cy="365760"/>
          </a:xfrm>
          <a:prstGeom prst="roundRect">
            <a:avLst>
              <a:gd name="adj" fmla="val 50000"/>
            </a:avLst>
          </a:prstGeom>
          <a:solidFill>
            <a:srgbClr val="F9E3B4"/>
          </a:solidFill>
          <a:ln w="12700">
            <a:solidFill>
              <a:srgbClr val="F9E3B4"/>
            </a:solidFill>
            <a:prstDash val="solid"/>
          </a:ln>
        </p:spPr>
      </p:sp>
      <p:sp>
        <p:nvSpPr>
          <p:cNvPr id="22" name="Text 19"/>
          <p:cNvSpPr txBox="1"/>
          <p:nvPr/>
        </p:nvSpPr>
        <p:spPr>
          <a:xfrm>
            <a:off x="6537960" y="3520440"/>
            <a:ext cx="3017520" cy="365760"/>
          </a:xfrm>
          <a:prstGeom prst="rect">
            <a:avLst/>
          </a:prstGeom>
          <a:noFill/>
          <a:ln/>
        </p:spPr>
        <p:txBody>
          <a:bodyPr wrap="square" lIns="0" tIns="0" rIns="0" bIns="0" rtlCol="0" anchor="ctr"/>
          <a:lstStyle/>
          <a:p>
            <a:pPr algn="ctr" indent="0" marL="0">
              <a:buNone/>
            </a:pPr>
            <a:r>
              <a:rPr lang="en-US" sz="1100" b="1" dirty="0">
                <a:solidFill>
                  <a:srgbClr val="8A5A00"/>
                </a:solidFill>
                <a:latin typeface="Calibri" pitchFamily="34" charset="0"/>
                <a:ea typeface="Calibri" pitchFamily="34" charset="-122"/>
                <a:cs typeface="Calibri" pitchFamily="34" charset="-120"/>
              </a:rPr>
              <a:t>Solo se interpreta si X = 0 es plausible</a:t>
            </a:r>
            <a:endParaRPr lang="en-US" sz="1100" dirty="0"/>
          </a:p>
        </p:txBody>
      </p:sp>
      <p:sp>
        <p:nvSpPr>
          <p:cNvPr id="23" name="Shape 20"/>
          <p:cNvSpPr/>
          <p:nvPr/>
        </p:nvSpPr>
        <p:spPr>
          <a:xfrm>
            <a:off x="548640" y="4526280"/>
            <a:ext cx="11091672" cy="1014222"/>
          </a:xfrm>
          <a:prstGeom prst="roundRect">
            <a:avLst>
              <a:gd name="adj" fmla="val 5409"/>
            </a:avLst>
          </a:prstGeom>
          <a:solidFill>
            <a:srgbClr val="162044"/>
          </a:solidFill>
          <a:ln w="12700">
            <a:solidFill>
              <a:srgbClr val="162044"/>
            </a:solidFill>
            <a:prstDash val="solid"/>
          </a:ln>
        </p:spPr>
      </p:sp>
      <p:sp>
        <p:nvSpPr>
          <p:cNvPr id="24" name="Text 21"/>
          <p:cNvSpPr txBox="1"/>
          <p:nvPr/>
        </p:nvSpPr>
        <p:spPr>
          <a:xfrm>
            <a:off x="731520" y="4654296"/>
            <a:ext cx="10725912" cy="703326"/>
          </a:xfrm>
          <a:prstGeom prst="rect">
            <a:avLst/>
          </a:prstGeom>
          <a:noFill/>
          <a:ln/>
        </p:spPr>
        <p:txBody>
          <a:bodyPr wrap="square" lIns="0" tIns="0" rIns="0" bIns="0" rtlCol="0" anchor="t"/>
          <a:lstStyle/>
          <a:p>
            <a:pPr indent="0" marL="0">
              <a:lnSpc>
                <a:spcPts val="1846"/>
              </a:lnSpc>
              <a:buNone/>
            </a:pPr>
            <a:r>
              <a:rPr lang="en-US" sz="1300" dirty="0">
                <a:solidFill>
                  <a:srgbClr val="E6EDF7"/>
                </a:solidFill>
                <a:latin typeface="Courier New" pitchFamily="34" charset="0"/>
                <a:ea typeface="Courier New" pitchFamily="34" charset="-122"/>
                <a:cs typeface="Courier New" pitchFamily="34" charset="-120"/>
              </a:rPr>
              <a:t>meses = </a:t>
            </a:r>
            <a:pPr indent="0" marL="0">
              <a:lnSpc>
                <a:spcPts val="1846"/>
              </a:lnSpc>
              <a:buNone/>
            </a:pPr>
            <a:r>
              <a:rPr lang="en-US" sz="1300" dirty="0">
                <a:solidFill>
                  <a:srgbClr val="F2C97D"/>
                </a:solidFill>
                <a:latin typeface="Courier New" pitchFamily="34" charset="0"/>
                <a:ea typeface="Courier New" pitchFamily="34" charset="-122"/>
                <a:cs typeface="Courier New" pitchFamily="34" charset="-120"/>
              </a:rPr>
              <a:t>25</a:t>
            </a:r>
            <a:pPr indent="0" marL="0">
              <a:lnSpc>
                <a:spcPts val="184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846"/>
              </a:lnSpc>
              <a:buNone/>
            </a:pPr>
            <a:r>
              <a:rPr lang="en-US" sz="1300" dirty="0">
                <a:solidFill>
                  <a:srgbClr val="F2C97D"/>
                </a:solidFill>
                <a:latin typeface="Courier New" pitchFamily="34" charset="0"/>
                <a:ea typeface="Courier New" pitchFamily="34" charset="-122"/>
                <a:cs typeface="Courier New" pitchFamily="34" charset="-120"/>
              </a:rPr>
              <a:t>8</a:t>
            </a:r>
            <a:pPr indent="0" marL="0">
              <a:lnSpc>
                <a:spcPts val="1846"/>
              </a:lnSpc>
              <a:buNone/>
            </a:pPr>
            <a:r>
              <a:rPr lang="en-US" sz="1300" dirty="0">
                <a:solidFill>
                  <a:srgbClr val="E6EDF7"/>
                </a:solidFill>
                <a:latin typeface="Courier New" pitchFamily="34" charset="0"/>
                <a:ea typeface="Courier New" pitchFamily="34" charset="-122"/>
                <a:cs typeface="Courier New" pitchFamily="34" charset="-120"/>
              </a:rPr>
              <a:t> + </a:t>
            </a:r>
            <a:pPr indent="0" marL="0">
              <a:lnSpc>
                <a:spcPts val="1846"/>
              </a:lnSpc>
              <a:buNone/>
            </a:pPr>
            <a:r>
              <a:rPr lang="en-US" sz="1300" dirty="0">
                <a:solidFill>
                  <a:srgbClr val="F2C97D"/>
                </a:solidFill>
                <a:latin typeface="Courier New" pitchFamily="34" charset="0"/>
                <a:ea typeface="Courier New" pitchFamily="34" charset="-122"/>
                <a:cs typeface="Courier New" pitchFamily="34" charset="-120"/>
              </a:rPr>
              <a:t>0</a:t>
            </a:r>
            <a:pPr indent="0" marL="0">
              <a:lnSpc>
                <a:spcPts val="184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846"/>
              </a:lnSpc>
              <a:buNone/>
            </a:pPr>
            <a:r>
              <a:rPr lang="en-US" sz="1300" dirty="0">
                <a:solidFill>
                  <a:srgbClr val="F2C97D"/>
                </a:solidFill>
                <a:latin typeface="Courier New" pitchFamily="34" charset="0"/>
                <a:ea typeface="Courier New" pitchFamily="34" charset="-122"/>
                <a:cs typeface="Courier New" pitchFamily="34" charset="-120"/>
              </a:rPr>
              <a:t>90</a:t>
            </a:r>
            <a:pPr indent="0" marL="0">
              <a:lnSpc>
                <a:spcPts val="1846"/>
              </a:lnSpc>
              <a:buNone/>
            </a:pPr>
            <a:r>
              <a:rPr lang="en-US" sz="1300" dirty="0">
                <a:solidFill>
                  <a:srgbClr val="E6EDF7"/>
                </a:solidFill>
                <a:latin typeface="Courier New" pitchFamily="34" charset="0"/>
                <a:ea typeface="Courier New" pitchFamily="34" charset="-122"/>
                <a:cs typeface="Courier New" pitchFamily="34" charset="-120"/>
              </a:rPr>
              <a:t> × horas</a:t>
            </a:r>
            <a:endParaRPr lang="en-US" sz="1300" dirty="0"/>
          </a:p>
          <a:p>
            <a:pPr indent="0" marL="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846"/>
              </a:lnSpc>
              <a:buNone/>
            </a:pPr>
            <a:r>
              <a:rPr lang="en-US" sz="1300" i="1" dirty="0">
                <a:solidFill>
                  <a:srgbClr val="8196BC"/>
                </a:solidFill>
                <a:latin typeface="Courier New" pitchFamily="34" charset="0"/>
                <a:ea typeface="Courier New" pitchFamily="34" charset="-122"/>
                <a:cs typeface="Courier New" pitchFamily="34" charset="-120"/>
              </a:rPr>
              <a:t># ejemplo: 30 horas por semana → 25,8 + 0,90 × 30 = 52,8 meses</a:t>
            </a:r>
            <a:endParaRPr lang="en-US" sz="1300" dirty="0"/>
          </a:p>
        </p:txBody>
      </p:sp>
      <p:sp>
        <p:nvSpPr>
          <p:cNvPr id="25" name="Text 22"/>
          <p:cNvSpPr txBox="1"/>
          <p:nvPr/>
        </p:nvSpPr>
        <p:spPr>
          <a:xfrm>
            <a:off x="548640" y="5760720"/>
            <a:ext cx="11091672" cy="502920"/>
          </a:xfrm>
          <a:prstGeom prst="rect">
            <a:avLst/>
          </a:prstGeom>
          <a:noFill/>
          <a:ln/>
        </p:spPr>
        <p:txBody>
          <a:bodyPr wrap="square" lIns="0" tIns="0" rIns="0" bIns="0" rtlCol="0" anchor="t"/>
          <a:lstStyle/>
          <a:p>
            <a:pPr indent="0" marL="0">
              <a:buNone/>
            </a:pPr>
            <a:r>
              <a:rPr lang="en-US" sz="1250" i="1" dirty="0">
                <a:solidFill>
                  <a:srgbClr val="5B6B7F"/>
                </a:solidFill>
                <a:latin typeface="Calibri" pitchFamily="34" charset="0"/>
                <a:ea typeface="Calibri" pitchFamily="34" charset="-122"/>
                <a:cs typeface="Calibri" pitchFamily="34" charset="-120"/>
              </a:rPr>
              <a:t>Tip: si el cero no tiene sentido, centra la variable (horas − promedio) y el intercepto pasa a ser el valor en la persona promedio.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Incertidumbre: error estándar, IC y valor p</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10</a:t>
            </a:r>
            <a:endParaRPr lang="en-US" sz="800" dirty="0"/>
          </a:p>
        </p:txBody>
      </p:sp>
      <p:sp>
        <p:nvSpPr>
          <p:cNvPr id="7" name="Shape 4"/>
          <p:cNvSpPr/>
          <p:nvPr/>
        </p:nvSpPr>
        <p:spPr>
          <a:xfrm>
            <a:off x="548640" y="1399032"/>
            <a:ext cx="6163056" cy="3749040"/>
          </a:xfrm>
          <a:prstGeom prst="roundRect">
            <a:avLst>
              <a:gd name="adj" fmla="val 122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04_ic.png">    </p:cNvPr>
          <p:cNvPicPr>
            <a:picLocks noChangeAspect="1"/>
          </p:cNvPicPr>
          <p:nvPr/>
        </p:nvPicPr>
        <p:blipFill>
          <a:blip r:embed="rId1"/>
          <a:stretch>
            <a:fillRect/>
          </a:stretch>
        </p:blipFill>
        <p:spPr>
          <a:xfrm>
            <a:off x="612648" y="1463040"/>
            <a:ext cx="6035040" cy="3621024"/>
          </a:xfrm>
          <a:prstGeom prst="rect">
            <a:avLst/>
          </a:prstGeom>
        </p:spPr>
      </p:pic>
      <p:sp>
        <p:nvSpPr>
          <p:cNvPr id="9" name="Text 5"/>
          <p:cNvSpPr txBox="1"/>
          <p:nvPr/>
        </p:nvSpPr>
        <p:spPr>
          <a:xfrm>
            <a:off x="7772400" y="1371600"/>
            <a:ext cx="384048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PARA LA PENDIENTE DE LAS HORAS</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0" y="1691640"/>
          <a:ext cx="3867912" cy="914400"/>
        </p:xfrm>
        <a:graphic>
          <a:graphicData uri="http://schemas.openxmlformats.org/drawingml/2006/table">
            <a:tbl>
              <a:tblPr/>
              <a:tblGrid>
                <a:gridCol w="1874520"/>
                <a:gridCol w="1993392"/>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Medida</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Valor</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r>
              <a:tr h="411480">
                <a:tc>
                  <a:txBody>
                    <a:bodyPr/>
                    <a:lstStyle/>
                    <a:p>
                      <a:pPr algn="l" indent="0" marL="0">
                        <a:buNone/>
                      </a:pPr>
                      <a:r>
                        <a:rPr lang="en-US" sz="1250" dirty="0">
                          <a:solidFill>
                            <a:srgbClr val="1E2A44"/>
                          </a:solidFill>
                          <a:latin typeface="Calibri" pitchFamily="34" charset="0"/>
                          <a:ea typeface="Calibri" pitchFamily="34" charset="-122"/>
                          <a:cs typeface="Calibri" pitchFamily="34" charset="-120"/>
                        </a:rPr>
                        <a:t>Estimación</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A44"/>
                          </a:solidFill>
                          <a:latin typeface="Calibri" pitchFamily="34" charset="0"/>
                          <a:ea typeface="Calibri" pitchFamily="34" charset="-122"/>
                          <a:cs typeface="Calibri" pitchFamily="34" charset="-120"/>
                        </a:rPr>
                        <a:t>0,90</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1E2A44"/>
                          </a:solidFill>
                          <a:latin typeface="Calibri" pitchFamily="34" charset="0"/>
                          <a:ea typeface="Calibri" pitchFamily="34" charset="-122"/>
                          <a:cs typeface="Calibri" pitchFamily="34" charset="-120"/>
                        </a:rPr>
                        <a:t>Error estándar</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ctr" indent="0" marL="0">
                        <a:buNone/>
                      </a:pPr>
                      <a:r>
                        <a:rPr lang="en-US" sz="1250" dirty="0">
                          <a:solidFill>
                            <a:srgbClr val="1E2A44"/>
                          </a:solidFill>
                          <a:latin typeface="Calibri" pitchFamily="34" charset="0"/>
                          <a:ea typeface="Calibri" pitchFamily="34" charset="-122"/>
                          <a:cs typeface="Calibri" pitchFamily="34" charset="-120"/>
                        </a:rPr>
                        <a:t>0,12</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r>
              <a:tr h="411480">
                <a:tc>
                  <a:txBody>
                    <a:bodyPr/>
                    <a:lstStyle/>
                    <a:p>
                      <a:pPr algn="l" indent="0" marL="0">
                        <a:buNone/>
                      </a:pPr>
                      <a:r>
                        <a:rPr lang="en-US" sz="1250" dirty="0">
                          <a:solidFill>
                            <a:srgbClr val="1E2A44"/>
                          </a:solidFill>
                          <a:latin typeface="Calibri" pitchFamily="34" charset="0"/>
                          <a:ea typeface="Calibri" pitchFamily="34" charset="-122"/>
                          <a:cs typeface="Calibri" pitchFamily="34" charset="-120"/>
                        </a:rPr>
                        <a:t>IC 95%</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A44"/>
                          </a:solidFill>
                          <a:latin typeface="Calibri" pitchFamily="34" charset="0"/>
                          <a:ea typeface="Calibri" pitchFamily="34" charset="-122"/>
                          <a:cs typeface="Calibri" pitchFamily="34" charset="-120"/>
                        </a:rPr>
                        <a:t>0,66 a 1,14</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1E2A44"/>
                          </a:solidFill>
                          <a:latin typeface="Calibri" pitchFamily="34" charset="0"/>
                          <a:ea typeface="Calibri" pitchFamily="34" charset="-122"/>
                          <a:cs typeface="Calibri" pitchFamily="34" charset="-120"/>
                        </a:rPr>
                        <a:t>Valor p</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ctr" indent="0" marL="0">
                        <a:buNone/>
                      </a:pPr>
                      <a:r>
                        <a:rPr lang="en-US" sz="1250" dirty="0">
                          <a:solidFill>
                            <a:srgbClr val="1E2A44"/>
                          </a:solidFill>
                          <a:latin typeface="Calibri" pitchFamily="34" charset="0"/>
                          <a:ea typeface="Calibri" pitchFamily="34" charset="-122"/>
                          <a:cs typeface="Calibri" pitchFamily="34" charset="-120"/>
                        </a:rPr>
                        <a:t>4,25e-12</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r>
            </a:tbl>
          </a:graphicData>
        </a:graphic>
      </p:graphicFrame>
      <p:sp>
        <p:nvSpPr>
          <p:cNvPr id="11" name="Shape 6"/>
          <p:cNvSpPr/>
          <p:nvPr/>
        </p:nvSpPr>
        <p:spPr>
          <a:xfrm>
            <a:off x="7772400" y="3977640"/>
            <a:ext cx="3867912" cy="878967"/>
          </a:xfrm>
          <a:prstGeom prst="roundRect">
            <a:avLst>
              <a:gd name="adj" fmla="val 6242"/>
            </a:avLst>
          </a:prstGeom>
          <a:solidFill>
            <a:srgbClr val="162044"/>
          </a:solidFill>
          <a:ln w="12700">
            <a:solidFill>
              <a:srgbClr val="162044"/>
            </a:solidFill>
            <a:prstDash val="solid"/>
          </a:ln>
        </p:spPr>
      </p:sp>
      <p:sp>
        <p:nvSpPr>
          <p:cNvPr id="12" name="Text 7"/>
          <p:cNvSpPr txBox="1"/>
          <p:nvPr/>
        </p:nvSpPr>
        <p:spPr>
          <a:xfrm>
            <a:off x="7955280" y="4105656"/>
            <a:ext cx="3502152" cy="568071"/>
          </a:xfrm>
          <a:prstGeom prst="rect">
            <a:avLst/>
          </a:prstGeom>
          <a:noFill/>
          <a:ln/>
        </p:spPr>
        <p:txBody>
          <a:bodyPr wrap="square" lIns="0" tIns="0" rIns="0" bIns="0" rtlCol="0" anchor="t"/>
          <a:lstStyle/>
          <a:p>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confint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(m1)</a:t>
            </a:r>
            <a:endParaRPr lang="en-US" sz="1050" dirty="0"/>
          </a:p>
          <a:p>
            <a:pPr indent="0" marL="0">
              <a:lnSpc>
                <a:spcPts val="1491"/>
              </a:lnSpc>
              <a:buNone/>
            </a:pPr>
            <a:r>
              <a:rPr lang="en-US" sz="1050" dirty="0">
                <a:solidFill>
                  <a:srgbClr val="8FD5B0"/>
                </a:solidFill>
                <a:latin typeface="Courier New" pitchFamily="34" charset="0"/>
                <a:ea typeface="Courier New" pitchFamily="34" charset="-122"/>
                <a:cs typeface="Courier New" pitchFamily="34" charset="-120"/>
              </a:rPr>
              <a:t>#&gt;                       2.5 %  97.5 %</a:t>
            </a:r>
            <a:endParaRPr lang="en-US" sz="1050" dirty="0"/>
          </a:p>
          <a:p>
            <a:pPr indent="0" marL="0">
              <a:lnSpc>
                <a:spcPts val="1491"/>
              </a:lnSpc>
              <a:buNone/>
            </a:pPr>
            <a:r>
              <a:rPr lang="en-US" sz="1050" dirty="0">
                <a:solidFill>
                  <a:srgbClr val="8FD5B0"/>
                </a:solidFill>
                <a:latin typeface="Courier New" pitchFamily="34" charset="0"/>
                <a:ea typeface="Courier New" pitchFamily="34" charset="-122"/>
                <a:cs typeface="Courier New" pitchFamily="34" charset="-120"/>
              </a:rPr>
              <a:t>#&gt; horas_investigacion  0.660   1.142</a:t>
            </a:r>
            <a:endParaRPr lang="en-US" sz="1050" dirty="0"/>
          </a:p>
        </p:txBody>
      </p:sp>
      <p:sp>
        <p:nvSpPr>
          <p:cNvPr id="13" name="Shape 8"/>
          <p:cNvSpPr/>
          <p:nvPr/>
        </p:nvSpPr>
        <p:spPr>
          <a:xfrm>
            <a:off x="548640" y="5166360"/>
            <a:ext cx="11091672" cy="777240"/>
          </a:xfrm>
          <a:prstGeom prst="rect">
            <a:avLst/>
          </a:prstGeom>
          <a:solidFill>
            <a:srgbClr val="E4EEF2"/>
          </a:solidFill>
          <a:ln w="12700">
            <a:solidFill>
              <a:srgbClr val="E4EEF2"/>
            </a:solidFill>
            <a:prstDash val="solid"/>
          </a:ln>
        </p:spPr>
      </p:sp>
      <p:sp>
        <p:nvSpPr>
          <p:cNvPr id="14" name="Shape 9"/>
          <p:cNvSpPr/>
          <p:nvPr/>
        </p:nvSpPr>
        <p:spPr>
          <a:xfrm>
            <a:off x="548640" y="5166360"/>
            <a:ext cx="64008" cy="777240"/>
          </a:xfrm>
          <a:prstGeom prst="rect">
            <a:avLst/>
          </a:prstGeom>
          <a:solidFill>
            <a:srgbClr val="1C7293"/>
          </a:solidFill>
          <a:ln w="12700">
            <a:solidFill>
              <a:srgbClr val="1C7293"/>
            </a:solidFill>
            <a:prstDash val="solid"/>
          </a:ln>
        </p:spPr>
      </p:sp>
      <p:sp>
        <p:nvSpPr>
          <p:cNvPr id="15" name="Text 10"/>
          <p:cNvSpPr txBox="1"/>
          <p:nvPr/>
        </p:nvSpPr>
        <p:spPr>
          <a:xfrm>
            <a:off x="749808" y="5166360"/>
            <a:ext cx="10771632" cy="777240"/>
          </a:xfrm>
          <a:prstGeom prst="rect">
            <a:avLst/>
          </a:prstGeom>
          <a:noFill/>
          <a:ln/>
        </p:spPr>
        <p:txBody>
          <a:bodyPr wrap="square" lIns="0" tIns="0" rIns="0" bIns="0" rtlCol="0" anchor="ctr"/>
          <a:lstStyle/>
          <a:p>
            <a:pPr indent="0" marL="0">
              <a:buNone/>
            </a:pPr>
            <a:r>
              <a:rPr lang="en-US" sz="1400" b="1" dirty="0">
                <a:solidFill>
                  <a:srgbClr val="1E2A44"/>
                </a:solidFill>
                <a:latin typeface="Calibri" pitchFamily="34" charset="0"/>
                <a:ea typeface="Calibri" pitchFamily="34" charset="-122"/>
                <a:cs typeface="Calibri" pitchFamily="34" charset="-120"/>
              </a:rPr>
              <a:t>Valor p pequeño ≠ efecto grande. El intervalo dice dónde está el efecto y qué tan grande puede ser.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R²: cuánta variación explica el modelo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11</a:t>
            </a:r>
            <a:endParaRPr lang="en-US" sz="800" dirty="0"/>
          </a:p>
        </p:txBody>
      </p:sp>
      <p:sp>
        <p:nvSpPr>
          <p:cNvPr id="7" name="Shape 4"/>
          <p:cNvSpPr/>
          <p:nvPr/>
        </p:nvSpPr>
        <p:spPr>
          <a:xfrm>
            <a:off x="548640" y="1399032"/>
            <a:ext cx="7991856" cy="2749296"/>
          </a:xfrm>
          <a:prstGeom prst="roundRect">
            <a:avLst>
              <a:gd name="adj" fmla="val 1663"/>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05_r2.png">    </p:cNvPr>
          <p:cNvPicPr>
            <a:picLocks noChangeAspect="1"/>
          </p:cNvPicPr>
          <p:nvPr/>
        </p:nvPicPr>
        <p:blipFill>
          <a:blip r:embed="rId1"/>
          <a:stretch>
            <a:fillRect/>
          </a:stretch>
        </p:blipFill>
        <p:spPr>
          <a:xfrm>
            <a:off x="612648" y="1463040"/>
            <a:ext cx="7863840" cy="2621280"/>
          </a:xfrm>
          <a:prstGeom prst="rect">
            <a:avLst/>
          </a:prstGeom>
        </p:spPr>
      </p:pic>
      <p:sp>
        <p:nvSpPr>
          <p:cNvPr id="9" name="Shape 5"/>
          <p:cNvSpPr/>
          <p:nvPr/>
        </p:nvSpPr>
        <p:spPr>
          <a:xfrm>
            <a:off x="8869680" y="1399032"/>
            <a:ext cx="2770632" cy="2651760"/>
          </a:xfrm>
          <a:prstGeom prst="roundRect">
            <a:avLst>
              <a:gd name="adj" fmla="val 2414"/>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0" name="Text 6"/>
          <p:cNvSpPr txBox="1"/>
          <p:nvPr/>
        </p:nvSpPr>
        <p:spPr>
          <a:xfrm>
            <a:off x="9098280" y="1554480"/>
            <a:ext cx="237744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En nuestro modelo</a:t>
            </a:r>
            <a:endParaRPr lang="en-US" sz="1100" dirty="0"/>
          </a:p>
        </p:txBody>
      </p:sp>
      <p:sp>
        <p:nvSpPr>
          <p:cNvPr id="11" name="Text 7"/>
          <p:cNvSpPr txBox="1"/>
          <p:nvPr/>
        </p:nvSpPr>
        <p:spPr>
          <a:xfrm>
            <a:off x="9098280" y="1874520"/>
            <a:ext cx="2377440" cy="548640"/>
          </a:xfrm>
          <a:prstGeom prst="rect">
            <a:avLst/>
          </a:prstGeom>
          <a:noFill/>
          <a:ln/>
        </p:spPr>
        <p:txBody>
          <a:bodyPr wrap="square" lIns="0" tIns="0" rIns="0" bIns="0" rtlCol="0" anchor="t"/>
          <a:lstStyle/>
          <a:p>
            <a:pPr indent="0" marL="0">
              <a:buNone/>
            </a:pPr>
            <a:r>
              <a:rPr lang="en-US" sz="2600" b="1" dirty="0">
                <a:solidFill>
                  <a:srgbClr val="21295C"/>
                </a:solidFill>
                <a:latin typeface="Cambria" pitchFamily="34" charset="0"/>
                <a:ea typeface="Cambria" pitchFamily="34" charset="-122"/>
                <a:cs typeface="Cambria" pitchFamily="34" charset="-120"/>
              </a:rPr>
              <a:t>R² = 0,22</a:t>
            </a:r>
            <a:endParaRPr lang="en-US" sz="2600" dirty="0"/>
          </a:p>
        </p:txBody>
      </p:sp>
      <p:sp>
        <p:nvSpPr>
          <p:cNvPr id="12" name="Text 8"/>
          <p:cNvSpPr txBox="1"/>
          <p:nvPr/>
        </p:nvSpPr>
        <p:spPr>
          <a:xfrm>
            <a:off x="9098280" y="2560320"/>
            <a:ext cx="2377440" cy="137160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Las horas explican un 22% de la variación de los meses. El 78% queda sin explicar.</a:t>
            </a:r>
            <a:endParaRPr lang="en-US" sz="1250" dirty="0"/>
          </a:p>
        </p:txBody>
      </p:sp>
      <p:sp>
        <p:nvSpPr>
          <p:cNvPr id="13" name="Shape 9"/>
          <p:cNvSpPr/>
          <p:nvPr/>
        </p:nvSpPr>
        <p:spPr>
          <a:xfrm>
            <a:off x="548640" y="4343400"/>
            <a:ext cx="5468112" cy="1143000"/>
          </a:xfrm>
          <a:prstGeom prst="roundRect">
            <a:avLst>
              <a:gd name="adj" fmla="val 560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4" name="Text 10"/>
          <p:cNvSpPr txBox="1"/>
          <p:nvPr/>
        </p:nvSpPr>
        <p:spPr>
          <a:xfrm>
            <a:off x="777240" y="4480560"/>
            <a:ext cx="5029200" cy="320040"/>
          </a:xfrm>
          <a:prstGeom prst="rect">
            <a:avLst/>
          </a:prstGeom>
          <a:noFill/>
          <a:ln/>
        </p:spPr>
        <p:txBody>
          <a:bodyPr wrap="square" lIns="0" tIns="0" rIns="0" bIns="0" rtlCol="0" anchor="t"/>
          <a:lstStyle/>
          <a:p>
            <a:pPr indent="0" marL="0">
              <a:buNone/>
            </a:pPr>
            <a:r>
              <a:rPr lang="en-US" sz="1400" b="1" dirty="0">
                <a:solidFill>
                  <a:srgbClr val="21295C"/>
                </a:solidFill>
                <a:latin typeface="Cambria" pitchFamily="34" charset="0"/>
                <a:ea typeface="Cambria" pitchFamily="34" charset="-122"/>
                <a:cs typeface="Cambria" pitchFamily="34" charset="-120"/>
              </a:rPr>
              <a:t>Un R² bajo no hace inútil al modelo</a:t>
            </a:r>
            <a:endParaRPr lang="en-US" sz="1400" dirty="0"/>
          </a:p>
        </p:txBody>
      </p:sp>
      <p:sp>
        <p:nvSpPr>
          <p:cNvPr id="15" name="Text 11"/>
          <p:cNvSpPr txBox="1"/>
          <p:nvPr/>
        </p:nvSpPr>
        <p:spPr>
          <a:xfrm>
            <a:off x="777240" y="4846320"/>
            <a:ext cx="5029200" cy="54864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En ciencias sociales y de la salud es lo habitual.</a:t>
            </a:r>
            <a:endParaRPr lang="en-US" sz="1250" dirty="0"/>
          </a:p>
        </p:txBody>
      </p:sp>
      <p:sp>
        <p:nvSpPr>
          <p:cNvPr id="16" name="Shape 12"/>
          <p:cNvSpPr/>
          <p:nvPr/>
        </p:nvSpPr>
        <p:spPr>
          <a:xfrm>
            <a:off x="6172200" y="4343400"/>
            <a:ext cx="5468112" cy="1143000"/>
          </a:xfrm>
          <a:prstGeom prst="roundRect">
            <a:avLst>
              <a:gd name="adj" fmla="val 5600"/>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7" name="Text 13"/>
          <p:cNvSpPr txBox="1"/>
          <p:nvPr/>
        </p:nvSpPr>
        <p:spPr>
          <a:xfrm>
            <a:off x="6400800" y="4480560"/>
            <a:ext cx="5029200" cy="320040"/>
          </a:xfrm>
          <a:prstGeom prst="rect">
            <a:avLst/>
          </a:prstGeom>
          <a:noFill/>
          <a:ln/>
        </p:spPr>
        <p:txBody>
          <a:bodyPr wrap="square" lIns="0" tIns="0" rIns="0" bIns="0" rtlCol="0" anchor="t"/>
          <a:lstStyle/>
          <a:p>
            <a:pPr indent="0" marL="0">
              <a:buNone/>
            </a:pPr>
            <a:r>
              <a:rPr lang="en-US" sz="1400" b="1" dirty="0">
                <a:solidFill>
                  <a:srgbClr val="B7791F"/>
                </a:solidFill>
                <a:latin typeface="Cambria" pitchFamily="34" charset="0"/>
                <a:ea typeface="Cambria" pitchFamily="34" charset="-122"/>
                <a:cs typeface="Cambria" pitchFamily="34" charset="-120"/>
              </a:rPr>
              <a:t>Un R² alto no prueba que sea correcto</a:t>
            </a:r>
            <a:endParaRPr lang="en-US" sz="1400" dirty="0"/>
          </a:p>
        </p:txBody>
      </p:sp>
      <p:sp>
        <p:nvSpPr>
          <p:cNvPr id="18" name="Text 14"/>
          <p:cNvSpPr txBox="1"/>
          <p:nvPr/>
        </p:nvSpPr>
        <p:spPr>
          <a:xfrm>
            <a:off x="6400800" y="4846320"/>
            <a:ext cx="5029200" cy="54864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Puede haber confusión, sobreajuste o mal diseño.</a:t>
            </a:r>
            <a:endParaRPr lang="en-US" sz="1250" dirty="0"/>
          </a:p>
        </p:txBody>
      </p:sp>
      <p:sp>
        <p:nvSpPr>
          <p:cNvPr id="19" name="Shape 15"/>
          <p:cNvSpPr/>
          <p:nvPr/>
        </p:nvSpPr>
        <p:spPr>
          <a:xfrm>
            <a:off x="548640" y="5669280"/>
            <a:ext cx="11091672" cy="502920"/>
          </a:xfrm>
          <a:prstGeom prst="rect">
            <a:avLst/>
          </a:prstGeom>
          <a:solidFill>
            <a:srgbClr val="E4EEF2"/>
          </a:solidFill>
          <a:ln w="12700">
            <a:solidFill>
              <a:srgbClr val="E4EEF2"/>
            </a:solidFill>
            <a:prstDash val="solid"/>
          </a:ln>
        </p:spPr>
      </p:sp>
      <p:sp>
        <p:nvSpPr>
          <p:cNvPr id="20" name="Shape 16"/>
          <p:cNvSpPr/>
          <p:nvPr/>
        </p:nvSpPr>
        <p:spPr>
          <a:xfrm>
            <a:off x="548640" y="5669280"/>
            <a:ext cx="64008" cy="502920"/>
          </a:xfrm>
          <a:prstGeom prst="rect">
            <a:avLst/>
          </a:prstGeom>
          <a:solidFill>
            <a:srgbClr val="1C7293"/>
          </a:solidFill>
          <a:ln w="12700">
            <a:solidFill>
              <a:srgbClr val="1C7293"/>
            </a:solidFill>
            <a:prstDash val="solid"/>
          </a:ln>
        </p:spPr>
      </p:sp>
      <p:sp>
        <p:nvSpPr>
          <p:cNvPr id="21" name="Text 17"/>
          <p:cNvSpPr txBox="1"/>
          <p:nvPr/>
        </p:nvSpPr>
        <p:spPr>
          <a:xfrm>
            <a:off x="749808" y="5669280"/>
            <a:ext cx="10771632" cy="502920"/>
          </a:xfrm>
          <a:prstGeom prst="rect">
            <a:avLst/>
          </a:prstGeom>
          <a:noFill/>
          <a:ln/>
        </p:spPr>
        <p:txBody>
          <a:bodyPr wrap="square" lIns="0" tIns="0" rIns="0" bIns="0" rtlCol="0" anchor="ctr"/>
          <a:lstStyle/>
          <a:p>
            <a:pPr indent="0" marL="0">
              <a:buNone/>
            </a:pPr>
            <a:r>
              <a:rPr lang="en-US" sz="1250" i="1" dirty="0">
                <a:solidFill>
                  <a:srgbClr val="1E2A44"/>
                </a:solidFill>
                <a:latin typeface="Calibri" pitchFamily="34" charset="0"/>
                <a:ea typeface="Calibri" pitchFamily="34" charset="-122"/>
                <a:cs typeface="Calibri" pitchFamily="34" charset="-120"/>
              </a:rPr>
              <a:t>En regresión simple, R² es el cuadrado de la correlación: cor(x, y)^2.</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broom: resultados como tablas ordenadas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12</a:t>
            </a:r>
            <a:endParaRPr lang="en-US" sz="800" dirty="0"/>
          </a:p>
        </p:txBody>
      </p:sp>
      <p:sp>
        <p:nvSpPr>
          <p:cNvPr id="7" name="Shape 4"/>
          <p:cNvSpPr/>
          <p:nvPr/>
        </p:nvSpPr>
        <p:spPr>
          <a:xfrm>
            <a:off x="548640" y="1417320"/>
            <a:ext cx="3584448" cy="2651760"/>
          </a:xfrm>
          <a:prstGeom prst="roundRect">
            <a:avLst>
              <a:gd name="adj" fmla="val 2414"/>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548640" y="1417320"/>
            <a:ext cx="3584448" cy="64008"/>
          </a:xfrm>
          <a:prstGeom prst="rect">
            <a:avLst/>
          </a:prstGeom>
          <a:solidFill>
            <a:srgbClr val="065A82"/>
          </a:solidFill>
          <a:ln w="12700">
            <a:solidFill>
              <a:srgbClr val="065A82"/>
            </a:solidFill>
            <a:prstDash val="solid"/>
          </a:ln>
        </p:spPr>
      </p:sp>
      <p:sp>
        <p:nvSpPr>
          <p:cNvPr id="9" name="Text 6"/>
          <p:cNvSpPr txBox="1"/>
          <p:nvPr/>
        </p:nvSpPr>
        <p:spPr>
          <a:xfrm>
            <a:off x="777240" y="1691640"/>
            <a:ext cx="3200400" cy="320040"/>
          </a:xfrm>
          <a:prstGeom prst="rect">
            <a:avLst/>
          </a:prstGeom>
          <a:noFill/>
          <a:ln/>
        </p:spPr>
        <p:txBody>
          <a:bodyPr wrap="square" lIns="0" tIns="0" rIns="0" bIns="0" rtlCol="0" anchor="t"/>
          <a:lstStyle/>
          <a:p>
            <a:pPr indent="0" marL="0">
              <a:buNone/>
            </a:pPr>
            <a:r>
              <a:rPr lang="en-US" sz="1250" b="1" dirty="0">
                <a:solidFill>
                  <a:srgbClr val="065A82"/>
                </a:solidFill>
                <a:latin typeface="Courier New" pitchFamily="34" charset="0"/>
                <a:ea typeface="Courier New" pitchFamily="34" charset="-122"/>
                <a:cs typeface="Courier New" pitchFamily="34" charset="-120"/>
              </a:rPr>
              <a:t>tidy(m1, conf.int = TRUE)</a:t>
            </a:r>
            <a:endParaRPr lang="en-US" sz="1250" dirty="0"/>
          </a:p>
        </p:txBody>
      </p:sp>
      <p:sp>
        <p:nvSpPr>
          <p:cNvPr id="10" name="Text 7"/>
          <p:cNvSpPr txBox="1"/>
          <p:nvPr/>
        </p:nvSpPr>
        <p:spPr>
          <a:xfrm>
            <a:off x="777240" y="2103120"/>
            <a:ext cx="3200400" cy="365760"/>
          </a:xfrm>
          <a:prstGeom prst="rect">
            <a:avLst/>
          </a:prstGeom>
          <a:noFill/>
          <a:ln/>
        </p:spPr>
        <p:txBody>
          <a:bodyPr wrap="square" lIns="0" tIns="0" rIns="0" bIns="0" rtlCol="0" anchor="t"/>
          <a:lstStyle/>
          <a:p>
            <a:pPr indent="0" marL="0">
              <a:buNone/>
            </a:pPr>
            <a:r>
              <a:rPr lang="en-US" sz="1600" b="1" dirty="0">
                <a:solidFill>
                  <a:srgbClr val="21295C"/>
                </a:solidFill>
                <a:latin typeface="Cambria" pitchFamily="34" charset="0"/>
                <a:ea typeface="Cambria" pitchFamily="34" charset="-122"/>
                <a:cs typeface="Cambria" pitchFamily="34" charset="-120"/>
              </a:rPr>
              <a:t>Una fila por coeficiente</a:t>
            </a:r>
            <a:endParaRPr lang="en-US" sz="1600" dirty="0"/>
          </a:p>
        </p:txBody>
      </p:sp>
      <p:sp>
        <p:nvSpPr>
          <p:cNvPr id="11" name="Text 8"/>
          <p:cNvSpPr txBox="1"/>
          <p:nvPr/>
        </p:nvSpPr>
        <p:spPr>
          <a:xfrm>
            <a:off x="777240" y="2606040"/>
            <a:ext cx="3154680" cy="12801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term · estimate · std.error · statistic · p.value · conf.low · conf.high</a:t>
            </a:r>
            <a:endParaRPr lang="en-US" sz="1200" dirty="0"/>
          </a:p>
        </p:txBody>
      </p:sp>
      <p:sp>
        <p:nvSpPr>
          <p:cNvPr id="12" name="Shape 9"/>
          <p:cNvSpPr/>
          <p:nvPr/>
        </p:nvSpPr>
        <p:spPr>
          <a:xfrm>
            <a:off x="4297680" y="1417320"/>
            <a:ext cx="3584448" cy="2651760"/>
          </a:xfrm>
          <a:prstGeom prst="roundRect">
            <a:avLst>
              <a:gd name="adj" fmla="val 2414"/>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Shape 10"/>
          <p:cNvSpPr/>
          <p:nvPr/>
        </p:nvSpPr>
        <p:spPr>
          <a:xfrm>
            <a:off x="4297680" y="1417320"/>
            <a:ext cx="3584448" cy="64008"/>
          </a:xfrm>
          <a:prstGeom prst="rect">
            <a:avLst/>
          </a:prstGeom>
          <a:solidFill>
            <a:srgbClr val="1C7293"/>
          </a:solidFill>
          <a:ln w="12700">
            <a:solidFill>
              <a:srgbClr val="1C7293"/>
            </a:solidFill>
            <a:prstDash val="solid"/>
          </a:ln>
        </p:spPr>
      </p:sp>
      <p:sp>
        <p:nvSpPr>
          <p:cNvPr id="14" name="Text 11"/>
          <p:cNvSpPr txBox="1"/>
          <p:nvPr/>
        </p:nvSpPr>
        <p:spPr>
          <a:xfrm>
            <a:off x="4526280" y="1691640"/>
            <a:ext cx="3200400" cy="320040"/>
          </a:xfrm>
          <a:prstGeom prst="rect">
            <a:avLst/>
          </a:prstGeom>
          <a:noFill/>
          <a:ln/>
        </p:spPr>
        <p:txBody>
          <a:bodyPr wrap="square" lIns="0" tIns="0" rIns="0" bIns="0" rtlCol="0" anchor="t"/>
          <a:lstStyle/>
          <a:p>
            <a:pPr indent="0" marL="0">
              <a:buNone/>
            </a:pPr>
            <a:r>
              <a:rPr lang="en-US" sz="1250" b="1" dirty="0">
                <a:solidFill>
                  <a:srgbClr val="065A82"/>
                </a:solidFill>
                <a:latin typeface="Courier New" pitchFamily="34" charset="0"/>
                <a:ea typeface="Courier New" pitchFamily="34" charset="-122"/>
                <a:cs typeface="Courier New" pitchFamily="34" charset="-120"/>
              </a:rPr>
              <a:t>glance(m1)</a:t>
            </a:r>
            <a:endParaRPr lang="en-US" sz="1250" dirty="0"/>
          </a:p>
        </p:txBody>
      </p:sp>
      <p:sp>
        <p:nvSpPr>
          <p:cNvPr id="15" name="Text 12"/>
          <p:cNvSpPr txBox="1"/>
          <p:nvPr/>
        </p:nvSpPr>
        <p:spPr>
          <a:xfrm>
            <a:off x="4526280" y="2103120"/>
            <a:ext cx="3200400" cy="365760"/>
          </a:xfrm>
          <a:prstGeom prst="rect">
            <a:avLst/>
          </a:prstGeom>
          <a:noFill/>
          <a:ln/>
        </p:spPr>
        <p:txBody>
          <a:bodyPr wrap="square" lIns="0" tIns="0" rIns="0" bIns="0" rtlCol="0" anchor="t"/>
          <a:lstStyle/>
          <a:p>
            <a:pPr indent="0" marL="0">
              <a:buNone/>
            </a:pPr>
            <a:r>
              <a:rPr lang="en-US" sz="1600" b="1" dirty="0">
                <a:solidFill>
                  <a:srgbClr val="21295C"/>
                </a:solidFill>
                <a:latin typeface="Cambria" pitchFamily="34" charset="0"/>
                <a:ea typeface="Cambria" pitchFamily="34" charset="-122"/>
                <a:cs typeface="Cambria" pitchFamily="34" charset="-120"/>
              </a:rPr>
              <a:t>Una fila por modelo</a:t>
            </a:r>
            <a:endParaRPr lang="en-US" sz="1600" dirty="0"/>
          </a:p>
        </p:txBody>
      </p:sp>
      <p:sp>
        <p:nvSpPr>
          <p:cNvPr id="16" name="Text 13"/>
          <p:cNvSpPr txBox="1"/>
          <p:nvPr/>
        </p:nvSpPr>
        <p:spPr>
          <a:xfrm>
            <a:off x="4526280" y="2606040"/>
            <a:ext cx="3154680" cy="12801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r.squared · adj.r.squared · sigma · statistic · p.value · nobs · AIC</a:t>
            </a:r>
            <a:endParaRPr lang="en-US" sz="1200" dirty="0"/>
          </a:p>
        </p:txBody>
      </p:sp>
      <p:sp>
        <p:nvSpPr>
          <p:cNvPr id="17" name="Shape 14"/>
          <p:cNvSpPr/>
          <p:nvPr/>
        </p:nvSpPr>
        <p:spPr>
          <a:xfrm>
            <a:off x="8046720" y="1417320"/>
            <a:ext cx="3584448" cy="2651760"/>
          </a:xfrm>
          <a:prstGeom prst="roundRect">
            <a:avLst>
              <a:gd name="adj" fmla="val 2414"/>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Shape 15"/>
          <p:cNvSpPr/>
          <p:nvPr/>
        </p:nvSpPr>
        <p:spPr>
          <a:xfrm>
            <a:off x="8046720" y="1417320"/>
            <a:ext cx="3584448" cy="64008"/>
          </a:xfrm>
          <a:prstGeom prst="rect">
            <a:avLst/>
          </a:prstGeom>
          <a:solidFill>
            <a:srgbClr val="B7791F"/>
          </a:solidFill>
          <a:ln w="12700">
            <a:solidFill>
              <a:srgbClr val="B7791F"/>
            </a:solidFill>
            <a:prstDash val="solid"/>
          </a:ln>
        </p:spPr>
      </p:sp>
      <p:sp>
        <p:nvSpPr>
          <p:cNvPr id="19" name="Text 16"/>
          <p:cNvSpPr txBox="1"/>
          <p:nvPr/>
        </p:nvSpPr>
        <p:spPr>
          <a:xfrm>
            <a:off x="8275320" y="1691640"/>
            <a:ext cx="3200400" cy="320040"/>
          </a:xfrm>
          <a:prstGeom prst="rect">
            <a:avLst/>
          </a:prstGeom>
          <a:noFill/>
          <a:ln/>
        </p:spPr>
        <p:txBody>
          <a:bodyPr wrap="square" lIns="0" tIns="0" rIns="0" bIns="0" rtlCol="0" anchor="t"/>
          <a:lstStyle/>
          <a:p>
            <a:pPr indent="0" marL="0">
              <a:buNone/>
            </a:pPr>
            <a:r>
              <a:rPr lang="en-US" sz="1250" b="1" dirty="0">
                <a:solidFill>
                  <a:srgbClr val="8A5A00"/>
                </a:solidFill>
                <a:latin typeface="Courier New" pitchFamily="34" charset="0"/>
                <a:ea typeface="Courier New" pitchFamily="34" charset="-122"/>
                <a:cs typeface="Courier New" pitchFamily="34" charset="-120"/>
              </a:rPr>
              <a:t>augment(m1)</a:t>
            </a:r>
            <a:endParaRPr lang="en-US" sz="1250" dirty="0"/>
          </a:p>
        </p:txBody>
      </p:sp>
      <p:sp>
        <p:nvSpPr>
          <p:cNvPr id="20" name="Text 17"/>
          <p:cNvSpPr txBox="1"/>
          <p:nvPr/>
        </p:nvSpPr>
        <p:spPr>
          <a:xfrm>
            <a:off x="8275320" y="2103120"/>
            <a:ext cx="3200400" cy="365760"/>
          </a:xfrm>
          <a:prstGeom prst="rect">
            <a:avLst/>
          </a:prstGeom>
          <a:noFill/>
          <a:ln/>
        </p:spPr>
        <p:txBody>
          <a:bodyPr wrap="square" lIns="0" tIns="0" rIns="0" bIns="0" rtlCol="0" anchor="t"/>
          <a:lstStyle/>
          <a:p>
            <a:pPr indent="0" marL="0">
              <a:buNone/>
            </a:pPr>
            <a:r>
              <a:rPr lang="en-US" sz="1600" b="1" dirty="0">
                <a:solidFill>
                  <a:srgbClr val="21295C"/>
                </a:solidFill>
                <a:latin typeface="Cambria" pitchFamily="34" charset="0"/>
                <a:ea typeface="Cambria" pitchFamily="34" charset="-122"/>
                <a:cs typeface="Cambria" pitchFamily="34" charset="-120"/>
              </a:rPr>
              <a:t>Una fila por observación</a:t>
            </a:r>
            <a:endParaRPr lang="en-US" sz="1600" dirty="0"/>
          </a:p>
        </p:txBody>
      </p:sp>
      <p:sp>
        <p:nvSpPr>
          <p:cNvPr id="21" name="Text 18"/>
          <p:cNvSpPr txBox="1"/>
          <p:nvPr/>
        </p:nvSpPr>
        <p:spPr>
          <a:xfrm>
            <a:off x="8275320" y="2606040"/>
            <a:ext cx="3154680" cy="12801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datos originales · .fitted · .resid · .hat · .std.resid</a:t>
            </a:r>
            <a:endParaRPr lang="en-US" sz="1200" dirty="0"/>
          </a:p>
        </p:txBody>
      </p:sp>
      <p:sp>
        <p:nvSpPr>
          <p:cNvPr id="22" name="Shape 19"/>
          <p:cNvSpPr/>
          <p:nvPr/>
        </p:nvSpPr>
        <p:spPr>
          <a:xfrm>
            <a:off x="548640" y="4343400"/>
            <a:ext cx="11091672" cy="1501140"/>
          </a:xfrm>
          <a:prstGeom prst="roundRect">
            <a:avLst>
              <a:gd name="adj" fmla="val 3655"/>
            </a:avLst>
          </a:prstGeom>
          <a:solidFill>
            <a:srgbClr val="162044"/>
          </a:solidFill>
          <a:ln w="12700">
            <a:solidFill>
              <a:srgbClr val="162044"/>
            </a:solidFill>
            <a:prstDash val="solid"/>
          </a:ln>
        </p:spPr>
      </p:sp>
      <p:sp>
        <p:nvSpPr>
          <p:cNvPr id="23" name="Text 20"/>
          <p:cNvSpPr txBox="1"/>
          <p:nvPr/>
        </p:nvSpPr>
        <p:spPr>
          <a:xfrm>
            <a:off x="731520" y="4471416"/>
            <a:ext cx="10725912" cy="1190244"/>
          </a:xfrm>
          <a:prstGeom prst="rect">
            <a:avLst/>
          </a:prstGeom>
          <a:noFill/>
          <a:ln/>
        </p:spPr>
        <p:txBody>
          <a:bodyPr wrap="square" lIns="0" tIns="0" rIns="0" bIns="0" rtlCol="0" anchor="t"/>
          <a:lstStyle/>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library</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(broom)</a:t>
            </a:r>
            <a:endParaRPr lang="en-US" sz="1100" dirty="0"/>
          </a:p>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tidy</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(m1, conf.int = </a:t>
            </a:r>
            <a:pPr indent="0" marL="0">
              <a:lnSpc>
                <a:spcPts val="1562"/>
              </a:lnSpc>
              <a:buNone/>
            </a:pPr>
            <a:r>
              <a:rPr lang="en-US" sz="1100" dirty="0">
                <a:solidFill>
                  <a:srgbClr val="C9B8FF"/>
                </a:solidFill>
                <a:latin typeface="Courier New" pitchFamily="34" charset="0"/>
                <a:ea typeface="Courier New" pitchFamily="34" charset="-122"/>
                <a:cs typeface="Courier New" pitchFamily="34" charset="-120"/>
              </a:rPr>
              <a:t>TRUE</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lnSpc>
                <a:spcPts val="1562"/>
              </a:lnSpc>
              <a:buNone/>
            </a:pPr>
            <a:r>
              <a:rPr lang="en-US" sz="1100" dirty="0">
                <a:solidFill>
                  <a:srgbClr val="8FD5B0"/>
                </a:solidFill>
                <a:latin typeface="Courier New" pitchFamily="34" charset="0"/>
                <a:ea typeface="Courier New" pitchFamily="34" charset="-122"/>
                <a:cs typeface="Courier New" pitchFamily="34" charset="-120"/>
              </a:rPr>
              <a:t>#&gt; # A tibble: 2 × 7</a:t>
            </a:r>
            <a:endParaRPr lang="en-US" sz="1100" dirty="0"/>
          </a:p>
          <a:p>
            <a:pPr indent="0" marL="0">
              <a:lnSpc>
                <a:spcPts val="1562"/>
              </a:lnSpc>
              <a:buNone/>
            </a:pPr>
            <a:r>
              <a:rPr lang="en-US" sz="1100" dirty="0">
                <a:solidFill>
                  <a:srgbClr val="8FD5B0"/>
                </a:solidFill>
                <a:latin typeface="Courier New" pitchFamily="34" charset="0"/>
                <a:ea typeface="Courier New" pitchFamily="34" charset="-122"/>
                <a:cs typeface="Courier New" pitchFamily="34" charset="-120"/>
              </a:rPr>
              <a:t>#&gt;   term                     estimate std.error statistic  p.value conf.low conf.high</a:t>
            </a:r>
            <a:endParaRPr lang="en-US" sz="1100" dirty="0"/>
          </a:p>
          <a:p>
            <a:pPr indent="0" marL="0">
              <a:lnSpc>
                <a:spcPts val="1562"/>
              </a:lnSpc>
              <a:buNone/>
            </a:pPr>
            <a:r>
              <a:rPr lang="en-US" sz="1100" dirty="0">
                <a:solidFill>
                  <a:srgbClr val="8FD5B0"/>
                </a:solidFill>
                <a:latin typeface="Courier New" pitchFamily="34" charset="0"/>
                <a:ea typeface="Courier New" pitchFamily="34" charset="-122"/>
                <a:cs typeface="Courier New" pitchFamily="34" charset="-120"/>
              </a:rPr>
              <a:t>#&gt; 1 (Intercept)                 25.8      3.04      8.48  5.22e-15   19.8      31.8</a:t>
            </a:r>
            <a:endParaRPr lang="en-US" sz="1100" dirty="0"/>
          </a:p>
          <a:p>
            <a:pPr indent="0" marL="0">
              <a:lnSpc>
                <a:spcPts val="1562"/>
              </a:lnSpc>
              <a:buNone/>
            </a:pPr>
            <a:r>
              <a:rPr lang="en-US" sz="1100" dirty="0">
                <a:solidFill>
                  <a:srgbClr val="8FD5B0"/>
                </a:solidFill>
                <a:latin typeface="Courier New" pitchFamily="34" charset="0"/>
                <a:ea typeface="Courier New" pitchFamily="34" charset="-122"/>
                <a:cs typeface="Courier New" pitchFamily="34" charset="-120"/>
              </a:rPr>
              <a:t>#&gt; 2 horas_investigacion_sem      0.901    0.122     7.38  4.25e-12    0.660     1.14</a:t>
            </a:r>
            <a:endParaRPr lang="en-US" sz="1100" dirty="0"/>
          </a:p>
        </p:txBody>
      </p:sp>
      <p:sp>
        <p:nvSpPr>
          <p:cNvPr id="24" name="Text 21"/>
          <p:cNvSpPr txBox="1"/>
          <p:nvPr/>
        </p:nvSpPr>
        <p:spPr>
          <a:xfrm>
            <a:off x="548640" y="5897880"/>
            <a:ext cx="11091672" cy="365760"/>
          </a:xfrm>
          <a:prstGeom prst="rect">
            <a:avLst/>
          </a:prstGeom>
          <a:noFill/>
          <a:ln/>
        </p:spPr>
        <p:txBody>
          <a:bodyPr wrap="square" lIns="0" tIns="0" rIns="0" bIns="0" rtlCol="0" anchor="t"/>
          <a:lstStyle/>
          <a:p>
            <a:pPr indent="0" marL="0">
              <a:buNone/>
            </a:pPr>
            <a:r>
              <a:rPr lang="en-US" sz="1250" i="1" dirty="0">
                <a:solidFill>
                  <a:srgbClr val="5B6B7F"/>
                </a:solidFill>
                <a:latin typeface="Calibri" pitchFamily="34" charset="0"/>
                <a:ea typeface="Calibri" pitchFamily="34" charset="-122"/>
                <a:cs typeface="Calibri" pitchFamily="34" charset="-120"/>
              </a:rPr>
              <a:t>Como son tibbles, se pueden graficar, filtrar, unir… y repetir con purrr para muchos modelos (sesión 2).</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predict(): usar el modelo para predecir</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13</a:t>
            </a:r>
            <a:endParaRPr lang="en-US" sz="800" dirty="0"/>
          </a:p>
        </p:txBody>
      </p:sp>
      <p:sp>
        <p:nvSpPr>
          <p:cNvPr id="7" name="Shape 4"/>
          <p:cNvSpPr/>
          <p:nvPr/>
        </p:nvSpPr>
        <p:spPr>
          <a:xfrm>
            <a:off x="548640" y="1399032"/>
            <a:ext cx="6163056" cy="3749040"/>
          </a:xfrm>
          <a:prstGeom prst="roundRect">
            <a:avLst>
              <a:gd name="adj" fmla="val 122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06_predict.png">    </p:cNvPr>
          <p:cNvPicPr>
            <a:picLocks noChangeAspect="1"/>
          </p:cNvPicPr>
          <p:nvPr/>
        </p:nvPicPr>
        <p:blipFill>
          <a:blip r:embed="rId1"/>
          <a:stretch>
            <a:fillRect/>
          </a:stretch>
        </p:blipFill>
        <p:spPr>
          <a:xfrm>
            <a:off x="612648" y="1463040"/>
            <a:ext cx="6035040" cy="3621024"/>
          </a:xfrm>
          <a:prstGeom prst="rect">
            <a:avLst/>
          </a:prstGeom>
        </p:spPr>
      </p:pic>
      <p:sp>
        <p:nvSpPr>
          <p:cNvPr id="9" name="Shape 5"/>
          <p:cNvSpPr/>
          <p:nvPr/>
        </p:nvSpPr>
        <p:spPr>
          <a:xfrm>
            <a:off x="7543800" y="1417320"/>
            <a:ext cx="4096512" cy="1852803"/>
          </a:xfrm>
          <a:prstGeom prst="roundRect">
            <a:avLst>
              <a:gd name="adj" fmla="val 2961"/>
            </a:avLst>
          </a:prstGeom>
          <a:solidFill>
            <a:srgbClr val="162044"/>
          </a:solidFill>
          <a:ln w="12700">
            <a:solidFill>
              <a:srgbClr val="162044"/>
            </a:solidFill>
            <a:prstDash val="solid"/>
          </a:ln>
        </p:spPr>
      </p:sp>
      <p:sp>
        <p:nvSpPr>
          <p:cNvPr id="10" name="Shape 6"/>
          <p:cNvSpPr/>
          <p:nvPr/>
        </p:nvSpPr>
        <p:spPr>
          <a:xfrm>
            <a:off x="7616952" y="2059305"/>
            <a:ext cx="3950208" cy="171323"/>
          </a:xfrm>
          <a:prstGeom prst="rect">
            <a:avLst/>
          </a:prstGeom>
          <a:solidFill>
            <a:srgbClr val="D69E2E">
              <a:alpha val="28000"/>
            </a:srgbClr>
          </a:solidFill>
          <a:ln w="12700">
            <a:solidFill>
              <a:srgbClr val="D69E2E">
                <a:alpha val="0"/>
              </a:srgbClr>
            </a:solidFill>
            <a:prstDash val="solid"/>
          </a:ln>
        </p:spPr>
      </p:sp>
      <p:sp>
        <p:nvSpPr>
          <p:cNvPr id="11" name="Shape 7"/>
          <p:cNvSpPr/>
          <p:nvPr/>
        </p:nvSpPr>
        <p:spPr>
          <a:xfrm>
            <a:off x="7616952" y="2573274"/>
            <a:ext cx="3950208" cy="171323"/>
          </a:xfrm>
          <a:prstGeom prst="rect">
            <a:avLst/>
          </a:prstGeom>
          <a:solidFill>
            <a:srgbClr val="D69E2E">
              <a:alpha val="28000"/>
            </a:srgbClr>
          </a:solidFill>
          <a:ln w="12700">
            <a:solidFill>
              <a:srgbClr val="D69E2E">
                <a:alpha val="0"/>
              </a:srgbClr>
            </a:solidFill>
            <a:prstDash val="solid"/>
          </a:ln>
        </p:spPr>
      </p:sp>
      <p:sp>
        <p:nvSpPr>
          <p:cNvPr id="12" name="Text 8"/>
          <p:cNvSpPr txBox="1"/>
          <p:nvPr/>
        </p:nvSpPr>
        <p:spPr>
          <a:xfrm>
            <a:off x="7726680" y="1545336"/>
            <a:ext cx="3730752" cy="1541907"/>
          </a:xfrm>
          <a:prstGeom prst="rect">
            <a:avLst/>
          </a:prstGeom>
          <a:noFill/>
          <a:ln/>
        </p:spPr>
        <p:txBody>
          <a:bodyPr wrap="square" lIns="0" tIns="0" rIns="0" bIns="0" rtlCol="0" anchor="t"/>
          <a:lstStyle/>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nuevos </a:t>
            </a:r>
            <a:pPr indent="0" marL="0">
              <a:lnSpc>
                <a:spcPts val="1349"/>
              </a:lnSpc>
              <a:buNone/>
            </a:pPr>
            <a:r>
              <a:rPr lang="en-US" sz="950" dirty="0">
                <a:solidFill>
                  <a:srgbClr val="A5D8FF"/>
                </a:solidFill>
                <a:latin typeface="Courier New" pitchFamily="34" charset="0"/>
                <a:ea typeface="Courier New" pitchFamily="34" charset="-122"/>
                <a:cs typeface="Courier New" pitchFamily="34" charset="-120"/>
              </a:rPr>
              <a:t>&lt;-</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tibble</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(horas_investigacion_sem = </a:t>
            </a:r>
            <a:pPr indent="0" marL="0">
              <a:lnSpc>
                <a:spcPts val="1349"/>
              </a:lnSpc>
              <a:buNone/>
            </a:pPr>
            <a:r>
              <a:rPr lang="en-US" sz="950" dirty="0">
                <a:solidFill>
                  <a:srgbClr val="F2C97D"/>
                </a:solidFill>
                <a:latin typeface="Courier New" pitchFamily="34" charset="0"/>
                <a:ea typeface="Courier New" pitchFamily="34" charset="-122"/>
                <a:cs typeface="Courier New" pitchFamily="34" charset="-120"/>
              </a:rPr>
              <a:t>25</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endParaRPr lang="en-US" sz="950" dirty="0"/>
          </a:p>
          <a:p>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predict</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(m1, nuevos, interval = </a:t>
            </a:r>
            <a:pPr indent="0" marL="0">
              <a:lnSpc>
                <a:spcPts val="1349"/>
              </a:lnSpc>
              <a:buNone/>
            </a:pPr>
            <a:r>
              <a:rPr lang="en-US" sz="950" dirty="0">
                <a:solidFill>
                  <a:srgbClr val="F2C97D"/>
                </a:solidFill>
                <a:latin typeface="Courier New" pitchFamily="34" charset="0"/>
                <a:ea typeface="Courier New" pitchFamily="34" charset="-122"/>
                <a:cs typeface="Courier New" pitchFamily="34" charset="-120"/>
              </a:rPr>
              <a:t>"confidence"</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a:t>
            </a:r>
            <a:endParaRPr lang="en-US" sz="950" dirty="0"/>
          </a:p>
          <a:p>
            <a:pPr indent="0" marL="0">
              <a:lnSpc>
                <a:spcPts val="1349"/>
              </a:lnSpc>
              <a:buNone/>
            </a:pPr>
            <a:r>
              <a:rPr lang="en-US" sz="950" dirty="0">
                <a:solidFill>
                  <a:srgbClr val="8FD5B0"/>
                </a:solidFill>
                <a:latin typeface="Courier New" pitchFamily="34" charset="0"/>
                <a:ea typeface="Courier New" pitchFamily="34" charset="-122"/>
                <a:cs typeface="Courier New" pitchFamily="34" charset="-120"/>
              </a:rPr>
              <a:t>#&gt;        fit      lwr      upr</a:t>
            </a:r>
            <a:endParaRPr lang="en-US" sz="950" dirty="0"/>
          </a:p>
          <a:p>
            <a:pPr indent="0" marL="0">
              <a:lnSpc>
                <a:spcPts val="1349"/>
              </a:lnSpc>
              <a:buNone/>
            </a:pPr>
            <a:r>
              <a:rPr lang="en-US" sz="950" dirty="0">
                <a:solidFill>
                  <a:srgbClr val="8FD5B0"/>
                </a:solidFill>
                <a:latin typeface="Courier New" pitchFamily="34" charset="0"/>
                <a:ea typeface="Courier New" pitchFamily="34" charset="-122"/>
                <a:cs typeface="Courier New" pitchFamily="34" charset="-120"/>
              </a:rPr>
              <a:t>#&gt; 1 48.30745 46.58699 50.02792</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endParaRPr lang="en-US" sz="950" dirty="0"/>
          </a:p>
          <a:p>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predict</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(m1, nuevos, interval = </a:t>
            </a:r>
            <a:pPr indent="0" marL="0">
              <a:lnSpc>
                <a:spcPts val="1349"/>
              </a:lnSpc>
              <a:buNone/>
            </a:pPr>
            <a:r>
              <a:rPr lang="en-US" sz="950" dirty="0">
                <a:solidFill>
                  <a:srgbClr val="F2C97D"/>
                </a:solidFill>
                <a:latin typeface="Courier New" pitchFamily="34" charset="0"/>
                <a:ea typeface="Courier New" pitchFamily="34" charset="-122"/>
                <a:cs typeface="Courier New" pitchFamily="34" charset="-120"/>
              </a:rPr>
              <a:t>"prediction"</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a:t>
            </a:r>
            <a:endParaRPr lang="en-US" sz="950" dirty="0"/>
          </a:p>
          <a:p>
            <a:pPr indent="0" marL="0">
              <a:lnSpc>
                <a:spcPts val="1349"/>
              </a:lnSpc>
              <a:buNone/>
            </a:pPr>
            <a:r>
              <a:rPr lang="en-US" sz="950" dirty="0">
                <a:solidFill>
                  <a:srgbClr val="8FD5B0"/>
                </a:solidFill>
                <a:latin typeface="Courier New" pitchFamily="34" charset="0"/>
                <a:ea typeface="Courier New" pitchFamily="34" charset="-122"/>
                <a:cs typeface="Courier New" pitchFamily="34" charset="-120"/>
              </a:rPr>
              <a:t>#&gt;        fit      lwr      upr</a:t>
            </a:r>
            <a:endParaRPr lang="en-US" sz="950" dirty="0"/>
          </a:p>
          <a:p>
            <a:pPr indent="0" marL="0">
              <a:lnSpc>
                <a:spcPts val="1349"/>
              </a:lnSpc>
              <a:buNone/>
            </a:pPr>
            <a:r>
              <a:rPr lang="en-US" sz="950" dirty="0">
                <a:solidFill>
                  <a:srgbClr val="8FD5B0"/>
                </a:solidFill>
                <a:latin typeface="Courier New" pitchFamily="34" charset="0"/>
                <a:ea typeface="Courier New" pitchFamily="34" charset="-122"/>
                <a:cs typeface="Courier New" pitchFamily="34" charset="-120"/>
              </a:rPr>
              <a:t>#&gt; 1 48.30745 24.21841 72.39649</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543800" y="3840480"/>
          <a:ext cx="4096512" cy="914400"/>
        </p:xfrm>
        <a:graphic>
          <a:graphicData uri="http://schemas.openxmlformats.org/drawingml/2006/table">
            <a:tbl>
              <a:tblPr/>
              <a:tblGrid>
                <a:gridCol w="1280160"/>
                <a:gridCol w="1371600"/>
                <a:gridCol w="1444752"/>
              </a:tblGrid>
              <a:tr h="384048">
                <a:tc>
                  <a:txBody>
                    <a:bodyPr/>
                    <a:lstStyle/>
                    <a:p>
                      <a:pPr algn="l" indent="0" marL="0">
                        <a:buNone/>
                      </a:pP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Confianza</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Predicción</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r>
              <a:tr h="384048">
                <a:tc>
                  <a:txBody>
                    <a:bodyPr/>
                    <a:lstStyle/>
                    <a:p>
                      <a:pPr algn="l" indent="0" marL="0">
                        <a:buNone/>
                      </a:pPr>
                      <a:r>
                        <a:rPr lang="en-US" sz="1100" dirty="0">
                          <a:solidFill>
                            <a:srgbClr val="1E2A44"/>
                          </a:solidFill>
                          <a:latin typeface="Calibri" pitchFamily="34" charset="0"/>
                          <a:ea typeface="Calibri" pitchFamily="34" charset="-122"/>
                          <a:cs typeface="Calibri" pitchFamily="34" charset="-120"/>
                        </a:rPr>
                        <a:t>Pregunta</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la media</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una persona</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E2A44"/>
                          </a:solidFill>
                          <a:latin typeface="Calibri" pitchFamily="34" charset="0"/>
                          <a:ea typeface="Calibri" pitchFamily="34" charset="-122"/>
                          <a:cs typeface="Calibri" pitchFamily="34" charset="-120"/>
                        </a:rPr>
                        <a:t>Rango (25 h)</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46,6 a 50,0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24,2 a 72,4</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r>
            </a:tbl>
          </a:graphicData>
        </a:graphic>
      </p:graphicFrame>
      <p:sp>
        <p:nvSpPr>
          <p:cNvPr id="14" name="Shape 9"/>
          <p:cNvSpPr/>
          <p:nvPr/>
        </p:nvSpPr>
        <p:spPr>
          <a:xfrm>
            <a:off x="548640" y="5212080"/>
            <a:ext cx="11091672" cy="731520"/>
          </a:xfrm>
          <a:prstGeom prst="rect">
            <a:avLst/>
          </a:prstGeom>
          <a:solidFill>
            <a:srgbClr val="E4EEF2"/>
          </a:solidFill>
          <a:ln w="12700">
            <a:solidFill>
              <a:srgbClr val="E4EEF2"/>
            </a:solidFill>
            <a:prstDash val="solid"/>
          </a:ln>
        </p:spPr>
      </p:sp>
      <p:sp>
        <p:nvSpPr>
          <p:cNvPr id="15" name="Shape 10"/>
          <p:cNvSpPr/>
          <p:nvPr/>
        </p:nvSpPr>
        <p:spPr>
          <a:xfrm>
            <a:off x="548640" y="5212080"/>
            <a:ext cx="64008" cy="731520"/>
          </a:xfrm>
          <a:prstGeom prst="rect">
            <a:avLst/>
          </a:prstGeom>
          <a:solidFill>
            <a:srgbClr val="1C7293"/>
          </a:solidFill>
          <a:ln w="12700">
            <a:solidFill>
              <a:srgbClr val="1C7293"/>
            </a:solidFill>
            <a:prstDash val="solid"/>
          </a:ln>
        </p:spPr>
      </p:sp>
      <p:sp>
        <p:nvSpPr>
          <p:cNvPr id="16" name="Text 11"/>
          <p:cNvSpPr txBox="1"/>
          <p:nvPr/>
        </p:nvSpPr>
        <p:spPr>
          <a:xfrm>
            <a:off x="749808" y="5212080"/>
            <a:ext cx="10771632" cy="731520"/>
          </a:xfrm>
          <a:prstGeom prst="rect">
            <a:avLst/>
          </a:prstGeom>
          <a:noFill/>
          <a:ln/>
        </p:spPr>
        <p:txBody>
          <a:bodyPr wrap="square" lIns="0" tIns="0" rIns="0" bIns="0" rtlCol="0" anchor="ctr"/>
          <a:lstStyle/>
          <a:p>
            <a:pPr indent="0" marL="0">
              <a:buNone/>
            </a:pPr>
            <a:r>
              <a:rPr lang="en-US" sz="1400" b="1" dirty="0">
                <a:solidFill>
                  <a:srgbClr val="1E2A44"/>
                </a:solidFill>
                <a:latin typeface="Calibri" pitchFamily="34" charset="0"/>
                <a:ea typeface="Calibri" pitchFamily="34" charset="-122"/>
                <a:cs typeface="Calibri" pitchFamily="34" charset="-120"/>
              </a:rPr>
              <a:t>Hablas de un grupo → intervalo de confianza. Hablas de una persona → intervalo de predicción.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1 · REGRESIÓN SIMPLE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Chequeo de la Parte 1</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14</a:t>
            </a:r>
            <a:endParaRPr lang="en-US" sz="800" dirty="0"/>
          </a:p>
        </p:txBody>
      </p:sp>
      <p:sp>
        <p:nvSpPr>
          <p:cNvPr id="7" name="Shape 4"/>
          <p:cNvSpPr/>
          <p:nvPr/>
        </p:nvSpPr>
        <p:spPr>
          <a:xfrm>
            <a:off x="548640" y="1417320"/>
            <a:ext cx="11091672" cy="1483106"/>
          </a:xfrm>
          <a:prstGeom prst="roundRect">
            <a:avLst>
              <a:gd name="adj" fmla="val 3699"/>
            </a:avLst>
          </a:prstGeom>
          <a:solidFill>
            <a:srgbClr val="162044"/>
          </a:solidFill>
          <a:ln w="12700">
            <a:solidFill>
              <a:srgbClr val="162044"/>
            </a:solidFill>
            <a:prstDash val="solid"/>
          </a:ln>
        </p:spPr>
      </p:sp>
      <p:sp>
        <p:nvSpPr>
          <p:cNvPr id="8" name="Text 5"/>
          <p:cNvSpPr txBox="1"/>
          <p:nvPr/>
        </p:nvSpPr>
        <p:spPr>
          <a:xfrm>
            <a:off x="731520" y="1545336"/>
            <a:ext cx="10725912" cy="1172210"/>
          </a:xfrm>
          <a:prstGeom prst="rect">
            <a:avLst/>
          </a:prstGeom>
          <a:noFill/>
          <a:ln/>
        </p:spPr>
        <p:txBody>
          <a:bodyPr wrap="square" lIns="0" tIns="0" rIns="0" bIns="0" rtlCol="0" anchor="t"/>
          <a:lstStyle/>
          <a:p>
            <a:pPr indent="0" marL="0">
              <a:lnSpc>
                <a:spcPts val="1846"/>
              </a:lnSpc>
              <a:buNone/>
            </a:pPr>
            <a:r>
              <a:rPr lang="en-US" sz="1300" i="1" dirty="0">
                <a:solidFill>
                  <a:srgbClr val="8196BC"/>
                </a:solidFill>
                <a:latin typeface="Courier New" pitchFamily="34" charset="0"/>
                <a:ea typeface="Courier New" pitchFamily="34" charset="-122"/>
                <a:cs typeface="Courier New" pitchFamily="34" charset="-120"/>
              </a:rPr>
              <a:t># Peso (kg) según estatura (cm). Salida simulada</a:t>
            </a:r>
            <a:endParaRPr lang="en-US" sz="1300" dirty="0"/>
          </a:p>
          <a:p>
            <a:pPr indent="0" marL="0">
              <a:lnSpc>
                <a:spcPts val="1846"/>
              </a:lnSpc>
              <a:buNone/>
            </a:pPr>
            <a:r>
              <a:rPr lang="en-US" sz="1300" dirty="0">
                <a:solidFill>
                  <a:srgbClr val="8FD5B0"/>
                </a:solidFill>
                <a:latin typeface="Courier New" pitchFamily="34" charset="0"/>
                <a:ea typeface="Courier New" pitchFamily="34" charset="-122"/>
                <a:cs typeface="Courier New" pitchFamily="34" charset="-120"/>
              </a:rPr>
              <a:t>#&gt;               Estimate  conf.low  conf.high</a:t>
            </a:r>
            <a:endParaRPr lang="en-US" sz="1300" dirty="0"/>
          </a:p>
          <a:p>
            <a:pPr indent="0" marL="0">
              <a:lnSpc>
                <a:spcPts val="1846"/>
              </a:lnSpc>
              <a:buNone/>
            </a:pPr>
            <a:r>
              <a:rPr lang="en-US" sz="1300" dirty="0">
                <a:solidFill>
                  <a:srgbClr val="8FD5B0"/>
                </a:solidFill>
                <a:latin typeface="Courier New" pitchFamily="34" charset="0"/>
                <a:ea typeface="Courier New" pitchFamily="34" charset="-122"/>
                <a:cs typeface="Courier New" pitchFamily="34" charset="-120"/>
              </a:rPr>
              <a:t>#&gt; (Intercept)    -62.0     -88.0     -36.0</a:t>
            </a:r>
            <a:endParaRPr lang="en-US" sz="1300" dirty="0"/>
          </a:p>
          <a:p>
            <a:pPr indent="0" marL="0">
              <a:lnSpc>
                <a:spcPts val="1846"/>
              </a:lnSpc>
              <a:buNone/>
            </a:pPr>
            <a:r>
              <a:rPr lang="en-US" sz="1300" dirty="0">
                <a:solidFill>
                  <a:srgbClr val="8FD5B0"/>
                </a:solidFill>
                <a:latin typeface="Courier New" pitchFamily="34" charset="0"/>
                <a:ea typeface="Courier New" pitchFamily="34" charset="-122"/>
                <a:cs typeface="Courier New" pitchFamily="34" charset="-120"/>
              </a:rPr>
              <a:t>#&gt; estatura         0.8       0.6       1.0</a:t>
            </a:r>
            <a:endParaRPr lang="en-US" sz="1300" dirty="0"/>
          </a:p>
          <a:p>
            <a:pPr indent="0" marL="0">
              <a:lnSpc>
                <a:spcPts val="1846"/>
              </a:lnSpc>
              <a:buNone/>
            </a:pPr>
            <a:r>
              <a:rPr lang="en-US" sz="1300" dirty="0">
                <a:solidFill>
                  <a:srgbClr val="8FD5B0"/>
                </a:solidFill>
                <a:latin typeface="Courier New" pitchFamily="34" charset="0"/>
                <a:ea typeface="Courier New" pitchFamily="34" charset="-122"/>
                <a:cs typeface="Courier New" pitchFamily="34" charset="-120"/>
              </a:rPr>
              <a:t>#&gt; R² = 0.05</a:t>
            </a:r>
            <a:endParaRPr lang="en-US" sz="1300" dirty="0"/>
          </a:p>
        </p:txBody>
      </p:sp>
      <p:sp>
        <p:nvSpPr>
          <p:cNvPr id="9" name="Shape 6"/>
          <p:cNvSpPr/>
          <p:nvPr/>
        </p:nvSpPr>
        <p:spPr>
          <a:xfrm>
            <a:off x="548640" y="3337560"/>
            <a:ext cx="3584448" cy="1554480"/>
          </a:xfrm>
          <a:prstGeom prst="roundRect">
            <a:avLst>
              <a:gd name="adj" fmla="val 411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0" name="Shape 7"/>
          <p:cNvSpPr/>
          <p:nvPr/>
        </p:nvSpPr>
        <p:spPr>
          <a:xfrm>
            <a:off x="777240" y="3566160"/>
            <a:ext cx="457200" cy="457200"/>
          </a:xfrm>
          <a:prstGeom prst="ellipse">
            <a:avLst/>
          </a:prstGeom>
          <a:solidFill>
            <a:srgbClr val="065A82"/>
          </a:solidFill>
          <a:ln w="12700">
            <a:solidFill>
              <a:srgbClr val="065A82"/>
            </a:solidFill>
            <a:prstDash val="solid"/>
          </a:ln>
        </p:spPr>
      </p:sp>
      <p:sp>
        <p:nvSpPr>
          <p:cNvPr id="11" name="Text 8"/>
          <p:cNvSpPr txBox="1"/>
          <p:nvPr/>
        </p:nvSpPr>
        <p:spPr>
          <a:xfrm>
            <a:off x="77724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txBox="1"/>
          <p:nvPr/>
        </p:nvSpPr>
        <p:spPr>
          <a:xfrm>
            <a:off x="1417320" y="3520440"/>
            <a:ext cx="2606040" cy="11887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¿Cómo interpretas la pendiente?</a:t>
            </a:r>
            <a:endParaRPr lang="en-US" sz="1500" dirty="0"/>
          </a:p>
        </p:txBody>
      </p:sp>
      <p:sp>
        <p:nvSpPr>
          <p:cNvPr id="13" name="Shape 10"/>
          <p:cNvSpPr/>
          <p:nvPr/>
        </p:nvSpPr>
        <p:spPr>
          <a:xfrm>
            <a:off x="4297680" y="3337560"/>
            <a:ext cx="3584448" cy="1554480"/>
          </a:xfrm>
          <a:prstGeom prst="roundRect">
            <a:avLst>
              <a:gd name="adj" fmla="val 411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4" name="Shape 11"/>
          <p:cNvSpPr/>
          <p:nvPr/>
        </p:nvSpPr>
        <p:spPr>
          <a:xfrm>
            <a:off x="4526280" y="3566160"/>
            <a:ext cx="457200" cy="457200"/>
          </a:xfrm>
          <a:prstGeom prst="ellipse">
            <a:avLst/>
          </a:prstGeom>
          <a:solidFill>
            <a:srgbClr val="1C7293"/>
          </a:solidFill>
          <a:ln w="12700">
            <a:solidFill>
              <a:srgbClr val="1C7293"/>
            </a:solidFill>
            <a:prstDash val="solid"/>
          </a:ln>
        </p:spPr>
      </p:sp>
      <p:sp>
        <p:nvSpPr>
          <p:cNvPr id="15" name="Text 12"/>
          <p:cNvSpPr txBox="1"/>
          <p:nvPr/>
        </p:nvSpPr>
        <p:spPr>
          <a:xfrm>
            <a:off x="452628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txBox="1"/>
          <p:nvPr/>
        </p:nvSpPr>
        <p:spPr>
          <a:xfrm>
            <a:off x="5166360" y="3520440"/>
            <a:ext cx="2606040" cy="11887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¿Es “significativa”? ¿Cómo lo sabes?</a:t>
            </a:r>
            <a:endParaRPr lang="en-US" sz="1500" dirty="0"/>
          </a:p>
        </p:txBody>
      </p:sp>
      <p:sp>
        <p:nvSpPr>
          <p:cNvPr id="17" name="Shape 14"/>
          <p:cNvSpPr/>
          <p:nvPr/>
        </p:nvSpPr>
        <p:spPr>
          <a:xfrm>
            <a:off x="8046720" y="3337560"/>
            <a:ext cx="3584448" cy="1554480"/>
          </a:xfrm>
          <a:prstGeom prst="roundRect">
            <a:avLst>
              <a:gd name="adj" fmla="val 411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Shape 15"/>
          <p:cNvSpPr/>
          <p:nvPr/>
        </p:nvSpPr>
        <p:spPr>
          <a:xfrm>
            <a:off x="8275320" y="3566160"/>
            <a:ext cx="457200" cy="457200"/>
          </a:xfrm>
          <a:prstGeom prst="ellipse">
            <a:avLst/>
          </a:prstGeom>
          <a:solidFill>
            <a:srgbClr val="B7791F"/>
          </a:solidFill>
          <a:ln w="12700">
            <a:solidFill>
              <a:srgbClr val="B7791F"/>
            </a:solidFill>
            <a:prstDash val="solid"/>
          </a:ln>
        </p:spPr>
      </p:sp>
      <p:sp>
        <p:nvSpPr>
          <p:cNvPr id="19" name="Text 16"/>
          <p:cNvSpPr txBox="1"/>
          <p:nvPr/>
        </p:nvSpPr>
        <p:spPr>
          <a:xfrm>
            <a:off x="827532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8915400" y="3520440"/>
            <a:ext cx="2606040" cy="11887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Si R² = 0,05, ¿qué dices del modelo?</a:t>
            </a:r>
            <a:endParaRPr lang="en-US" sz="1500" dirty="0"/>
          </a:p>
        </p:txBody>
      </p:sp>
      <p:sp>
        <p:nvSpPr>
          <p:cNvPr id="21" name="Shape 18"/>
          <p:cNvSpPr/>
          <p:nvPr/>
        </p:nvSpPr>
        <p:spPr>
          <a:xfrm>
            <a:off x="548640" y="5212080"/>
            <a:ext cx="11091672" cy="731520"/>
          </a:xfrm>
          <a:prstGeom prst="rect">
            <a:avLst/>
          </a:prstGeom>
          <a:solidFill>
            <a:srgbClr val="E4EEF2"/>
          </a:solidFill>
          <a:ln w="12700">
            <a:solidFill>
              <a:srgbClr val="E4EEF2"/>
            </a:solidFill>
            <a:prstDash val="solid"/>
          </a:ln>
        </p:spPr>
      </p:sp>
      <p:sp>
        <p:nvSpPr>
          <p:cNvPr id="22" name="Shape 19"/>
          <p:cNvSpPr/>
          <p:nvPr/>
        </p:nvSpPr>
        <p:spPr>
          <a:xfrm>
            <a:off x="548640" y="5212080"/>
            <a:ext cx="64008" cy="731520"/>
          </a:xfrm>
          <a:prstGeom prst="rect">
            <a:avLst/>
          </a:prstGeom>
          <a:solidFill>
            <a:srgbClr val="1C7293"/>
          </a:solidFill>
          <a:ln w="12700">
            <a:solidFill>
              <a:srgbClr val="1C7293"/>
            </a:solidFill>
            <a:prstDash val="solid"/>
          </a:ln>
        </p:spPr>
      </p:sp>
      <p:sp>
        <p:nvSpPr>
          <p:cNvPr id="23" name="Text 20"/>
          <p:cNvSpPr txBox="1"/>
          <p:nvPr/>
        </p:nvSpPr>
        <p:spPr>
          <a:xfrm>
            <a:off x="749808" y="5212080"/>
            <a:ext cx="10771632" cy="731520"/>
          </a:xfrm>
          <a:prstGeom prst="rect">
            <a:avLst/>
          </a:prstGeom>
          <a:noFill/>
          <a:ln/>
        </p:spPr>
        <p:txBody>
          <a:bodyPr wrap="square" lIns="0" tIns="0" rIns="0" bIns="0" rtlCol="0" anchor="ctr"/>
          <a:lstStyle/>
          <a:p>
            <a:pPr indent="0" marL="0">
              <a:buNone/>
            </a:pPr>
            <a:r>
              <a:rPr lang="en-US" sz="1350" i="1" dirty="0">
                <a:solidFill>
                  <a:srgbClr val="1E2A44"/>
                </a:solidFill>
                <a:latin typeface="Calibri" pitchFamily="34" charset="0"/>
                <a:ea typeface="Calibri" pitchFamily="34" charset="-122"/>
                <a:cs typeface="Calibri" pitchFamily="34" charset="-120"/>
              </a:rPr>
              <a:t>Responde por el chat. Pista: unidades, “en promedio”, y ¿el IC incluye al cero?</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sp>
      <p:sp>
        <p:nvSpPr>
          <p:cNvPr id="4" name="Text 2"/>
          <p:cNvSpPr txBox="1"/>
          <p:nvPr/>
        </p:nvSpPr>
        <p:spPr>
          <a:xfrm>
            <a:off x="731520" y="2331720"/>
            <a:ext cx="7315200" cy="274320"/>
          </a:xfrm>
          <a:prstGeom prst="rect">
            <a:avLst/>
          </a:prstGeom>
          <a:noFill/>
          <a:ln/>
        </p:spPr>
        <p:txBody>
          <a:bodyPr wrap="square" lIns="0" tIns="0" rIns="0" bIns="0" rtlCol="0" anchor="ctr"/>
          <a:lstStyle/>
          <a:p>
            <a:pPr indent="0" marL="0">
              <a:buNone/>
            </a:pPr>
            <a:r>
              <a:rPr lang="en-US" sz="1100" b="1" spc="300" kern="0" dirty="0">
                <a:solidFill>
                  <a:srgbClr val="8FB8D8"/>
                </a:solidFill>
                <a:latin typeface="Calibri" pitchFamily="34" charset="0"/>
                <a:ea typeface="Calibri" pitchFamily="34" charset="-122"/>
                <a:cs typeface="Calibri" pitchFamily="34" charset="-120"/>
              </a:rPr>
              <a:t>PARTE 2</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Regresión lineal múltiple</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indent="0" marL="0">
              <a:buNone/>
            </a:pPr>
            <a:r>
              <a:rPr lang="en-US" sz="1800" dirty="0">
                <a:solidFill>
                  <a:srgbClr val="C9DDEC"/>
                </a:solidFill>
                <a:latin typeface="Calibri" pitchFamily="34" charset="0"/>
                <a:ea typeface="Calibri" pitchFamily="34" charset="-122"/>
                <a:cs typeface="Calibri" pitchFamily="34" charset="-120"/>
              </a:rPr>
              <a:t>Confusión, “manteniendo constantes”, variables categóricas y R² ajustado</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indent="0" marL="0">
              <a:buNone/>
            </a:pPr>
            <a:r>
              <a:rPr lang="en-US" sz="1300" dirty="0">
                <a:solidFill>
                  <a:srgbClr val="9DB8CE"/>
                </a:solidFill>
                <a:latin typeface="Calibri" pitchFamily="34" charset="0"/>
                <a:ea typeface="Calibri" pitchFamily="34" charset="-122"/>
                <a:cs typeface="Calibri" pitchFamily="34" charset="-120"/>
              </a:rPr>
              <a:t>18 minutos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Por qué agregar variables: la confusión</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16</a:t>
            </a:r>
            <a:endParaRPr lang="en-US" sz="800" dirty="0"/>
          </a:p>
        </p:txBody>
      </p:sp>
      <p:sp>
        <p:nvSpPr>
          <p:cNvPr id="7" name="Shape 4"/>
          <p:cNvSpPr/>
          <p:nvPr/>
        </p:nvSpPr>
        <p:spPr>
          <a:xfrm>
            <a:off x="548640" y="1399032"/>
            <a:ext cx="7626096" cy="3277210"/>
          </a:xfrm>
          <a:prstGeom prst="roundRect">
            <a:avLst>
              <a:gd name="adj" fmla="val 139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07_confusion.png">    </p:cNvPr>
          <p:cNvPicPr>
            <a:picLocks noChangeAspect="1"/>
          </p:cNvPicPr>
          <p:nvPr/>
        </p:nvPicPr>
        <p:blipFill>
          <a:blip r:embed="rId1"/>
          <a:stretch>
            <a:fillRect/>
          </a:stretch>
        </p:blipFill>
        <p:spPr>
          <a:xfrm>
            <a:off x="612648" y="1463040"/>
            <a:ext cx="7498080" cy="3149194"/>
          </a:xfrm>
          <a:prstGeom prst="rect">
            <a:avLst/>
          </a:prstGeom>
        </p:spPr>
      </p:pic>
      <p:sp>
        <p:nvSpPr>
          <p:cNvPr id="9" name="Shape 5"/>
          <p:cNvSpPr/>
          <p:nvPr/>
        </p:nvSpPr>
        <p:spPr>
          <a:xfrm>
            <a:off x="8595360" y="1399032"/>
            <a:ext cx="3044952" cy="2880360"/>
          </a:xfrm>
          <a:prstGeom prst="roundRect">
            <a:avLst>
              <a:gd name="adj" fmla="val 222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0" name="Text 6"/>
          <p:cNvSpPr txBox="1"/>
          <p:nvPr/>
        </p:nvSpPr>
        <p:spPr>
          <a:xfrm>
            <a:off x="8869680" y="1554480"/>
            <a:ext cx="256032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PENDIENTE DE HORAS</a:t>
            </a:r>
            <a:endParaRPr lang="en-US" sz="900" dirty="0"/>
          </a:p>
        </p:txBody>
      </p:sp>
      <p:sp>
        <p:nvSpPr>
          <p:cNvPr id="11" name="Text 7"/>
          <p:cNvSpPr txBox="1"/>
          <p:nvPr/>
        </p:nvSpPr>
        <p:spPr>
          <a:xfrm>
            <a:off x="8869680" y="1920240"/>
            <a:ext cx="256032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Sin nivel</a:t>
            </a:r>
            <a:endParaRPr lang="en-US" sz="1200" dirty="0"/>
          </a:p>
        </p:txBody>
      </p:sp>
      <p:sp>
        <p:nvSpPr>
          <p:cNvPr id="12" name="Text 8"/>
          <p:cNvSpPr txBox="1"/>
          <p:nvPr/>
        </p:nvSpPr>
        <p:spPr>
          <a:xfrm>
            <a:off x="8869680" y="2194560"/>
            <a:ext cx="2560320" cy="502920"/>
          </a:xfrm>
          <a:prstGeom prst="rect">
            <a:avLst/>
          </a:prstGeom>
          <a:noFill/>
          <a:ln/>
        </p:spPr>
        <p:txBody>
          <a:bodyPr wrap="square" lIns="0" tIns="0" rIns="0" bIns="0" rtlCol="0" anchor="t"/>
          <a:lstStyle/>
          <a:p>
            <a:pPr indent="0" marL="0">
              <a:buNone/>
            </a:pPr>
            <a:r>
              <a:rPr lang="en-US" sz="2800" b="1" dirty="0">
                <a:solidFill>
                  <a:srgbClr val="B7791F"/>
                </a:solidFill>
                <a:latin typeface="Cambria" pitchFamily="34" charset="0"/>
                <a:ea typeface="Cambria" pitchFamily="34" charset="-122"/>
                <a:cs typeface="Cambria" pitchFamily="34" charset="-120"/>
              </a:rPr>
              <a:t>+0,90</a:t>
            </a:r>
            <a:endParaRPr lang="en-US" sz="2800" dirty="0"/>
          </a:p>
        </p:txBody>
      </p:sp>
      <p:sp>
        <p:nvSpPr>
          <p:cNvPr id="13" name="Text 9"/>
          <p:cNvSpPr txBox="1"/>
          <p:nvPr/>
        </p:nvSpPr>
        <p:spPr>
          <a:xfrm>
            <a:off x="8869680" y="3017520"/>
            <a:ext cx="2560320" cy="27432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Con nivel</a:t>
            </a:r>
            <a:endParaRPr lang="en-US" sz="1200" dirty="0"/>
          </a:p>
        </p:txBody>
      </p:sp>
      <p:sp>
        <p:nvSpPr>
          <p:cNvPr id="14" name="Text 10"/>
          <p:cNvSpPr txBox="1"/>
          <p:nvPr/>
        </p:nvSpPr>
        <p:spPr>
          <a:xfrm>
            <a:off x="8869680" y="3291840"/>
            <a:ext cx="2560320" cy="502920"/>
          </a:xfrm>
          <a:prstGeom prst="rect">
            <a:avLst/>
          </a:prstGeom>
          <a:noFill/>
          <a:ln/>
        </p:spPr>
        <p:txBody>
          <a:bodyPr wrap="square" lIns="0" tIns="0" rIns="0" bIns="0" rtlCol="0" anchor="t"/>
          <a:lstStyle/>
          <a:p>
            <a:pPr indent="0" marL="0">
              <a:buNone/>
            </a:pPr>
            <a:r>
              <a:rPr lang="en-US" sz="2800" b="1" dirty="0">
                <a:solidFill>
                  <a:srgbClr val="065A82"/>
                </a:solidFill>
                <a:latin typeface="Cambria" pitchFamily="34" charset="0"/>
                <a:ea typeface="Cambria" pitchFamily="34" charset="-122"/>
                <a:cs typeface="Cambria" pitchFamily="34" charset="-120"/>
              </a:rPr>
              <a:t>−0,53</a:t>
            </a:r>
            <a:endParaRPr lang="en-US" sz="2800" dirty="0"/>
          </a:p>
        </p:txBody>
      </p:sp>
      <p:sp>
        <p:nvSpPr>
          <p:cNvPr id="15" name="Shape 11"/>
          <p:cNvSpPr/>
          <p:nvPr/>
        </p:nvSpPr>
        <p:spPr>
          <a:xfrm>
            <a:off x="548640" y="4709160"/>
            <a:ext cx="11091672" cy="1234440"/>
          </a:xfrm>
          <a:prstGeom prst="rect">
            <a:avLst/>
          </a:prstGeom>
          <a:solidFill>
            <a:srgbClr val="E4EEF2"/>
          </a:solidFill>
          <a:ln w="12700">
            <a:solidFill>
              <a:srgbClr val="E4EEF2"/>
            </a:solidFill>
            <a:prstDash val="solid"/>
          </a:ln>
        </p:spPr>
      </p:sp>
      <p:sp>
        <p:nvSpPr>
          <p:cNvPr id="16" name="Shape 12"/>
          <p:cNvSpPr/>
          <p:nvPr/>
        </p:nvSpPr>
        <p:spPr>
          <a:xfrm>
            <a:off x="548640" y="4709160"/>
            <a:ext cx="64008" cy="1234440"/>
          </a:xfrm>
          <a:prstGeom prst="rect">
            <a:avLst/>
          </a:prstGeom>
          <a:solidFill>
            <a:srgbClr val="1C7293"/>
          </a:solidFill>
          <a:ln w="12700">
            <a:solidFill>
              <a:srgbClr val="1C7293"/>
            </a:solidFill>
            <a:prstDash val="solid"/>
          </a:ln>
        </p:spPr>
      </p:sp>
      <p:sp>
        <p:nvSpPr>
          <p:cNvPr id="17" name="Text 13"/>
          <p:cNvSpPr txBox="1"/>
          <p:nvPr/>
        </p:nvSpPr>
        <p:spPr>
          <a:xfrm>
            <a:off x="749808" y="4709160"/>
            <a:ext cx="10771632" cy="1234440"/>
          </a:xfrm>
          <a:prstGeom prst="rect">
            <a:avLst/>
          </a:prstGeom>
          <a:noFill/>
          <a:ln/>
        </p:spPr>
        <p:txBody>
          <a:bodyPr wrap="square" lIns="0" tIns="0" rIns="0" bIns="0" rtlCol="0" anchor="ctr"/>
          <a:lstStyle/>
          <a:p>
            <a:pPr indent="0" marL="0">
              <a:buNone/>
            </a:pPr>
            <a:r>
              <a:rPr lang="en-US" sz="1400" b="1" dirty="0">
                <a:solidFill>
                  <a:srgbClr val="1E2A44"/>
                </a:solidFill>
                <a:latin typeface="Calibri" pitchFamily="34" charset="0"/>
                <a:ea typeface="Calibri" pitchFamily="34" charset="-122"/>
                <a:cs typeface="Calibri" pitchFamily="34" charset="-120"/>
              </a:rPr>
              <a:t>Los doctorandos dedican más horas y además tardan más porque su programa es más largo. El nivel influye en ambas variables y crea una asociación aparente. Eso es confusión.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Sintaxis del modelo múltiple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17</a:t>
            </a:r>
            <a:endParaRPr lang="en-US" sz="800" dirty="0"/>
          </a:p>
        </p:txBody>
      </p:sp>
      <p:sp>
        <p:nvSpPr>
          <p:cNvPr id="7" name="Shape 4"/>
          <p:cNvSpPr/>
          <p:nvPr/>
        </p:nvSpPr>
        <p:spPr>
          <a:xfrm>
            <a:off x="548640" y="1417320"/>
            <a:ext cx="7315200" cy="2799588"/>
          </a:xfrm>
          <a:prstGeom prst="roundRect">
            <a:avLst>
              <a:gd name="adj" fmla="val 1960"/>
            </a:avLst>
          </a:prstGeom>
          <a:solidFill>
            <a:srgbClr val="162044"/>
          </a:solidFill>
          <a:ln w="12700">
            <a:solidFill>
              <a:srgbClr val="162044"/>
            </a:solidFill>
            <a:prstDash val="solid"/>
          </a:ln>
        </p:spPr>
      </p:sp>
      <p:sp>
        <p:nvSpPr>
          <p:cNvPr id="8" name="Shape 5"/>
          <p:cNvSpPr/>
          <p:nvPr/>
        </p:nvSpPr>
        <p:spPr>
          <a:xfrm>
            <a:off x="621792" y="3619246"/>
            <a:ext cx="7168896" cy="207391"/>
          </a:xfrm>
          <a:prstGeom prst="rect">
            <a:avLst/>
          </a:prstGeom>
          <a:solidFill>
            <a:srgbClr val="D69E2E">
              <a:alpha val="28000"/>
            </a:srgbClr>
          </a:solidFill>
          <a:ln w="12700">
            <a:solidFill>
              <a:srgbClr val="D69E2E">
                <a:alpha val="0"/>
              </a:srgbClr>
            </a:solidFill>
            <a:prstDash val="solid"/>
          </a:ln>
        </p:spPr>
      </p:sp>
      <p:sp>
        <p:nvSpPr>
          <p:cNvPr id="9" name="Text 6"/>
          <p:cNvSpPr txBox="1"/>
          <p:nvPr/>
        </p:nvSpPr>
        <p:spPr>
          <a:xfrm>
            <a:off x="731520" y="1545336"/>
            <a:ext cx="6949440" cy="2488692"/>
          </a:xfrm>
          <a:prstGeom prst="rect">
            <a:avLst/>
          </a:prstGeom>
          <a:noFill/>
          <a:ln/>
        </p:spPr>
        <p:txBody>
          <a:bodyPr wrap="square" lIns="0" tIns="0" rIns="0" bIns="0" rtlCol="0" anchor="t"/>
          <a:lstStyle/>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m2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&lt;-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lm</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(meses_titulacion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horas_investigacion_sem + nivel,</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data = egresados)</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m3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&lt;-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lm</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(meses_titulacion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horas_investigacion_sem + nivel +</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sat_supervision + beca + area + edad_ingreso,</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data = egresados)</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summary</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(m3)</a:t>
            </a:r>
            <a:endParaRPr lang="en-US" sz="1150" dirty="0"/>
          </a:p>
          <a:p>
            <a:pPr indent="0" marL="0">
              <a:lnSpc>
                <a:spcPts val="1633"/>
              </a:lnSpc>
              <a:buNone/>
            </a:pPr>
            <a:r>
              <a:rPr lang="en-US" sz="1150" dirty="0">
                <a:solidFill>
                  <a:srgbClr val="8FD5B0"/>
                </a:solidFill>
                <a:latin typeface="Courier New" pitchFamily="34" charset="0"/>
                <a:ea typeface="Courier New" pitchFamily="34" charset="-122"/>
                <a:cs typeface="Courier New" pitchFamily="34" charset="-120"/>
              </a:rPr>
              <a:t>#&gt; ...</a:t>
            </a:r>
            <a:endParaRPr lang="en-US" sz="1150" dirty="0"/>
          </a:p>
          <a:p>
            <a:pPr indent="0" marL="0">
              <a:lnSpc>
                <a:spcPts val="1633"/>
              </a:lnSpc>
              <a:buNone/>
            </a:pPr>
            <a:r>
              <a:rPr lang="en-US" sz="1150" dirty="0">
                <a:solidFill>
                  <a:srgbClr val="8FD5B0"/>
                </a:solidFill>
                <a:latin typeface="Courier New" pitchFamily="34" charset="0"/>
                <a:ea typeface="Courier New" pitchFamily="34" charset="-122"/>
                <a:cs typeface="Courier New" pitchFamily="34" charset="-120"/>
              </a:rPr>
              <a:t>#&gt; Residual standard error: 6.247 on 186 degrees of freedom</a:t>
            </a:r>
            <a:endParaRPr lang="en-US" sz="1150" dirty="0"/>
          </a:p>
          <a:p>
            <a:pPr indent="0" marL="0">
              <a:lnSpc>
                <a:spcPts val="1633"/>
              </a:lnSpc>
              <a:buNone/>
            </a:pPr>
            <a:r>
              <a:rPr lang="en-US" sz="1150" dirty="0">
                <a:solidFill>
                  <a:srgbClr val="8FD5B0"/>
                </a:solidFill>
                <a:latin typeface="Courier New" pitchFamily="34" charset="0"/>
                <a:ea typeface="Courier New" pitchFamily="34" charset="-122"/>
                <a:cs typeface="Courier New" pitchFamily="34" charset="-120"/>
              </a:rPr>
              <a:t>#&gt;   (6 observations deleted due to missingness)</a:t>
            </a:r>
            <a:endParaRPr lang="en-US" sz="1150" dirty="0"/>
          </a:p>
          <a:p>
            <a:pPr indent="0" marL="0">
              <a:lnSpc>
                <a:spcPts val="1633"/>
              </a:lnSpc>
              <a:buNone/>
            </a:pPr>
            <a:r>
              <a:rPr lang="en-US" sz="1150" dirty="0">
                <a:solidFill>
                  <a:srgbClr val="8FD5B0"/>
                </a:solidFill>
                <a:latin typeface="Courier New" pitchFamily="34" charset="0"/>
                <a:ea typeface="Courier New" pitchFamily="34" charset="-122"/>
                <a:cs typeface="Courier New" pitchFamily="34" charset="-120"/>
              </a:rPr>
              <a:t>#&gt; Multiple R-squared:  0.7989,  Adjusted R-squared:  0.7914</a:t>
            </a:r>
            <a:endParaRPr lang="en-US" sz="1150" dirty="0"/>
          </a:p>
        </p:txBody>
      </p:sp>
      <p:sp>
        <p:nvSpPr>
          <p:cNvPr id="10" name="Shape 7"/>
          <p:cNvSpPr/>
          <p:nvPr/>
        </p:nvSpPr>
        <p:spPr>
          <a:xfrm>
            <a:off x="8183880" y="1417320"/>
            <a:ext cx="3456432" cy="2377440"/>
          </a:xfrm>
          <a:prstGeom prst="roundRect">
            <a:avLst>
              <a:gd name="adj" fmla="val 2692"/>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8412480" y="1554480"/>
            <a:ext cx="3017520" cy="274320"/>
          </a:xfrm>
          <a:prstGeom prst="rect">
            <a:avLst/>
          </a:prstGeom>
          <a:noFill/>
          <a:ln/>
        </p:spPr>
        <p:txBody>
          <a:bodyPr wrap="square" lIns="0" tIns="0" rIns="0" bIns="0" rtlCol="0" anchor="t"/>
          <a:lstStyle/>
          <a:p>
            <a:pPr indent="0" marL="0">
              <a:buNone/>
            </a:pPr>
            <a:r>
              <a:rPr lang="en-US" sz="1500" b="1" dirty="0">
                <a:solidFill>
                  <a:srgbClr val="B7791F"/>
                </a:solidFill>
                <a:latin typeface="Cambria" pitchFamily="34" charset="0"/>
                <a:ea typeface="Cambria" pitchFamily="34" charset="-122"/>
                <a:cs typeface="Cambria" pitchFamily="34" charset="-120"/>
              </a:rPr>
              <a:t>Datos faltantes</a:t>
            </a:r>
            <a:endParaRPr lang="en-US" sz="1500" dirty="0"/>
          </a:p>
        </p:txBody>
      </p:sp>
      <p:sp>
        <p:nvSpPr>
          <p:cNvPr id="12" name="Text 9"/>
          <p:cNvSpPr txBox="1"/>
          <p:nvPr/>
        </p:nvSpPr>
        <p:spPr>
          <a:xfrm>
            <a:off x="8412480" y="1920240"/>
            <a:ext cx="3017520" cy="173736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R elimina las filas con NA en cualquier variable del modelo. m3 usa 194 egresados, no 200.</a:t>
            </a:r>
            <a:endParaRPr lang="en-US" sz="1300" dirty="0"/>
          </a:p>
        </p:txBody>
      </p:sp>
      <p:sp>
        <p:nvSpPr>
          <p:cNvPr id="13" name="Shape 10"/>
          <p:cNvSpPr/>
          <p:nvPr/>
        </p:nvSpPr>
        <p:spPr>
          <a:xfrm>
            <a:off x="8183880" y="3977640"/>
            <a:ext cx="3456432" cy="1417320"/>
          </a:xfrm>
          <a:prstGeom prst="roundRect">
            <a:avLst>
              <a:gd name="adj" fmla="val 4516"/>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412480" y="4114800"/>
            <a:ext cx="3017520" cy="320040"/>
          </a:xfrm>
          <a:prstGeom prst="rect">
            <a:avLst/>
          </a:prstGeom>
          <a:noFill/>
          <a:ln/>
        </p:spPr>
        <p:txBody>
          <a:bodyPr wrap="square" lIns="0" tIns="0" rIns="0" bIns="0" rtlCol="0" anchor="t"/>
          <a:lstStyle/>
          <a:p>
            <a:pPr indent="0" marL="0">
              <a:buNone/>
            </a:pPr>
            <a:r>
              <a:rPr lang="en-US" sz="1250" b="1" dirty="0">
                <a:solidFill>
                  <a:srgbClr val="21295C"/>
                </a:solidFill>
                <a:latin typeface="Calibri" pitchFamily="34" charset="0"/>
                <a:ea typeface="Calibri" pitchFamily="34" charset="-122"/>
                <a:cs typeface="Calibri" pitchFamily="34" charset="-120"/>
              </a:rPr>
              <a:t>En una fórmula, + no suma números:</a:t>
            </a:r>
            <a:endParaRPr lang="en-US" sz="1250" dirty="0"/>
          </a:p>
        </p:txBody>
      </p:sp>
      <p:sp>
        <p:nvSpPr>
          <p:cNvPr id="15" name="Text 12"/>
          <p:cNvSpPr txBox="1"/>
          <p:nvPr/>
        </p:nvSpPr>
        <p:spPr>
          <a:xfrm>
            <a:off x="8412480" y="4480560"/>
            <a:ext cx="3017520" cy="64008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significa “y además este término”.</a:t>
            </a:r>
            <a:endParaRPr lang="en-US" sz="1250" dirty="0"/>
          </a:p>
        </p:txBody>
      </p:sp>
      <p:sp>
        <p:nvSpPr>
          <p:cNvPr id="16" name="Shape 13"/>
          <p:cNvSpPr/>
          <p:nvPr/>
        </p:nvSpPr>
        <p:spPr>
          <a:xfrm>
            <a:off x="548640" y="5440680"/>
            <a:ext cx="7315200" cy="594360"/>
          </a:xfrm>
          <a:prstGeom prst="rect">
            <a:avLst/>
          </a:prstGeom>
          <a:solidFill>
            <a:srgbClr val="E4EEF2"/>
          </a:solidFill>
          <a:ln w="12700">
            <a:solidFill>
              <a:srgbClr val="E4EEF2"/>
            </a:solidFill>
            <a:prstDash val="solid"/>
          </a:ln>
        </p:spPr>
      </p:sp>
      <p:sp>
        <p:nvSpPr>
          <p:cNvPr id="17" name="Shape 14"/>
          <p:cNvSpPr/>
          <p:nvPr/>
        </p:nvSpPr>
        <p:spPr>
          <a:xfrm>
            <a:off x="548640" y="5440680"/>
            <a:ext cx="64008" cy="594360"/>
          </a:xfrm>
          <a:prstGeom prst="rect">
            <a:avLst/>
          </a:prstGeom>
          <a:solidFill>
            <a:srgbClr val="1C7293"/>
          </a:solidFill>
          <a:ln w="12700">
            <a:solidFill>
              <a:srgbClr val="1C7293"/>
            </a:solidFill>
            <a:prstDash val="solid"/>
          </a:ln>
        </p:spPr>
      </p:sp>
      <p:sp>
        <p:nvSpPr>
          <p:cNvPr id="18" name="Text 15"/>
          <p:cNvSpPr txBox="1"/>
          <p:nvPr/>
        </p:nvSpPr>
        <p:spPr>
          <a:xfrm>
            <a:off x="749808" y="5440680"/>
            <a:ext cx="6995160" cy="594360"/>
          </a:xfrm>
          <a:prstGeom prst="rect">
            <a:avLst/>
          </a:prstGeom>
          <a:noFill/>
          <a:ln/>
        </p:spPr>
        <p:txBody>
          <a:bodyPr wrap="square" lIns="0" tIns="0" rIns="0" bIns="0" rtlCol="0" anchor="ctr"/>
          <a:lstStyle/>
          <a:p>
            <a:pPr indent="0" marL="0">
              <a:buNone/>
            </a:pPr>
            <a:r>
              <a:rPr lang="en-US" sz="1300" i="1" dirty="0">
                <a:solidFill>
                  <a:srgbClr val="1E2A44"/>
                </a:solidFill>
                <a:latin typeface="Calibri" pitchFamily="34" charset="0"/>
                <a:ea typeface="Calibri" pitchFamily="34" charset="-122"/>
                <a:cs typeface="Calibri" pitchFamily="34" charset="-120"/>
              </a:rPr>
              <a:t>Siempre revisa cuántas filas usó el modelo: nobs(m3).</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“Manteniendo constantes las demás variables”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18</a:t>
            </a:r>
            <a:endParaRPr lang="en-US" sz="800" dirty="0"/>
          </a:p>
        </p:txBody>
      </p:sp>
      <p:sp>
        <p:nvSpPr>
          <p:cNvPr id="7" name="Shape 4"/>
          <p:cNvSpPr/>
          <p:nvPr/>
        </p:nvSpPr>
        <p:spPr>
          <a:xfrm>
            <a:off x="548640" y="1417320"/>
            <a:ext cx="7040880" cy="2015109"/>
          </a:xfrm>
          <a:prstGeom prst="roundRect">
            <a:avLst>
              <a:gd name="adj" fmla="val 2723"/>
            </a:avLst>
          </a:prstGeom>
          <a:solidFill>
            <a:srgbClr val="162044"/>
          </a:solidFill>
          <a:ln w="12700">
            <a:solidFill>
              <a:srgbClr val="162044"/>
            </a:solidFill>
            <a:prstDash val="solid"/>
          </a:ln>
        </p:spPr>
      </p:sp>
      <p:sp>
        <p:nvSpPr>
          <p:cNvPr id="8" name="Shape 5"/>
          <p:cNvSpPr/>
          <p:nvPr/>
        </p:nvSpPr>
        <p:spPr>
          <a:xfrm>
            <a:off x="621792" y="1924050"/>
            <a:ext cx="6894576" cy="189357"/>
          </a:xfrm>
          <a:prstGeom prst="rect">
            <a:avLst/>
          </a:prstGeom>
          <a:solidFill>
            <a:srgbClr val="D69E2E">
              <a:alpha val="28000"/>
            </a:srgbClr>
          </a:solidFill>
          <a:ln w="12700">
            <a:solidFill>
              <a:srgbClr val="D69E2E">
                <a:alpha val="0"/>
              </a:srgbClr>
            </a:solidFill>
            <a:prstDash val="solid"/>
          </a:ln>
        </p:spPr>
      </p:sp>
      <p:sp>
        <p:nvSpPr>
          <p:cNvPr id="9" name="Shape 6"/>
          <p:cNvSpPr/>
          <p:nvPr/>
        </p:nvSpPr>
        <p:spPr>
          <a:xfrm>
            <a:off x="621792" y="2302764"/>
            <a:ext cx="6894576" cy="189357"/>
          </a:xfrm>
          <a:prstGeom prst="rect">
            <a:avLst/>
          </a:prstGeom>
          <a:solidFill>
            <a:srgbClr val="D69E2E">
              <a:alpha val="28000"/>
            </a:srgbClr>
          </a:solidFill>
          <a:ln w="12700">
            <a:solidFill>
              <a:srgbClr val="D69E2E">
                <a:alpha val="0"/>
              </a:srgbClr>
            </a:solidFill>
            <a:prstDash val="solid"/>
          </a:ln>
        </p:spPr>
      </p:sp>
      <p:sp>
        <p:nvSpPr>
          <p:cNvPr id="10" name="Shape 7"/>
          <p:cNvSpPr/>
          <p:nvPr/>
        </p:nvSpPr>
        <p:spPr>
          <a:xfrm>
            <a:off x="621792" y="3060192"/>
            <a:ext cx="6894576" cy="189357"/>
          </a:xfrm>
          <a:prstGeom prst="rect">
            <a:avLst/>
          </a:prstGeom>
          <a:solidFill>
            <a:srgbClr val="D69E2E">
              <a:alpha val="28000"/>
            </a:srgbClr>
          </a:solidFill>
          <a:ln w="12700">
            <a:solidFill>
              <a:srgbClr val="D69E2E">
                <a:alpha val="0"/>
              </a:srgbClr>
            </a:solidFill>
            <a:prstDash val="solid"/>
          </a:ln>
        </p:spPr>
      </p:sp>
      <p:sp>
        <p:nvSpPr>
          <p:cNvPr id="11" name="Text 8"/>
          <p:cNvSpPr txBox="1"/>
          <p:nvPr/>
        </p:nvSpPr>
        <p:spPr>
          <a:xfrm>
            <a:off x="731520" y="1545336"/>
            <a:ext cx="6675120" cy="1704213"/>
          </a:xfrm>
          <a:prstGeom prst="rect">
            <a:avLst/>
          </a:prstGeom>
          <a:noFill/>
          <a:ln/>
        </p:spPr>
        <p:txBody>
          <a:bodyPr wrap="square" lIns="0" tIns="0" rIns="0" bIns="0" rtlCol="0" anchor="t"/>
          <a:lstStyle/>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Coefficients:                 Estimate Std. Error t value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Pr</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(&gt;|t|)</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(Intercept)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81.4707</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4.9440</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16.479</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&lt; 2e-</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16</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horas_investigacion_sem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0.5197</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0.0933</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5.574</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8</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.66e-</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08</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nivelMagíster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30.0459</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1.3667</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21.985</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&lt; 2e-</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16</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sat_supervision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2.3961</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0.5346</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4.482</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.29e-</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05</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becaSin beca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4.0700</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0.9710</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4.192</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.28e-</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05</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areaCiencias Sociales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4.8141</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1.1521</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4.179</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4</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.51e-</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05</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areaIngeniería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2.3796</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1.0742</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2.215</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0.028</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edad_ingreso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0.0123</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0.0985</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0.125</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0.901</a:t>
            </a:r>
            <a:endParaRPr lang="en-US" sz="1050" dirty="0"/>
          </a:p>
        </p:txBody>
      </p:sp>
      <p:sp>
        <p:nvSpPr>
          <p:cNvPr id="12" name="Shape 9"/>
          <p:cNvSpPr/>
          <p:nvPr/>
        </p:nvSpPr>
        <p:spPr>
          <a:xfrm>
            <a:off x="7863840" y="1417320"/>
            <a:ext cx="3776472" cy="1371600"/>
          </a:xfrm>
          <a:prstGeom prst="roundRect">
            <a:avLst>
              <a:gd name="adj" fmla="val 4667"/>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Text 10"/>
          <p:cNvSpPr txBox="1"/>
          <p:nvPr/>
        </p:nvSpPr>
        <p:spPr>
          <a:xfrm>
            <a:off x="8092440" y="1527048"/>
            <a:ext cx="3383280" cy="27432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Horas: −0,52</a:t>
            </a:r>
            <a:endParaRPr lang="en-US" sz="1450" dirty="0"/>
          </a:p>
        </p:txBody>
      </p:sp>
      <p:sp>
        <p:nvSpPr>
          <p:cNvPr id="14" name="Text 11"/>
          <p:cNvSpPr txBox="1"/>
          <p:nvPr/>
        </p:nvSpPr>
        <p:spPr>
          <a:xfrm>
            <a:off x="8092440" y="1847088"/>
            <a:ext cx="3383280" cy="914400"/>
          </a:xfrm>
          <a:prstGeom prst="rect">
            <a:avLst/>
          </a:prstGeom>
          <a:noFill/>
          <a:ln/>
        </p:spPr>
        <p:txBody>
          <a:bodyPr wrap="square" lIns="0" tIns="0" rIns="0" bIns="0" rtlCol="0" anchor="t"/>
          <a:lstStyle/>
          <a:p>
            <a:pPr indent="0" marL="0">
              <a:buNone/>
            </a:pPr>
            <a:r>
              <a:rPr lang="en-US" sz="1150" dirty="0">
                <a:solidFill>
                  <a:srgbClr val="1E2A44"/>
                </a:solidFill>
                <a:latin typeface="Calibri" pitchFamily="34" charset="0"/>
                <a:ea typeface="Calibri" pitchFamily="34" charset="-122"/>
                <a:cs typeface="Calibri" pitchFamily="34" charset="-120"/>
              </a:rPr>
              <a:t>Una hora semanal más → 0,5 meses menos, comparando egresados del mismo nivel, satisfacción, beca, área y edad.</a:t>
            </a:r>
            <a:endParaRPr lang="en-US" sz="1150" dirty="0"/>
          </a:p>
        </p:txBody>
      </p:sp>
      <p:sp>
        <p:nvSpPr>
          <p:cNvPr id="15" name="Shape 12"/>
          <p:cNvSpPr/>
          <p:nvPr/>
        </p:nvSpPr>
        <p:spPr>
          <a:xfrm>
            <a:off x="7863840" y="2898648"/>
            <a:ext cx="3776472" cy="1371600"/>
          </a:xfrm>
          <a:prstGeom prst="roundRect">
            <a:avLst>
              <a:gd name="adj" fmla="val 4667"/>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6" name="Text 13"/>
          <p:cNvSpPr txBox="1"/>
          <p:nvPr/>
        </p:nvSpPr>
        <p:spPr>
          <a:xfrm>
            <a:off x="8092440" y="3008376"/>
            <a:ext cx="3383280" cy="27432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Satisfacción: −2,4</a:t>
            </a:r>
            <a:endParaRPr lang="en-US" sz="1450" dirty="0"/>
          </a:p>
        </p:txBody>
      </p:sp>
      <p:sp>
        <p:nvSpPr>
          <p:cNvPr id="17" name="Text 14"/>
          <p:cNvSpPr txBox="1"/>
          <p:nvPr/>
        </p:nvSpPr>
        <p:spPr>
          <a:xfrm>
            <a:off x="8092440" y="3328416"/>
            <a:ext cx="3383280" cy="914400"/>
          </a:xfrm>
          <a:prstGeom prst="rect">
            <a:avLst/>
          </a:prstGeom>
          <a:noFill/>
          <a:ln/>
        </p:spPr>
        <p:txBody>
          <a:bodyPr wrap="square" lIns="0" tIns="0" rIns="0" bIns="0" rtlCol="0" anchor="t"/>
          <a:lstStyle/>
          <a:p>
            <a:pPr indent="0" marL="0">
              <a:buNone/>
            </a:pPr>
            <a:r>
              <a:rPr lang="en-US" sz="1150" dirty="0">
                <a:solidFill>
                  <a:srgbClr val="1E2A44"/>
                </a:solidFill>
                <a:latin typeface="Calibri" pitchFamily="34" charset="0"/>
                <a:ea typeface="Calibri" pitchFamily="34" charset="-122"/>
                <a:cs typeface="Calibri" pitchFamily="34" charset="-120"/>
              </a:rPr>
              <a:t>Cada punto más de satisfacción con la supervisión → 2,4 meses menos.</a:t>
            </a:r>
            <a:endParaRPr lang="en-US" sz="1150" dirty="0"/>
          </a:p>
        </p:txBody>
      </p:sp>
      <p:sp>
        <p:nvSpPr>
          <p:cNvPr id="18" name="Shape 15"/>
          <p:cNvSpPr/>
          <p:nvPr/>
        </p:nvSpPr>
        <p:spPr>
          <a:xfrm>
            <a:off x="7863840" y="4379976"/>
            <a:ext cx="3776472" cy="1371600"/>
          </a:xfrm>
          <a:prstGeom prst="roundRect">
            <a:avLst>
              <a:gd name="adj" fmla="val 4667"/>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9" name="Text 16"/>
          <p:cNvSpPr txBox="1"/>
          <p:nvPr/>
        </p:nvSpPr>
        <p:spPr>
          <a:xfrm>
            <a:off x="8092440" y="4489704"/>
            <a:ext cx="3383280" cy="274320"/>
          </a:xfrm>
          <a:prstGeom prst="rect">
            <a:avLst/>
          </a:prstGeom>
          <a:noFill/>
          <a:ln/>
        </p:spPr>
        <p:txBody>
          <a:bodyPr wrap="square" lIns="0" tIns="0" rIns="0" bIns="0" rtlCol="0" anchor="t"/>
          <a:lstStyle/>
          <a:p>
            <a:pPr indent="0" marL="0">
              <a:buNone/>
            </a:pPr>
            <a:r>
              <a:rPr lang="en-US" sz="1450" b="1" dirty="0">
                <a:solidFill>
                  <a:srgbClr val="B7791F"/>
                </a:solidFill>
                <a:latin typeface="Cambria" pitchFamily="34" charset="0"/>
                <a:ea typeface="Cambria" pitchFamily="34" charset="-122"/>
                <a:cs typeface="Cambria" pitchFamily="34" charset="-120"/>
              </a:rPr>
              <a:t>Edad: 0,01 (p = 0,90)</a:t>
            </a:r>
            <a:endParaRPr lang="en-US" sz="1450" dirty="0"/>
          </a:p>
        </p:txBody>
      </p:sp>
      <p:sp>
        <p:nvSpPr>
          <p:cNvPr id="20" name="Text 17"/>
          <p:cNvSpPr txBox="1"/>
          <p:nvPr/>
        </p:nvSpPr>
        <p:spPr>
          <a:xfrm>
            <a:off x="8092440" y="4809744"/>
            <a:ext cx="3383280" cy="914400"/>
          </a:xfrm>
          <a:prstGeom prst="rect">
            <a:avLst/>
          </a:prstGeom>
          <a:noFill/>
          <a:ln/>
        </p:spPr>
        <p:txBody>
          <a:bodyPr wrap="square" lIns="0" tIns="0" rIns="0" bIns="0" rtlCol="0" anchor="t"/>
          <a:lstStyle/>
          <a:p>
            <a:pPr indent="0" marL="0">
              <a:buNone/>
            </a:pPr>
            <a:r>
              <a:rPr lang="en-US" sz="1150" dirty="0">
                <a:solidFill>
                  <a:srgbClr val="1E2A44"/>
                </a:solidFill>
                <a:latin typeface="Calibri" pitchFamily="34" charset="0"/>
                <a:ea typeface="Calibri" pitchFamily="34" charset="-122"/>
                <a:cs typeface="Calibri" pitchFamily="34" charset="-120"/>
              </a:rPr>
              <a:t>Sin evidencia de asociación una vez controlado el resto.</a:t>
            </a:r>
            <a:endParaRPr lang="en-US" sz="1150" dirty="0"/>
          </a:p>
        </p:txBody>
      </p:sp>
      <p:sp>
        <p:nvSpPr>
          <p:cNvPr id="21" name="Shape 18"/>
          <p:cNvSpPr/>
          <p:nvPr/>
        </p:nvSpPr>
        <p:spPr>
          <a:xfrm>
            <a:off x="548640" y="4160520"/>
            <a:ext cx="7040880" cy="1234440"/>
          </a:xfrm>
          <a:prstGeom prst="rect">
            <a:avLst/>
          </a:prstGeom>
          <a:solidFill>
            <a:srgbClr val="E4EEF2"/>
          </a:solidFill>
          <a:ln w="12700">
            <a:solidFill>
              <a:srgbClr val="E4EEF2"/>
            </a:solidFill>
            <a:prstDash val="solid"/>
          </a:ln>
        </p:spPr>
      </p:sp>
      <p:sp>
        <p:nvSpPr>
          <p:cNvPr id="22" name="Shape 19"/>
          <p:cNvSpPr/>
          <p:nvPr/>
        </p:nvSpPr>
        <p:spPr>
          <a:xfrm>
            <a:off x="548640" y="4160520"/>
            <a:ext cx="64008" cy="1234440"/>
          </a:xfrm>
          <a:prstGeom prst="rect">
            <a:avLst/>
          </a:prstGeom>
          <a:solidFill>
            <a:srgbClr val="1C7293"/>
          </a:solidFill>
          <a:ln w="12700">
            <a:solidFill>
              <a:srgbClr val="1C7293"/>
            </a:solidFill>
            <a:prstDash val="solid"/>
          </a:ln>
        </p:spPr>
      </p:sp>
      <p:sp>
        <p:nvSpPr>
          <p:cNvPr id="23" name="Text 20"/>
          <p:cNvSpPr txBox="1"/>
          <p:nvPr/>
        </p:nvSpPr>
        <p:spPr>
          <a:xfrm>
            <a:off x="749808" y="4160520"/>
            <a:ext cx="6720840" cy="1234440"/>
          </a:xfrm>
          <a:prstGeom prst="rect">
            <a:avLst/>
          </a:prstGeom>
          <a:noFill/>
          <a:ln/>
        </p:spPr>
        <p:txBody>
          <a:bodyPr wrap="square" lIns="0" tIns="0" rIns="0" bIns="0" rtlCol="0" anchor="ctr"/>
          <a:lstStyle/>
          <a:p>
            <a:pPr indent="0" marL="0">
              <a:buNone/>
            </a:pPr>
            <a:r>
              <a:rPr lang="en-US" sz="1350" b="1" dirty="0">
                <a:solidFill>
                  <a:srgbClr val="1E2A44"/>
                </a:solidFill>
                <a:latin typeface="Calibri" pitchFamily="34" charset="0"/>
                <a:ea typeface="Calibri" pitchFamily="34" charset="-122"/>
                <a:cs typeface="Calibri" pitchFamily="34" charset="-120"/>
              </a:rPr>
              <a:t>Cada coeficiente se lee “manteniendo constantes las demás variables del modelo”: el modelo neutraliza matemáticamente a las otras.</a:t>
            </a:r>
            <a:endParaRPr lang="en-US" sz="1350" dirty="0"/>
          </a:p>
        </p:txBody>
      </p:sp>
      <p:sp>
        <p:nvSpPr>
          <p:cNvPr id="24" name="Text 21"/>
          <p:cNvSpPr txBox="1"/>
          <p:nvPr/>
        </p:nvSpPr>
        <p:spPr>
          <a:xfrm>
            <a:off x="548640" y="5623560"/>
            <a:ext cx="7040880" cy="45720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Los coeficientes están en las unidades de cada variable: no son comparables entre sí.</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Variables categóricas: dummies y nivel de referencia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19</a:t>
            </a:r>
            <a:endParaRPr lang="en-US" sz="800" dirty="0"/>
          </a:p>
        </p:txBody>
      </p:sp>
      <p:sp>
        <p:nvSpPr>
          <p:cNvPr id="7" name="Text 4"/>
          <p:cNvSpPr txBox="1"/>
          <p:nvPr/>
        </p:nvSpPr>
        <p:spPr>
          <a:xfrm>
            <a:off x="548640" y="1371600"/>
            <a:ext cx="45720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R CREA VARIABLES INDICADORAS (0/1)</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669280" cy="914400"/>
        </p:xfrm>
        <a:graphic>
          <a:graphicData uri="http://schemas.openxmlformats.org/drawingml/2006/table">
            <a:tbl>
              <a:tblPr/>
              <a:tblGrid>
                <a:gridCol w="2194560"/>
                <a:gridCol w="1737360"/>
                <a:gridCol w="1737360"/>
              </a:tblGrid>
              <a:tr h="45720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areaCiencias Sociales</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areaIngeniería</a:t>
                      </a:r>
                      <a:endParaRPr lang="en-US" sz="10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r>
              <a:tr h="457200">
                <a:tc>
                  <a:txBody>
                    <a:bodyPr/>
                    <a:lstStyle/>
                    <a:p>
                      <a:pPr algn="l" indent="0" marL="0">
                        <a:buNone/>
                      </a:pPr>
                      <a:r>
                        <a:rPr lang="en-US" sz="1100" dirty="0">
                          <a:solidFill>
                            <a:srgbClr val="8A5A00"/>
                          </a:solidFill>
                          <a:latin typeface="Calibri" pitchFamily="34" charset="0"/>
                          <a:ea typeface="Calibri" pitchFamily="34" charset="-122"/>
                          <a:cs typeface="Calibri" pitchFamily="34" charset="-120"/>
                        </a:rPr>
                        <a:t>Ciencias Naturales (ref.)</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9E3B4"/>
                    </a:solidFill>
                  </a:tcPr>
                </a:tc>
                <a:tc>
                  <a:txBody>
                    <a:bodyPr/>
                    <a:lstStyle/>
                    <a:p>
                      <a:pPr algn="ctr" indent="0" marL="0">
                        <a:buNone/>
                      </a:pPr>
                      <a:r>
                        <a:rPr lang="en-US" sz="1100" dirty="0">
                          <a:solidFill>
                            <a:srgbClr val="8A5A0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9E3B4"/>
                    </a:solidFill>
                  </a:tcPr>
                </a:tc>
                <a:tc>
                  <a:txBody>
                    <a:bodyPr/>
                    <a:lstStyle/>
                    <a:p>
                      <a:pPr algn="ctr" indent="0" marL="0">
                        <a:buNone/>
                      </a:pPr>
                      <a:r>
                        <a:rPr lang="en-US" sz="1100" dirty="0">
                          <a:solidFill>
                            <a:srgbClr val="8A5A0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9E3B4"/>
                    </a:solidFill>
                  </a:tcPr>
                </a:tc>
              </a:tr>
              <a:tr h="457200">
                <a:tc>
                  <a:txBody>
                    <a:bodyPr/>
                    <a:lstStyle/>
                    <a:p>
                      <a:pPr algn="l" indent="0" marL="0">
                        <a:buNone/>
                      </a:pPr>
                      <a:r>
                        <a:rPr lang="en-US" sz="1100" dirty="0">
                          <a:solidFill>
                            <a:srgbClr val="1E2A44"/>
                          </a:solidFill>
                          <a:latin typeface="Calibri" pitchFamily="34" charset="0"/>
                          <a:ea typeface="Calibri" pitchFamily="34" charset="-122"/>
                          <a:cs typeface="Calibri" pitchFamily="34" charset="-120"/>
                        </a:rPr>
                        <a:t>Ciencias Sociales</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EFF5F8"/>
                    </a:solidFill>
                  </a:tcPr>
                </a:tc>
              </a:tr>
              <a:tr h="457200">
                <a:tc>
                  <a:txBody>
                    <a:bodyPr/>
                    <a:lstStyle/>
                    <a:p>
                      <a:pPr algn="l" indent="0" marL="0">
                        <a:buNone/>
                      </a:pPr>
                      <a:r>
                        <a:rPr lang="en-US" sz="1100" dirty="0">
                          <a:solidFill>
                            <a:srgbClr val="1E2A44"/>
                          </a:solidFill>
                          <a:latin typeface="Calibri" pitchFamily="34" charset="0"/>
                          <a:ea typeface="Calibri" pitchFamily="34" charset="-122"/>
                          <a:cs typeface="Calibri" pitchFamily="34" charset="-120"/>
                        </a:rPr>
                        <a:t>Ingeniería</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A4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3749040"/>
            <a:ext cx="5669280" cy="1347851"/>
          </a:xfrm>
          <a:prstGeom prst="roundRect">
            <a:avLst>
              <a:gd name="adj" fmla="val 4070"/>
            </a:avLst>
          </a:prstGeom>
          <a:solidFill>
            <a:srgbClr val="162044"/>
          </a:solidFill>
          <a:ln w="12700">
            <a:solidFill>
              <a:srgbClr val="162044"/>
            </a:solidFill>
            <a:prstDash val="solid"/>
          </a:ln>
        </p:spPr>
      </p:sp>
      <p:sp>
        <p:nvSpPr>
          <p:cNvPr id="10" name="Text 6"/>
          <p:cNvSpPr txBox="1"/>
          <p:nvPr/>
        </p:nvSpPr>
        <p:spPr>
          <a:xfrm>
            <a:off x="731520" y="3877056"/>
            <a:ext cx="5303520" cy="1036955"/>
          </a:xfrm>
          <a:prstGeom prst="rect">
            <a:avLst/>
          </a:prstGeom>
          <a:noFill/>
          <a:ln/>
        </p:spPr>
        <p:txBody>
          <a:bodyPr wrap="square" lIns="0" tIns="0" rIns="0" bIns="0" rtlCol="0" anchor="t"/>
          <a:lstStyle/>
          <a:p>
            <a:pPr indent="0" marL="0">
              <a:lnSpc>
                <a:spcPts val="1633"/>
              </a:lnSpc>
              <a:buNone/>
            </a:pPr>
            <a:r>
              <a:rPr lang="en-US" sz="1150" i="1" dirty="0">
                <a:solidFill>
                  <a:srgbClr val="8196BC"/>
                </a:solidFill>
                <a:latin typeface="Courier New" pitchFamily="34" charset="0"/>
                <a:ea typeface="Courier New" pitchFamily="34" charset="-122"/>
                <a:cs typeface="Courier New" pitchFamily="34" charset="-120"/>
              </a:rPr>
              <a:t># Cambiar la categoría de referencia</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egresados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&lt;-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egresados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|&gt;</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mutate</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(area = </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relevel</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factor</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(area), ref = </a:t>
            </a:r>
            <a:pPr indent="0" marL="0">
              <a:lnSpc>
                <a:spcPts val="1633"/>
              </a:lnSpc>
              <a:buNone/>
            </a:pPr>
            <a:r>
              <a:rPr lang="en-US" sz="1150" dirty="0">
                <a:solidFill>
                  <a:srgbClr val="F2C97D"/>
                </a:solidFill>
                <a:latin typeface="Courier New" pitchFamily="34" charset="0"/>
                <a:ea typeface="Courier New" pitchFamily="34" charset="-122"/>
                <a:cs typeface="Courier New" pitchFamily="34" charset="-120"/>
              </a:rPr>
              <a:t>"Ingeniería"</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indent="0" marL="0">
              <a:lnSpc>
                <a:spcPts val="1633"/>
              </a:lnSpc>
              <a:buNone/>
            </a:pPr>
            <a:r>
              <a:rPr lang="en-US" sz="1150" i="1" dirty="0">
                <a:solidFill>
                  <a:srgbClr val="8196BC"/>
                </a:solidFill>
                <a:latin typeface="Courier New" pitchFamily="34" charset="0"/>
                <a:ea typeface="Courier New" pitchFamily="34" charset="-122"/>
                <a:cs typeface="Courier New" pitchFamily="34" charset="-120"/>
              </a:rPr>
              <a:t># o con forcats:  fct_relevel(area, "Ingeniería")</a:t>
            </a:r>
            <a:endParaRPr lang="en-US" sz="1150" dirty="0"/>
          </a:p>
        </p:txBody>
      </p:sp>
      <p:sp>
        <p:nvSpPr>
          <p:cNvPr id="11" name="Shape 7"/>
          <p:cNvSpPr/>
          <p:nvPr/>
        </p:nvSpPr>
        <p:spPr>
          <a:xfrm>
            <a:off x="6583680" y="1417320"/>
            <a:ext cx="5056632" cy="1097280"/>
          </a:xfrm>
          <a:prstGeom prst="roundRect">
            <a:avLst>
              <a:gd name="adj" fmla="val 5833"/>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2" name="Text 8"/>
          <p:cNvSpPr txBox="1"/>
          <p:nvPr/>
        </p:nvSpPr>
        <p:spPr>
          <a:xfrm>
            <a:off x="6812280" y="1508760"/>
            <a:ext cx="4663440" cy="32004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areaCiencias Sociales = +4,8</a:t>
            </a:r>
            <a:endParaRPr lang="en-US" sz="1450" dirty="0"/>
          </a:p>
        </p:txBody>
      </p:sp>
      <p:sp>
        <p:nvSpPr>
          <p:cNvPr id="13" name="Text 9"/>
          <p:cNvSpPr txBox="1"/>
          <p:nvPr/>
        </p:nvSpPr>
        <p:spPr>
          <a:xfrm>
            <a:off x="6812280" y="1828800"/>
            <a:ext cx="4663440" cy="640080"/>
          </a:xfrm>
          <a:prstGeom prst="rect">
            <a:avLst/>
          </a:prstGeom>
          <a:noFill/>
          <a:ln/>
        </p:spPr>
        <p:txBody>
          <a:bodyPr wrap="square" lIns="0" tIns="0" rIns="0" bIns="0" rtlCol="0" anchor="t"/>
          <a:lstStyle/>
          <a:p>
            <a:pPr indent="0" marL="0">
              <a:buNone/>
            </a:pPr>
            <a:r>
              <a:rPr lang="en-US" sz="1200" dirty="0">
                <a:solidFill>
                  <a:srgbClr val="1E2A44"/>
                </a:solidFill>
                <a:latin typeface="Calibri" pitchFamily="34" charset="0"/>
                <a:ea typeface="Calibri" pitchFamily="34" charset="-122"/>
                <a:cs typeface="Calibri" pitchFamily="34" charset="-120"/>
              </a:rPr>
              <a:t>Sociales tardan 4,8 meses más que Naturales (la referencia), manteniendo lo demás constante.</a:t>
            </a:r>
            <a:endParaRPr lang="en-US" sz="1200" dirty="0"/>
          </a:p>
        </p:txBody>
      </p:sp>
      <p:sp>
        <p:nvSpPr>
          <p:cNvPr id="14" name="Shape 10"/>
          <p:cNvSpPr/>
          <p:nvPr/>
        </p:nvSpPr>
        <p:spPr>
          <a:xfrm>
            <a:off x="6583680" y="2624328"/>
            <a:ext cx="5056632" cy="1097280"/>
          </a:xfrm>
          <a:prstGeom prst="roundRect">
            <a:avLst>
              <a:gd name="adj" fmla="val 5833"/>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5" name="Text 11"/>
          <p:cNvSpPr txBox="1"/>
          <p:nvPr/>
        </p:nvSpPr>
        <p:spPr>
          <a:xfrm>
            <a:off x="6812280" y="2715768"/>
            <a:ext cx="4663440" cy="32004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nivelMagíster = −30,0</a:t>
            </a:r>
            <a:endParaRPr lang="en-US" sz="1450" dirty="0"/>
          </a:p>
        </p:txBody>
      </p:sp>
      <p:sp>
        <p:nvSpPr>
          <p:cNvPr id="16" name="Text 12"/>
          <p:cNvSpPr txBox="1"/>
          <p:nvPr/>
        </p:nvSpPr>
        <p:spPr>
          <a:xfrm>
            <a:off x="6812280" y="3035808"/>
            <a:ext cx="4663440" cy="640080"/>
          </a:xfrm>
          <a:prstGeom prst="rect">
            <a:avLst/>
          </a:prstGeom>
          <a:noFill/>
          <a:ln/>
        </p:spPr>
        <p:txBody>
          <a:bodyPr wrap="square" lIns="0" tIns="0" rIns="0" bIns="0" rtlCol="0" anchor="t"/>
          <a:lstStyle/>
          <a:p>
            <a:pPr indent="0" marL="0">
              <a:buNone/>
            </a:pPr>
            <a:r>
              <a:rPr lang="en-US" sz="1200" dirty="0">
                <a:solidFill>
                  <a:srgbClr val="1E2A44"/>
                </a:solidFill>
                <a:latin typeface="Calibri" pitchFamily="34" charset="0"/>
                <a:ea typeface="Calibri" pitchFamily="34" charset="-122"/>
                <a:cs typeface="Calibri" pitchFamily="34" charset="-120"/>
              </a:rPr>
              <a:t>Magíster se titulan 30 meses antes que Doctorado (la referencia).</a:t>
            </a:r>
            <a:endParaRPr lang="en-US" sz="1200" dirty="0"/>
          </a:p>
        </p:txBody>
      </p:sp>
      <p:sp>
        <p:nvSpPr>
          <p:cNvPr id="17" name="Shape 13"/>
          <p:cNvSpPr/>
          <p:nvPr/>
        </p:nvSpPr>
        <p:spPr>
          <a:xfrm>
            <a:off x="6583680" y="3831336"/>
            <a:ext cx="5056632" cy="1097280"/>
          </a:xfrm>
          <a:prstGeom prst="roundRect">
            <a:avLst>
              <a:gd name="adj" fmla="val 5833"/>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Text 14"/>
          <p:cNvSpPr txBox="1"/>
          <p:nvPr/>
        </p:nvSpPr>
        <p:spPr>
          <a:xfrm>
            <a:off x="6812280" y="3922776"/>
            <a:ext cx="4663440" cy="320040"/>
          </a:xfrm>
          <a:prstGeom prst="rect">
            <a:avLst/>
          </a:prstGeom>
          <a:noFill/>
          <a:ln/>
        </p:spPr>
        <p:txBody>
          <a:bodyPr wrap="square" lIns="0" tIns="0" rIns="0" bIns="0" rtlCol="0" anchor="t"/>
          <a:lstStyle/>
          <a:p>
            <a:pPr indent="0" marL="0">
              <a:buNone/>
            </a:pPr>
            <a:r>
              <a:rPr lang="en-US" sz="1450" b="1" dirty="0">
                <a:solidFill>
                  <a:srgbClr val="B7791F"/>
                </a:solidFill>
                <a:latin typeface="Cambria" pitchFamily="34" charset="0"/>
                <a:ea typeface="Cambria" pitchFamily="34" charset="-122"/>
                <a:cs typeface="Cambria" pitchFamily="34" charset="-120"/>
              </a:rPr>
              <a:t>Cambiar la referencia</a:t>
            </a:r>
            <a:endParaRPr lang="en-US" sz="1450" dirty="0"/>
          </a:p>
        </p:txBody>
      </p:sp>
      <p:sp>
        <p:nvSpPr>
          <p:cNvPr id="19" name="Text 15"/>
          <p:cNvSpPr txBox="1"/>
          <p:nvPr/>
        </p:nvSpPr>
        <p:spPr>
          <a:xfrm>
            <a:off x="6812280" y="4242816"/>
            <a:ext cx="4663440" cy="640080"/>
          </a:xfrm>
          <a:prstGeom prst="rect">
            <a:avLst/>
          </a:prstGeom>
          <a:noFill/>
          <a:ln/>
        </p:spPr>
        <p:txBody>
          <a:bodyPr wrap="square" lIns="0" tIns="0" rIns="0" bIns="0" rtlCol="0" anchor="t"/>
          <a:lstStyle/>
          <a:p>
            <a:pPr indent="0" marL="0">
              <a:buNone/>
            </a:pPr>
            <a:r>
              <a:rPr lang="en-US" sz="1200" dirty="0">
                <a:solidFill>
                  <a:srgbClr val="1E2A44"/>
                </a:solidFill>
                <a:latin typeface="Calibri" pitchFamily="34" charset="0"/>
                <a:ea typeface="Calibri" pitchFamily="34" charset="-122"/>
                <a:cs typeface="Calibri" pitchFamily="34" charset="-120"/>
              </a:rPr>
              <a:t>No cambia el ajuste ni las predicciones: solo con quién se compara.</a:t>
            </a:r>
            <a:endParaRPr lang="en-US" sz="1200" dirty="0"/>
          </a:p>
        </p:txBody>
      </p:sp>
      <p:sp>
        <p:nvSpPr>
          <p:cNvPr id="20" name="Shape 16"/>
          <p:cNvSpPr/>
          <p:nvPr/>
        </p:nvSpPr>
        <p:spPr>
          <a:xfrm>
            <a:off x="548640" y="5349240"/>
            <a:ext cx="11091672" cy="640080"/>
          </a:xfrm>
          <a:prstGeom prst="rect">
            <a:avLst/>
          </a:prstGeom>
          <a:solidFill>
            <a:srgbClr val="E4EEF2"/>
          </a:solidFill>
          <a:ln w="12700">
            <a:solidFill>
              <a:srgbClr val="E4EEF2"/>
            </a:solidFill>
            <a:prstDash val="solid"/>
          </a:ln>
        </p:spPr>
      </p:sp>
      <p:sp>
        <p:nvSpPr>
          <p:cNvPr id="21" name="Shape 17"/>
          <p:cNvSpPr/>
          <p:nvPr/>
        </p:nvSpPr>
        <p:spPr>
          <a:xfrm>
            <a:off x="548640" y="5349240"/>
            <a:ext cx="64008" cy="640080"/>
          </a:xfrm>
          <a:prstGeom prst="rect">
            <a:avLst/>
          </a:prstGeom>
          <a:solidFill>
            <a:srgbClr val="1C7293"/>
          </a:solidFill>
          <a:ln w="12700">
            <a:solidFill>
              <a:srgbClr val="1C7293"/>
            </a:solidFill>
            <a:prstDash val="solid"/>
          </a:ln>
        </p:spPr>
      </p:sp>
      <p:sp>
        <p:nvSpPr>
          <p:cNvPr id="22" name="Text 18"/>
          <p:cNvSpPr txBox="1"/>
          <p:nvPr/>
        </p:nvSpPr>
        <p:spPr>
          <a:xfrm>
            <a:off x="749808" y="5349240"/>
            <a:ext cx="10771632" cy="640080"/>
          </a:xfrm>
          <a:prstGeom prst="rect">
            <a:avLst/>
          </a:prstGeom>
          <a:noFill/>
          <a:ln/>
        </p:spPr>
        <p:txBody>
          <a:bodyPr wrap="square" lIns="0" tIns="0" rIns="0" bIns="0" rtlCol="0" anchor="ctr"/>
          <a:lstStyle/>
          <a:p>
            <a:pPr indent="0" marL="0">
              <a:buNone/>
            </a:pPr>
            <a:r>
              <a:rPr lang="en-US" sz="1350" b="1" dirty="0">
                <a:solidFill>
                  <a:srgbClr val="1E2A44"/>
                </a:solidFill>
                <a:latin typeface="Calibri" pitchFamily="34" charset="0"/>
                <a:ea typeface="Calibri" pitchFamily="34" charset="-122"/>
                <a:cs typeface="Calibri" pitchFamily="34" charset="-120"/>
              </a:rPr>
              <a:t>Una categórica con k niveles produce k − 1 coeficientes: cada uno compara contra la referencia.</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R² vs R² ajustado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20</a:t>
            </a:r>
            <a:endParaRPr lang="en-US" sz="800" dirty="0"/>
          </a:p>
        </p:txBody>
      </p:sp>
      <p:sp>
        <p:nvSpPr>
          <p:cNvPr id="7" name="Shape 4"/>
          <p:cNvSpPr/>
          <p:nvPr/>
        </p:nvSpPr>
        <p:spPr>
          <a:xfrm>
            <a:off x="548640" y="1399032"/>
            <a:ext cx="6163056" cy="3749040"/>
          </a:xfrm>
          <a:prstGeom prst="roundRect">
            <a:avLst>
              <a:gd name="adj" fmla="val 122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10_r2aj.png">    </p:cNvPr>
          <p:cNvPicPr>
            <a:picLocks noChangeAspect="1"/>
          </p:cNvPicPr>
          <p:nvPr/>
        </p:nvPicPr>
        <p:blipFill>
          <a:blip r:embed="rId1"/>
          <a:stretch>
            <a:fillRect/>
          </a:stretch>
        </p:blipFill>
        <p:spPr>
          <a:xfrm>
            <a:off x="612648" y="1463040"/>
            <a:ext cx="6035040" cy="3621024"/>
          </a:xfrm>
          <a:prstGeom prst="rect">
            <a:avLst/>
          </a:prstGeom>
        </p:spPr>
      </p:pic>
      <p:sp>
        <p:nvSpPr>
          <p:cNvPr id="9" name="Shape 5"/>
          <p:cNvSpPr/>
          <p:nvPr/>
        </p:nvSpPr>
        <p:spPr>
          <a:xfrm>
            <a:off x="8092440" y="1399032"/>
            <a:ext cx="3547872" cy="1600200"/>
          </a:xfrm>
          <a:prstGeom prst="roundRect">
            <a:avLst>
              <a:gd name="adj" fmla="val 400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0" name="Text 6"/>
          <p:cNvSpPr txBox="1"/>
          <p:nvPr/>
        </p:nvSpPr>
        <p:spPr>
          <a:xfrm>
            <a:off x="8321040" y="1554480"/>
            <a:ext cx="310896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R²</a:t>
            </a:r>
            <a:endParaRPr lang="en-US" sz="900" dirty="0"/>
          </a:p>
        </p:txBody>
      </p:sp>
      <p:sp>
        <p:nvSpPr>
          <p:cNvPr id="11" name="Text 7"/>
          <p:cNvSpPr txBox="1"/>
          <p:nvPr/>
        </p:nvSpPr>
        <p:spPr>
          <a:xfrm>
            <a:off x="8321040" y="1874520"/>
            <a:ext cx="320040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Nunca baja al agregar variables, aunque sean basura.</a:t>
            </a:r>
            <a:endParaRPr lang="en-US" sz="1300" dirty="0"/>
          </a:p>
        </p:txBody>
      </p:sp>
      <p:sp>
        <p:nvSpPr>
          <p:cNvPr id="12" name="Shape 8"/>
          <p:cNvSpPr/>
          <p:nvPr/>
        </p:nvSpPr>
        <p:spPr>
          <a:xfrm>
            <a:off x="8092440" y="3200400"/>
            <a:ext cx="3547872" cy="1600200"/>
          </a:xfrm>
          <a:prstGeom prst="roundRect">
            <a:avLst>
              <a:gd name="adj" fmla="val 4000"/>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8321040" y="3355848"/>
            <a:ext cx="3108960" cy="228600"/>
          </a:xfrm>
          <a:prstGeom prst="rect">
            <a:avLst/>
          </a:prstGeom>
          <a:noFill/>
          <a:ln/>
        </p:spPr>
        <p:txBody>
          <a:bodyPr wrap="square" lIns="0" tIns="0" rIns="0" bIns="0" rtlCol="0" anchor="ctr"/>
          <a:lstStyle/>
          <a:p>
            <a:pPr indent="0" marL="0">
              <a:buNone/>
            </a:pPr>
            <a:r>
              <a:rPr lang="en-US" sz="900" b="1" spc="200" kern="0" dirty="0">
                <a:solidFill>
                  <a:srgbClr val="B7791F"/>
                </a:solidFill>
                <a:latin typeface="Calibri" pitchFamily="34" charset="0"/>
                <a:ea typeface="Calibri" pitchFamily="34" charset="-122"/>
                <a:cs typeface="Calibri" pitchFamily="34" charset="-120"/>
              </a:rPr>
              <a:t>R² AJUSTADO</a:t>
            </a:r>
            <a:endParaRPr lang="en-US" sz="900" dirty="0"/>
          </a:p>
        </p:txBody>
      </p:sp>
      <p:sp>
        <p:nvSpPr>
          <p:cNvPr id="14" name="Text 10"/>
          <p:cNvSpPr txBox="1"/>
          <p:nvPr/>
        </p:nvSpPr>
        <p:spPr>
          <a:xfrm>
            <a:off x="8321040" y="3675888"/>
            <a:ext cx="320040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Penaliza cada variable: solo sube si aporta más que el azar.</a:t>
            </a:r>
            <a:endParaRPr lang="en-US" sz="1300" dirty="0"/>
          </a:p>
        </p:txBody>
      </p:sp>
      <p:sp>
        <p:nvSpPr>
          <p:cNvPr id="15" name="Shape 11"/>
          <p:cNvSpPr/>
          <p:nvPr/>
        </p:nvSpPr>
        <p:spPr>
          <a:xfrm>
            <a:off x="548640" y="5349240"/>
            <a:ext cx="7040880" cy="743712"/>
          </a:xfrm>
          <a:prstGeom prst="roundRect">
            <a:avLst>
              <a:gd name="adj" fmla="val 7377"/>
            </a:avLst>
          </a:prstGeom>
          <a:solidFill>
            <a:srgbClr val="162044"/>
          </a:solidFill>
          <a:ln w="12700">
            <a:solidFill>
              <a:srgbClr val="162044"/>
            </a:solidFill>
            <a:prstDash val="solid"/>
          </a:ln>
        </p:spPr>
      </p:sp>
      <p:sp>
        <p:nvSpPr>
          <p:cNvPr id="16" name="Text 12"/>
          <p:cNvSpPr txBox="1"/>
          <p:nvPr/>
        </p:nvSpPr>
        <p:spPr>
          <a:xfrm>
            <a:off x="731520" y="5477256"/>
            <a:ext cx="6675120" cy="432816"/>
          </a:xfrm>
          <a:prstGeom prst="rect">
            <a:avLst/>
          </a:prstGeom>
          <a:noFill/>
          <a:ln/>
        </p:spPr>
        <p:txBody>
          <a:bodyPr wrap="square" lIns="0" tIns="0" rIns="0" bIns="0" rtlCol="0" anchor="t"/>
          <a:lstStyle/>
          <a:p>
            <a:pPr indent="0" marL="0">
              <a:lnSpc>
                <a:spcPts val="1704"/>
              </a:lnSpc>
              <a:buNone/>
            </a:pPr>
            <a:r>
              <a:rPr lang="en-US" sz="1200" dirty="0">
                <a:solidFill>
                  <a:srgbClr val="7DD3FC"/>
                </a:solidFill>
                <a:latin typeface="Courier New" pitchFamily="34" charset="0"/>
                <a:ea typeface="Courier New" pitchFamily="34" charset="-122"/>
                <a:cs typeface="Courier New" pitchFamily="34" charset="-120"/>
              </a:rPr>
              <a:t>glance</a:t>
            </a:r>
            <a:pPr indent="0" marL="0">
              <a:lnSpc>
                <a:spcPts val="1704"/>
              </a:lnSpc>
              <a:buNone/>
            </a:pPr>
            <a:r>
              <a:rPr lang="en-US" sz="1200" dirty="0">
                <a:solidFill>
                  <a:srgbClr val="E6EDF7"/>
                </a:solidFill>
                <a:latin typeface="Courier New" pitchFamily="34" charset="0"/>
                <a:ea typeface="Courier New" pitchFamily="34" charset="-122"/>
                <a:cs typeface="Courier New" pitchFamily="34" charset="-120"/>
              </a:rPr>
              <a:t>(m3)$r.squared      </a:t>
            </a:r>
            <a:pPr indent="0" marL="0">
              <a:lnSpc>
                <a:spcPts val="1704"/>
              </a:lnSpc>
              <a:buNone/>
            </a:pPr>
            <a:r>
              <a:rPr lang="en-US" sz="1200" i="1" dirty="0">
                <a:solidFill>
                  <a:srgbClr val="8196BC"/>
                </a:solidFill>
                <a:latin typeface="Courier New" pitchFamily="34" charset="0"/>
                <a:ea typeface="Courier New" pitchFamily="34" charset="-122"/>
                <a:cs typeface="Courier New" pitchFamily="34" charset="-120"/>
              </a:rPr>
              <a:t># 0.799</a:t>
            </a:r>
            <a:endParaRPr lang="en-US" sz="1200" dirty="0"/>
          </a:p>
          <a:p>
            <a:pPr indent="0" marL="0">
              <a:lnSpc>
                <a:spcPts val="1704"/>
              </a:lnSpc>
              <a:buNone/>
            </a:pPr>
            <a:r>
              <a:rPr lang="en-US" sz="1200" dirty="0">
                <a:solidFill>
                  <a:srgbClr val="7DD3FC"/>
                </a:solidFill>
                <a:latin typeface="Courier New" pitchFamily="34" charset="0"/>
                <a:ea typeface="Courier New" pitchFamily="34" charset="-122"/>
                <a:cs typeface="Courier New" pitchFamily="34" charset="-120"/>
              </a:rPr>
              <a:t>glance</a:t>
            </a:r>
            <a:pPr indent="0" marL="0">
              <a:lnSpc>
                <a:spcPts val="1704"/>
              </a:lnSpc>
              <a:buNone/>
            </a:pPr>
            <a:r>
              <a:rPr lang="en-US" sz="1200" dirty="0">
                <a:solidFill>
                  <a:srgbClr val="E6EDF7"/>
                </a:solidFill>
                <a:latin typeface="Courier New" pitchFamily="34" charset="0"/>
                <a:ea typeface="Courier New" pitchFamily="34" charset="-122"/>
                <a:cs typeface="Courier New" pitchFamily="34" charset="-120"/>
              </a:rPr>
              <a:t>(m3)$adj.r.squared  </a:t>
            </a:r>
            <a:pPr indent="0" marL="0">
              <a:lnSpc>
                <a:spcPts val="1704"/>
              </a:lnSpc>
              <a:buNone/>
            </a:pPr>
            <a:r>
              <a:rPr lang="en-US" sz="1200" i="1" dirty="0">
                <a:solidFill>
                  <a:srgbClr val="8196BC"/>
                </a:solidFill>
                <a:latin typeface="Courier New" pitchFamily="34" charset="0"/>
                <a:ea typeface="Courier New" pitchFamily="34" charset="-122"/>
                <a:cs typeface="Courier New" pitchFamily="34" charset="-120"/>
              </a:rPr>
              <a:t># 0.791</a:t>
            </a:r>
            <a:endParaRPr lang="en-US" sz="1200" dirty="0"/>
          </a:p>
        </p:txBody>
      </p:sp>
      <p:sp>
        <p:nvSpPr>
          <p:cNvPr id="17" name="Text 13"/>
          <p:cNvSpPr txBox="1"/>
          <p:nvPr/>
        </p:nvSpPr>
        <p:spPr>
          <a:xfrm>
            <a:off x="8092440" y="5074920"/>
            <a:ext cx="3566160" cy="731520"/>
          </a:xfrm>
          <a:prstGeom prst="rect">
            <a:avLst/>
          </a:prstGeom>
          <a:noFill/>
          <a:ln/>
        </p:spPr>
        <p:txBody>
          <a:bodyPr wrap="square" lIns="0" tIns="0" rIns="0" bIns="0" rtlCol="0" anchor="t"/>
          <a:lstStyle/>
          <a:p>
            <a:pPr indent="0" marL="0">
              <a:buNone/>
            </a:pPr>
            <a:r>
              <a:rPr lang="en-US" sz="1250" b="1" dirty="0">
                <a:solidFill>
                  <a:srgbClr val="21295C"/>
                </a:solidFill>
                <a:latin typeface="Calibri" pitchFamily="34" charset="0"/>
                <a:ea typeface="Calibri" pitchFamily="34" charset="-122"/>
                <a:cs typeface="Calibri" pitchFamily="34" charset="-120"/>
              </a:rPr>
              <a:t>Para comparar modelos con distinto número de predictores, usa el ajustado.</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 · OPCIONAL</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Comparar modelos anidados con anova()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21</a:t>
            </a:r>
            <a:endParaRPr lang="en-US" sz="800" dirty="0"/>
          </a:p>
        </p:txBody>
      </p:sp>
      <p:sp>
        <p:nvSpPr>
          <p:cNvPr id="7" name="Shape 4"/>
          <p:cNvSpPr/>
          <p:nvPr/>
        </p:nvSpPr>
        <p:spPr>
          <a:xfrm>
            <a:off x="548640" y="1417320"/>
            <a:ext cx="7680960" cy="2592197"/>
          </a:xfrm>
          <a:prstGeom prst="roundRect">
            <a:avLst>
              <a:gd name="adj" fmla="val 2117"/>
            </a:avLst>
          </a:prstGeom>
          <a:solidFill>
            <a:srgbClr val="162044"/>
          </a:solidFill>
          <a:ln w="12700">
            <a:solidFill>
              <a:srgbClr val="162044"/>
            </a:solidFill>
            <a:prstDash val="solid"/>
          </a:ln>
        </p:spPr>
      </p:sp>
      <p:sp>
        <p:nvSpPr>
          <p:cNvPr id="8" name="Shape 5"/>
          <p:cNvSpPr/>
          <p:nvPr/>
        </p:nvSpPr>
        <p:spPr>
          <a:xfrm>
            <a:off x="621792" y="3619246"/>
            <a:ext cx="7534656" cy="207391"/>
          </a:xfrm>
          <a:prstGeom prst="rect">
            <a:avLst/>
          </a:prstGeom>
          <a:solidFill>
            <a:srgbClr val="D69E2E">
              <a:alpha val="28000"/>
            </a:srgbClr>
          </a:solidFill>
          <a:ln w="12700">
            <a:solidFill>
              <a:srgbClr val="D69E2E">
                <a:alpha val="0"/>
              </a:srgbClr>
            </a:solidFill>
            <a:prstDash val="solid"/>
          </a:ln>
        </p:spPr>
      </p:sp>
      <p:sp>
        <p:nvSpPr>
          <p:cNvPr id="9" name="Text 6"/>
          <p:cNvSpPr txBox="1"/>
          <p:nvPr/>
        </p:nvSpPr>
        <p:spPr>
          <a:xfrm>
            <a:off x="731520" y="1545336"/>
            <a:ext cx="7315200" cy="2281301"/>
          </a:xfrm>
          <a:prstGeom prst="rect">
            <a:avLst/>
          </a:prstGeom>
          <a:noFill/>
          <a:ln/>
        </p:spPr>
        <p:txBody>
          <a:bodyPr wrap="square" lIns="0" tIns="0" rIns="0" bIns="0" rtlCol="0" anchor="t"/>
          <a:lstStyle/>
          <a:p>
            <a:pPr indent="0" marL="0">
              <a:lnSpc>
                <a:spcPts val="1633"/>
              </a:lnSpc>
              <a:buNone/>
            </a:pPr>
            <a:r>
              <a:rPr lang="en-US" sz="1150" i="1" dirty="0">
                <a:solidFill>
                  <a:srgbClr val="8196BC"/>
                </a:solidFill>
                <a:latin typeface="Courier New" pitchFamily="34" charset="0"/>
                <a:ea typeface="Courier New" pitchFamily="34" charset="-122"/>
                <a:cs typeface="Courier New" pitchFamily="34" charset="-120"/>
              </a:rPr>
              <a:t># Mismas filas en ambos modelos</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dd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&lt;-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egresados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|&gt;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drop_na</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ma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&lt;-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lm</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(meses_titulacion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horas_investigacion_sem + nivel, data = dd)</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mb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&lt;-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lm</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(meses_titulacion </a:t>
            </a:r>
            <a:pPr indent="0" marL="0">
              <a:lnSpc>
                <a:spcPts val="1633"/>
              </a:lnSpc>
              <a:buNone/>
            </a:pPr>
            <a:r>
              <a:rPr lang="en-US" sz="1150" dirty="0">
                <a:solidFill>
                  <a:srgbClr val="A5D8FF"/>
                </a:solidFill>
                <a:latin typeface="Courier New" pitchFamily="34" charset="0"/>
                <a:ea typeface="Courier New" pitchFamily="34" charset="-122"/>
                <a:cs typeface="Courier New" pitchFamily="34" charset="-120"/>
              </a:rPr>
              <a:t>~</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horas_investigacion_sem + nivel +</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sat_supervision + beca + area + edad_ingreso, data = dd)</a:t>
            </a:r>
            <a:endParaRPr lang="en-US" sz="1150" dirty="0"/>
          </a:p>
          <a:p>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indent="0" marL="0">
              <a:lnSpc>
                <a:spcPts val="1633"/>
              </a:lnSpc>
              <a:buNone/>
            </a:pPr>
            <a:r>
              <a:rPr lang="en-US" sz="1150" dirty="0">
                <a:solidFill>
                  <a:srgbClr val="7DD3FC"/>
                </a:solidFill>
                <a:latin typeface="Courier New" pitchFamily="34" charset="0"/>
                <a:ea typeface="Courier New" pitchFamily="34" charset="-122"/>
                <a:cs typeface="Courier New" pitchFamily="34" charset="-120"/>
              </a:rPr>
              <a:t>anova</a:t>
            </a:r>
            <a:pPr indent="0" marL="0">
              <a:lnSpc>
                <a:spcPts val="1633"/>
              </a:lnSpc>
              <a:buNone/>
            </a:pPr>
            <a:r>
              <a:rPr lang="en-US" sz="1150" dirty="0">
                <a:solidFill>
                  <a:srgbClr val="E6EDF7"/>
                </a:solidFill>
                <a:latin typeface="Courier New" pitchFamily="34" charset="0"/>
                <a:ea typeface="Courier New" pitchFamily="34" charset="-122"/>
                <a:cs typeface="Courier New" pitchFamily="34" charset="-120"/>
              </a:rPr>
              <a:t>(ma, mb)</a:t>
            </a:r>
            <a:endParaRPr lang="en-US" sz="1150" dirty="0"/>
          </a:p>
          <a:p>
            <a:pPr indent="0" marL="0">
              <a:lnSpc>
                <a:spcPts val="1633"/>
              </a:lnSpc>
              <a:buNone/>
            </a:pPr>
            <a:r>
              <a:rPr lang="en-US" sz="1150" dirty="0">
                <a:solidFill>
                  <a:srgbClr val="8FD5B0"/>
                </a:solidFill>
                <a:latin typeface="Courier New" pitchFamily="34" charset="0"/>
                <a:ea typeface="Courier New" pitchFamily="34" charset="-122"/>
                <a:cs typeface="Courier New" pitchFamily="34" charset="-120"/>
              </a:rPr>
              <a:t>#&gt;   Res.Df    RSS Df Sum of Sq      F    Pr(&gt;F)</a:t>
            </a:r>
            <a:endParaRPr lang="en-US" sz="1150" dirty="0"/>
          </a:p>
          <a:p>
            <a:pPr indent="0" marL="0">
              <a:lnSpc>
                <a:spcPts val="1633"/>
              </a:lnSpc>
              <a:buNone/>
            </a:pPr>
            <a:r>
              <a:rPr lang="en-US" sz="1150" dirty="0">
                <a:solidFill>
                  <a:srgbClr val="8FD5B0"/>
                </a:solidFill>
                <a:latin typeface="Courier New" pitchFamily="34" charset="0"/>
                <a:ea typeface="Courier New" pitchFamily="34" charset="-122"/>
                <a:cs typeface="Courier New" pitchFamily="34" charset="-120"/>
              </a:rPr>
              <a:t>#&gt; 1    191 9564.2</a:t>
            </a:r>
            <a:endParaRPr lang="en-US" sz="1150" dirty="0"/>
          </a:p>
          <a:p>
            <a:pPr indent="0" marL="0">
              <a:lnSpc>
                <a:spcPts val="1633"/>
              </a:lnSpc>
              <a:buNone/>
            </a:pPr>
            <a:r>
              <a:rPr lang="en-US" sz="1150" dirty="0">
                <a:solidFill>
                  <a:srgbClr val="8FD5B0"/>
                </a:solidFill>
                <a:latin typeface="Courier New" pitchFamily="34" charset="0"/>
                <a:ea typeface="Courier New" pitchFamily="34" charset="-122"/>
                <a:cs typeface="Courier New" pitchFamily="34" charset="-120"/>
              </a:rPr>
              <a:t>#&gt; 2    186 7258.4  5    2305.8 11.818 6.173e-10 ***</a:t>
            </a:r>
            <a:endParaRPr lang="en-US" sz="1150" dirty="0"/>
          </a:p>
        </p:txBody>
      </p:sp>
      <p:sp>
        <p:nvSpPr>
          <p:cNvPr id="10" name="Shape 7"/>
          <p:cNvSpPr/>
          <p:nvPr/>
        </p:nvSpPr>
        <p:spPr>
          <a:xfrm>
            <a:off x="8549640" y="1417320"/>
            <a:ext cx="3090672" cy="2286000"/>
          </a:xfrm>
          <a:prstGeom prst="roundRect">
            <a:avLst>
              <a:gd name="adj" fmla="val 280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1" name="Text 8"/>
          <p:cNvSpPr txBox="1"/>
          <p:nvPr/>
        </p:nvSpPr>
        <p:spPr>
          <a:xfrm>
            <a:off x="8778240" y="1554480"/>
            <a:ext cx="2743200" cy="27432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Qué responde</a:t>
            </a:r>
            <a:endParaRPr lang="en-US" sz="1450" dirty="0"/>
          </a:p>
        </p:txBody>
      </p:sp>
      <p:sp>
        <p:nvSpPr>
          <p:cNvPr id="12" name="Text 9"/>
          <p:cNvSpPr txBox="1"/>
          <p:nvPr/>
        </p:nvSpPr>
        <p:spPr>
          <a:xfrm>
            <a:off x="8778240" y="1920240"/>
            <a:ext cx="2743200" cy="164592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¿Las variables adicionales, en conjunto, mejoran el ajuste más de lo que daría el azar?</a:t>
            </a:r>
            <a:endParaRPr lang="en-US" sz="1250" dirty="0"/>
          </a:p>
        </p:txBody>
      </p:sp>
      <p:sp>
        <p:nvSpPr>
          <p:cNvPr id="13" name="Shape 10"/>
          <p:cNvSpPr/>
          <p:nvPr/>
        </p:nvSpPr>
        <p:spPr>
          <a:xfrm>
            <a:off x="8549640" y="3886200"/>
            <a:ext cx="3090672" cy="1463040"/>
          </a:xfrm>
          <a:prstGeom prst="roundRect">
            <a:avLst>
              <a:gd name="adj" fmla="val 4375"/>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4" name="Text 11"/>
          <p:cNvSpPr txBox="1"/>
          <p:nvPr/>
        </p:nvSpPr>
        <p:spPr>
          <a:xfrm>
            <a:off x="8778240" y="4023360"/>
            <a:ext cx="2743200" cy="274320"/>
          </a:xfrm>
          <a:prstGeom prst="rect">
            <a:avLst/>
          </a:prstGeom>
          <a:noFill/>
          <a:ln/>
        </p:spPr>
        <p:txBody>
          <a:bodyPr wrap="square" lIns="0" tIns="0" rIns="0" bIns="0" rtlCol="0" anchor="t"/>
          <a:lstStyle/>
          <a:p>
            <a:pPr indent="0" marL="0">
              <a:buNone/>
            </a:pPr>
            <a:r>
              <a:rPr lang="en-US" sz="1450" b="1" dirty="0">
                <a:solidFill>
                  <a:srgbClr val="B7791F"/>
                </a:solidFill>
                <a:latin typeface="Cambria" pitchFamily="34" charset="0"/>
                <a:ea typeface="Cambria" pitchFamily="34" charset="-122"/>
                <a:cs typeface="Cambria" pitchFamily="34" charset="-120"/>
              </a:rPr>
              <a:t>Condición</a:t>
            </a:r>
            <a:endParaRPr lang="en-US" sz="1450" dirty="0"/>
          </a:p>
        </p:txBody>
      </p:sp>
      <p:sp>
        <p:nvSpPr>
          <p:cNvPr id="15" name="Text 12"/>
          <p:cNvSpPr txBox="1"/>
          <p:nvPr/>
        </p:nvSpPr>
        <p:spPr>
          <a:xfrm>
            <a:off x="8778240" y="4389120"/>
            <a:ext cx="2743200" cy="91440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Mismas filas en ambos modelos (si hay NA, filtra antes).</a:t>
            </a:r>
            <a:endParaRPr lang="en-US" sz="1250" dirty="0"/>
          </a:p>
        </p:txBody>
      </p:sp>
      <p:sp>
        <p:nvSpPr>
          <p:cNvPr id="16" name="Shape 13"/>
          <p:cNvSpPr/>
          <p:nvPr/>
        </p:nvSpPr>
        <p:spPr>
          <a:xfrm>
            <a:off x="548640" y="4983480"/>
            <a:ext cx="7680960" cy="777240"/>
          </a:xfrm>
          <a:prstGeom prst="rect">
            <a:avLst/>
          </a:prstGeom>
          <a:solidFill>
            <a:srgbClr val="E4EEF2"/>
          </a:solidFill>
          <a:ln w="12700">
            <a:solidFill>
              <a:srgbClr val="E4EEF2"/>
            </a:solidFill>
            <a:prstDash val="solid"/>
          </a:ln>
        </p:spPr>
      </p:sp>
      <p:sp>
        <p:nvSpPr>
          <p:cNvPr id="17" name="Shape 14"/>
          <p:cNvSpPr/>
          <p:nvPr/>
        </p:nvSpPr>
        <p:spPr>
          <a:xfrm>
            <a:off x="548640" y="4983480"/>
            <a:ext cx="64008" cy="777240"/>
          </a:xfrm>
          <a:prstGeom prst="rect">
            <a:avLst/>
          </a:prstGeom>
          <a:solidFill>
            <a:srgbClr val="1C7293"/>
          </a:solidFill>
          <a:ln w="12700">
            <a:solidFill>
              <a:srgbClr val="1C7293"/>
            </a:solidFill>
            <a:prstDash val="solid"/>
          </a:ln>
        </p:spPr>
      </p:sp>
      <p:sp>
        <p:nvSpPr>
          <p:cNvPr id="18" name="Text 15"/>
          <p:cNvSpPr txBox="1"/>
          <p:nvPr/>
        </p:nvSpPr>
        <p:spPr>
          <a:xfrm>
            <a:off x="749808" y="4983480"/>
            <a:ext cx="7360920" cy="777240"/>
          </a:xfrm>
          <a:prstGeom prst="rect">
            <a:avLst/>
          </a:prstGeom>
          <a:noFill/>
          <a:ln/>
        </p:spPr>
        <p:txBody>
          <a:bodyPr wrap="square" lIns="0" tIns="0" rIns="0" bIns="0" rtlCol="0" anchor="ctr"/>
          <a:lstStyle/>
          <a:p>
            <a:pPr indent="0" marL="0">
              <a:buNone/>
            </a:pPr>
            <a:r>
              <a:rPr lang="en-US" sz="1350" b="1" dirty="0">
                <a:solidFill>
                  <a:srgbClr val="1E2A44"/>
                </a:solidFill>
                <a:latin typeface="Calibri" pitchFamily="34" charset="0"/>
                <a:ea typeface="Calibri" pitchFamily="34" charset="-122"/>
                <a:cs typeface="Calibri" pitchFamily="34" charset="-120"/>
              </a:rPr>
              <a:t>Aquí p &lt; 0,001: el modelo completo mejora al simple.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 · OPCIONAL</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Interacciones: cuando el efecto depende de otra variable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22</a:t>
            </a:r>
            <a:endParaRPr lang="en-US" sz="800" dirty="0"/>
          </a:p>
        </p:txBody>
      </p:sp>
      <p:sp>
        <p:nvSpPr>
          <p:cNvPr id="7" name="Shape 4"/>
          <p:cNvSpPr/>
          <p:nvPr/>
        </p:nvSpPr>
        <p:spPr>
          <a:xfrm>
            <a:off x="548640" y="1399032"/>
            <a:ext cx="6163056" cy="3749040"/>
          </a:xfrm>
          <a:prstGeom prst="roundRect">
            <a:avLst>
              <a:gd name="adj" fmla="val 122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11_inter.png">    </p:cNvPr>
          <p:cNvPicPr>
            <a:picLocks noChangeAspect="1"/>
          </p:cNvPicPr>
          <p:nvPr/>
        </p:nvPicPr>
        <p:blipFill>
          <a:blip r:embed="rId1"/>
          <a:stretch>
            <a:fillRect/>
          </a:stretch>
        </p:blipFill>
        <p:spPr>
          <a:xfrm>
            <a:off x="612648" y="1463040"/>
            <a:ext cx="6035040" cy="3621024"/>
          </a:xfrm>
          <a:prstGeom prst="rect">
            <a:avLst/>
          </a:prstGeom>
        </p:spPr>
      </p:pic>
      <p:sp>
        <p:nvSpPr>
          <p:cNvPr id="9" name="Shape 5"/>
          <p:cNvSpPr/>
          <p:nvPr/>
        </p:nvSpPr>
        <p:spPr>
          <a:xfrm>
            <a:off x="7680960" y="1417320"/>
            <a:ext cx="3959352" cy="1510157"/>
          </a:xfrm>
          <a:prstGeom prst="roundRect">
            <a:avLst>
              <a:gd name="adj" fmla="val 3633"/>
            </a:avLst>
          </a:prstGeom>
          <a:solidFill>
            <a:srgbClr val="162044"/>
          </a:solidFill>
          <a:ln w="12700">
            <a:solidFill>
              <a:srgbClr val="162044"/>
            </a:solidFill>
            <a:prstDash val="solid"/>
          </a:ln>
        </p:spPr>
      </p:sp>
      <p:sp>
        <p:nvSpPr>
          <p:cNvPr id="10" name="Shape 6"/>
          <p:cNvSpPr/>
          <p:nvPr/>
        </p:nvSpPr>
        <p:spPr>
          <a:xfrm>
            <a:off x="7754112" y="2573274"/>
            <a:ext cx="3813048" cy="171323"/>
          </a:xfrm>
          <a:prstGeom prst="rect">
            <a:avLst/>
          </a:prstGeom>
          <a:solidFill>
            <a:srgbClr val="D69E2E">
              <a:alpha val="28000"/>
            </a:srgbClr>
          </a:solidFill>
          <a:ln w="12700">
            <a:solidFill>
              <a:srgbClr val="D69E2E">
                <a:alpha val="0"/>
              </a:srgbClr>
            </a:solidFill>
            <a:prstDash val="solid"/>
          </a:ln>
        </p:spPr>
      </p:sp>
      <p:sp>
        <p:nvSpPr>
          <p:cNvPr id="11" name="Text 7"/>
          <p:cNvSpPr txBox="1"/>
          <p:nvPr/>
        </p:nvSpPr>
        <p:spPr>
          <a:xfrm>
            <a:off x="7863840" y="1545336"/>
            <a:ext cx="3593592" cy="1199261"/>
          </a:xfrm>
          <a:prstGeom prst="rect">
            <a:avLst/>
          </a:prstGeom>
          <a:noFill/>
          <a:ln/>
        </p:spPr>
        <p:txBody>
          <a:bodyPr wrap="square" lIns="0" tIns="0" rIns="0" bIns="0" rtlCol="0" anchor="t"/>
          <a:lstStyle/>
          <a:p>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lm</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(meses_titulacion </a:t>
            </a:r>
            <a:pPr indent="0" marL="0">
              <a:lnSpc>
                <a:spcPts val="1349"/>
              </a:lnSpc>
              <a:buNone/>
            </a:pPr>
            <a:r>
              <a:rPr lang="en-US" sz="950" dirty="0">
                <a:solidFill>
                  <a:srgbClr val="A5D8FF"/>
                </a:solidFill>
                <a:latin typeface="Courier New" pitchFamily="34" charset="0"/>
                <a:ea typeface="Courier New" pitchFamily="34" charset="-122"/>
                <a:cs typeface="Courier New" pitchFamily="34" charset="-120"/>
              </a:rPr>
              <a:t>~</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horas_investigacion_sem * nivel,</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data = egresados)</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endParaRPr lang="en-US" sz="950" dirty="0"/>
          </a:p>
          <a:p>
            <a:pPr indent="0" marL="0">
              <a:lnSpc>
                <a:spcPts val="1349"/>
              </a:lnSpc>
              <a:buNone/>
            </a:pPr>
            <a:r>
              <a:rPr lang="en-US" sz="950" dirty="0">
                <a:solidFill>
                  <a:srgbClr val="8FD5B0"/>
                </a:solidFill>
                <a:latin typeface="Courier New" pitchFamily="34" charset="0"/>
                <a:ea typeface="Courier New" pitchFamily="34" charset="-122"/>
                <a:cs typeface="Courier New" pitchFamily="34" charset="-120"/>
              </a:rPr>
              <a:t>#&gt; horas_investigacion_sem               -0.820</a:t>
            </a:r>
            <a:endParaRPr lang="en-US" sz="950" dirty="0"/>
          </a:p>
          <a:p>
            <a:pPr indent="0" marL="0">
              <a:lnSpc>
                <a:spcPts val="1349"/>
              </a:lnSpc>
              <a:buNone/>
            </a:pPr>
            <a:r>
              <a:rPr lang="en-US" sz="950" dirty="0">
                <a:solidFill>
                  <a:srgbClr val="8FD5B0"/>
                </a:solidFill>
                <a:latin typeface="Courier New" pitchFamily="34" charset="0"/>
                <a:ea typeface="Courier New" pitchFamily="34" charset="-122"/>
                <a:cs typeface="Courier New" pitchFamily="34" charset="-120"/>
              </a:rPr>
              <a:t>#&gt; nivelMagíster                        -43.753</a:t>
            </a:r>
            <a:endParaRPr lang="en-US" sz="950" dirty="0"/>
          </a:p>
          <a:p>
            <a:pPr indent="0" marL="0">
              <a:lnSpc>
                <a:spcPts val="1349"/>
              </a:lnSpc>
              <a:buNone/>
            </a:pPr>
            <a:r>
              <a:rPr lang="en-US" sz="950" dirty="0">
                <a:solidFill>
                  <a:srgbClr val="8FD5B0"/>
                </a:solidFill>
                <a:latin typeface="Courier New" pitchFamily="34" charset="0"/>
                <a:ea typeface="Courier New" pitchFamily="34" charset="-122"/>
                <a:cs typeface="Courier New" pitchFamily="34" charset="-120"/>
              </a:rPr>
              <a:t>#&gt; horas_investigacion_sem:nivelMagíster  0.605</a:t>
            </a:r>
            <a:endParaRPr lang="en-US" sz="950" dirty="0"/>
          </a:p>
        </p:txBody>
      </p:sp>
      <p:sp>
        <p:nvSpPr>
          <p:cNvPr id="12" name="Shape 8"/>
          <p:cNvSpPr/>
          <p:nvPr/>
        </p:nvSpPr>
        <p:spPr>
          <a:xfrm>
            <a:off x="7680960" y="3383280"/>
            <a:ext cx="3959352" cy="1600200"/>
          </a:xfrm>
          <a:prstGeom prst="roundRect">
            <a:avLst>
              <a:gd name="adj" fmla="val 400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7909560" y="3493008"/>
            <a:ext cx="3566160" cy="274320"/>
          </a:xfrm>
          <a:prstGeom prst="rect">
            <a:avLst/>
          </a:prstGeom>
          <a:noFill/>
          <a:ln/>
        </p:spPr>
        <p:txBody>
          <a:bodyPr wrap="square" lIns="0" tIns="0" rIns="0" bIns="0" rtlCol="0" anchor="t"/>
          <a:lstStyle/>
          <a:p>
            <a:pPr indent="0" marL="0">
              <a:buNone/>
            </a:pPr>
            <a:r>
              <a:rPr lang="en-US" sz="1400" b="1" dirty="0">
                <a:solidFill>
                  <a:srgbClr val="21295C"/>
                </a:solidFill>
                <a:latin typeface="Cambria" pitchFamily="34" charset="0"/>
                <a:ea typeface="Cambria" pitchFamily="34" charset="-122"/>
                <a:cs typeface="Cambria" pitchFamily="34" charset="-120"/>
              </a:rPr>
              <a:t>Pendiente de las horas</a:t>
            </a:r>
            <a:endParaRPr lang="en-US" sz="1400" dirty="0"/>
          </a:p>
        </p:txBody>
      </p:sp>
      <p:sp>
        <p:nvSpPr>
          <p:cNvPr id="14" name="Text 10"/>
          <p:cNvSpPr txBox="1"/>
          <p:nvPr/>
        </p:nvSpPr>
        <p:spPr>
          <a:xfrm>
            <a:off x="7909560" y="3840480"/>
            <a:ext cx="3566160" cy="91440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Doctorado: −0,82</a:t>
            </a:r>
            <a:endParaRPr lang="en-US" sz="1300" dirty="0"/>
          </a:p>
          <a:p>
            <a:pPr indent="0" marL="0">
              <a:buNone/>
            </a:pPr>
            <a:r>
              <a:rPr lang="en-US" sz="1300" dirty="0">
                <a:solidFill>
                  <a:srgbClr val="1E2A44"/>
                </a:solidFill>
                <a:latin typeface="Calibri" pitchFamily="34" charset="0"/>
                <a:ea typeface="Calibri" pitchFamily="34" charset="-122"/>
                <a:cs typeface="Calibri" pitchFamily="34" charset="-120"/>
              </a:rPr>
              <a:t>Magíster: −0,82 + 0,61 ≈ −0,22</a:t>
            </a:r>
            <a:endParaRPr lang="en-US" sz="1300" dirty="0"/>
          </a:p>
        </p:txBody>
      </p:sp>
      <p:sp>
        <p:nvSpPr>
          <p:cNvPr id="15" name="Shape 11"/>
          <p:cNvSpPr/>
          <p:nvPr/>
        </p:nvSpPr>
        <p:spPr>
          <a:xfrm>
            <a:off x="548640" y="5212080"/>
            <a:ext cx="11091672" cy="731520"/>
          </a:xfrm>
          <a:prstGeom prst="rect">
            <a:avLst/>
          </a:prstGeom>
          <a:solidFill>
            <a:srgbClr val="E4EEF2"/>
          </a:solidFill>
          <a:ln w="12700">
            <a:solidFill>
              <a:srgbClr val="E4EEF2"/>
            </a:solidFill>
            <a:prstDash val="solid"/>
          </a:ln>
        </p:spPr>
      </p:sp>
      <p:sp>
        <p:nvSpPr>
          <p:cNvPr id="16" name="Shape 12"/>
          <p:cNvSpPr/>
          <p:nvPr/>
        </p:nvSpPr>
        <p:spPr>
          <a:xfrm>
            <a:off x="548640" y="5212080"/>
            <a:ext cx="64008" cy="731520"/>
          </a:xfrm>
          <a:prstGeom prst="rect">
            <a:avLst/>
          </a:prstGeom>
          <a:solidFill>
            <a:srgbClr val="1C7293"/>
          </a:solidFill>
          <a:ln w="12700">
            <a:solidFill>
              <a:srgbClr val="1C7293"/>
            </a:solidFill>
            <a:prstDash val="solid"/>
          </a:ln>
        </p:spPr>
      </p:sp>
      <p:sp>
        <p:nvSpPr>
          <p:cNvPr id="17" name="Text 13"/>
          <p:cNvSpPr txBox="1"/>
          <p:nvPr/>
        </p:nvSpPr>
        <p:spPr>
          <a:xfrm>
            <a:off x="749808" y="5212080"/>
            <a:ext cx="10771632" cy="731520"/>
          </a:xfrm>
          <a:prstGeom prst="rect">
            <a:avLst/>
          </a:prstGeom>
          <a:noFill/>
          <a:ln/>
        </p:spPr>
        <p:txBody>
          <a:bodyPr wrap="square" lIns="0" tIns="0" rIns="0" bIns="0" rtlCol="0" anchor="ctr"/>
          <a:lstStyle/>
          <a:p>
            <a:pPr indent="0" marL="0">
              <a:buNone/>
            </a:pPr>
            <a:r>
              <a:rPr lang="en-US" sz="1350" b="1" dirty="0">
                <a:solidFill>
                  <a:srgbClr val="1E2A44"/>
                </a:solidFill>
                <a:latin typeface="Calibri" pitchFamily="34" charset="0"/>
                <a:ea typeface="Calibri" pitchFamily="34" charset="-122"/>
                <a:cs typeface="Calibri" pitchFamily="34" charset="-120"/>
              </a:rPr>
              <a:t>Con interacción ya no existe “el” efecto de las horas: depende del nivel. Úsala si la teoría lo sugiere.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Presentar resultados: tabla y gráfico de coeficientes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23</a:t>
            </a:r>
            <a:endParaRPr lang="en-US" sz="800" dirty="0"/>
          </a:p>
        </p:txBody>
      </p:sp>
      <p:sp>
        <p:nvSpPr>
          <p:cNvPr id="7" name="Shape 4"/>
          <p:cNvSpPr/>
          <p:nvPr/>
        </p:nvSpPr>
        <p:spPr>
          <a:xfrm>
            <a:off x="548640" y="1399032"/>
            <a:ext cx="7260336" cy="3872484"/>
          </a:xfrm>
          <a:prstGeom prst="roundRect">
            <a:avLst>
              <a:gd name="adj" fmla="val 1181"/>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09_coefplot.png">    </p:cNvPr>
          <p:cNvPicPr>
            <a:picLocks noChangeAspect="1"/>
          </p:cNvPicPr>
          <p:nvPr/>
        </p:nvPicPr>
        <p:blipFill>
          <a:blip r:embed="rId1"/>
          <a:stretch>
            <a:fillRect/>
          </a:stretch>
        </p:blipFill>
        <p:spPr>
          <a:xfrm>
            <a:off x="612648" y="1463040"/>
            <a:ext cx="7132320" cy="3744468"/>
          </a:xfrm>
          <a:prstGeom prst="rect">
            <a:avLst/>
          </a:prstGeom>
        </p:spPr>
      </p:pic>
      <p:sp>
        <p:nvSpPr>
          <p:cNvPr id="9" name="Shape 5"/>
          <p:cNvSpPr/>
          <p:nvPr/>
        </p:nvSpPr>
        <p:spPr>
          <a:xfrm>
            <a:off x="8092440" y="1417320"/>
            <a:ext cx="3547872" cy="1681480"/>
          </a:xfrm>
          <a:prstGeom prst="roundRect">
            <a:avLst>
              <a:gd name="adj" fmla="val 3263"/>
            </a:avLst>
          </a:prstGeom>
          <a:solidFill>
            <a:srgbClr val="162044"/>
          </a:solidFill>
          <a:ln w="12700">
            <a:solidFill>
              <a:srgbClr val="162044"/>
            </a:solidFill>
            <a:prstDash val="solid"/>
          </a:ln>
        </p:spPr>
      </p:sp>
      <p:sp>
        <p:nvSpPr>
          <p:cNvPr id="10" name="Text 6"/>
          <p:cNvSpPr txBox="1"/>
          <p:nvPr/>
        </p:nvSpPr>
        <p:spPr>
          <a:xfrm>
            <a:off x="8275320" y="1545336"/>
            <a:ext cx="3182112" cy="1370584"/>
          </a:xfrm>
          <a:prstGeom prst="rect">
            <a:avLst/>
          </a:prstGeom>
          <a:noFill/>
          <a:ln/>
        </p:spPr>
        <p:txBody>
          <a:bodyPr wrap="square" lIns="0" tIns="0" rIns="0" bIns="0" rtlCol="0" anchor="t"/>
          <a:lstStyle/>
          <a:p>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tidy</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(m3, conf.int = </a:t>
            </a:r>
            <a:pPr indent="0" marL="0">
              <a:lnSpc>
                <a:spcPts val="1349"/>
              </a:lnSpc>
              <a:buNone/>
            </a:pPr>
            <a:r>
              <a:rPr lang="en-US" sz="950" dirty="0">
                <a:solidFill>
                  <a:srgbClr val="C9B8FF"/>
                </a:solidFill>
                <a:latin typeface="Courier New" pitchFamily="34" charset="0"/>
                <a:ea typeface="Courier New" pitchFamily="34" charset="-122"/>
                <a:cs typeface="Courier New" pitchFamily="34" charset="-120"/>
              </a:rPr>
              <a:t>TRUE</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A5D8FF"/>
                </a:solidFill>
                <a:latin typeface="Courier New" pitchFamily="34" charset="0"/>
                <a:ea typeface="Courier New" pitchFamily="34" charset="-122"/>
                <a:cs typeface="Courier New" pitchFamily="34" charset="-120"/>
              </a:rPr>
              <a:t>|&gt;</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filter</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(term != </a:t>
            </a:r>
            <a:pPr indent="0" marL="0">
              <a:lnSpc>
                <a:spcPts val="1349"/>
              </a:lnSpc>
              <a:buNone/>
            </a:pPr>
            <a:r>
              <a:rPr lang="en-US" sz="950" dirty="0">
                <a:solidFill>
                  <a:srgbClr val="F2C97D"/>
                </a:solidFill>
                <a:latin typeface="Courier New" pitchFamily="34" charset="0"/>
                <a:ea typeface="Courier New" pitchFamily="34" charset="-122"/>
                <a:cs typeface="Courier New" pitchFamily="34" charset="-120"/>
              </a:rPr>
              <a:t>"(Intercept)"</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A5D8FF"/>
                </a:solidFill>
                <a:latin typeface="Courier New" pitchFamily="34" charset="0"/>
                <a:ea typeface="Courier New" pitchFamily="34" charset="-122"/>
                <a:cs typeface="Courier New" pitchFamily="34" charset="-120"/>
              </a:rPr>
              <a:t>|&gt;</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mutate</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(term = </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fct_reorder</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term, estimate)) </a:t>
            </a:r>
            <a:pPr indent="0" marL="0">
              <a:lnSpc>
                <a:spcPts val="1349"/>
              </a:lnSpc>
              <a:buNone/>
            </a:pPr>
            <a:r>
              <a:rPr lang="en-US" sz="950" dirty="0">
                <a:solidFill>
                  <a:srgbClr val="A5D8FF"/>
                </a:solidFill>
                <a:latin typeface="Courier New" pitchFamily="34" charset="0"/>
                <a:ea typeface="Courier New" pitchFamily="34" charset="-122"/>
                <a:cs typeface="Courier New" pitchFamily="34" charset="-120"/>
              </a:rPr>
              <a:t>|&gt;</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ggplot</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aes</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(estimate, term)) +</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geom_vline</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(xintercept = </a:t>
            </a:r>
            <a:pPr indent="0" marL="0">
              <a:lnSpc>
                <a:spcPts val="1349"/>
              </a:lnSpc>
              <a:buNone/>
            </a:pPr>
            <a:r>
              <a:rPr lang="en-US" sz="950" dirty="0">
                <a:solidFill>
                  <a:srgbClr val="F2C97D"/>
                </a:solidFill>
                <a:latin typeface="Courier New" pitchFamily="34" charset="0"/>
                <a:ea typeface="Courier New" pitchFamily="34" charset="-122"/>
                <a:cs typeface="Courier New" pitchFamily="34" charset="-120"/>
              </a:rPr>
              <a:t>0</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linetype = </a:t>
            </a:r>
            <a:pPr indent="0" marL="0">
              <a:lnSpc>
                <a:spcPts val="1349"/>
              </a:lnSpc>
              <a:buNone/>
            </a:pPr>
            <a:r>
              <a:rPr lang="en-US" sz="950" dirty="0">
                <a:solidFill>
                  <a:srgbClr val="F2C97D"/>
                </a:solidFill>
                <a:latin typeface="Courier New" pitchFamily="34" charset="0"/>
                <a:ea typeface="Courier New" pitchFamily="34" charset="-122"/>
                <a:cs typeface="Courier New" pitchFamily="34" charset="-120"/>
              </a:rPr>
              <a:t>2</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geom_pointrange</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a:t>
            </a:r>
            <a:pPr indent="0" marL="0">
              <a:lnSpc>
                <a:spcPts val="1349"/>
              </a:lnSpc>
              <a:buNone/>
            </a:pPr>
            <a:r>
              <a:rPr lang="en-US" sz="950" dirty="0">
                <a:solidFill>
                  <a:srgbClr val="7DD3FC"/>
                </a:solidFill>
                <a:latin typeface="Courier New" pitchFamily="34" charset="0"/>
                <a:ea typeface="Courier New" pitchFamily="34" charset="-122"/>
                <a:cs typeface="Courier New" pitchFamily="34" charset="-120"/>
              </a:rPr>
              <a:t>aes</a:t>
            </a:r>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(xmin = conf.low,</a:t>
            </a:r>
            <a:endParaRPr lang="en-US" sz="950" dirty="0"/>
          </a:p>
          <a:p>
            <a:pPr indent="0" marL="0">
              <a:lnSpc>
                <a:spcPts val="1349"/>
              </a:lnSpc>
              <a:buNone/>
            </a:pPr>
            <a:r>
              <a:rPr lang="en-US" sz="950" dirty="0">
                <a:solidFill>
                  <a:srgbClr val="E6EDF7"/>
                </a:solidFill>
                <a:latin typeface="Courier New" pitchFamily="34" charset="0"/>
                <a:ea typeface="Courier New" pitchFamily="34" charset="-122"/>
                <a:cs typeface="Courier New" pitchFamily="34" charset="-120"/>
              </a:rPr>
              <a:t>                      xmax = conf.high))</a:t>
            </a:r>
            <a:endParaRPr lang="en-US" sz="950" dirty="0"/>
          </a:p>
        </p:txBody>
      </p:sp>
      <p:sp>
        <p:nvSpPr>
          <p:cNvPr id="11" name="Shape 7"/>
          <p:cNvSpPr/>
          <p:nvPr/>
        </p:nvSpPr>
        <p:spPr>
          <a:xfrm>
            <a:off x="8092440" y="3657600"/>
            <a:ext cx="310896" cy="310896"/>
          </a:xfrm>
          <a:prstGeom prst="ellipse">
            <a:avLst/>
          </a:prstGeom>
          <a:solidFill>
            <a:srgbClr val="065A82"/>
          </a:solidFill>
          <a:ln w="12700">
            <a:solidFill>
              <a:srgbClr val="065A82"/>
            </a:solidFill>
            <a:prstDash val="solid"/>
          </a:ln>
        </p:spPr>
      </p:sp>
      <p:sp>
        <p:nvSpPr>
          <p:cNvPr id="12" name="Text 8"/>
          <p:cNvSpPr txBox="1"/>
          <p:nvPr/>
        </p:nvSpPr>
        <p:spPr>
          <a:xfrm>
            <a:off x="8092440"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9"/>
          <p:cNvSpPr txBox="1"/>
          <p:nvPr/>
        </p:nvSpPr>
        <p:spPr>
          <a:xfrm>
            <a:off x="8567928" y="3639312"/>
            <a:ext cx="3072384" cy="274320"/>
          </a:xfrm>
          <a:prstGeom prst="rect">
            <a:avLst/>
          </a:prstGeom>
          <a:noFill/>
          <a:ln/>
        </p:spPr>
        <p:txBody>
          <a:bodyPr wrap="square" lIns="0" tIns="0" rIns="0" bIns="0" rtlCol="0" anchor="t"/>
          <a:lstStyle/>
          <a:p>
            <a:pPr indent="0" marL="0">
              <a:buNone/>
            </a:pPr>
            <a:r>
              <a:rPr lang="en-US" sz="1300" b="1" dirty="0">
                <a:solidFill>
                  <a:srgbClr val="21295C"/>
                </a:solidFill>
                <a:latin typeface="Cambria" pitchFamily="34" charset="0"/>
                <a:ea typeface="Cambria" pitchFamily="34" charset="-122"/>
                <a:cs typeface="Cambria" pitchFamily="34" charset="-120"/>
              </a:rPr>
              <a:t>Ordena los términos</a:t>
            </a:r>
            <a:endParaRPr lang="en-US" sz="1300" dirty="0"/>
          </a:p>
        </p:txBody>
      </p:sp>
      <p:sp>
        <p:nvSpPr>
          <p:cNvPr id="14" name="Shape 10"/>
          <p:cNvSpPr/>
          <p:nvPr/>
        </p:nvSpPr>
        <p:spPr>
          <a:xfrm>
            <a:off x="8092440" y="4206240"/>
            <a:ext cx="310896" cy="310896"/>
          </a:xfrm>
          <a:prstGeom prst="ellipse">
            <a:avLst/>
          </a:prstGeom>
          <a:solidFill>
            <a:srgbClr val="065A82"/>
          </a:solidFill>
          <a:ln w="12700">
            <a:solidFill>
              <a:srgbClr val="065A82"/>
            </a:solidFill>
            <a:prstDash val="solid"/>
          </a:ln>
        </p:spPr>
      </p:sp>
      <p:sp>
        <p:nvSpPr>
          <p:cNvPr id="15" name="Text 11"/>
          <p:cNvSpPr txBox="1"/>
          <p:nvPr/>
        </p:nvSpPr>
        <p:spPr>
          <a:xfrm>
            <a:off x="8092440" y="4206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2"/>
          <p:cNvSpPr txBox="1"/>
          <p:nvPr/>
        </p:nvSpPr>
        <p:spPr>
          <a:xfrm>
            <a:off x="8567928" y="4187952"/>
            <a:ext cx="3072384" cy="274320"/>
          </a:xfrm>
          <a:prstGeom prst="rect">
            <a:avLst/>
          </a:prstGeom>
          <a:noFill/>
          <a:ln/>
        </p:spPr>
        <p:txBody>
          <a:bodyPr wrap="square" lIns="0" tIns="0" rIns="0" bIns="0" rtlCol="0" anchor="t"/>
          <a:lstStyle/>
          <a:p>
            <a:pPr indent="0" marL="0">
              <a:buNone/>
            </a:pPr>
            <a:r>
              <a:rPr lang="en-US" sz="1300" b="1" dirty="0">
                <a:solidFill>
                  <a:srgbClr val="21295C"/>
                </a:solidFill>
                <a:latin typeface="Cambria" pitchFamily="34" charset="0"/>
                <a:ea typeface="Cambria" pitchFamily="34" charset="-122"/>
                <a:cs typeface="Cambria" pitchFamily="34" charset="-120"/>
              </a:rPr>
              <a:t>Etiquetas legibles y con unidades</a:t>
            </a:r>
            <a:endParaRPr lang="en-US" sz="1300" dirty="0"/>
          </a:p>
        </p:txBody>
      </p:sp>
      <p:sp>
        <p:nvSpPr>
          <p:cNvPr id="17" name="Shape 13"/>
          <p:cNvSpPr/>
          <p:nvPr/>
        </p:nvSpPr>
        <p:spPr>
          <a:xfrm>
            <a:off x="8092440" y="4754880"/>
            <a:ext cx="310896" cy="310896"/>
          </a:xfrm>
          <a:prstGeom prst="ellipse">
            <a:avLst/>
          </a:prstGeom>
          <a:solidFill>
            <a:srgbClr val="065A82"/>
          </a:solidFill>
          <a:ln w="12700">
            <a:solidFill>
              <a:srgbClr val="065A82"/>
            </a:solidFill>
            <a:prstDash val="solid"/>
          </a:ln>
        </p:spPr>
      </p:sp>
      <p:sp>
        <p:nvSpPr>
          <p:cNvPr id="18" name="Text 14"/>
          <p:cNvSpPr txBox="1"/>
          <p:nvPr/>
        </p:nvSpPr>
        <p:spPr>
          <a:xfrm>
            <a:off x="8092440" y="4754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5"/>
          <p:cNvSpPr txBox="1"/>
          <p:nvPr/>
        </p:nvSpPr>
        <p:spPr>
          <a:xfrm>
            <a:off x="8567928" y="4736592"/>
            <a:ext cx="3072384" cy="274320"/>
          </a:xfrm>
          <a:prstGeom prst="rect">
            <a:avLst/>
          </a:prstGeom>
          <a:noFill/>
          <a:ln/>
        </p:spPr>
        <p:txBody>
          <a:bodyPr wrap="square" lIns="0" tIns="0" rIns="0" bIns="0" rtlCol="0" anchor="t"/>
          <a:lstStyle/>
          <a:p>
            <a:pPr indent="0" marL="0">
              <a:buNone/>
            </a:pPr>
            <a:r>
              <a:rPr lang="en-US" sz="1300" b="1" dirty="0">
                <a:solidFill>
                  <a:srgbClr val="21295C"/>
                </a:solidFill>
                <a:latin typeface="Cambria" pitchFamily="34" charset="0"/>
                <a:ea typeface="Cambria" pitchFamily="34" charset="-122"/>
                <a:cs typeface="Cambria" pitchFamily="34" charset="-120"/>
              </a:rPr>
              <a:t>Línea en cero: lo que la cruza, no se distingue de cero</a:t>
            </a:r>
            <a:endParaRPr lang="en-US" sz="1300" dirty="0"/>
          </a:p>
        </p:txBody>
      </p:sp>
      <p:sp>
        <p:nvSpPr>
          <p:cNvPr id="20" name="Shape 16"/>
          <p:cNvSpPr/>
          <p:nvPr/>
        </p:nvSpPr>
        <p:spPr>
          <a:xfrm>
            <a:off x="548640" y="5577840"/>
            <a:ext cx="11091672" cy="548640"/>
          </a:xfrm>
          <a:prstGeom prst="rect">
            <a:avLst/>
          </a:prstGeom>
          <a:solidFill>
            <a:srgbClr val="E4EEF2"/>
          </a:solidFill>
          <a:ln w="12700">
            <a:solidFill>
              <a:srgbClr val="E4EEF2"/>
            </a:solidFill>
            <a:prstDash val="solid"/>
          </a:ln>
        </p:spPr>
      </p:sp>
      <p:sp>
        <p:nvSpPr>
          <p:cNvPr id="21" name="Shape 17"/>
          <p:cNvSpPr/>
          <p:nvPr/>
        </p:nvSpPr>
        <p:spPr>
          <a:xfrm>
            <a:off x="548640" y="5577840"/>
            <a:ext cx="64008" cy="548640"/>
          </a:xfrm>
          <a:prstGeom prst="rect">
            <a:avLst/>
          </a:prstGeom>
          <a:solidFill>
            <a:srgbClr val="1C7293"/>
          </a:solidFill>
          <a:ln w="12700">
            <a:solidFill>
              <a:srgbClr val="1C7293"/>
            </a:solidFill>
            <a:prstDash val="solid"/>
          </a:ln>
        </p:spPr>
      </p:sp>
      <p:sp>
        <p:nvSpPr>
          <p:cNvPr id="22" name="Text 18"/>
          <p:cNvSpPr txBox="1"/>
          <p:nvPr/>
        </p:nvSpPr>
        <p:spPr>
          <a:xfrm>
            <a:off x="749808" y="5577840"/>
            <a:ext cx="10771632" cy="548640"/>
          </a:xfrm>
          <a:prstGeom prst="rect">
            <a:avLst/>
          </a:prstGeom>
          <a:noFill/>
          <a:ln/>
        </p:spPr>
        <p:txBody>
          <a:bodyPr wrap="square" lIns="0" tIns="0" rIns="0" bIns="0" rtlCol="0" anchor="ctr"/>
          <a:lstStyle/>
          <a:p>
            <a:pPr indent="0" marL="0">
              <a:buNone/>
            </a:pPr>
            <a:r>
              <a:rPr lang="en-US" sz="1300" i="1" dirty="0">
                <a:solidFill>
                  <a:srgbClr val="1E2A44"/>
                </a:solidFill>
                <a:latin typeface="Calibri" pitchFamily="34" charset="0"/>
                <a:ea typeface="Calibri" pitchFamily="34" charset="-122"/>
                <a:cs typeface="Calibri" pitchFamily="34" charset="-120"/>
              </a:rPr>
              <a:t>Es el criterio de la sesión 3: el gráfico debe comunicar, no solo mostrar.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2 · REGRESIÓN MÚLTIPLE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Chequeo de la Parte 2</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24</a:t>
            </a:r>
            <a:endParaRPr lang="en-US" sz="800" dirty="0"/>
          </a:p>
        </p:txBody>
      </p:sp>
      <p:sp>
        <p:nvSpPr>
          <p:cNvPr id="7" name="Shape 4"/>
          <p:cNvSpPr/>
          <p:nvPr/>
        </p:nvSpPr>
        <p:spPr>
          <a:xfrm>
            <a:off x="548640" y="1508760"/>
            <a:ext cx="3584448" cy="2926080"/>
          </a:xfrm>
          <a:prstGeom prst="roundRect">
            <a:avLst>
              <a:gd name="adj" fmla="val 218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777240" y="1737360"/>
            <a:ext cx="457200" cy="457200"/>
          </a:xfrm>
          <a:prstGeom prst="ellipse">
            <a:avLst/>
          </a:prstGeom>
          <a:solidFill>
            <a:srgbClr val="065A82"/>
          </a:solidFill>
          <a:ln w="12700">
            <a:solidFill>
              <a:srgbClr val="065A82"/>
            </a:solidFill>
            <a:prstDash val="solid"/>
          </a:ln>
        </p:spPr>
      </p:sp>
      <p:sp>
        <p:nvSpPr>
          <p:cNvPr id="9" name="Text 6"/>
          <p:cNvSpPr txBox="1"/>
          <p:nvPr/>
        </p:nvSpPr>
        <p:spPr>
          <a:xfrm>
            <a:off x="77724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777240" y="2423160"/>
            <a:ext cx="3154680" cy="1005840"/>
          </a:xfrm>
          <a:prstGeom prst="rect">
            <a:avLst/>
          </a:prstGeom>
          <a:noFill/>
          <a:ln/>
        </p:spPr>
        <p:txBody>
          <a:bodyPr wrap="square" lIns="0" tIns="0" rIns="0" bIns="0" rtlCol="0" anchor="t"/>
          <a:lstStyle/>
          <a:p>
            <a:pPr indent="0" marL="0">
              <a:buNone/>
            </a:pPr>
            <a:r>
              <a:rPr lang="en-US" sz="1350" dirty="0">
                <a:solidFill>
                  <a:srgbClr val="1E2A44"/>
                </a:solidFill>
                <a:latin typeface="Calibri" pitchFamily="34" charset="0"/>
                <a:ea typeface="Calibri" pitchFamily="34" charset="-122"/>
                <a:cs typeface="Calibri" pitchFamily="34" charset="-120"/>
              </a:rPr>
              <a:t>Modelo con horas y nivel: pendiente de horas = −0,53.</a:t>
            </a:r>
            <a:endParaRPr lang="en-US" sz="1350" dirty="0"/>
          </a:p>
        </p:txBody>
      </p:sp>
      <p:sp>
        <p:nvSpPr>
          <p:cNvPr id="11" name="Text 8"/>
          <p:cNvSpPr txBox="1"/>
          <p:nvPr/>
        </p:nvSpPr>
        <p:spPr>
          <a:xfrm>
            <a:off x="777240" y="3474720"/>
            <a:ext cx="3154680" cy="731520"/>
          </a:xfrm>
          <a:prstGeom prst="rect">
            <a:avLst/>
          </a:prstGeom>
          <a:noFill/>
          <a:ln/>
        </p:spPr>
        <p:txBody>
          <a:bodyPr wrap="square" lIns="0" tIns="0" rIns="0" bIns="0" rtlCol="0" anchor="t"/>
          <a:lstStyle/>
          <a:p>
            <a:pPr indent="0" marL="0">
              <a:buNone/>
            </a:pPr>
            <a:r>
              <a:rPr lang="en-US" sz="1500" b="1" dirty="0">
                <a:solidFill>
                  <a:srgbClr val="21295C"/>
                </a:solidFill>
                <a:latin typeface="Cambria" pitchFamily="34" charset="0"/>
                <a:ea typeface="Cambria" pitchFamily="34" charset="-122"/>
                <a:cs typeface="Cambria" pitchFamily="34" charset="-120"/>
              </a:rPr>
              <a:t>¿Cómo la interpretas?</a:t>
            </a:r>
            <a:endParaRPr lang="en-US" sz="1500" dirty="0"/>
          </a:p>
        </p:txBody>
      </p:sp>
      <p:sp>
        <p:nvSpPr>
          <p:cNvPr id="12" name="Shape 9"/>
          <p:cNvSpPr/>
          <p:nvPr/>
        </p:nvSpPr>
        <p:spPr>
          <a:xfrm>
            <a:off x="4297680" y="1508760"/>
            <a:ext cx="3584448" cy="2926080"/>
          </a:xfrm>
          <a:prstGeom prst="roundRect">
            <a:avLst>
              <a:gd name="adj" fmla="val 218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Shape 10"/>
          <p:cNvSpPr/>
          <p:nvPr/>
        </p:nvSpPr>
        <p:spPr>
          <a:xfrm>
            <a:off x="4526280" y="1737360"/>
            <a:ext cx="457200" cy="457200"/>
          </a:xfrm>
          <a:prstGeom prst="ellipse">
            <a:avLst/>
          </a:prstGeom>
          <a:solidFill>
            <a:srgbClr val="1C7293"/>
          </a:solidFill>
          <a:ln w="12700">
            <a:solidFill>
              <a:srgbClr val="1C7293"/>
            </a:solidFill>
            <a:prstDash val="solid"/>
          </a:ln>
        </p:spPr>
      </p:sp>
      <p:sp>
        <p:nvSpPr>
          <p:cNvPr id="14" name="Text 11"/>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4526280" y="2423160"/>
            <a:ext cx="3154680" cy="1005840"/>
          </a:xfrm>
          <a:prstGeom prst="rect">
            <a:avLst/>
          </a:prstGeom>
          <a:noFill/>
          <a:ln/>
        </p:spPr>
        <p:txBody>
          <a:bodyPr wrap="square" lIns="0" tIns="0" rIns="0" bIns="0" rtlCol="0" anchor="t"/>
          <a:lstStyle/>
          <a:p>
            <a:pPr indent="0" marL="0">
              <a:buNone/>
            </a:pPr>
            <a:r>
              <a:rPr lang="en-US" sz="1350" dirty="0">
                <a:solidFill>
                  <a:srgbClr val="1E2A44"/>
                </a:solidFill>
                <a:latin typeface="Calibri" pitchFamily="34" charset="0"/>
                <a:ea typeface="Calibri" pitchFamily="34" charset="-122"/>
                <a:cs typeface="Calibri" pitchFamily="34" charset="-120"/>
              </a:rPr>
              <a:t>Coeficiente de nivelMagíster = −28,8.</a:t>
            </a:r>
            <a:endParaRPr lang="en-US" sz="1350" dirty="0"/>
          </a:p>
        </p:txBody>
      </p:sp>
      <p:sp>
        <p:nvSpPr>
          <p:cNvPr id="16" name="Text 13"/>
          <p:cNvSpPr txBox="1"/>
          <p:nvPr/>
        </p:nvSpPr>
        <p:spPr>
          <a:xfrm>
            <a:off x="4526280" y="3474720"/>
            <a:ext cx="3154680" cy="731520"/>
          </a:xfrm>
          <a:prstGeom prst="rect">
            <a:avLst/>
          </a:prstGeom>
          <a:noFill/>
          <a:ln/>
        </p:spPr>
        <p:txBody>
          <a:bodyPr wrap="square" lIns="0" tIns="0" rIns="0" bIns="0" rtlCol="0" anchor="t"/>
          <a:lstStyle/>
          <a:p>
            <a:pPr indent="0" marL="0">
              <a:buNone/>
            </a:pPr>
            <a:r>
              <a:rPr lang="en-US" sz="1500" b="1" dirty="0">
                <a:solidFill>
                  <a:srgbClr val="21295C"/>
                </a:solidFill>
                <a:latin typeface="Cambria" pitchFamily="34" charset="0"/>
                <a:ea typeface="Cambria" pitchFamily="34" charset="-122"/>
                <a:cs typeface="Cambria" pitchFamily="34" charset="-120"/>
              </a:rPr>
              <a:t>¿Contra qué categoría se compara?</a:t>
            </a:r>
            <a:endParaRPr lang="en-US" sz="1500" dirty="0"/>
          </a:p>
        </p:txBody>
      </p:sp>
      <p:sp>
        <p:nvSpPr>
          <p:cNvPr id="17" name="Shape 14"/>
          <p:cNvSpPr/>
          <p:nvPr/>
        </p:nvSpPr>
        <p:spPr>
          <a:xfrm>
            <a:off x="8046720" y="1508760"/>
            <a:ext cx="3584448" cy="2926080"/>
          </a:xfrm>
          <a:prstGeom prst="roundRect">
            <a:avLst>
              <a:gd name="adj" fmla="val 218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Shape 15"/>
          <p:cNvSpPr/>
          <p:nvPr/>
        </p:nvSpPr>
        <p:spPr>
          <a:xfrm>
            <a:off x="8275320" y="1737360"/>
            <a:ext cx="457200" cy="457200"/>
          </a:xfrm>
          <a:prstGeom prst="ellipse">
            <a:avLst/>
          </a:prstGeom>
          <a:solidFill>
            <a:srgbClr val="B7791F"/>
          </a:solidFill>
          <a:ln w="12700">
            <a:solidFill>
              <a:srgbClr val="B7791F"/>
            </a:solidFill>
            <a:prstDash val="solid"/>
          </a:ln>
        </p:spPr>
      </p:sp>
      <p:sp>
        <p:nvSpPr>
          <p:cNvPr id="19" name="Text 16"/>
          <p:cNvSpPr txBox="1"/>
          <p:nvPr/>
        </p:nvSpPr>
        <p:spPr>
          <a:xfrm>
            <a:off x="827532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8275320" y="2423160"/>
            <a:ext cx="3154680" cy="1005840"/>
          </a:xfrm>
          <a:prstGeom prst="rect">
            <a:avLst/>
          </a:prstGeom>
          <a:noFill/>
          <a:ln/>
        </p:spPr>
        <p:txBody>
          <a:bodyPr wrap="square" lIns="0" tIns="0" rIns="0" bIns="0" rtlCol="0" anchor="t"/>
          <a:lstStyle/>
          <a:p>
            <a:pPr indent="0" marL="0">
              <a:buNone/>
            </a:pPr>
            <a:r>
              <a:rPr lang="en-US" sz="1350" dirty="0">
                <a:solidFill>
                  <a:srgbClr val="1E2A44"/>
                </a:solidFill>
                <a:latin typeface="Calibri" pitchFamily="34" charset="0"/>
                <a:ea typeface="Calibri" pitchFamily="34" charset="-122"/>
                <a:cs typeface="Calibri" pitchFamily="34" charset="-120"/>
              </a:rPr>
              <a:t>Agregas una variable: R² sube de 0,741 a 0,742 pero el ajustado baja.</a:t>
            </a:r>
            <a:endParaRPr lang="en-US" sz="1350" dirty="0"/>
          </a:p>
        </p:txBody>
      </p:sp>
      <p:sp>
        <p:nvSpPr>
          <p:cNvPr id="21" name="Text 18"/>
          <p:cNvSpPr txBox="1"/>
          <p:nvPr/>
        </p:nvSpPr>
        <p:spPr>
          <a:xfrm>
            <a:off x="8275320" y="3474720"/>
            <a:ext cx="3154680" cy="731520"/>
          </a:xfrm>
          <a:prstGeom prst="rect">
            <a:avLst/>
          </a:prstGeom>
          <a:noFill/>
          <a:ln/>
        </p:spPr>
        <p:txBody>
          <a:bodyPr wrap="square" lIns="0" tIns="0" rIns="0" bIns="0" rtlCol="0" anchor="t"/>
          <a:lstStyle/>
          <a:p>
            <a:pPr indent="0" marL="0">
              <a:buNone/>
            </a:pPr>
            <a:r>
              <a:rPr lang="en-US" sz="1500" b="1" dirty="0">
                <a:solidFill>
                  <a:srgbClr val="21295C"/>
                </a:solidFill>
                <a:latin typeface="Cambria" pitchFamily="34" charset="0"/>
                <a:ea typeface="Cambria" pitchFamily="34" charset="-122"/>
                <a:cs typeface="Cambria" pitchFamily="34" charset="-120"/>
              </a:rPr>
              <a:t>¿La conservas?</a:t>
            </a:r>
            <a:endParaRPr lang="en-US" sz="1500" dirty="0"/>
          </a:p>
        </p:txBody>
      </p:sp>
      <p:sp>
        <p:nvSpPr>
          <p:cNvPr id="22" name="Shape 19"/>
          <p:cNvSpPr/>
          <p:nvPr/>
        </p:nvSpPr>
        <p:spPr>
          <a:xfrm>
            <a:off x="548640" y="4754880"/>
            <a:ext cx="11091672" cy="731520"/>
          </a:xfrm>
          <a:prstGeom prst="rect">
            <a:avLst/>
          </a:prstGeom>
          <a:solidFill>
            <a:srgbClr val="E4EEF2"/>
          </a:solidFill>
          <a:ln w="12700">
            <a:solidFill>
              <a:srgbClr val="E4EEF2"/>
            </a:solidFill>
            <a:prstDash val="solid"/>
          </a:ln>
        </p:spPr>
      </p:sp>
      <p:sp>
        <p:nvSpPr>
          <p:cNvPr id="23" name="Shape 20"/>
          <p:cNvSpPr/>
          <p:nvPr/>
        </p:nvSpPr>
        <p:spPr>
          <a:xfrm>
            <a:off x="548640" y="4754880"/>
            <a:ext cx="64008" cy="731520"/>
          </a:xfrm>
          <a:prstGeom prst="rect">
            <a:avLst/>
          </a:prstGeom>
          <a:solidFill>
            <a:srgbClr val="1C7293"/>
          </a:solidFill>
          <a:ln w="12700">
            <a:solidFill>
              <a:srgbClr val="1C7293"/>
            </a:solidFill>
            <a:prstDash val="solid"/>
          </a:ln>
        </p:spPr>
      </p:sp>
      <p:sp>
        <p:nvSpPr>
          <p:cNvPr id="24" name="Text 21"/>
          <p:cNvSpPr txBox="1"/>
          <p:nvPr/>
        </p:nvSpPr>
        <p:spPr>
          <a:xfrm>
            <a:off x="749808" y="4754880"/>
            <a:ext cx="10771632" cy="731520"/>
          </a:xfrm>
          <a:prstGeom prst="rect">
            <a:avLst/>
          </a:prstGeom>
          <a:noFill/>
          <a:ln/>
        </p:spPr>
        <p:txBody>
          <a:bodyPr wrap="square" lIns="0" tIns="0" rIns="0" bIns="0" rtlCol="0" anchor="ctr"/>
          <a:lstStyle/>
          <a:p>
            <a:pPr indent="0" marL="0">
              <a:buNone/>
            </a:pPr>
            <a:r>
              <a:rPr lang="en-US" sz="1350" i="1" dirty="0">
                <a:solidFill>
                  <a:srgbClr val="1E2A44"/>
                </a:solidFill>
                <a:latin typeface="Calibri" pitchFamily="34" charset="0"/>
                <a:ea typeface="Calibri" pitchFamily="34" charset="-122"/>
                <a:cs typeface="Calibri" pitchFamily="34" charset="-120"/>
              </a:rPr>
              <a:t>Responde por el chat. Pista: “manteniendo constante…”, referencia y penalización.</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sp>
      <p:sp>
        <p:nvSpPr>
          <p:cNvPr id="4" name="Text 2"/>
          <p:cNvSpPr txBox="1"/>
          <p:nvPr/>
        </p:nvSpPr>
        <p:spPr>
          <a:xfrm>
            <a:off x="731520" y="2331720"/>
            <a:ext cx="7315200" cy="274320"/>
          </a:xfrm>
          <a:prstGeom prst="rect">
            <a:avLst/>
          </a:prstGeom>
          <a:noFill/>
          <a:ln/>
        </p:spPr>
        <p:txBody>
          <a:bodyPr wrap="square" lIns="0" tIns="0" rIns="0" bIns="0" rtlCol="0" anchor="ctr"/>
          <a:lstStyle/>
          <a:p>
            <a:pPr indent="0" marL="0">
              <a:buNone/>
            </a:pPr>
            <a:r>
              <a:rPr lang="en-US" sz="1100" b="1" spc="300" kern="0" dirty="0">
                <a:solidFill>
                  <a:srgbClr val="8FB8D8"/>
                </a:solidFill>
                <a:latin typeface="Calibri" pitchFamily="34" charset="0"/>
                <a:ea typeface="Calibri" pitchFamily="34" charset="-122"/>
                <a:cs typeface="Calibri" pitchFamily="34" charset="-120"/>
              </a:rPr>
              <a:t>PARTE 3</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Cuidados al interpretar</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indent="0" marL="0">
              <a:buNone/>
            </a:pPr>
            <a:r>
              <a:rPr lang="en-US" sz="1800" dirty="0">
                <a:solidFill>
                  <a:srgbClr val="C9DDEC"/>
                </a:solidFill>
                <a:latin typeface="Calibri" pitchFamily="34" charset="0"/>
                <a:ea typeface="Calibri" pitchFamily="34" charset="-122"/>
                <a:cs typeface="Calibri" pitchFamily="34" charset="-120"/>
              </a:rPr>
              <a:t>Causalidad, extrapolación, un vistazo a los supuestos y cómo reportar</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indent="0" marL="0">
              <a:buNone/>
            </a:pPr>
            <a:r>
              <a:rPr lang="en-US" sz="1300" dirty="0">
                <a:solidFill>
                  <a:srgbClr val="9DB8CE"/>
                </a:solidFill>
                <a:latin typeface="Calibri" pitchFamily="34" charset="0"/>
                <a:ea typeface="Calibri" pitchFamily="34" charset="-122"/>
                <a:cs typeface="Calibri" pitchFamily="34" charset="-120"/>
              </a:rPr>
              <a:t>8 minutos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3 · CUIDADOS AL INTERPRETAR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Correlación no es causalidad</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26</a:t>
            </a:r>
            <a:endParaRPr lang="en-US" sz="800" dirty="0"/>
          </a:p>
        </p:txBody>
      </p:sp>
      <p:sp>
        <p:nvSpPr>
          <p:cNvPr id="7" name="Shape 4"/>
          <p:cNvSpPr/>
          <p:nvPr/>
        </p:nvSpPr>
        <p:spPr>
          <a:xfrm>
            <a:off x="548640" y="1417320"/>
            <a:ext cx="6766560" cy="4160520"/>
          </a:xfrm>
          <a:prstGeom prst="roundRect">
            <a:avLst>
              <a:gd name="adj" fmla="val 1538"/>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2606040" y="1691640"/>
            <a:ext cx="2651760" cy="685800"/>
          </a:xfrm>
          <a:prstGeom prst="roundRect">
            <a:avLst>
              <a:gd name="adj" fmla="val 13333"/>
            </a:avLst>
          </a:prstGeom>
          <a:solidFill>
            <a:srgbClr val="21295C"/>
          </a:solidFill>
          <a:ln w="12700">
            <a:solidFill>
              <a:srgbClr val="21295C"/>
            </a:solidFill>
            <a:prstDash val="solid"/>
          </a:ln>
        </p:spPr>
      </p:sp>
      <p:sp>
        <p:nvSpPr>
          <p:cNvPr id="9" name="Text 6"/>
          <p:cNvSpPr txBox="1"/>
          <p:nvPr/>
        </p:nvSpPr>
        <p:spPr>
          <a:xfrm>
            <a:off x="2606040" y="1691640"/>
            <a:ext cx="265176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Nivel del programa</a:t>
            </a:r>
            <a:endParaRPr lang="en-US" sz="1400" dirty="0"/>
          </a:p>
        </p:txBody>
      </p:sp>
      <p:sp>
        <p:nvSpPr>
          <p:cNvPr id="10" name="Shape 7"/>
          <p:cNvSpPr/>
          <p:nvPr/>
        </p:nvSpPr>
        <p:spPr>
          <a:xfrm>
            <a:off x="914400" y="4297680"/>
            <a:ext cx="2286000" cy="685800"/>
          </a:xfrm>
          <a:prstGeom prst="roundRect">
            <a:avLst>
              <a:gd name="adj" fmla="val 13333"/>
            </a:avLst>
          </a:prstGeom>
          <a:solidFill>
            <a:srgbClr val="065A82"/>
          </a:solidFill>
          <a:ln w="12700">
            <a:solidFill>
              <a:srgbClr val="065A82"/>
            </a:solidFill>
            <a:prstDash val="solid"/>
          </a:ln>
        </p:spPr>
      </p:sp>
      <p:sp>
        <p:nvSpPr>
          <p:cNvPr id="11" name="Text 8"/>
          <p:cNvSpPr txBox="1"/>
          <p:nvPr/>
        </p:nvSpPr>
        <p:spPr>
          <a:xfrm>
            <a:off x="914400" y="4297680"/>
            <a:ext cx="22860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Horas de investigación</a:t>
            </a:r>
            <a:endParaRPr lang="en-US" sz="1400" dirty="0"/>
          </a:p>
        </p:txBody>
      </p:sp>
      <p:sp>
        <p:nvSpPr>
          <p:cNvPr id="12" name="Shape 9"/>
          <p:cNvSpPr/>
          <p:nvPr/>
        </p:nvSpPr>
        <p:spPr>
          <a:xfrm>
            <a:off x="4663440" y="4297680"/>
            <a:ext cx="2286000" cy="685800"/>
          </a:xfrm>
          <a:prstGeom prst="roundRect">
            <a:avLst>
              <a:gd name="adj" fmla="val 13333"/>
            </a:avLst>
          </a:prstGeom>
          <a:solidFill>
            <a:srgbClr val="1C7293"/>
          </a:solidFill>
          <a:ln w="12700">
            <a:solidFill>
              <a:srgbClr val="1C7293"/>
            </a:solidFill>
            <a:prstDash val="solid"/>
          </a:ln>
        </p:spPr>
      </p:sp>
      <p:sp>
        <p:nvSpPr>
          <p:cNvPr id="13" name="Text 10"/>
          <p:cNvSpPr txBox="1"/>
          <p:nvPr/>
        </p:nvSpPr>
        <p:spPr>
          <a:xfrm>
            <a:off x="4663440" y="4297680"/>
            <a:ext cx="22860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Meses hasta titularse</a:t>
            </a:r>
            <a:endParaRPr lang="en-US" sz="1400" dirty="0"/>
          </a:p>
        </p:txBody>
      </p:sp>
      <p:sp>
        <p:nvSpPr>
          <p:cNvPr id="14" name="Shape 11"/>
          <p:cNvSpPr/>
          <p:nvPr/>
        </p:nvSpPr>
        <p:spPr>
          <a:xfrm flipH="1">
            <a:off x="2286000" y="2395728"/>
            <a:ext cx="1097280" cy="1883664"/>
          </a:xfrm>
          <a:prstGeom prst="line">
            <a:avLst/>
          </a:prstGeom>
          <a:noFill/>
          <a:ln w="28575">
            <a:solidFill>
              <a:srgbClr val="21295C"/>
            </a:solidFill>
            <a:prstDash val="solid"/>
            <a:tailEnd type="triangle"/>
          </a:ln>
        </p:spPr>
      </p:sp>
      <p:sp>
        <p:nvSpPr>
          <p:cNvPr id="15" name="Shape 12"/>
          <p:cNvSpPr/>
          <p:nvPr/>
        </p:nvSpPr>
        <p:spPr>
          <a:xfrm>
            <a:off x="4480560" y="2395728"/>
            <a:ext cx="1097280" cy="1883664"/>
          </a:xfrm>
          <a:prstGeom prst="line">
            <a:avLst/>
          </a:prstGeom>
          <a:noFill/>
          <a:ln w="28575">
            <a:solidFill>
              <a:srgbClr val="21295C"/>
            </a:solidFill>
            <a:prstDash val="solid"/>
            <a:tailEnd type="triangle"/>
          </a:ln>
        </p:spPr>
      </p:sp>
      <p:sp>
        <p:nvSpPr>
          <p:cNvPr id="16" name="Shape 13"/>
          <p:cNvSpPr/>
          <p:nvPr/>
        </p:nvSpPr>
        <p:spPr>
          <a:xfrm>
            <a:off x="3246120" y="4645152"/>
            <a:ext cx="1389888" cy="0"/>
          </a:xfrm>
          <a:prstGeom prst="line">
            <a:avLst/>
          </a:prstGeom>
          <a:noFill/>
          <a:ln w="28575">
            <a:solidFill>
              <a:srgbClr val="B7791F"/>
            </a:solidFill>
            <a:prstDash val="dash"/>
            <a:tailEnd type="triangle"/>
          </a:ln>
        </p:spPr>
      </p:sp>
      <p:sp>
        <p:nvSpPr>
          <p:cNvPr id="17" name="Text 14"/>
          <p:cNvSpPr txBox="1"/>
          <p:nvPr/>
        </p:nvSpPr>
        <p:spPr>
          <a:xfrm>
            <a:off x="3657600" y="4114800"/>
            <a:ext cx="822960" cy="365760"/>
          </a:xfrm>
          <a:prstGeom prst="rect">
            <a:avLst/>
          </a:prstGeom>
          <a:noFill/>
          <a:ln/>
        </p:spPr>
        <p:txBody>
          <a:bodyPr wrap="square" lIns="0" tIns="0" rIns="0" bIns="0" rtlCol="0" anchor="t"/>
          <a:lstStyle/>
          <a:p>
            <a:pPr algn="ctr" indent="0" marL="0">
              <a:buNone/>
            </a:pPr>
            <a:r>
              <a:rPr lang="en-US" sz="1800" b="1" dirty="0">
                <a:solidFill>
                  <a:srgbClr val="B7791F"/>
                </a:solidFill>
                <a:latin typeface="Cambria" pitchFamily="34" charset="0"/>
                <a:ea typeface="Cambria" pitchFamily="34" charset="-122"/>
                <a:cs typeface="Cambria" pitchFamily="34" charset="-120"/>
              </a:rPr>
              <a:t>¿?</a:t>
            </a:r>
            <a:endParaRPr lang="en-US" sz="1800" dirty="0"/>
          </a:p>
        </p:txBody>
      </p:sp>
      <p:sp>
        <p:nvSpPr>
          <p:cNvPr id="18" name="Text 15"/>
          <p:cNvSpPr txBox="1"/>
          <p:nvPr/>
        </p:nvSpPr>
        <p:spPr>
          <a:xfrm>
            <a:off x="868680" y="3063240"/>
            <a:ext cx="2011680" cy="457200"/>
          </a:xfrm>
          <a:prstGeom prst="rect">
            <a:avLst/>
          </a:prstGeom>
          <a:noFill/>
          <a:ln/>
        </p:spPr>
        <p:txBody>
          <a:bodyPr wrap="square" lIns="0" tIns="0" rIns="0" bIns="0" rtlCol="0" anchor="t"/>
          <a:lstStyle/>
          <a:p>
            <a:pPr indent="0" marL="0">
              <a:buNone/>
            </a:pPr>
            <a:r>
              <a:rPr lang="en-US" sz="1150" i="1" dirty="0">
                <a:solidFill>
                  <a:srgbClr val="5B6B7F"/>
                </a:solidFill>
                <a:latin typeface="Calibri" pitchFamily="34" charset="0"/>
                <a:ea typeface="Calibri" pitchFamily="34" charset="-122"/>
                <a:cs typeface="Calibri" pitchFamily="34" charset="-120"/>
              </a:rPr>
              <a:t>el nivel influye en ambas…</a:t>
            </a:r>
            <a:endParaRPr lang="en-US" sz="1150" dirty="0"/>
          </a:p>
        </p:txBody>
      </p:sp>
      <p:sp>
        <p:nvSpPr>
          <p:cNvPr id="19" name="Text 16"/>
          <p:cNvSpPr txBox="1"/>
          <p:nvPr/>
        </p:nvSpPr>
        <p:spPr>
          <a:xfrm>
            <a:off x="4983480" y="3063240"/>
            <a:ext cx="2194560" cy="457200"/>
          </a:xfrm>
          <a:prstGeom prst="rect">
            <a:avLst/>
          </a:prstGeom>
          <a:noFill/>
          <a:ln/>
        </p:spPr>
        <p:txBody>
          <a:bodyPr wrap="square" lIns="0" tIns="0" rIns="0" bIns="0" rtlCol="0" anchor="t"/>
          <a:lstStyle/>
          <a:p>
            <a:pPr indent="0" marL="0">
              <a:buNone/>
            </a:pPr>
            <a:r>
              <a:rPr lang="en-US" sz="1150" i="1" dirty="0">
                <a:solidFill>
                  <a:srgbClr val="5B6B7F"/>
                </a:solidFill>
                <a:latin typeface="Calibri" pitchFamily="34" charset="0"/>
                <a:ea typeface="Calibri" pitchFamily="34" charset="-122"/>
                <a:cs typeface="Calibri" pitchFamily="34" charset="-120"/>
              </a:rPr>
              <a:t>…y crea una asociación aparente</a:t>
            </a:r>
            <a:endParaRPr lang="en-US" sz="1150" dirty="0"/>
          </a:p>
        </p:txBody>
      </p:sp>
      <p:sp>
        <p:nvSpPr>
          <p:cNvPr id="20" name="Shape 17"/>
          <p:cNvSpPr/>
          <p:nvPr/>
        </p:nvSpPr>
        <p:spPr>
          <a:xfrm>
            <a:off x="7589520" y="1417320"/>
            <a:ext cx="4050792" cy="1280160"/>
          </a:xfrm>
          <a:prstGeom prst="roundRect">
            <a:avLst>
              <a:gd name="adj" fmla="val 500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1" name="Text 18"/>
          <p:cNvSpPr txBox="1"/>
          <p:nvPr/>
        </p:nvSpPr>
        <p:spPr>
          <a:xfrm>
            <a:off x="7818120" y="1527048"/>
            <a:ext cx="3657600" cy="27432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Describe</a:t>
            </a:r>
            <a:endParaRPr lang="en-US" sz="1450" dirty="0"/>
          </a:p>
        </p:txBody>
      </p:sp>
      <p:sp>
        <p:nvSpPr>
          <p:cNvPr id="22" name="Text 19"/>
          <p:cNvSpPr txBox="1"/>
          <p:nvPr/>
        </p:nvSpPr>
        <p:spPr>
          <a:xfrm>
            <a:off x="7818120" y="1874520"/>
            <a:ext cx="3657600" cy="77724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La regresión resume asociaciones en los datos.</a:t>
            </a:r>
            <a:endParaRPr lang="en-US" sz="1250" dirty="0"/>
          </a:p>
        </p:txBody>
      </p:sp>
      <p:sp>
        <p:nvSpPr>
          <p:cNvPr id="23" name="Shape 20"/>
          <p:cNvSpPr/>
          <p:nvPr/>
        </p:nvSpPr>
        <p:spPr>
          <a:xfrm>
            <a:off x="7589520" y="2834640"/>
            <a:ext cx="4050792" cy="1280160"/>
          </a:xfrm>
          <a:prstGeom prst="roundRect">
            <a:avLst>
              <a:gd name="adj" fmla="val 5000"/>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4" name="Text 21"/>
          <p:cNvSpPr txBox="1"/>
          <p:nvPr/>
        </p:nvSpPr>
        <p:spPr>
          <a:xfrm>
            <a:off x="7818120" y="2944368"/>
            <a:ext cx="3657600" cy="274320"/>
          </a:xfrm>
          <a:prstGeom prst="rect">
            <a:avLst/>
          </a:prstGeom>
          <a:noFill/>
          <a:ln/>
        </p:spPr>
        <p:txBody>
          <a:bodyPr wrap="square" lIns="0" tIns="0" rIns="0" bIns="0" rtlCol="0" anchor="t"/>
          <a:lstStyle/>
          <a:p>
            <a:pPr indent="0" marL="0">
              <a:buNone/>
            </a:pPr>
            <a:r>
              <a:rPr lang="en-US" sz="1450" b="1" dirty="0">
                <a:solidFill>
                  <a:srgbClr val="21295C"/>
                </a:solidFill>
                <a:latin typeface="Cambria" pitchFamily="34" charset="0"/>
                <a:ea typeface="Cambria" pitchFamily="34" charset="-122"/>
                <a:cs typeface="Cambria" pitchFamily="34" charset="-120"/>
              </a:rPr>
              <a:t>Controla lo medido</a:t>
            </a:r>
            <a:endParaRPr lang="en-US" sz="1450" dirty="0"/>
          </a:p>
        </p:txBody>
      </p:sp>
      <p:sp>
        <p:nvSpPr>
          <p:cNvPr id="25" name="Text 22"/>
          <p:cNvSpPr txBox="1"/>
          <p:nvPr/>
        </p:nvSpPr>
        <p:spPr>
          <a:xfrm>
            <a:off x="7818120" y="3291840"/>
            <a:ext cx="3657600" cy="77724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Solo se puede ajustar por variables que existen en la base.</a:t>
            </a:r>
            <a:endParaRPr lang="en-US" sz="1250" dirty="0"/>
          </a:p>
        </p:txBody>
      </p:sp>
      <p:sp>
        <p:nvSpPr>
          <p:cNvPr id="26" name="Shape 23"/>
          <p:cNvSpPr/>
          <p:nvPr/>
        </p:nvSpPr>
        <p:spPr>
          <a:xfrm>
            <a:off x="7589520" y="4251960"/>
            <a:ext cx="4050792" cy="1280160"/>
          </a:xfrm>
          <a:prstGeom prst="roundRect">
            <a:avLst>
              <a:gd name="adj" fmla="val 5000"/>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7" name="Text 24"/>
          <p:cNvSpPr txBox="1"/>
          <p:nvPr/>
        </p:nvSpPr>
        <p:spPr>
          <a:xfrm>
            <a:off x="7818120" y="4361688"/>
            <a:ext cx="3657600" cy="274320"/>
          </a:xfrm>
          <a:prstGeom prst="rect">
            <a:avLst/>
          </a:prstGeom>
          <a:noFill/>
          <a:ln/>
        </p:spPr>
        <p:txBody>
          <a:bodyPr wrap="square" lIns="0" tIns="0" rIns="0" bIns="0" rtlCol="0" anchor="t"/>
          <a:lstStyle/>
          <a:p>
            <a:pPr indent="0" marL="0">
              <a:buNone/>
            </a:pPr>
            <a:r>
              <a:rPr lang="en-US" sz="1450" b="1" dirty="0">
                <a:solidFill>
                  <a:srgbClr val="B7791F"/>
                </a:solidFill>
                <a:latin typeface="Cambria" pitchFamily="34" charset="0"/>
                <a:ea typeface="Cambria" pitchFamily="34" charset="-122"/>
                <a:cs typeface="Cambria" pitchFamily="34" charset="-120"/>
              </a:rPr>
              <a:t>Para causalidad</a:t>
            </a:r>
            <a:endParaRPr lang="en-US" sz="1450" dirty="0"/>
          </a:p>
        </p:txBody>
      </p:sp>
      <p:sp>
        <p:nvSpPr>
          <p:cNvPr id="28" name="Text 25"/>
          <p:cNvSpPr txBox="1"/>
          <p:nvPr/>
        </p:nvSpPr>
        <p:spPr>
          <a:xfrm>
            <a:off x="7818120" y="4709160"/>
            <a:ext cx="3657600" cy="77724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Necesitas diseño (experimento) o supuestos causales explícitos.</a:t>
            </a:r>
            <a:endParaRPr lang="en-US" sz="1250" dirty="0"/>
          </a:p>
        </p:txBody>
      </p:sp>
      <p:sp>
        <p:nvSpPr>
          <p:cNvPr id="29" name="Shape 26"/>
          <p:cNvSpPr/>
          <p:nvPr/>
        </p:nvSpPr>
        <p:spPr>
          <a:xfrm>
            <a:off x="548640" y="5715000"/>
            <a:ext cx="11091672" cy="548640"/>
          </a:xfrm>
          <a:prstGeom prst="rect">
            <a:avLst/>
          </a:prstGeom>
          <a:solidFill>
            <a:srgbClr val="E4EEF2"/>
          </a:solidFill>
          <a:ln w="12700">
            <a:solidFill>
              <a:srgbClr val="E4EEF2"/>
            </a:solidFill>
            <a:prstDash val="solid"/>
          </a:ln>
        </p:spPr>
      </p:sp>
      <p:sp>
        <p:nvSpPr>
          <p:cNvPr id="30" name="Shape 27"/>
          <p:cNvSpPr/>
          <p:nvPr/>
        </p:nvSpPr>
        <p:spPr>
          <a:xfrm>
            <a:off x="548640" y="5715000"/>
            <a:ext cx="64008" cy="548640"/>
          </a:xfrm>
          <a:prstGeom prst="rect">
            <a:avLst/>
          </a:prstGeom>
          <a:solidFill>
            <a:srgbClr val="1C7293"/>
          </a:solidFill>
          <a:ln w="12700">
            <a:solidFill>
              <a:srgbClr val="1C7293"/>
            </a:solidFill>
            <a:prstDash val="solid"/>
          </a:ln>
        </p:spPr>
      </p:sp>
      <p:sp>
        <p:nvSpPr>
          <p:cNvPr id="31" name="Text 28"/>
          <p:cNvSpPr txBox="1"/>
          <p:nvPr/>
        </p:nvSpPr>
        <p:spPr>
          <a:xfrm>
            <a:off x="749808" y="5715000"/>
            <a:ext cx="10771632" cy="548640"/>
          </a:xfrm>
          <a:prstGeom prst="rect">
            <a:avLst/>
          </a:prstGeom>
          <a:noFill/>
          <a:ln/>
        </p:spPr>
        <p:txBody>
          <a:bodyPr wrap="square" lIns="0" tIns="0" rIns="0" bIns="0" rtlCol="0" anchor="ctr"/>
          <a:lstStyle/>
          <a:p>
            <a:pPr indent="0" marL="0">
              <a:buNone/>
            </a:pPr>
            <a:r>
              <a:rPr lang="en-US" sz="1350" b="1" dirty="0">
                <a:solidFill>
                  <a:srgbClr val="1E2A44"/>
                </a:solidFill>
                <a:latin typeface="Calibri" pitchFamily="34" charset="0"/>
                <a:ea typeface="Calibri" pitchFamily="34" charset="-122"/>
                <a:cs typeface="Calibri" pitchFamily="34" charset="-120"/>
              </a:rPr>
              <a:t>Di “se asocia con”, no “provoca”, salvo que el diseño lo permita.</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3 · CUIDADOS AL INTERPRETAR · OPCIONAL</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No extrapolar fuera del rango observado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27</a:t>
            </a:r>
            <a:endParaRPr lang="en-US" sz="800" dirty="0"/>
          </a:p>
        </p:txBody>
      </p:sp>
      <p:sp>
        <p:nvSpPr>
          <p:cNvPr id="7" name="Shape 4"/>
          <p:cNvSpPr/>
          <p:nvPr/>
        </p:nvSpPr>
        <p:spPr>
          <a:xfrm>
            <a:off x="548640" y="1399032"/>
            <a:ext cx="6711696" cy="4078224"/>
          </a:xfrm>
          <a:prstGeom prst="roundRect">
            <a:avLst>
              <a:gd name="adj" fmla="val 1121"/>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12_extrap.png">    </p:cNvPr>
          <p:cNvPicPr>
            <a:picLocks noChangeAspect="1"/>
          </p:cNvPicPr>
          <p:nvPr/>
        </p:nvPicPr>
        <p:blipFill>
          <a:blip r:embed="rId1"/>
          <a:stretch>
            <a:fillRect/>
          </a:stretch>
        </p:blipFill>
        <p:spPr>
          <a:xfrm>
            <a:off x="612648" y="1463040"/>
            <a:ext cx="6583680" cy="3950208"/>
          </a:xfrm>
          <a:prstGeom prst="rect">
            <a:avLst/>
          </a:prstGeom>
        </p:spPr>
      </p:pic>
      <p:sp>
        <p:nvSpPr>
          <p:cNvPr id="9" name="Shape 5"/>
          <p:cNvSpPr/>
          <p:nvPr/>
        </p:nvSpPr>
        <p:spPr>
          <a:xfrm>
            <a:off x="8092440" y="1417320"/>
            <a:ext cx="3547872" cy="1636395"/>
          </a:xfrm>
          <a:prstGeom prst="roundRect">
            <a:avLst>
              <a:gd name="adj" fmla="val 3353"/>
            </a:avLst>
          </a:prstGeom>
          <a:solidFill>
            <a:srgbClr val="162044"/>
          </a:solidFill>
          <a:ln w="12700">
            <a:solidFill>
              <a:srgbClr val="162044"/>
            </a:solidFill>
            <a:prstDash val="solid"/>
          </a:ln>
        </p:spPr>
      </p:sp>
      <p:sp>
        <p:nvSpPr>
          <p:cNvPr id="10" name="Shape 6"/>
          <p:cNvSpPr/>
          <p:nvPr/>
        </p:nvSpPr>
        <p:spPr>
          <a:xfrm>
            <a:off x="8165592" y="2492121"/>
            <a:ext cx="3401568" cy="189357"/>
          </a:xfrm>
          <a:prstGeom prst="rect">
            <a:avLst/>
          </a:prstGeom>
          <a:solidFill>
            <a:srgbClr val="D69E2E">
              <a:alpha val="28000"/>
            </a:srgbClr>
          </a:solidFill>
          <a:ln w="12700">
            <a:solidFill>
              <a:srgbClr val="D69E2E">
                <a:alpha val="0"/>
              </a:srgbClr>
            </a:solidFill>
            <a:prstDash val="solid"/>
          </a:ln>
        </p:spPr>
      </p:sp>
      <p:sp>
        <p:nvSpPr>
          <p:cNvPr id="11" name="Text 7"/>
          <p:cNvSpPr txBox="1"/>
          <p:nvPr/>
        </p:nvSpPr>
        <p:spPr>
          <a:xfrm>
            <a:off x="8275320" y="1545336"/>
            <a:ext cx="3182112" cy="1325499"/>
          </a:xfrm>
          <a:prstGeom prst="rect">
            <a:avLst/>
          </a:prstGeom>
          <a:noFill/>
          <a:ln/>
        </p:spPr>
        <p:txBody>
          <a:bodyPr wrap="square" lIns="0" tIns="0" rIns="0" bIns="0" rtlCol="0" anchor="t"/>
          <a:lstStyle/>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m_doc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&lt;-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lm</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(meses_titulacion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horas_investigacion_sem,</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data = doctores)</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predict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(m_doc,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tibble</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horas_investigacion_sem =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110</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indent="0" marL="0">
              <a:lnSpc>
                <a:spcPts val="1491"/>
              </a:lnSpc>
              <a:buNone/>
            </a:pPr>
            <a:r>
              <a:rPr lang="en-US" sz="1050" dirty="0">
                <a:solidFill>
                  <a:srgbClr val="8FD5B0"/>
                </a:solidFill>
                <a:latin typeface="Courier New" pitchFamily="34" charset="0"/>
                <a:ea typeface="Courier New" pitchFamily="34" charset="-122"/>
                <a:cs typeface="Courier New" pitchFamily="34" charset="-120"/>
              </a:rPr>
              <a:t>#&gt; -4.4   # ¡meses negativos!</a:t>
            </a:r>
            <a:endParaRPr lang="en-US" sz="1050" dirty="0"/>
          </a:p>
        </p:txBody>
      </p:sp>
      <p:sp>
        <p:nvSpPr>
          <p:cNvPr id="12" name="Shape 8"/>
          <p:cNvSpPr/>
          <p:nvPr/>
        </p:nvSpPr>
        <p:spPr>
          <a:xfrm>
            <a:off x="8092440" y="3749040"/>
            <a:ext cx="3547872" cy="1188720"/>
          </a:xfrm>
          <a:prstGeom prst="roundRect">
            <a:avLst>
              <a:gd name="adj" fmla="val 5385"/>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Text 9"/>
          <p:cNvSpPr txBox="1"/>
          <p:nvPr/>
        </p:nvSpPr>
        <p:spPr>
          <a:xfrm>
            <a:off x="8321040" y="3886200"/>
            <a:ext cx="3108960" cy="1005840"/>
          </a:xfrm>
          <a:prstGeom prst="rect">
            <a:avLst/>
          </a:prstGeom>
          <a:noFill/>
          <a:ln/>
        </p:spPr>
        <p:txBody>
          <a:bodyPr wrap="square" lIns="0" tIns="0" rIns="0" bIns="0" rtlCol="0" anchor="t"/>
          <a:lstStyle/>
          <a:p>
            <a:pPr indent="0" marL="0">
              <a:buNone/>
            </a:pPr>
            <a:r>
              <a:rPr lang="en-US" sz="1300" b="1" dirty="0">
                <a:solidFill>
                  <a:srgbClr val="8A5A00"/>
                </a:solidFill>
                <a:latin typeface="Calibri" pitchFamily="34" charset="0"/>
                <a:ea typeface="Calibri" pitchFamily="34" charset="-122"/>
                <a:cs typeface="Calibri" pitchFamily="34" charset="-120"/>
              </a:rPr>
              <a:t>Dentro del rango, la recta es un resultado. Fuera, es un supuesto.</a:t>
            </a:r>
            <a:endParaRPr lang="en-US" sz="1300" dirty="0"/>
          </a:p>
        </p:txBody>
      </p:sp>
      <p:sp>
        <p:nvSpPr>
          <p:cNvPr id="14" name="Shape 10"/>
          <p:cNvSpPr/>
          <p:nvPr/>
        </p:nvSpPr>
        <p:spPr>
          <a:xfrm>
            <a:off x="548640" y="5623560"/>
            <a:ext cx="7315200" cy="548640"/>
          </a:xfrm>
          <a:prstGeom prst="rect">
            <a:avLst/>
          </a:prstGeom>
          <a:solidFill>
            <a:srgbClr val="E4EEF2"/>
          </a:solidFill>
          <a:ln w="12700">
            <a:solidFill>
              <a:srgbClr val="E4EEF2"/>
            </a:solidFill>
            <a:prstDash val="solid"/>
          </a:ln>
        </p:spPr>
      </p:sp>
      <p:sp>
        <p:nvSpPr>
          <p:cNvPr id="15" name="Shape 11"/>
          <p:cNvSpPr/>
          <p:nvPr/>
        </p:nvSpPr>
        <p:spPr>
          <a:xfrm>
            <a:off x="548640" y="5623560"/>
            <a:ext cx="64008" cy="548640"/>
          </a:xfrm>
          <a:prstGeom prst="rect">
            <a:avLst/>
          </a:prstGeom>
          <a:solidFill>
            <a:srgbClr val="1C7293"/>
          </a:solidFill>
          <a:ln w="12700">
            <a:solidFill>
              <a:srgbClr val="1C7293"/>
            </a:solidFill>
            <a:prstDash val="solid"/>
          </a:ln>
        </p:spPr>
      </p:sp>
      <p:sp>
        <p:nvSpPr>
          <p:cNvPr id="16" name="Text 12"/>
          <p:cNvSpPr txBox="1"/>
          <p:nvPr/>
        </p:nvSpPr>
        <p:spPr>
          <a:xfrm>
            <a:off x="749808" y="5623560"/>
            <a:ext cx="6995160" cy="548640"/>
          </a:xfrm>
          <a:prstGeom prst="rect">
            <a:avLst/>
          </a:prstGeom>
          <a:noFill/>
          <a:ln/>
        </p:spPr>
        <p:txBody>
          <a:bodyPr wrap="square" lIns="0" tIns="0" rIns="0" bIns="0" rtlCol="0" anchor="ctr"/>
          <a:lstStyle/>
          <a:p>
            <a:pPr indent="0" marL="0">
              <a:buNone/>
            </a:pPr>
            <a:r>
              <a:rPr lang="en-US" sz="1300" i="1" dirty="0">
                <a:solidFill>
                  <a:srgbClr val="1E2A44"/>
                </a:solidFill>
                <a:latin typeface="Calibri" pitchFamily="34" charset="0"/>
                <a:ea typeface="Calibri" pitchFamily="34" charset="-122"/>
                <a:cs typeface="Calibri" pitchFamily="34" charset="-120"/>
              </a:rPr>
              <a:t>Lo mismo vale para aplicar el modelo a otra población.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3 · CUIDADOS AL INTERPRETAR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Vistazo a los supuestos: residuos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28</a:t>
            </a:r>
            <a:endParaRPr lang="en-US" sz="800" dirty="0"/>
          </a:p>
        </p:txBody>
      </p:sp>
      <p:sp>
        <p:nvSpPr>
          <p:cNvPr id="7" name="Shape 4"/>
          <p:cNvSpPr/>
          <p:nvPr/>
        </p:nvSpPr>
        <p:spPr>
          <a:xfrm>
            <a:off x="548640" y="1399032"/>
            <a:ext cx="6711696" cy="2907792"/>
          </a:xfrm>
          <a:prstGeom prst="roundRect">
            <a:avLst>
              <a:gd name="adj" fmla="val 157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pic>
        <p:nvPicPr>
          <p:cNvPr id="8" name="Image 0" descr="/home/claude/s4/figs/f13_resid.png">    </p:cNvPr>
          <p:cNvPicPr>
            <a:picLocks noChangeAspect="1"/>
          </p:cNvPicPr>
          <p:nvPr/>
        </p:nvPicPr>
        <p:blipFill>
          <a:blip r:embed="rId1"/>
          <a:stretch>
            <a:fillRect/>
          </a:stretch>
        </p:blipFill>
        <p:spPr>
          <a:xfrm>
            <a:off x="612648" y="1463040"/>
            <a:ext cx="6583680" cy="2779776"/>
          </a:xfrm>
          <a:prstGeom prst="rect">
            <a:avLst/>
          </a:prstGeom>
        </p:spPr>
      </p:pic>
      <p:sp>
        <p:nvSpPr>
          <p:cNvPr id="9" name="Shape 5"/>
          <p:cNvSpPr/>
          <p:nvPr/>
        </p:nvSpPr>
        <p:spPr>
          <a:xfrm>
            <a:off x="7589520" y="1417320"/>
            <a:ext cx="4050792" cy="1897888"/>
          </a:xfrm>
          <a:prstGeom prst="roundRect">
            <a:avLst>
              <a:gd name="adj" fmla="val 2891"/>
            </a:avLst>
          </a:prstGeom>
          <a:solidFill>
            <a:srgbClr val="162044"/>
          </a:solidFill>
          <a:ln w="12700">
            <a:solidFill>
              <a:srgbClr val="162044"/>
            </a:solidFill>
            <a:prstDash val="solid"/>
          </a:ln>
        </p:spPr>
      </p:sp>
      <p:sp>
        <p:nvSpPr>
          <p:cNvPr id="10" name="Text 6"/>
          <p:cNvSpPr txBox="1"/>
          <p:nvPr/>
        </p:nvSpPr>
        <p:spPr>
          <a:xfrm>
            <a:off x="7772400" y="1545336"/>
            <a:ext cx="3685032" cy="1586992"/>
          </a:xfrm>
          <a:prstGeom prst="rect">
            <a:avLst/>
          </a:prstGeom>
          <a:noFill/>
          <a:ln/>
        </p:spPr>
        <p:txBody>
          <a:bodyPr wrap="square" lIns="0" tIns="0" rIns="0" bIns="0" rtlCol="0" anchor="t"/>
          <a:lstStyle/>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a </a:t>
            </a:r>
            <a:pPr indent="0" marL="0">
              <a:lnSpc>
                <a:spcPts val="1562"/>
              </a:lnSpc>
              <a:buNone/>
            </a:pPr>
            <a:r>
              <a:rPr lang="en-US" sz="1100" dirty="0">
                <a:solidFill>
                  <a:srgbClr val="A5D8FF"/>
                </a:solidFill>
                <a:latin typeface="Courier New" pitchFamily="34" charset="0"/>
                <a:ea typeface="Courier New" pitchFamily="34" charset="-122"/>
                <a:cs typeface="Courier New" pitchFamily="34" charset="-120"/>
              </a:rPr>
              <a:t>&lt;-</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augment</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(m2)</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ggplot</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(a,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aes</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(.fitted, .resid)) +</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geom_point</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geom_hline</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(yintercept = </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0</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ggplot</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(a,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aes</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(sample = .std.resid)) +</a:t>
            </a:r>
            <a:endParaRPr lang="en-US" sz="1100" dirty="0"/>
          </a:p>
          <a:p>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stat_qq</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 </a:t>
            </a:r>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stat_qq_line</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1" name="Shape 7"/>
          <p:cNvSpPr/>
          <p:nvPr/>
        </p:nvSpPr>
        <p:spPr>
          <a:xfrm>
            <a:off x="548640" y="4343400"/>
            <a:ext cx="2103120" cy="365760"/>
          </a:xfrm>
          <a:prstGeom prst="roundRect">
            <a:avLst>
              <a:gd name="adj" fmla="val 50000"/>
            </a:avLst>
          </a:prstGeom>
          <a:solidFill>
            <a:srgbClr val="E4EEF2"/>
          </a:solidFill>
          <a:ln w="12700">
            <a:solidFill>
              <a:srgbClr val="E4EEF2"/>
            </a:solidFill>
            <a:prstDash val="solid"/>
          </a:ln>
        </p:spPr>
      </p:sp>
      <p:sp>
        <p:nvSpPr>
          <p:cNvPr id="12" name="Text 8"/>
          <p:cNvSpPr txBox="1"/>
          <p:nvPr/>
        </p:nvSpPr>
        <p:spPr>
          <a:xfrm>
            <a:off x="548640" y="4343400"/>
            <a:ext cx="210312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Linealidad</a:t>
            </a:r>
            <a:endParaRPr lang="en-US" sz="1100" dirty="0"/>
          </a:p>
        </p:txBody>
      </p:sp>
      <p:sp>
        <p:nvSpPr>
          <p:cNvPr id="13" name="Shape 9"/>
          <p:cNvSpPr/>
          <p:nvPr/>
        </p:nvSpPr>
        <p:spPr>
          <a:xfrm>
            <a:off x="2788920" y="4343400"/>
            <a:ext cx="2103120" cy="365760"/>
          </a:xfrm>
          <a:prstGeom prst="roundRect">
            <a:avLst>
              <a:gd name="adj" fmla="val 50000"/>
            </a:avLst>
          </a:prstGeom>
          <a:solidFill>
            <a:srgbClr val="E4EEF2"/>
          </a:solidFill>
          <a:ln w="12700">
            <a:solidFill>
              <a:srgbClr val="E4EEF2"/>
            </a:solidFill>
            <a:prstDash val="solid"/>
          </a:ln>
        </p:spPr>
      </p:sp>
      <p:sp>
        <p:nvSpPr>
          <p:cNvPr id="14" name="Text 10"/>
          <p:cNvSpPr txBox="1"/>
          <p:nvPr/>
        </p:nvSpPr>
        <p:spPr>
          <a:xfrm>
            <a:off x="2788920" y="4343400"/>
            <a:ext cx="210312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Varianza constante</a:t>
            </a:r>
            <a:endParaRPr lang="en-US" sz="1100" dirty="0"/>
          </a:p>
        </p:txBody>
      </p:sp>
      <p:sp>
        <p:nvSpPr>
          <p:cNvPr id="15" name="Shape 11"/>
          <p:cNvSpPr/>
          <p:nvPr/>
        </p:nvSpPr>
        <p:spPr>
          <a:xfrm>
            <a:off x="5029200" y="4343400"/>
            <a:ext cx="2103120" cy="365760"/>
          </a:xfrm>
          <a:prstGeom prst="roundRect">
            <a:avLst>
              <a:gd name="adj" fmla="val 50000"/>
            </a:avLst>
          </a:prstGeom>
          <a:solidFill>
            <a:srgbClr val="E4EEF2"/>
          </a:solidFill>
          <a:ln w="12700">
            <a:solidFill>
              <a:srgbClr val="E4EEF2"/>
            </a:solidFill>
            <a:prstDash val="solid"/>
          </a:ln>
        </p:spPr>
      </p:sp>
      <p:sp>
        <p:nvSpPr>
          <p:cNvPr id="16" name="Text 12"/>
          <p:cNvSpPr txBox="1"/>
          <p:nvPr/>
        </p:nvSpPr>
        <p:spPr>
          <a:xfrm>
            <a:off x="5029200" y="4343400"/>
            <a:ext cx="210312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Errores ~ normales</a:t>
            </a:r>
            <a:endParaRPr lang="en-US" sz="1100" dirty="0"/>
          </a:p>
        </p:txBody>
      </p:sp>
      <p:sp>
        <p:nvSpPr>
          <p:cNvPr id="17" name="Shape 13"/>
          <p:cNvSpPr/>
          <p:nvPr/>
        </p:nvSpPr>
        <p:spPr>
          <a:xfrm>
            <a:off x="7269480" y="4343400"/>
            <a:ext cx="2103120" cy="365760"/>
          </a:xfrm>
          <a:prstGeom prst="roundRect">
            <a:avLst>
              <a:gd name="adj" fmla="val 50000"/>
            </a:avLst>
          </a:prstGeom>
          <a:solidFill>
            <a:srgbClr val="E4EEF2"/>
          </a:solidFill>
          <a:ln w="12700">
            <a:solidFill>
              <a:srgbClr val="E4EEF2"/>
            </a:solidFill>
            <a:prstDash val="solid"/>
          </a:ln>
        </p:spPr>
      </p:sp>
      <p:sp>
        <p:nvSpPr>
          <p:cNvPr id="18" name="Text 14"/>
          <p:cNvSpPr txBox="1"/>
          <p:nvPr/>
        </p:nvSpPr>
        <p:spPr>
          <a:xfrm>
            <a:off x="7269480" y="4343400"/>
            <a:ext cx="210312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Independencia</a:t>
            </a:r>
            <a:endParaRPr lang="en-US" sz="1100" dirty="0"/>
          </a:p>
        </p:txBody>
      </p:sp>
      <p:sp>
        <p:nvSpPr>
          <p:cNvPr id="19" name="Shape 15"/>
          <p:cNvSpPr/>
          <p:nvPr/>
        </p:nvSpPr>
        <p:spPr>
          <a:xfrm>
            <a:off x="9509760" y="4343400"/>
            <a:ext cx="2103120" cy="365760"/>
          </a:xfrm>
          <a:prstGeom prst="roundRect">
            <a:avLst>
              <a:gd name="adj" fmla="val 50000"/>
            </a:avLst>
          </a:prstGeom>
          <a:solidFill>
            <a:srgbClr val="E4EEF2"/>
          </a:solidFill>
          <a:ln w="12700">
            <a:solidFill>
              <a:srgbClr val="E4EEF2"/>
            </a:solidFill>
            <a:prstDash val="solid"/>
          </a:ln>
        </p:spPr>
      </p:sp>
      <p:sp>
        <p:nvSpPr>
          <p:cNvPr id="20" name="Text 16"/>
          <p:cNvSpPr txBox="1"/>
          <p:nvPr/>
        </p:nvSpPr>
        <p:spPr>
          <a:xfrm>
            <a:off x="9509760" y="4343400"/>
            <a:ext cx="2103120" cy="365760"/>
          </a:xfrm>
          <a:prstGeom prst="rect">
            <a:avLst/>
          </a:prstGeom>
          <a:noFill/>
          <a:ln/>
        </p:spPr>
        <p:txBody>
          <a:bodyPr wrap="square" lIns="0" tIns="0" rIns="0" bIns="0" rtlCol="0" anchor="ctr"/>
          <a:lstStyle/>
          <a:p>
            <a:pPr algn="ctr" indent="0" marL="0">
              <a:buNone/>
            </a:pPr>
            <a:r>
              <a:rPr lang="en-US" sz="1100" b="1" dirty="0">
                <a:solidFill>
                  <a:srgbClr val="065A82"/>
                </a:solidFill>
                <a:latin typeface="Calibri" pitchFamily="34" charset="0"/>
                <a:ea typeface="Calibri" pitchFamily="34" charset="-122"/>
                <a:cs typeface="Calibri" pitchFamily="34" charset="-120"/>
              </a:rPr>
              <a:t>Sin multicolinealidad</a:t>
            </a:r>
            <a:endParaRPr lang="en-US" sz="1100" dirty="0"/>
          </a:p>
        </p:txBody>
      </p:sp>
      <p:sp>
        <p:nvSpPr>
          <p:cNvPr id="21" name="Shape 17"/>
          <p:cNvSpPr/>
          <p:nvPr/>
        </p:nvSpPr>
        <p:spPr>
          <a:xfrm>
            <a:off x="548640" y="4892040"/>
            <a:ext cx="11091672" cy="914400"/>
          </a:xfrm>
          <a:prstGeom prst="rect">
            <a:avLst/>
          </a:prstGeom>
          <a:solidFill>
            <a:srgbClr val="E4EEF2"/>
          </a:solidFill>
          <a:ln w="12700">
            <a:solidFill>
              <a:srgbClr val="E4EEF2"/>
            </a:solidFill>
            <a:prstDash val="solid"/>
          </a:ln>
        </p:spPr>
      </p:sp>
      <p:sp>
        <p:nvSpPr>
          <p:cNvPr id="22" name="Shape 18"/>
          <p:cNvSpPr/>
          <p:nvPr/>
        </p:nvSpPr>
        <p:spPr>
          <a:xfrm>
            <a:off x="548640" y="4892040"/>
            <a:ext cx="64008" cy="914400"/>
          </a:xfrm>
          <a:prstGeom prst="rect">
            <a:avLst/>
          </a:prstGeom>
          <a:solidFill>
            <a:srgbClr val="1C7293"/>
          </a:solidFill>
          <a:ln w="12700">
            <a:solidFill>
              <a:srgbClr val="1C7293"/>
            </a:solidFill>
            <a:prstDash val="solid"/>
          </a:ln>
        </p:spPr>
      </p:sp>
      <p:sp>
        <p:nvSpPr>
          <p:cNvPr id="23" name="Text 19"/>
          <p:cNvSpPr txBox="1"/>
          <p:nvPr/>
        </p:nvSpPr>
        <p:spPr>
          <a:xfrm>
            <a:off x="749808" y="4892040"/>
            <a:ext cx="10771632" cy="914400"/>
          </a:xfrm>
          <a:prstGeom prst="rect">
            <a:avLst/>
          </a:prstGeom>
          <a:noFill/>
          <a:ln/>
        </p:spPr>
        <p:txBody>
          <a:bodyPr wrap="square" lIns="0" tIns="0" rIns="0" bIns="0" rtlCol="0" anchor="ctr"/>
          <a:lstStyle/>
          <a:p>
            <a:pPr indent="0" marL="0">
              <a:buNone/>
            </a:pPr>
            <a:r>
              <a:rPr lang="en-US" sz="1300" b="1" dirty="0">
                <a:solidFill>
                  <a:srgbClr val="1E2A44"/>
                </a:solidFill>
                <a:latin typeface="Calibri" pitchFamily="34" charset="0"/>
                <a:ea typeface="Calibri" pitchFamily="34" charset="-122"/>
                <a:cs typeface="Calibri" pitchFamily="34" charset="-120"/>
              </a:rPr>
              <a:t>Hoy solo miramos cómo se ve. La sesión 5 está dedicada a diagnosticar cada supuesto y qué hacer cuando falla. Nunca reportes un modelo sin ver sus residuos.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PARTE 3 · CUIDADOS AL INTERPRETAR</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Cómo reportar un modelo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29</a:t>
            </a:r>
            <a:endParaRPr lang="en-US" sz="800" dirty="0"/>
          </a:p>
        </p:txBody>
      </p:sp>
      <p:sp>
        <p:nvSpPr>
          <p:cNvPr id="7" name="Shape 4"/>
          <p:cNvSpPr/>
          <p:nvPr/>
        </p:nvSpPr>
        <p:spPr>
          <a:xfrm>
            <a:off x="548640" y="1508760"/>
            <a:ext cx="310896" cy="310896"/>
          </a:xfrm>
          <a:prstGeom prst="ellipse">
            <a:avLst/>
          </a:prstGeom>
          <a:solidFill>
            <a:srgbClr val="065A82"/>
          </a:solidFill>
          <a:ln w="12700">
            <a:solidFill>
              <a:srgbClr val="065A82"/>
            </a:solidFill>
            <a:prstDash val="solid"/>
          </a:ln>
        </p:spPr>
      </p:sp>
      <p:sp>
        <p:nvSpPr>
          <p:cNvPr id="8" name="Text 5"/>
          <p:cNvSpPr txBox="1"/>
          <p:nvPr/>
        </p:nvSpPr>
        <p:spPr>
          <a:xfrm>
            <a:off x="548640" y="15087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24128" y="1490472"/>
            <a:ext cx="5010912" cy="274320"/>
          </a:xfrm>
          <a:prstGeom prst="rect">
            <a:avLst/>
          </a:prstGeom>
          <a:noFill/>
          <a:ln/>
        </p:spPr>
        <p:txBody>
          <a:bodyPr wrap="square" lIns="0" tIns="0" rIns="0" bIns="0" rtlCol="0" anchor="t"/>
          <a:lstStyle/>
          <a:p>
            <a:pPr indent="0" marL="0">
              <a:buNone/>
            </a:pPr>
            <a:r>
              <a:rPr lang="en-US" sz="1400" b="1" dirty="0">
                <a:solidFill>
                  <a:srgbClr val="21295C"/>
                </a:solidFill>
                <a:latin typeface="Cambria" pitchFamily="34" charset="0"/>
                <a:ea typeface="Cambria" pitchFamily="34" charset="-122"/>
                <a:cs typeface="Cambria" pitchFamily="34" charset="-120"/>
              </a:rPr>
              <a:t>Modelo y muestra</a:t>
            </a:r>
            <a:endParaRPr lang="en-US" sz="1400" dirty="0"/>
          </a:p>
        </p:txBody>
      </p:sp>
      <p:sp>
        <p:nvSpPr>
          <p:cNvPr id="10" name="Text 7"/>
          <p:cNvSpPr txBox="1"/>
          <p:nvPr/>
        </p:nvSpPr>
        <p:spPr>
          <a:xfrm>
            <a:off x="1024128" y="1764792"/>
            <a:ext cx="5010912" cy="621792"/>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Qué variables, cuántos casos y cuántos se perdieron por NA.</a:t>
            </a:r>
            <a:endParaRPr lang="en-US" sz="1150" dirty="0"/>
          </a:p>
        </p:txBody>
      </p:sp>
      <p:sp>
        <p:nvSpPr>
          <p:cNvPr id="11" name="Shape 8"/>
          <p:cNvSpPr/>
          <p:nvPr/>
        </p:nvSpPr>
        <p:spPr>
          <a:xfrm>
            <a:off x="548640" y="2404872"/>
            <a:ext cx="310896" cy="310896"/>
          </a:xfrm>
          <a:prstGeom prst="ellipse">
            <a:avLst/>
          </a:prstGeom>
          <a:solidFill>
            <a:srgbClr val="065A82"/>
          </a:solidFill>
          <a:ln w="12700">
            <a:solidFill>
              <a:srgbClr val="065A82"/>
            </a:solidFill>
            <a:prstDash val="solid"/>
          </a:ln>
        </p:spPr>
      </p:sp>
      <p:sp>
        <p:nvSpPr>
          <p:cNvPr id="12" name="Text 9"/>
          <p:cNvSpPr txBox="1"/>
          <p:nvPr/>
        </p:nvSpPr>
        <p:spPr>
          <a:xfrm>
            <a:off x="548640" y="2404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24128" y="2386584"/>
            <a:ext cx="5010912" cy="274320"/>
          </a:xfrm>
          <a:prstGeom prst="rect">
            <a:avLst/>
          </a:prstGeom>
          <a:noFill/>
          <a:ln/>
        </p:spPr>
        <p:txBody>
          <a:bodyPr wrap="square" lIns="0" tIns="0" rIns="0" bIns="0" rtlCol="0" anchor="t"/>
          <a:lstStyle/>
          <a:p>
            <a:pPr indent="0" marL="0">
              <a:buNone/>
            </a:pPr>
            <a:r>
              <a:rPr lang="en-US" sz="1400" b="1" dirty="0">
                <a:solidFill>
                  <a:srgbClr val="21295C"/>
                </a:solidFill>
                <a:latin typeface="Cambria" pitchFamily="34" charset="0"/>
                <a:ea typeface="Cambria" pitchFamily="34" charset="-122"/>
                <a:cs typeface="Cambria" pitchFamily="34" charset="-120"/>
              </a:rPr>
              <a:t>Estimación con su IC</a:t>
            </a:r>
            <a:endParaRPr lang="en-US" sz="1400" dirty="0"/>
          </a:p>
        </p:txBody>
      </p:sp>
      <p:sp>
        <p:nvSpPr>
          <p:cNvPr id="14" name="Text 11"/>
          <p:cNvSpPr txBox="1"/>
          <p:nvPr/>
        </p:nvSpPr>
        <p:spPr>
          <a:xfrm>
            <a:off x="1024128" y="2660904"/>
            <a:ext cx="5010912" cy="621792"/>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En las unidades de la variable, no solo “p &lt; 0,05”.</a:t>
            </a:r>
            <a:endParaRPr lang="en-US" sz="1150" dirty="0"/>
          </a:p>
        </p:txBody>
      </p:sp>
      <p:sp>
        <p:nvSpPr>
          <p:cNvPr id="15" name="Shape 12"/>
          <p:cNvSpPr/>
          <p:nvPr/>
        </p:nvSpPr>
        <p:spPr>
          <a:xfrm>
            <a:off x="548640" y="3300984"/>
            <a:ext cx="310896" cy="310896"/>
          </a:xfrm>
          <a:prstGeom prst="ellipse">
            <a:avLst/>
          </a:prstGeom>
          <a:solidFill>
            <a:srgbClr val="065A82"/>
          </a:solidFill>
          <a:ln w="12700">
            <a:solidFill>
              <a:srgbClr val="065A82"/>
            </a:solidFill>
            <a:prstDash val="solid"/>
          </a:ln>
        </p:spPr>
      </p:sp>
      <p:sp>
        <p:nvSpPr>
          <p:cNvPr id="16" name="Text 13"/>
          <p:cNvSpPr txBox="1"/>
          <p:nvPr/>
        </p:nvSpPr>
        <p:spPr>
          <a:xfrm>
            <a:off x="548640" y="33009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24128" y="3282696"/>
            <a:ext cx="5010912" cy="274320"/>
          </a:xfrm>
          <a:prstGeom prst="rect">
            <a:avLst/>
          </a:prstGeom>
          <a:noFill/>
          <a:ln/>
        </p:spPr>
        <p:txBody>
          <a:bodyPr wrap="square" lIns="0" tIns="0" rIns="0" bIns="0" rtlCol="0" anchor="t"/>
          <a:lstStyle/>
          <a:p>
            <a:pPr indent="0" marL="0">
              <a:buNone/>
            </a:pPr>
            <a:r>
              <a:rPr lang="en-US" sz="1400" b="1" dirty="0">
                <a:solidFill>
                  <a:srgbClr val="21295C"/>
                </a:solidFill>
                <a:latin typeface="Cambria" pitchFamily="34" charset="0"/>
                <a:ea typeface="Cambria" pitchFamily="34" charset="-122"/>
                <a:cs typeface="Cambria" pitchFamily="34" charset="-120"/>
              </a:rPr>
              <a:t>Ajuste</a:t>
            </a:r>
            <a:endParaRPr lang="en-US" sz="1400" dirty="0"/>
          </a:p>
        </p:txBody>
      </p:sp>
      <p:sp>
        <p:nvSpPr>
          <p:cNvPr id="18" name="Text 15"/>
          <p:cNvSpPr txBox="1"/>
          <p:nvPr/>
        </p:nvSpPr>
        <p:spPr>
          <a:xfrm>
            <a:off x="1024128" y="3557016"/>
            <a:ext cx="5010912" cy="621792"/>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R² ajustado (y error residual en las unidades de Y).</a:t>
            </a:r>
            <a:endParaRPr lang="en-US" sz="1150" dirty="0"/>
          </a:p>
        </p:txBody>
      </p:sp>
      <p:sp>
        <p:nvSpPr>
          <p:cNvPr id="19" name="Shape 16"/>
          <p:cNvSpPr/>
          <p:nvPr/>
        </p:nvSpPr>
        <p:spPr>
          <a:xfrm>
            <a:off x="548640" y="4197096"/>
            <a:ext cx="310896" cy="310896"/>
          </a:xfrm>
          <a:prstGeom prst="ellipse">
            <a:avLst/>
          </a:prstGeom>
          <a:solidFill>
            <a:srgbClr val="065A82"/>
          </a:solidFill>
          <a:ln w="12700">
            <a:solidFill>
              <a:srgbClr val="065A82"/>
            </a:solidFill>
            <a:prstDash val="solid"/>
          </a:ln>
        </p:spPr>
      </p:sp>
      <p:sp>
        <p:nvSpPr>
          <p:cNvPr id="20" name="Text 17"/>
          <p:cNvSpPr txBox="1"/>
          <p:nvPr/>
        </p:nvSpPr>
        <p:spPr>
          <a:xfrm>
            <a:off x="548640" y="41970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24128" y="4178808"/>
            <a:ext cx="5010912" cy="274320"/>
          </a:xfrm>
          <a:prstGeom prst="rect">
            <a:avLst/>
          </a:prstGeom>
          <a:noFill/>
          <a:ln/>
        </p:spPr>
        <p:txBody>
          <a:bodyPr wrap="square" lIns="0" tIns="0" rIns="0" bIns="0" rtlCol="0" anchor="t"/>
          <a:lstStyle/>
          <a:p>
            <a:pPr indent="0" marL="0">
              <a:buNone/>
            </a:pPr>
            <a:r>
              <a:rPr lang="en-US" sz="1400" b="1" dirty="0">
                <a:solidFill>
                  <a:srgbClr val="21295C"/>
                </a:solidFill>
                <a:latin typeface="Cambria" pitchFamily="34" charset="0"/>
                <a:ea typeface="Cambria" pitchFamily="34" charset="-122"/>
                <a:cs typeface="Cambria" pitchFamily="34" charset="-120"/>
              </a:rPr>
              <a:t>Advertencia de interpretación</a:t>
            </a:r>
            <a:endParaRPr lang="en-US" sz="1400" dirty="0"/>
          </a:p>
        </p:txBody>
      </p:sp>
      <p:sp>
        <p:nvSpPr>
          <p:cNvPr id="22" name="Text 19"/>
          <p:cNvSpPr txBox="1"/>
          <p:nvPr/>
        </p:nvSpPr>
        <p:spPr>
          <a:xfrm>
            <a:off x="1024128" y="4453128"/>
            <a:ext cx="5010912" cy="621792"/>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Asociación, no causa; rango de los datos.</a:t>
            </a:r>
            <a:endParaRPr lang="en-US" sz="1150" dirty="0"/>
          </a:p>
        </p:txBody>
      </p:sp>
      <p:sp>
        <p:nvSpPr>
          <p:cNvPr id="23" name="Shape 20"/>
          <p:cNvSpPr/>
          <p:nvPr/>
        </p:nvSpPr>
        <p:spPr>
          <a:xfrm>
            <a:off x="548640" y="5093208"/>
            <a:ext cx="310896" cy="310896"/>
          </a:xfrm>
          <a:prstGeom prst="ellipse">
            <a:avLst/>
          </a:prstGeom>
          <a:solidFill>
            <a:srgbClr val="065A82"/>
          </a:solidFill>
          <a:ln w="12700">
            <a:solidFill>
              <a:srgbClr val="065A82"/>
            </a:solidFill>
            <a:prstDash val="solid"/>
          </a:ln>
        </p:spPr>
      </p:sp>
      <p:sp>
        <p:nvSpPr>
          <p:cNvPr id="24" name="Text 21"/>
          <p:cNvSpPr txBox="1"/>
          <p:nvPr/>
        </p:nvSpPr>
        <p:spPr>
          <a:xfrm>
            <a:off x="548640" y="50932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24128" y="5074920"/>
            <a:ext cx="5010912" cy="274320"/>
          </a:xfrm>
          <a:prstGeom prst="rect">
            <a:avLst/>
          </a:prstGeom>
          <a:noFill/>
          <a:ln/>
        </p:spPr>
        <p:txBody>
          <a:bodyPr wrap="square" lIns="0" tIns="0" rIns="0" bIns="0" rtlCol="0" anchor="t"/>
          <a:lstStyle/>
          <a:p>
            <a:pPr indent="0" marL="0">
              <a:buNone/>
            </a:pPr>
            <a:r>
              <a:rPr lang="en-US" sz="1400" b="1" dirty="0">
                <a:solidFill>
                  <a:srgbClr val="21295C"/>
                </a:solidFill>
                <a:latin typeface="Cambria" pitchFamily="34" charset="0"/>
                <a:ea typeface="Cambria" pitchFamily="34" charset="-122"/>
                <a:cs typeface="Cambria" pitchFamily="34" charset="-120"/>
              </a:rPr>
              <a:t>Tabla o gráfico de coeficientes</a:t>
            </a:r>
            <a:endParaRPr lang="en-US" sz="1400" dirty="0"/>
          </a:p>
        </p:txBody>
      </p:sp>
      <p:sp>
        <p:nvSpPr>
          <p:cNvPr id="26" name="Text 23"/>
          <p:cNvSpPr txBox="1"/>
          <p:nvPr/>
        </p:nvSpPr>
        <p:spPr>
          <a:xfrm>
            <a:off x="1024128" y="5349240"/>
            <a:ext cx="5010912" cy="621792"/>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Ordenado y con etiquetas legibles.</a:t>
            </a:r>
            <a:endParaRPr lang="en-US" sz="1150" dirty="0"/>
          </a:p>
        </p:txBody>
      </p:sp>
      <p:sp>
        <p:nvSpPr>
          <p:cNvPr id="27" name="Shape 24"/>
          <p:cNvSpPr/>
          <p:nvPr/>
        </p:nvSpPr>
        <p:spPr>
          <a:xfrm>
            <a:off x="6400800" y="1417320"/>
            <a:ext cx="5239512" cy="2286000"/>
          </a:xfrm>
          <a:prstGeom prst="roundRect">
            <a:avLst>
              <a:gd name="adj" fmla="val 2800"/>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8" name="Shape 25"/>
          <p:cNvSpPr/>
          <p:nvPr/>
        </p:nvSpPr>
        <p:spPr>
          <a:xfrm>
            <a:off x="6400800" y="1417320"/>
            <a:ext cx="64008" cy="2286000"/>
          </a:xfrm>
          <a:prstGeom prst="rect">
            <a:avLst/>
          </a:prstGeom>
          <a:solidFill>
            <a:srgbClr val="B7791F"/>
          </a:solidFill>
          <a:ln w="12700">
            <a:solidFill>
              <a:srgbClr val="B7791F"/>
            </a:solidFill>
            <a:prstDash val="solid"/>
          </a:ln>
        </p:spPr>
      </p:sp>
      <p:sp>
        <p:nvSpPr>
          <p:cNvPr id="29" name="Text 26"/>
          <p:cNvSpPr txBox="1"/>
          <p:nvPr/>
        </p:nvSpPr>
        <p:spPr>
          <a:xfrm>
            <a:off x="6675120" y="1600200"/>
            <a:ext cx="4572000" cy="228600"/>
          </a:xfrm>
          <a:prstGeom prst="rect">
            <a:avLst/>
          </a:prstGeom>
          <a:noFill/>
          <a:ln/>
        </p:spPr>
        <p:txBody>
          <a:bodyPr wrap="square" lIns="0" tIns="0" rIns="0" bIns="0" rtlCol="0" anchor="ctr"/>
          <a:lstStyle/>
          <a:p>
            <a:pPr indent="0" marL="0">
              <a:buNone/>
            </a:pPr>
            <a:r>
              <a:rPr lang="en-US" sz="900" b="1" spc="200" kern="0" dirty="0">
                <a:solidFill>
                  <a:srgbClr val="B7791F"/>
                </a:solidFill>
                <a:latin typeface="Calibri" pitchFamily="34" charset="0"/>
                <a:ea typeface="Calibri" pitchFamily="34" charset="-122"/>
                <a:cs typeface="Calibri" pitchFamily="34" charset="-120"/>
              </a:rPr>
              <a:t>FRASE MODELO</a:t>
            </a:r>
            <a:endParaRPr lang="en-US" sz="900" dirty="0"/>
          </a:p>
        </p:txBody>
      </p:sp>
      <p:sp>
        <p:nvSpPr>
          <p:cNvPr id="30" name="Text 27"/>
          <p:cNvSpPr txBox="1"/>
          <p:nvPr/>
        </p:nvSpPr>
        <p:spPr>
          <a:xfrm>
            <a:off x="6675120" y="1920240"/>
            <a:ext cx="4754880" cy="1737360"/>
          </a:xfrm>
          <a:prstGeom prst="rect">
            <a:avLst/>
          </a:prstGeom>
          <a:noFill/>
          <a:ln/>
        </p:spPr>
        <p:txBody>
          <a:bodyPr wrap="square" lIns="0" tIns="0" rIns="0" bIns="0" rtlCol="0" anchor="t"/>
          <a:lstStyle/>
          <a:p>
            <a:pPr indent="0" marL="0">
              <a:buNone/>
            </a:pPr>
            <a:r>
              <a:rPr lang="en-US" sz="1350" i="1" dirty="0">
                <a:solidFill>
                  <a:srgbClr val="1E2A44"/>
                </a:solidFill>
                <a:latin typeface="Calibri" pitchFamily="34" charset="0"/>
                <a:ea typeface="Calibri" pitchFamily="34" charset="-122"/>
                <a:cs typeface="Calibri" pitchFamily="34" charset="-120"/>
              </a:rPr>
              <a:t>“Manteniendo constante el nivel, la satisfacción con la supervisión, la beca, el área y la edad, cada hora semanal adicional de investigación se asoció con 0,52 meses menos hasta la titulación (IC 95%: −0,70 a −0,34; n = 194).”</a:t>
            </a:r>
            <a:endParaRPr lang="en-US" sz="1350" dirty="0"/>
          </a:p>
        </p:txBody>
      </p:sp>
      <p:sp>
        <p:nvSpPr>
          <p:cNvPr id="31" name="Shape 28"/>
          <p:cNvSpPr/>
          <p:nvPr/>
        </p:nvSpPr>
        <p:spPr>
          <a:xfrm>
            <a:off x="6400800" y="3931920"/>
            <a:ext cx="5239512" cy="906018"/>
          </a:xfrm>
          <a:prstGeom prst="roundRect">
            <a:avLst>
              <a:gd name="adj" fmla="val 6056"/>
            </a:avLst>
          </a:prstGeom>
          <a:solidFill>
            <a:srgbClr val="162044"/>
          </a:solidFill>
          <a:ln w="12700">
            <a:solidFill>
              <a:srgbClr val="162044"/>
            </a:solidFill>
            <a:prstDash val="solid"/>
          </a:ln>
        </p:spPr>
      </p:sp>
      <p:sp>
        <p:nvSpPr>
          <p:cNvPr id="32" name="Text 29"/>
          <p:cNvSpPr txBox="1"/>
          <p:nvPr/>
        </p:nvSpPr>
        <p:spPr>
          <a:xfrm>
            <a:off x="6583680" y="4059936"/>
            <a:ext cx="4873752" cy="595122"/>
          </a:xfrm>
          <a:prstGeom prst="rect">
            <a:avLst/>
          </a:prstGeom>
          <a:noFill/>
          <a:ln/>
        </p:spPr>
        <p:txBody>
          <a:bodyPr wrap="square" lIns="0" tIns="0" rIns="0" bIns="0" rtlCol="0" anchor="t"/>
          <a:lstStyle/>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nobs</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(m3)                      </a:t>
            </a:r>
            <a:pPr indent="0" marL="0">
              <a:lnSpc>
                <a:spcPts val="1562"/>
              </a:lnSpc>
              <a:buNone/>
            </a:pPr>
            <a:r>
              <a:rPr lang="en-US" sz="1100" i="1" dirty="0">
                <a:solidFill>
                  <a:srgbClr val="8196BC"/>
                </a:solidFill>
                <a:latin typeface="Courier New" pitchFamily="34" charset="0"/>
                <a:ea typeface="Courier New" pitchFamily="34" charset="-122"/>
                <a:cs typeface="Courier New" pitchFamily="34" charset="-120"/>
              </a:rPr>
              <a:t># 194</a:t>
            </a:r>
            <a:endParaRPr lang="en-US" sz="1100" dirty="0"/>
          </a:p>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glance</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(m3)$adj.r.squared      </a:t>
            </a:r>
            <a:pPr indent="0" marL="0">
              <a:lnSpc>
                <a:spcPts val="1562"/>
              </a:lnSpc>
              <a:buNone/>
            </a:pPr>
            <a:r>
              <a:rPr lang="en-US" sz="1100" i="1" dirty="0">
                <a:solidFill>
                  <a:srgbClr val="8196BC"/>
                </a:solidFill>
                <a:latin typeface="Courier New" pitchFamily="34" charset="0"/>
                <a:ea typeface="Courier New" pitchFamily="34" charset="-122"/>
                <a:cs typeface="Courier New" pitchFamily="34" charset="-120"/>
              </a:rPr>
              <a:t># 0.791</a:t>
            </a:r>
            <a:endParaRPr lang="en-US" sz="1100" dirty="0"/>
          </a:p>
          <a:p>
            <a:pPr indent="0" marL="0">
              <a:lnSpc>
                <a:spcPts val="1562"/>
              </a:lnSpc>
              <a:buNone/>
            </a:pPr>
            <a:r>
              <a:rPr lang="en-US" sz="1100" dirty="0">
                <a:solidFill>
                  <a:srgbClr val="7DD3FC"/>
                </a:solidFill>
                <a:latin typeface="Courier New" pitchFamily="34" charset="0"/>
                <a:ea typeface="Courier New" pitchFamily="34" charset="-122"/>
                <a:cs typeface="Courier New" pitchFamily="34" charset="-120"/>
              </a:rPr>
              <a:t>confint</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(m3)[</a:t>
            </a:r>
            <a:pPr indent="0" marL="0">
              <a:lnSpc>
                <a:spcPts val="1562"/>
              </a:lnSpc>
              <a:buNone/>
            </a:pPr>
            <a:r>
              <a:rPr lang="en-US" sz="1100" dirty="0">
                <a:solidFill>
                  <a:srgbClr val="F2C97D"/>
                </a:solidFill>
                <a:latin typeface="Courier New" pitchFamily="34" charset="0"/>
                <a:ea typeface="Courier New" pitchFamily="34" charset="-122"/>
                <a:cs typeface="Courier New" pitchFamily="34" charset="-120"/>
              </a:rPr>
              <a:t>"horas_investigacion_sem"</a:t>
            </a:r>
            <a:pPr indent="0" marL="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p:txBody>
      </p:sp>
      <p:sp>
        <p:nvSpPr>
          <p:cNvPr id="33" name="Shape 30"/>
          <p:cNvSpPr/>
          <p:nvPr/>
        </p:nvSpPr>
        <p:spPr>
          <a:xfrm>
            <a:off x="6400800" y="5257800"/>
            <a:ext cx="5239512" cy="731520"/>
          </a:xfrm>
          <a:prstGeom prst="rect">
            <a:avLst/>
          </a:prstGeom>
          <a:solidFill>
            <a:srgbClr val="E4EEF2"/>
          </a:solidFill>
          <a:ln w="12700">
            <a:solidFill>
              <a:srgbClr val="E4EEF2"/>
            </a:solidFill>
            <a:prstDash val="solid"/>
          </a:ln>
        </p:spPr>
      </p:sp>
      <p:sp>
        <p:nvSpPr>
          <p:cNvPr id="34" name="Shape 31"/>
          <p:cNvSpPr/>
          <p:nvPr/>
        </p:nvSpPr>
        <p:spPr>
          <a:xfrm>
            <a:off x="6400800" y="5257800"/>
            <a:ext cx="64008" cy="731520"/>
          </a:xfrm>
          <a:prstGeom prst="rect">
            <a:avLst/>
          </a:prstGeom>
          <a:solidFill>
            <a:srgbClr val="1C7293"/>
          </a:solidFill>
          <a:ln w="12700">
            <a:solidFill>
              <a:srgbClr val="1C7293"/>
            </a:solidFill>
            <a:prstDash val="solid"/>
          </a:ln>
        </p:spPr>
      </p:sp>
      <p:sp>
        <p:nvSpPr>
          <p:cNvPr id="35" name="Text 32"/>
          <p:cNvSpPr txBox="1"/>
          <p:nvPr/>
        </p:nvSpPr>
        <p:spPr>
          <a:xfrm>
            <a:off x="6601968" y="5257800"/>
            <a:ext cx="4919472" cy="731520"/>
          </a:xfrm>
          <a:prstGeom prst="rect">
            <a:avLst/>
          </a:prstGeom>
          <a:noFill/>
          <a:ln/>
        </p:spPr>
        <p:txBody>
          <a:bodyPr wrap="square" lIns="0" tIns="0" rIns="0" bIns="0" rtlCol="0" anchor="ctr"/>
          <a:lstStyle/>
          <a:p>
            <a:pPr indent="0" marL="0">
              <a:buNone/>
            </a:pPr>
            <a:r>
              <a:rPr lang="en-US" sz="1250" i="1" dirty="0">
                <a:solidFill>
                  <a:srgbClr val="1E2A44"/>
                </a:solidFill>
                <a:latin typeface="Calibri" pitchFamily="34" charset="0"/>
                <a:ea typeface="Calibri" pitchFamily="34" charset="-122"/>
                <a:cs typeface="Calibri" pitchFamily="34" charset="-120"/>
              </a:rPr>
              <a:t>En la sesión 7 esto saldrá solo desde un reporte Quarto.</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INTEGRACIÓN Y 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La receta: del dato al modelo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30</a:t>
            </a:r>
            <a:endParaRPr lang="en-US" sz="800" dirty="0"/>
          </a:p>
        </p:txBody>
      </p:sp>
      <p:sp>
        <p:nvSpPr>
          <p:cNvPr id="7" name="Shape 4"/>
          <p:cNvSpPr/>
          <p:nvPr/>
        </p:nvSpPr>
        <p:spPr>
          <a:xfrm>
            <a:off x="548640" y="1463040"/>
            <a:ext cx="3584448" cy="2011680"/>
          </a:xfrm>
          <a:prstGeom prst="roundRect">
            <a:avLst>
              <a:gd name="adj" fmla="val 318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777240" y="1691640"/>
            <a:ext cx="457200" cy="457200"/>
          </a:xfrm>
          <a:prstGeom prst="ellipse">
            <a:avLst/>
          </a:prstGeom>
          <a:solidFill>
            <a:srgbClr val="B7791F"/>
          </a:solidFill>
          <a:ln w="12700">
            <a:solidFill>
              <a:srgbClr val="B7791F"/>
            </a:solidFill>
            <a:prstDash val="solid"/>
          </a:ln>
        </p:spPr>
      </p:sp>
      <p:sp>
        <p:nvSpPr>
          <p:cNvPr id="9" name="Text 6"/>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1417320" y="1737360"/>
            <a:ext cx="260604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Explora</a:t>
            </a:r>
            <a:endParaRPr lang="en-US" sz="1700" dirty="0"/>
          </a:p>
        </p:txBody>
      </p:sp>
      <p:sp>
        <p:nvSpPr>
          <p:cNvPr id="11" name="Text 8"/>
          <p:cNvSpPr txBox="1"/>
          <p:nvPr/>
        </p:nvSpPr>
        <p:spPr>
          <a:xfrm>
            <a:off x="777240" y="2377440"/>
            <a:ext cx="315468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Grafica y mira la correlación antes de modelar.</a:t>
            </a:r>
            <a:endParaRPr lang="en-US" sz="1300" dirty="0"/>
          </a:p>
        </p:txBody>
      </p:sp>
      <p:sp>
        <p:nvSpPr>
          <p:cNvPr id="12" name="Shape 9"/>
          <p:cNvSpPr/>
          <p:nvPr/>
        </p:nvSpPr>
        <p:spPr>
          <a:xfrm>
            <a:off x="4297680" y="1463040"/>
            <a:ext cx="3584448" cy="2011680"/>
          </a:xfrm>
          <a:prstGeom prst="roundRect">
            <a:avLst>
              <a:gd name="adj" fmla="val 318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Shape 10"/>
          <p:cNvSpPr/>
          <p:nvPr/>
        </p:nvSpPr>
        <p:spPr>
          <a:xfrm>
            <a:off x="4526280" y="1691640"/>
            <a:ext cx="457200" cy="457200"/>
          </a:xfrm>
          <a:prstGeom prst="ellipse">
            <a:avLst/>
          </a:prstGeom>
          <a:solidFill>
            <a:srgbClr val="065A82"/>
          </a:solidFill>
          <a:ln w="12700">
            <a:solidFill>
              <a:srgbClr val="065A82"/>
            </a:solidFill>
            <a:prstDash val="solid"/>
          </a:ln>
        </p:spPr>
      </p:sp>
      <p:sp>
        <p:nvSpPr>
          <p:cNvPr id="14" name="Text 11"/>
          <p:cNvSpPr txBox="1"/>
          <p:nvPr/>
        </p:nvSpPr>
        <p:spPr>
          <a:xfrm>
            <a:off x="452628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5166360" y="1737360"/>
            <a:ext cx="260604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Ajusta lo simple</a:t>
            </a:r>
            <a:endParaRPr lang="en-US" sz="1700" dirty="0"/>
          </a:p>
        </p:txBody>
      </p:sp>
      <p:sp>
        <p:nvSpPr>
          <p:cNvPr id="16" name="Text 13"/>
          <p:cNvSpPr txBox="1"/>
          <p:nvPr/>
        </p:nvSpPr>
        <p:spPr>
          <a:xfrm>
            <a:off x="4526280" y="2377440"/>
            <a:ext cx="315468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lm(y ~ x) y lee summary().</a:t>
            </a:r>
            <a:endParaRPr lang="en-US" sz="1300" dirty="0"/>
          </a:p>
        </p:txBody>
      </p:sp>
      <p:sp>
        <p:nvSpPr>
          <p:cNvPr id="17" name="Shape 14"/>
          <p:cNvSpPr/>
          <p:nvPr/>
        </p:nvSpPr>
        <p:spPr>
          <a:xfrm>
            <a:off x="8046720" y="1463040"/>
            <a:ext cx="3584448" cy="2011680"/>
          </a:xfrm>
          <a:prstGeom prst="roundRect">
            <a:avLst>
              <a:gd name="adj" fmla="val 318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Shape 15"/>
          <p:cNvSpPr/>
          <p:nvPr/>
        </p:nvSpPr>
        <p:spPr>
          <a:xfrm>
            <a:off x="8275320" y="1691640"/>
            <a:ext cx="457200" cy="457200"/>
          </a:xfrm>
          <a:prstGeom prst="ellipse">
            <a:avLst/>
          </a:prstGeom>
          <a:solidFill>
            <a:srgbClr val="065A82"/>
          </a:solidFill>
          <a:ln w="12700">
            <a:solidFill>
              <a:srgbClr val="065A82"/>
            </a:solidFill>
            <a:prstDash val="solid"/>
          </a:ln>
        </p:spPr>
      </p:sp>
      <p:sp>
        <p:nvSpPr>
          <p:cNvPr id="19" name="Text 16"/>
          <p:cNvSpPr txBox="1"/>
          <p:nvPr/>
        </p:nvSpPr>
        <p:spPr>
          <a:xfrm>
            <a:off x="827532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8915400" y="1737360"/>
            <a:ext cx="260604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Agrega variables</a:t>
            </a:r>
            <a:endParaRPr lang="en-US" sz="1700" dirty="0"/>
          </a:p>
        </p:txBody>
      </p:sp>
      <p:sp>
        <p:nvSpPr>
          <p:cNvPr id="21" name="Text 18"/>
          <p:cNvSpPr txBox="1"/>
          <p:nvPr/>
        </p:nvSpPr>
        <p:spPr>
          <a:xfrm>
            <a:off x="8275320" y="2377440"/>
            <a:ext cx="315468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Las que importan y la teoría respalda.</a:t>
            </a:r>
            <a:endParaRPr lang="en-US" sz="1300" dirty="0"/>
          </a:p>
        </p:txBody>
      </p:sp>
      <p:sp>
        <p:nvSpPr>
          <p:cNvPr id="22" name="Shape 19"/>
          <p:cNvSpPr/>
          <p:nvPr/>
        </p:nvSpPr>
        <p:spPr>
          <a:xfrm>
            <a:off x="548640" y="3703320"/>
            <a:ext cx="3584448" cy="2011680"/>
          </a:xfrm>
          <a:prstGeom prst="roundRect">
            <a:avLst>
              <a:gd name="adj" fmla="val 318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3" name="Shape 20"/>
          <p:cNvSpPr/>
          <p:nvPr/>
        </p:nvSpPr>
        <p:spPr>
          <a:xfrm>
            <a:off x="777240" y="3931920"/>
            <a:ext cx="457200" cy="457200"/>
          </a:xfrm>
          <a:prstGeom prst="ellipse">
            <a:avLst/>
          </a:prstGeom>
          <a:solidFill>
            <a:srgbClr val="065A82"/>
          </a:solidFill>
          <a:ln w="12700">
            <a:solidFill>
              <a:srgbClr val="065A82"/>
            </a:solidFill>
            <a:prstDash val="solid"/>
          </a:ln>
        </p:spPr>
      </p:sp>
      <p:sp>
        <p:nvSpPr>
          <p:cNvPr id="24" name="Text 21"/>
          <p:cNvSpPr txBox="1"/>
          <p:nvPr/>
        </p:nvSpPr>
        <p:spPr>
          <a:xfrm>
            <a:off x="77724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1417320" y="3977640"/>
            <a:ext cx="260604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Interpreta</a:t>
            </a:r>
            <a:endParaRPr lang="en-US" sz="1700" dirty="0"/>
          </a:p>
        </p:txBody>
      </p:sp>
      <p:sp>
        <p:nvSpPr>
          <p:cNvPr id="26" name="Text 23"/>
          <p:cNvSpPr txBox="1"/>
          <p:nvPr/>
        </p:nvSpPr>
        <p:spPr>
          <a:xfrm>
            <a:off x="777240" y="4617720"/>
            <a:ext cx="315468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Unidades, “en promedio”, “manteniendo constante”.</a:t>
            </a:r>
            <a:endParaRPr lang="en-US" sz="1300" dirty="0"/>
          </a:p>
        </p:txBody>
      </p:sp>
      <p:sp>
        <p:nvSpPr>
          <p:cNvPr id="27" name="Shape 24"/>
          <p:cNvSpPr/>
          <p:nvPr/>
        </p:nvSpPr>
        <p:spPr>
          <a:xfrm>
            <a:off x="4297680" y="3703320"/>
            <a:ext cx="3584448" cy="2011680"/>
          </a:xfrm>
          <a:prstGeom prst="roundRect">
            <a:avLst>
              <a:gd name="adj" fmla="val 318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8" name="Shape 25"/>
          <p:cNvSpPr/>
          <p:nvPr/>
        </p:nvSpPr>
        <p:spPr>
          <a:xfrm>
            <a:off x="4526280" y="3931920"/>
            <a:ext cx="457200" cy="457200"/>
          </a:xfrm>
          <a:prstGeom prst="ellipse">
            <a:avLst/>
          </a:prstGeom>
          <a:solidFill>
            <a:srgbClr val="065A82"/>
          </a:solidFill>
          <a:ln w="12700">
            <a:solidFill>
              <a:srgbClr val="065A82"/>
            </a:solidFill>
            <a:prstDash val="solid"/>
          </a:ln>
        </p:spPr>
      </p:sp>
      <p:sp>
        <p:nvSpPr>
          <p:cNvPr id="29" name="Text 26"/>
          <p:cNvSpPr txBox="1"/>
          <p:nvPr/>
        </p:nvSpPr>
        <p:spPr>
          <a:xfrm>
            <a:off x="452628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7"/>
          <p:cNvSpPr txBox="1"/>
          <p:nvPr/>
        </p:nvSpPr>
        <p:spPr>
          <a:xfrm>
            <a:off x="5166360" y="3977640"/>
            <a:ext cx="260604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Mira los residuos</a:t>
            </a:r>
            <a:endParaRPr lang="en-US" sz="1700" dirty="0"/>
          </a:p>
        </p:txBody>
      </p:sp>
      <p:sp>
        <p:nvSpPr>
          <p:cNvPr id="31" name="Text 28"/>
          <p:cNvSpPr txBox="1"/>
          <p:nvPr/>
        </p:nvSpPr>
        <p:spPr>
          <a:xfrm>
            <a:off x="4526280" y="4617720"/>
            <a:ext cx="315468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Puerta a la sesión 5.</a:t>
            </a:r>
            <a:endParaRPr lang="en-US" sz="1300" dirty="0"/>
          </a:p>
        </p:txBody>
      </p:sp>
      <p:sp>
        <p:nvSpPr>
          <p:cNvPr id="32" name="Shape 29"/>
          <p:cNvSpPr/>
          <p:nvPr/>
        </p:nvSpPr>
        <p:spPr>
          <a:xfrm>
            <a:off x="8046720" y="3703320"/>
            <a:ext cx="3584448" cy="2011680"/>
          </a:xfrm>
          <a:prstGeom prst="roundRect">
            <a:avLst>
              <a:gd name="adj" fmla="val 318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33" name="Shape 30"/>
          <p:cNvSpPr/>
          <p:nvPr/>
        </p:nvSpPr>
        <p:spPr>
          <a:xfrm>
            <a:off x="8275320" y="3931920"/>
            <a:ext cx="457200" cy="457200"/>
          </a:xfrm>
          <a:prstGeom prst="ellipse">
            <a:avLst/>
          </a:prstGeom>
          <a:solidFill>
            <a:srgbClr val="065A82"/>
          </a:solidFill>
          <a:ln w="12700">
            <a:solidFill>
              <a:srgbClr val="065A82"/>
            </a:solidFill>
            <a:prstDash val="solid"/>
          </a:ln>
        </p:spPr>
      </p:sp>
      <p:sp>
        <p:nvSpPr>
          <p:cNvPr id="34" name="Text 31"/>
          <p:cNvSpPr txBox="1"/>
          <p:nvPr/>
        </p:nvSpPr>
        <p:spPr>
          <a:xfrm>
            <a:off x="8275320" y="3931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5" name="Text 32"/>
          <p:cNvSpPr txBox="1"/>
          <p:nvPr/>
        </p:nvSpPr>
        <p:spPr>
          <a:xfrm>
            <a:off x="8915400" y="3977640"/>
            <a:ext cx="2606040" cy="41148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Reporta</a:t>
            </a:r>
            <a:endParaRPr lang="en-US" sz="1700" dirty="0"/>
          </a:p>
        </p:txBody>
      </p:sp>
      <p:sp>
        <p:nvSpPr>
          <p:cNvPr id="36" name="Text 33"/>
          <p:cNvSpPr txBox="1"/>
          <p:nvPr/>
        </p:nvSpPr>
        <p:spPr>
          <a:xfrm>
            <a:off x="8275320" y="4617720"/>
            <a:ext cx="3154680" cy="1005840"/>
          </a:xfrm>
          <a:prstGeom prst="rect">
            <a:avLst/>
          </a:prstGeom>
          <a:noFill/>
          <a:ln/>
        </p:spPr>
        <p:txBody>
          <a:bodyPr wrap="square" lIns="0" tIns="0" rIns="0" bIns="0" rtlCol="0" anchor="t"/>
          <a:lstStyle/>
          <a:p>
            <a:pPr indent="0" marL="0">
              <a:buNone/>
            </a:pPr>
            <a:r>
              <a:rPr lang="en-US" sz="1300" dirty="0">
                <a:solidFill>
                  <a:srgbClr val="1E2A44"/>
                </a:solidFill>
                <a:latin typeface="Calibri" pitchFamily="34" charset="0"/>
                <a:ea typeface="Calibri" pitchFamily="34" charset="-122"/>
                <a:cs typeface="Calibri" pitchFamily="34" charset="-120"/>
              </a:rPr>
              <a:t>Estimación + IC + lenguaje de asociación.</a:t>
            </a:r>
            <a:endParaRPr lang="en-US" sz="1300" dirty="0"/>
          </a:p>
        </p:txBody>
      </p:sp>
      <p:sp>
        <p:nvSpPr>
          <p:cNvPr id="37" name="Shape 34"/>
          <p:cNvSpPr/>
          <p:nvPr/>
        </p:nvSpPr>
        <p:spPr>
          <a:xfrm>
            <a:off x="548640" y="5852160"/>
            <a:ext cx="11091672" cy="457200"/>
          </a:xfrm>
          <a:prstGeom prst="rect">
            <a:avLst/>
          </a:prstGeom>
          <a:solidFill>
            <a:srgbClr val="E4EEF2"/>
          </a:solidFill>
          <a:ln w="12700">
            <a:solidFill>
              <a:srgbClr val="E4EEF2"/>
            </a:solidFill>
            <a:prstDash val="solid"/>
          </a:ln>
        </p:spPr>
      </p:sp>
      <p:sp>
        <p:nvSpPr>
          <p:cNvPr id="38" name="Shape 35"/>
          <p:cNvSpPr/>
          <p:nvPr/>
        </p:nvSpPr>
        <p:spPr>
          <a:xfrm>
            <a:off x="548640" y="5852160"/>
            <a:ext cx="64008" cy="457200"/>
          </a:xfrm>
          <a:prstGeom prst="rect">
            <a:avLst/>
          </a:prstGeom>
          <a:solidFill>
            <a:srgbClr val="1C7293"/>
          </a:solidFill>
          <a:ln w="12700">
            <a:solidFill>
              <a:srgbClr val="1C7293"/>
            </a:solidFill>
            <a:prstDash val="solid"/>
          </a:ln>
        </p:spPr>
      </p:sp>
      <p:sp>
        <p:nvSpPr>
          <p:cNvPr id="39" name="Text 36"/>
          <p:cNvSpPr txBox="1"/>
          <p:nvPr/>
        </p:nvSpPr>
        <p:spPr>
          <a:xfrm>
            <a:off x="749808" y="5852160"/>
            <a:ext cx="10771632" cy="457200"/>
          </a:xfrm>
          <a:prstGeom prst="rect">
            <a:avLst/>
          </a:prstGeom>
          <a:noFill/>
          <a:ln/>
        </p:spPr>
        <p:txBody>
          <a:bodyPr wrap="square" lIns="0" tIns="0" rIns="0" bIns="0" rtlCol="0" anchor="ctr"/>
          <a:lstStyle/>
          <a:p>
            <a:pPr indent="0" marL="0">
              <a:buNone/>
            </a:pPr>
            <a:r>
              <a:rPr lang="en-US" sz="1300" b="1" dirty="0">
                <a:solidFill>
                  <a:srgbClr val="1E2A44"/>
                </a:solidFill>
                <a:latin typeface="Calibri" pitchFamily="34" charset="0"/>
                <a:ea typeface="Calibri" pitchFamily="34" charset="-122"/>
                <a:cs typeface="Calibri" pitchFamily="34" charset="-120"/>
              </a:rPr>
              <a:t>Modelar es un proceso: lm() es solo el paso 2 de 6.</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INTEGRACIÓN Y 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Caso integrado: del modelo simple al múltiple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31</a:t>
            </a:r>
            <a:endParaRPr lang="en-US" sz="800" dirty="0"/>
          </a:p>
        </p:txBody>
      </p:sp>
      <p:sp>
        <p:nvSpPr>
          <p:cNvPr id="7" name="Shape 4"/>
          <p:cNvSpPr/>
          <p:nvPr/>
        </p:nvSpPr>
        <p:spPr>
          <a:xfrm>
            <a:off x="548640" y="1417320"/>
            <a:ext cx="6583680" cy="2393823"/>
          </a:xfrm>
          <a:prstGeom prst="roundRect">
            <a:avLst>
              <a:gd name="adj" fmla="val 2292"/>
            </a:avLst>
          </a:prstGeom>
          <a:solidFill>
            <a:srgbClr val="162044"/>
          </a:solidFill>
          <a:ln w="12700">
            <a:solidFill>
              <a:srgbClr val="162044"/>
            </a:solidFill>
            <a:prstDash val="solid"/>
          </a:ln>
        </p:spPr>
      </p:sp>
      <p:sp>
        <p:nvSpPr>
          <p:cNvPr id="8" name="Text 5"/>
          <p:cNvSpPr txBox="1"/>
          <p:nvPr/>
        </p:nvSpPr>
        <p:spPr>
          <a:xfrm>
            <a:off x="731520" y="1545336"/>
            <a:ext cx="6217920" cy="2082927"/>
          </a:xfrm>
          <a:prstGeom prst="rect">
            <a:avLst/>
          </a:prstGeom>
          <a:noFill/>
          <a:ln/>
        </p:spPr>
        <p:txBody>
          <a:bodyPr wrap="square" lIns="0" tIns="0" rIns="0" bIns="0" rtlCol="0" anchor="t"/>
          <a:lstStyle/>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dd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&lt;-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egresados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|&gt;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drop_na</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formulas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&lt;-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list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simple   = meses_titulacion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horas_investigacion_sem,</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con_nivel = meses_titulacion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horas_investigacion_sem + nivel,</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completo = meses_titulacion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horas_investigacion_sem + nivel +</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sat_supervision + beca + area + edad_ingreso)</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modelos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&lt;-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map</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(formulas,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f)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lm</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(f, data = dd))</a:t>
            </a:r>
            <a:endParaRPr lang="en-US" sz="1050" dirty="0"/>
          </a:p>
          <a:p>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map_dfr</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(modelos, </a:t>
            </a:r>
            <a:pPr indent="0" marL="0">
              <a:lnSpc>
                <a:spcPts val="1491"/>
              </a:lnSpc>
              <a:buNone/>
            </a:pPr>
            <a:r>
              <a:rPr lang="en-US" sz="1050" dirty="0">
                <a:solidFill>
                  <a:srgbClr val="A5D8FF"/>
                </a:solidFill>
                <a:latin typeface="Courier New" pitchFamily="34" charset="0"/>
                <a:ea typeface="Courier New" pitchFamily="34" charset="-122"/>
                <a:cs typeface="Courier New" pitchFamily="34" charset="-120"/>
              </a:rPr>
              <a:t>\(</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 </a:t>
            </a:r>
            <a:pPr indent="0" marL="0">
              <a:lnSpc>
                <a:spcPts val="1491"/>
              </a:lnSpc>
              <a:buNone/>
            </a:pPr>
            <a:r>
              <a:rPr lang="en-US" sz="1050" dirty="0">
                <a:solidFill>
                  <a:srgbClr val="7DD3FC"/>
                </a:solidFill>
                <a:latin typeface="Courier New" pitchFamily="34" charset="0"/>
                <a:ea typeface="Courier New" pitchFamily="34" charset="-122"/>
                <a:cs typeface="Courier New" pitchFamily="34" charset="-120"/>
              </a:rPr>
              <a:t>glance</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(m), .id = </a:t>
            </a:r>
            <a:pPr indent="0" marL="0">
              <a:lnSpc>
                <a:spcPts val="1491"/>
              </a:lnSpc>
              <a:buNone/>
            </a:pPr>
            <a:r>
              <a:rPr lang="en-US" sz="1050" dirty="0">
                <a:solidFill>
                  <a:srgbClr val="F2C97D"/>
                </a:solidFill>
                <a:latin typeface="Courier New" pitchFamily="34" charset="0"/>
                <a:ea typeface="Courier New" pitchFamily="34" charset="-122"/>
                <a:cs typeface="Courier New" pitchFamily="34" charset="-120"/>
              </a:rPr>
              <a:t>"modelo"</a:t>
            </a:r>
            <a:pPr indent="0" marL="0">
              <a:lnSpc>
                <a:spcPts val="1491"/>
              </a:lnSpc>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9" name="Text 6"/>
          <p:cNvSpPr txBox="1"/>
          <p:nvPr/>
        </p:nvSpPr>
        <p:spPr>
          <a:xfrm>
            <a:off x="7498080" y="1371600"/>
            <a:ext cx="41148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TABLA COMPARATIVA (N = 194)</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498080" y="1691640"/>
          <a:ext cx="4142232" cy="914400"/>
        </p:xfrm>
        <a:graphic>
          <a:graphicData uri="http://schemas.openxmlformats.org/drawingml/2006/table">
            <a:tbl>
              <a:tblPr/>
              <a:tblGrid>
                <a:gridCol w="1234440"/>
                <a:gridCol w="822960"/>
                <a:gridCol w="822960"/>
                <a:gridCol w="1261872"/>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Modelo</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 aj.</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Coef. horas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r>
              <a:tr h="457200">
                <a:tc>
                  <a:txBody>
                    <a:bodyPr/>
                    <a:lstStyle/>
                    <a:p>
                      <a:pPr algn="l" indent="0" marL="0">
                        <a:buNone/>
                      </a:pPr>
                      <a:r>
                        <a:rPr lang="en-US" sz="1200" dirty="0">
                          <a:solidFill>
                            <a:srgbClr val="1E2A44"/>
                          </a:solidFill>
                          <a:latin typeface="Calibri" pitchFamily="34" charset="0"/>
                          <a:ea typeface="Calibri" pitchFamily="34" charset="-122"/>
                          <a:cs typeface="Calibri" pitchFamily="34" charset="-120"/>
                        </a:rPr>
                        <a:t>simple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44"/>
                          </a:solidFill>
                          <a:latin typeface="Calibri" pitchFamily="34" charset="0"/>
                          <a:ea typeface="Calibri" pitchFamily="34" charset="-122"/>
                          <a:cs typeface="Calibri" pitchFamily="34" charset="-120"/>
                        </a:rPr>
                        <a:t>0,223</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44"/>
                          </a:solidFill>
                          <a:latin typeface="Calibri" pitchFamily="34" charset="0"/>
                          <a:ea typeface="Calibri" pitchFamily="34" charset="-122"/>
                          <a:cs typeface="Calibri" pitchFamily="34" charset="-120"/>
                        </a:rPr>
                        <a:t>0,219</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44"/>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8A5A00"/>
                          </a:solidFill>
                          <a:latin typeface="Calibri" pitchFamily="34" charset="0"/>
                          <a:ea typeface="Calibri" pitchFamily="34" charset="-122"/>
                          <a:cs typeface="Calibri" pitchFamily="34" charset="-120"/>
                        </a:rPr>
                        <a:t>con nivel</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9E3B4"/>
                    </a:solidFill>
                  </a:tcPr>
                </a:tc>
                <a:tc>
                  <a:txBody>
                    <a:bodyPr/>
                    <a:lstStyle/>
                    <a:p>
                      <a:pPr algn="ctr" indent="0" marL="0">
                        <a:buNone/>
                      </a:pPr>
                      <a:r>
                        <a:rPr lang="en-US" sz="1200" dirty="0">
                          <a:solidFill>
                            <a:srgbClr val="8A5A00"/>
                          </a:solidFill>
                          <a:latin typeface="Calibri" pitchFamily="34" charset="0"/>
                          <a:ea typeface="Calibri" pitchFamily="34" charset="-122"/>
                          <a:cs typeface="Calibri" pitchFamily="34" charset="-120"/>
                        </a:rPr>
                        <a:t>0,735</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9E3B4"/>
                    </a:solidFill>
                  </a:tcPr>
                </a:tc>
                <a:tc>
                  <a:txBody>
                    <a:bodyPr/>
                    <a:lstStyle/>
                    <a:p>
                      <a:pPr algn="ctr" indent="0" marL="0">
                        <a:buNone/>
                      </a:pPr>
                      <a:r>
                        <a:rPr lang="en-US" sz="1200" dirty="0">
                          <a:solidFill>
                            <a:srgbClr val="8A5A00"/>
                          </a:solidFill>
                          <a:latin typeface="Calibri" pitchFamily="34" charset="0"/>
                          <a:ea typeface="Calibri" pitchFamily="34" charset="-122"/>
                          <a:cs typeface="Calibri" pitchFamily="34" charset="-120"/>
                        </a:rPr>
                        <a:t>0,732</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9E3B4"/>
                    </a:solidFill>
                  </a:tcPr>
                </a:tc>
                <a:tc>
                  <a:txBody>
                    <a:bodyPr/>
                    <a:lstStyle/>
                    <a:p>
                      <a:pPr algn="ctr" indent="0" marL="0">
                        <a:buNone/>
                      </a:pPr>
                      <a:r>
                        <a:rPr lang="en-US" sz="1200" dirty="0">
                          <a:solidFill>
                            <a:srgbClr val="8A5A00"/>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9E3B4"/>
                    </a:solidFill>
                  </a:tcPr>
                </a:tc>
              </a:tr>
              <a:tr h="457200">
                <a:tc>
                  <a:txBody>
                    <a:bodyPr/>
                    <a:lstStyle/>
                    <a:p>
                      <a:pPr algn="l" indent="0" marL="0">
                        <a:buNone/>
                      </a:pPr>
                      <a:r>
                        <a:rPr lang="en-US" sz="1200" dirty="0">
                          <a:solidFill>
                            <a:srgbClr val="1E2A44"/>
                          </a:solidFill>
                          <a:latin typeface="Calibri" pitchFamily="34" charset="0"/>
                          <a:ea typeface="Calibri" pitchFamily="34" charset="-122"/>
                          <a:cs typeface="Calibri" pitchFamily="34" charset="-120"/>
                        </a:rPr>
                        <a:t>completo</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44"/>
                          </a:solidFill>
                          <a:latin typeface="Calibri" pitchFamily="34" charset="0"/>
                          <a:ea typeface="Calibri" pitchFamily="34" charset="-122"/>
                          <a:cs typeface="Calibri" pitchFamily="34" charset="-120"/>
                        </a:rPr>
                        <a:t>0,799</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44"/>
                          </a:solidFill>
                          <a:latin typeface="Calibri" pitchFamily="34" charset="0"/>
                          <a:ea typeface="Calibri" pitchFamily="34" charset="-122"/>
                          <a:cs typeface="Calibri" pitchFamily="34" charset="-120"/>
                        </a:rPr>
                        <a:t>0,791</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44"/>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FFFFFF"/>
                    </a:solidFill>
                  </a:tcPr>
                </a:tc>
              </a:tr>
            </a:tbl>
          </a:graphicData>
        </a:graphic>
      </p:graphicFrame>
      <p:sp>
        <p:nvSpPr>
          <p:cNvPr id="11" name="Shape 7"/>
          <p:cNvSpPr/>
          <p:nvPr/>
        </p:nvSpPr>
        <p:spPr>
          <a:xfrm>
            <a:off x="7498080" y="3657600"/>
            <a:ext cx="4142232" cy="1691640"/>
          </a:xfrm>
          <a:prstGeom prst="roundRect">
            <a:avLst>
              <a:gd name="adj" fmla="val 3784"/>
            </a:avLst>
          </a:prstGeom>
          <a:solidFill>
            <a:srgbClr val="FBF1DC"/>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2" name="Text 8"/>
          <p:cNvSpPr txBox="1"/>
          <p:nvPr/>
        </p:nvSpPr>
        <p:spPr>
          <a:xfrm>
            <a:off x="7726680" y="3767328"/>
            <a:ext cx="3657600" cy="274320"/>
          </a:xfrm>
          <a:prstGeom prst="rect">
            <a:avLst/>
          </a:prstGeom>
          <a:noFill/>
          <a:ln/>
        </p:spPr>
        <p:txBody>
          <a:bodyPr wrap="square" lIns="0" tIns="0" rIns="0" bIns="0" rtlCol="0" anchor="t"/>
          <a:lstStyle/>
          <a:p>
            <a:pPr indent="0" marL="0">
              <a:buNone/>
            </a:pPr>
            <a:r>
              <a:rPr lang="en-US" sz="1400" b="1" dirty="0">
                <a:solidFill>
                  <a:srgbClr val="B7791F"/>
                </a:solidFill>
                <a:latin typeface="Cambria" pitchFamily="34" charset="0"/>
                <a:ea typeface="Cambria" pitchFamily="34" charset="-122"/>
                <a:cs typeface="Cambria" pitchFamily="34" charset="-120"/>
              </a:rPr>
              <a:t>Lectura</a:t>
            </a:r>
            <a:endParaRPr lang="en-US" sz="1400" dirty="0"/>
          </a:p>
        </p:txBody>
      </p:sp>
      <p:sp>
        <p:nvSpPr>
          <p:cNvPr id="13" name="Text 9"/>
          <p:cNvSpPr txBox="1"/>
          <p:nvPr/>
        </p:nvSpPr>
        <p:spPr>
          <a:xfrm>
            <a:off x="7726680" y="4114800"/>
            <a:ext cx="3703320" cy="1188720"/>
          </a:xfrm>
          <a:prstGeom prst="rect">
            <a:avLst/>
          </a:prstGeom>
          <a:noFill/>
          <a:ln/>
        </p:spPr>
        <p:txBody>
          <a:bodyPr wrap="square" lIns="0" tIns="0" rIns="0" bIns="0" rtlCol="0" anchor="t"/>
          <a:lstStyle/>
          <a:p>
            <a:pPr indent="0" marL="0">
              <a:buNone/>
            </a:pPr>
            <a:r>
              <a:rPr lang="en-US" sz="1250" dirty="0">
                <a:solidFill>
                  <a:srgbClr val="1E2A44"/>
                </a:solidFill>
                <a:latin typeface="Calibri" pitchFamily="34" charset="0"/>
                <a:ea typeface="Calibri" pitchFamily="34" charset="-122"/>
                <a:cs typeface="Calibri" pitchFamily="34" charset="-120"/>
              </a:rPr>
              <a:t>Al controlar por el nivel el coeficiente cambia de signo; después se mantiene estable. El R² ajustado sube poco más allá del nivel.</a:t>
            </a:r>
            <a:endParaRPr lang="en-US" sz="1250" dirty="0"/>
          </a:p>
        </p:txBody>
      </p:sp>
      <p:sp>
        <p:nvSpPr>
          <p:cNvPr id="14" name="Shape 10"/>
          <p:cNvSpPr/>
          <p:nvPr/>
        </p:nvSpPr>
        <p:spPr>
          <a:xfrm>
            <a:off x="548640" y="5440680"/>
            <a:ext cx="11091672" cy="594360"/>
          </a:xfrm>
          <a:prstGeom prst="rect">
            <a:avLst/>
          </a:prstGeom>
          <a:solidFill>
            <a:srgbClr val="E4EEF2"/>
          </a:solidFill>
          <a:ln w="12700">
            <a:solidFill>
              <a:srgbClr val="E4EEF2"/>
            </a:solidFill>
            <a:prstDash val="solid"/>
          </a:ln>
        </p:spPr>
      </p:sp>
      <p:sp>
        <p:nvSpPr>
          <p:cNvPr id="15" name="Shape 11"/>
          <p:cNvSpPr/>
          <p:nvPr/>
        </p:nvSpPr>
        <p:spPr>
          <a:xfrm>
            <a:off x="548640" y="5440680"/>
            <a:ext cx="64008" cy="594360"/>
          </a:xfrm>
          <a:prstGeom prst="rect">
            <a:avLst/>
          </a:prstGeom>
          <a:solidFill>
            <a:srgbClr val="1C7293"/>
          </a:solidFill>
          <a:ln w="12700">
            <a:solidFill>
              <a:srgbClr val="1C7293"/>
            </a:solidFill>
            <a:prstDash val="solid"/>
          </a:ln>
        </p:spPr>
      </p:sp>
      <p:sp>
        <p:nvSpPr>
          <p:cNvPr id="16" name="Text 12"/>
          <p:cNvSpPr txBox="1"/>
          <p:nvPr/>
        </p:nvSpPr>
        <p:spPr>
          <a:xfrm>
            <a:off x="749808" y="5440680"/>
            <a:ext cx="10771632" cy="594360"/>
          </a:xfrm>
          <a:prstGeom prst="rect">
            <a:avLst/>
          </a:prstGeom>
          <a:noFill/>
          <a:ln/>
        </p:spPr>
        <p:txBody>
          <a:bodyPr wrap="square" lIns="0" tIns="0" rIns="0" bIns="0" rtlCol="0" anchor="ctr"/>
          <a:lstStyle/>
          <a:p>
            <a:pPr indent="0" marL="0">
              <a:buNone/>
            </a:pPr>
            <a:r>
              <a:rPr lang="en-US" sz="1300" i="1" dirty="0">
                <a:solidFill>
                  <a:srgbClr val="1E2A44"/>
                </a:solidFill>
                <a:latin typeface="Calibri" pitchFamily="34" charset="0"/>
                <a:ea typeface="Calibri" pitchFamily="34" charset="-122"/>
                <a:cs typeface="Calibri" pitchFamily="34" charset="-120"/>
              </a:rPr>
              <a:t>Lista de fórmulas + map() + broom: sesiones 2 y 4 trabajando juntas.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INTEGRACIÓN Y 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Errores frecuentes y buenas prácticas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32</a:t>
            </a:r>
            <a:endParaRPr lang="en-US" sz="800" dirty="0"/>
          </a:p>
        </p:txBody>
      </p:sp>
      <p:sp>
        <p:nvSpPr>
          <p:cNvPr id="7" name="Shape 4"/>
          <p:cNvSpPr/>
          <p:nvPr/>
        </p:nvSpPr>
        <p:spPr>
          <a:xfrm>
            <a:off x="548640" y="1417320"/>
            <a:ext cx="11091672" cy="777240"/>
          </a:xfrm>
          <a:prstGeom prst="roundRect">
            <a:avLst>
              <a:gd name="adj" fmla="val 823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Shape 5"/>
          <p:cNvSpPr/>
          <p:nvPr/>
        </p:nvSpPr>
        <p:spPr>
          <a:xfrm>
            <a:off x="548640" y="1417320"/>
            <a:ext cx="64008" cy="777240"/>
          </a:xfrm>
          <a:prstGeom prst="rect">
            <a:avLst/>
          </a:prstGeom>
          <a:solidFill>
            <a:srgbClr val="B7791F"/>
          </a:solidFill>
          <a:ln w="12700">
            <a:solidFill>
              <a:srgbClr val="B7791F"/>
            </a:solidFill>
            <a:prstDash val="solid"/>
          </a:ln>
        </p:spPr>
      </p:sp>
      <p:sp>
        <p:nvSpPr>
          <p:cNvPr id="9" name="Text 6"/>
          <p:cNvSpPr txBox="1"/>
          <p:nvPr/>
        </p:nvSpPr>
        <p:spPr>
          <a:xfrm>
            <a:off x="822960" y="1417320"/>
            <a:ext cx="4572000" cy="7772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Interpretar sin unidades</a:t>
            </a:r>
            <a:endParaRPr lang="en-US" sz="1450" dirty="0"/>
          </a:p>
        </p:txBody>
      </p:sp>
      <p:sp>
        <p:nvSpPr>
          <p:cNvPr id="10" name="Text 7"/>
          <p:cNvSpPr txBox="1"/>
          <p:nvPr/>
        </p:nvSpPr>
        <p:spPr>
          <a:xfrm>
            <a:off x="5669280" y="1417320"/>
            <a:ext cx="5760720" cy="77724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Di cuántos meses por cada hora, “en promedio”.</a:t>
            </a:r>
            <a:endParaRPr lang="en-US" sz="1300" dirty="0"/>
          </a:p>
        </p:txBody>
      </p:sp>
      <p:sp>
        <p:nvSpPr>
          <p:cNvPr id="11" name="Shape 8"/>
          <p:cNvSpPr/>
          <p:nvPr/>
        </p:nvSpPr>
        <p:spPr>
          <a:xfrm>
            <a:off x="548640" y="2313432"/>
            <a:ext cx="11091672" cy="777240"/>
          </a:xfrm>
          <a:prstGeom prst="roundRect">
            <a:avLst>
              <a:gd name="adj" fmla="val 823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2" name="Shape 9"/>
          <p:cNvSpPr/>
          <p:nvPr/>
        </p:nvSpPr>
        <p:spPr>
          <a:xfrm>
            <a:off x="548640" y="2313432"/>
            <a:ext cx="64008" cy="777240"/>
          </a:xfrm>
          <a:prstGeom prst="rect">
            <a:avLst/>
          </a:prstGeom>
          <a:solidFill>
            <a:srgbClr val="B7791F"/>
          </a:solidFill>
          <a:ln w="12700">
            <a:solidFill>
              <a:srgbClr val="B7791F"/>
            </a:solidFill>
            <a:prstDash val="solid"/>
          </a:ln>
        </p:spPr>
      </p:sp>
      <p:sp>
        <p:nvSpPr>
          <p:cNvPr id="13" name="Text 10"/>
          <p:cNvSpPr txBox="1"/>
          <p:nvPr/>
        </p:nvSpPr>
        <p:spPr>
          <a:xfrm>
            <a:off x="822960" y="2313432"/>
            <a:ext cx="4572000" cy="7772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“No hay efecto” si p &gt; 0,05</a:t>
            </a:r>
            <a:endParaRPr lang="en-US" sz="1450" dirty="0"/>
          </a:p>
        </p:txBody>
      </p:sp>
      <p:sp>
        <p:nvSpPr>
          <p:cNvPr id="14" name="Text 11"/>
          <p:cNvSpPr txBox="1"/>
          <p:nvPr/>
        </p:nvSpPr>
        <p:spPr>
          <a:xfrm>
            <a:off x="5669280" y="2313432"/>
            <a:ext cx="5760720" cy="77724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Solo no hay evidencia suficiente: mira el intervalo.</a:t>
            </a:r>
            <a:endParaRPr lang="en-US" sz="1300" dirty="0"/>
          </a:p>
        </p:txBody>
      </p:sp>
      <p:sp>
        <p:nvSpPr>
          <p:cNvPr id="15" name="Shape 12"/>
          <p:cNvSpPr/>
          <p:nvPr/>
        </p:nvSpPr>
        <p:spPr>
          <a:xfrm>
            <a:off x="548640" y="3209544"/>
            <a:ext cx="11091672" cy="777240"/>
          </a:xfrm>
          <a:prstGeom prst="roundRect">
            <a:avLst>
              <a:gd name="adj" fmla="val 823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6" name="Shape 13"/>
          <p:cNvSpPr/>
          <p:nvPr/>
        </p:nvSpPr>
        <p:spPr>
          <a:xfrm>
            <a:off x="548640" y="3209544"/>
            <a:ext cx="64008" cy="777240"/>
          </a:xfrm>
          <a:prstGeom prst="rect">
            <a:avLst/>
          </a:prstGeom>
          <a:solidFill>
            <a:srgbClr val="B7791F"/>
          </a:solidFill>
          <a:ln w="12700">
            <a:solidFill>
              <a:srgbClr val="B7791F"/>
            </a:solidFill>
            <a:prstDash val="solid"/>
          </a:ln>
        </p:spPr>
      </p:sp>
      <p:sp>
        <p:nvSpPr>
          <p:cNvPr id="17" name="Text 14"/>
          <p:cNvSpPr txBox="1"/>
          <p:nvPr/>
        </p:nvSpPr>
        <p:spPr>
          <a:xfrm>
            <a:off x="822960" y="3209544"/>
            <a:ext cx="4572000" cy="7772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Comparar R² de modelos distintos</a:t>
            </a:r>
            <a:endParaRPr lang="en-US" sz="1450" dirty="0"/>
          </a:p>
        </p:txBody>
      </p:sp>
      <p:sp>
        <p:nvSpPr>
          <p:cNvPr id="18" name="Text 15"/>
          <p:cNvSpPr txBox="1"/>
          <p:nvPr/>
        </p:nvSpPr>
        <p:spPr>
          <a:xfrm>
            <a:off x="5669280" y="3209544"/>
            <a:ext cx="5760720" cy="77724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Distinto número de variables o de filas: usa el ajustado y los mismos casos.</a:t>
            </a:r>
            <a:endParaRPr lang="en-US" sz="1300" dirty="0"/>
          </a:p>
        </p:txBody>
      </p:sp>
      <p:sp>
        <p:nvSpPr>
          <p:cNvPr id="19" name="Shape 16"/>
          <p:cNvSpPr/>
          <p:nvPr/>
        </p:nvSpPr>
        <p:spPr>
          <a:xfrm>
            <a:off x="548640" y="4105656"/>
            <a:ext cx="11091672" cy="777240"/>
          </a:xfrm>
          <a:prstGeom prst="roundRect">
            <a:avLst>
              <a:gd name="adj" fmla="val 823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0" name="Shape 17"/>
          <p:cNvSpPr/>
          <p:nvPr/>
        </p:nvSpPr>
        <p:spPr>
          <a:xfrm>
            <a:off x="548640" y="4105656"/>
            <a:ext cx="64008" cy="777240"/>
          </a:xfrm>
          <a:prstGeom prst="rect">
            <a:avLst/>
          </a:prstGeom>
          <a:solidFill>
            <a:srgbClr val="B7791F"/>
          </a:solidFill>
          <a:ln w="12700">
            <a:solidFill>
              <a:srgbClr val="B7791F"/>
            </a:solidFill>
            <a:prstDash val="solid"/>
          </a:ln>
        </p:spPr>
      </p:sp>
      <p:sp>
        <p:nvSpPr>
          <p:cNvPr id="21" name="Text 18"/>
          <p:cNvSpPr txBox="1"/>
          <p:nvPr/>
        </p:nvSpPr>
        <p:spPr>
          <a:xfrm>
            <a:off x="822960" y="4105656"/>
            <a:ext cx="4572000" cy="7772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Interpretar el intercepto con X = 0 imposible</a:t>
            </a:r>
            <a:endParaRPr lang="en-US" sz="1450" dirty="0"/>
          </a:p>
        </p:txBody>
      </p:sp>
      <p:sp>
        <p:nvSpPr>
          <p:cNvPr id="22" name="Text 19"/>
          <p:cNvSpPr txBox="1"/>
          <p:nvPr/>
        </p:nvSpPr>
        <p:spPr>
          <a:xfrm>
            <a:off x="5669280" y="4105656"/>
            <a:ext cx="5760720" cy="77724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Si el cero no existe en los datos, es solo un ancla.</a:t>
            </a:r>
            <a:endParaRPr lang="en-US" sz="1300" dirty="0"/>
          </a:p>
        </p:txBody>
      </p:sp>
      <p:sp>
        <p:nvSpPr>
          <p:cNvPr id="23" name="Shape 20"/>
          <p:cNvSpPr/>
          <p:nvPr/>
        </p:nvSpPr>
        <p:spPr>
          <a:xfrm>
            <a:off x="548640" y="5001768"/>
            <a:ext cx="11091672" cy="777240"/>
          </a:xfrm>
          <a:prstGeom prst="roundRect">
            <a:avLst>
              <a:gd name="adj" fmla="val 8235"/>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4" name="Shape 21"/>
          <p:cNvSpPr/>
          <p:nvPr/>
        </p:nvSpPr>
        <p:spPr>
          <a:xfrm>
            <a:off x="548640" y="5001768"/>
            <a:ext cx="64008" cy="777240"/>
          </a:xfrm>
          <a:prstGeom prst="rect">
            <a:avLst/>
          </a:prstGeom>
          <a:solidFill>
            <a:srgbClr val="B7791F"/>
          </a:solidFill>
          <a:ln w="12700">
            <a:solidFill>
              <a:srgbClr val="B7791F"/>
            </a:solidFill>
            <a:prstDash val="solid"/>
          </a:ln>
        </p:spPr>
      </p:sp>
      <p:sp>
        <p:nvSpPr>
          <p:cNvPr id="25" name="Text 22"/>
          <p:cNvSpPr txBox="1"/>
          <p:nvPr/>
        </p:nvSpPr>
        <p:spPr>
          <a:xfrm>
            <a:off x="822960" y="5001768"/>
            <a:ext cx="4572000" cy="777240"/>
          </a:xfrm>
          <a:prstGeom prst="rect">
            <a:avLst/>
          </a:prstGeom>
          <a:noFill/>
          <a:ln/>
        </p:spPr>
        <p:txBody>
          <a:bodyPr wrap="square" lIns="0" tIns="0" rIns="0" bIns="0"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Olvidar la referencia de las dummies</a:t>
            </a:r>
            <a:endParaRPr lang="en-US" sz="1450" dirty="0"/>
          </a:p>
        </p:txBody>
      </p:sp>
      <p:sp>
        <p:nvSpPr>
          <p:cNvPr id="26" name="Text 23"/>
          <p:cNvSpPr txBox="1"/>
          <p:nvPr/>
        </p:nvSpPr>
        <p:spPr>
          <a:xfrm>
            <a:off x="5669280" y="5001768"/>
            <a:ext cx="5760720" cy="777240"/>
          </a:xfrm>
          <a:prstGeom prst="rect">
            <a:avLst/>
          </a:prstGeom>
          <a:noFill/>
          <a:ln/>
        </p:spPr>
        <p:txBody>
          <a:bodyPr wrap="square" lIns="0" tIns="0" rIns="0" bIns="0" rtlCol="0" anchor="ctr"/>
          <a:lstStyle/>
          <a:p>
            <a:pPr indent="0" marL="0">
              <a:buNone/>
            </a:pPr>
            <a:r>
              <a:rPr lang="en-US" sz="1300" dirty="0">
                <a:solidFill>
                  <a:srgbClr val="1E2A44"/>
                </a:solidFill>
                <a:latin typeface="Calibri" pitchFamily="34" charset="0"/>
                <a:ea typeface="Calibri" pitchFamily="34" charset="-122"/>
                <a:cs typeface="Calibri" pitchFamily="34" charset="-120"/>
              </a:rPr>
              <a:t>Cada coeficiente compara contra una categoría concreta.</a:t>
            </a:r>
            <a:endParaRPr lang="en-US" sz="1300" dirty="0"/>
          </a:p>
        </p:txBody>
      </p:sp>
      <p:sp>
        <p:nvSpPr>
          <p:cNvPr id="27" name="Shape 24"/>
          <p:cNvSpPr/>
          <p:nvPr/>
        </p:nvSpPr>
        <p:spPr>
          <a:xfrm>
            <a:off x="548640" y="5943600"/>
            <a:ext cx="11091672" cy="411480"/>
          </a:xfrm>
          <a:prstGeom prst="rect">
            <a:avLst/>
          </a:prstGeom>
          <a:solidFill>
            <a:srgbClr val="E4EEF2"/>
          </a:solidFill>
          <a:ln w="12700">
            <a:solidFill>
              <a:srgbClr val="E4EEF2"/>
            </a:solidFill>
            <a:prstDash val="solid"/>
          </a:ln>
        </p:spPr>
      </p:sp>
      <p:sp>
        <p:nvSpPr>
          <p:cNvPr id="28" name="Shape 25"/>
          <p:cNvSpPr/>
          <p:nvPr/>
        </p:nvSpPr>
        <p:spPr>
          <a:xfrm>
            <a:off x="548640" y="5943600"/>
            <a:ext cx="64008" cy="411480"/>
          </a:xfrm>
          <a:prstGeom prst="rect">
            <a:avLst/>
          </a:prstGeom>
          <a:solidFill>
            <a:srgbClr val="1C7293"/>
          </a:solidFill>
          <a:ln w="12700">
            <a:solidFill>
              <a:srgbClr val="1C7293"/>
            </a:solidFill>
            <a:prstDash val="solid"/>
          </a:ln>
        </p:spPr>
      </p:sp>
      <p:sp>
        <p:nvSpPr>
          <p:cNvPr id="29" name="Text 26"/>
          <p:cNvSpPr txBox="1"/>
          <p:nvPr/>
        </p:nvSpPr>
        <p:spPr>
          <a:xfrm>
            <a:off x="749808" y="5943600"/>
            <a:ext cx="10771632" cy="411480"/>
          </a:xfrm>
          <a:prstGeom prst="rect">
            <a:avLst/>
          </a:prstGeom>
          <a:noFill/>
          <a:ln/>
        </p:spPr>
        <p:txBody>
          <a:bodyPr wrap="square" lIns="0" tIns="0" rIns="0" bIns="0" rtlCol="0" anchor="ctr"/>
          <a:lstStyle/>
          <a:p>
            <a:pPr indent="0" marL="0">
              <a:buNone/>
            </a:pPr>
            <a:r>
              <a:rPr lang="en-US" sz="1200" b="1" dirty="0">
                <a:solidFill>
                  <a:srgbClr val="1E2A44"/>
                </a:solidFill>
                <a:latin typeface="Calibri" pitchFamily="34" charset="0"/>
                <a:ea typeface="Calibri" pitchFamily="34" charset="-122"/>
                <a:cs typeface="Calibri" pitchFamily="34" charset="-120"/>
              </a:rPr>
              <a:t>Buena práctica: ajusta y reporta siempre con código reproducible (script o Quarto).</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INTEGRACIÓN Y 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Ahora, a practicar (60 minutos)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33</a:t>
            </a:r>
            <a:endParaRPr lang="en-US" sz="800" dirty="0"/>
          </a:p>
        </p:txBody>
      </p:sp>
      <p:sp>
        <p:nvSpPr>
          <p:cNvPr id="7" name="Shape 4"/>
          <p:cNvSpPr/>
          <p:nvPr/>
        </p:nvSpPr>
        <p:spPr>
          <a:xfrm>
            <a:off x="548640" y="1417320"/>
            <a:ext cx="7040880" cy="658368"/>
          </a:xfrm>
          <a:prstGeom prst="roundRect">
            <a:avLst>
              <a:gd name="adj" fmla="val 972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777240" y="1417320"/>
            <a:ext cx="1097280" cy="658368"/>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Bloque 0</a:t>
            </a:r>
            <a:endParaRPr lang="en-US" sz="1100" dirty="0"/>
          </a:p>
        </p:txBody>
      </p:sp>
      <p:sp>
        <p:nvSpPr>
          <p:cNvPr id="9" name="Text 6"/>
          <p:cNvSpPr txBox="1"/>
          <p:nvPr/>
        </p:nvSpPr>
        <p:spPr>
          <a:xfrm>
            <a:off x="1828800" y="1417320"/>
            <a:ext cx="2194560" cy="65836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Preparación</a:t>
            </a:r>
            <a:endParaRPr lang="en-US" sz="1400" dirty="0"/>
          </a:p>
        </p:txBody>
      </p:sp>
      <p:sp>
        <p:nvSpPr>
          <p:cNvPr id="10" name="Text 7"/>
          <p:cNvSpPr txBox="1"/>
          <p:nvPr/>
        </p:nvSpPr>
        <p:spPr>
          <a:xfrm>
            <a:off x="4023360" y="1417320"/>
            <a:ext cx="2468880" cy="658368"/>
          </a:xfrm>
          <a:prstGeom prst="rect">
            <a:avLst/>
          </a:prstGeom>
          <a:noFill/>
          <a:ln/>
        </p:spPr>
        <p:txBody>
          <a:bodyPr wrap="square" lIns="0" tIns="0" rIns="0" bIns="0" rtlCol="0" anchor="ctr"/>
          <a:lstStyle/>
          <a:p>
            <a:pPr indent="0" marL="0">
              <a:buNone/>
            </a:pPr>
            <a:r>
              <a:rPr lang="en-US" sz="1150" dirty="0">
                <a:solidFill>
                  <a:srgbClr val="5B6B7F"/>
                </a:solidFill>
                <a:latin typeface="Calibri" pitchFamily="34" charset="0"/>
                <a:ea typeface="Calibri" pitchFamily="34" charset="-122"/>
                <a:cs typeface="Calibri" pitchFamily="34" charset="-120"/>
              </a:rPr>
              <a:t>R/sesion4.R y datos nuevos</a:t>
            </a:r>
            <a:endParaRPr lang="en-US" sz="1150" dirty="0"/>
          </a:p>
        </p:txBody>
      </p:sp>
      <p:sp>
        <p:nvSpPr>
          <p:cNvPr id="11" name="Text 8"/>
          <p:cNvSpPr txBox="1"/>
          <p:nvPr/>
        </p:nvSpPr>
        <p:spPr>
          <a:xfrm>
            <a:off x="6492240" y="1417320"/>
            <a:ext cx="914400" cy="658368"/>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12" name="Shape 9"/>
          <p:cNvSpPr/>
          <p:nvPr/>
        </p:nvSpPr>
        <p:spPr>
          <a:xfrm>
            <a:off x="548640" y="2167128"/>
            <a:ext cx="7040880" cy="658368"/>
          </a:xfrm>
          <a:prstGeom prst="roundRect">
            <a:avLst>
              <a:gd name="adj" fmla="val 972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3" name="Text 10"/>
          <p:cNvSpPr txBox="1"/>
          <p:nvPr/>
        </p:nvSpPr>
        <p:spPr>
          <a:xfrm>
            <a:off x="777240" y="2167128"/>
            <a:ext cx="1097280" cy="658368"/>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Bloque 1</a:t>
            </a:r>
            <a:endParaRPr lang="en-US" sz="1100" dirty="0"/>
          </a:p>
        </p:txBody>
      </p:sp>
      <p:sp>
        <p:nvSpPr>
          <p:cNvPr id="14" name="Text 11"/>
          <p:cNvSpPr txBox="1"/>
          <p:nvPr/>
        </p:nvSpPr>
        <p:spPr>
          <a:xfrm>
            <a:off x="1828800" y="2167128"/>
            <a:ext cx="2194560" cy="65836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Regresión simple</a:t>
            </a:r>
            <a:endParaRPr lang="en-US" sz="1400" dirty="0"/>
          </a:p>
        </p:txBody>
      </p:sp>
      <p:sp>
        <p:nvSpPr>
          <p:cNvPr id="15" name="Text 12"/>
          <p:cNvSpPr txBox="1"/>
          <p:nvPr/>
        </p:nvSpPr>
        <p:spPr>
          <a:xfrm>
            <a:off x="4023360" y="2167128"/>
            <a:ext cx="2468880" cy="658368"/>
          </a:xfrm>
          <a:prstGeom prst="rect">
            <a:avLst/>
          </a:prstGeom>
          <a:noFill/>
          <a:ln/>
        </p:spPr>
        <p:txBody>
          <a:bodyPr wrap="square" lIns="0" tIns="0" rIns="0" bIns="0" rtlCol="0" anchor="ctr"/>
          <a:lstStyle/>
          <a:p>
            <a:pPr indent="0" marL="0">
              <a:buNone/>
            </a:pPr>
            <a:r>
              <a:rPr lang="en-US" sz="1150" dirty="0">
                <a:solidFill>
                  <a:srgbClr val="5B6B7F"/>
                </a:solidFill>
                <a:latin typeface="Calibri" pitchFamily="34" charset="0"/>
                <a:ea typeface="Calibri" pitchFamily="34" charset="-122"/>
                <a:cs typeface="Calibri" pitchFamily="34" charset="-120"/>
              </a:rPr>
              <a:t>lm, summary, broom, predict</a:t>
            </a:r>
            <a:endParaRPr lang="en-US" sz="1150" dirty="0"/>
          </a:p>
        </p:txBody>
      </p:sp>
      <p:sp>
        <p:nvSpPr>
          <p:cNvPr id="16" name="Text 13"/>
          <p:cNvSpPr txBox="1"/>
          <p:nvPr/>
        </p:nvSpPr>
        <p:spPr>
          <a:xfrm>
            <a:off x="6492240" y="2167128"/>
            <a:ext cx="914400" cy="658368"/>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17" name="Shape 14"/>
          <p:cNvSpPr/>
          <p:nvPr/>
        </p:nvSpPr>
        <p:spPr>
          <a:xfrm>
            <a:off x="548640" y="2916936"/>
            <a:ext cx="7040880" cy="658368"/>
          </a:xfrm>
          <a:prstGeom prst="roundRect">
            <a:avLst>
              <a:gd name="adj" fmla="val 972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18" name="Text 15"/>
          <p:cNvSpPr txBox="1"/>
          <p:nvPr/>
        </p:nvSpPr>
        <p:spPr>
          <a:xfrm>
            <a:off x="777240" y="2916936"/>
            <a:ext cx="1097280" cy="658368"/>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Bloque 2</a:t>
            </a:r>
            <a:endParaRPr lang="en-US" sz="1100" dirty="0"/>
          </a:p>
        </p:txBody>
      </p:sp>
      <p:sp>
        <p:nvSpPr>
          <p:cNvPr id="19" name="Text 16"/>
          <p:cNvSpPr txBox="1"/>
          <p:nvPr/>
        </p:nvSpPr>
        <p:spPr>
          <a:xfrm>
            <a:off x="1828800" y="2916936"/>
            <a:ext cx="2194560" cy="65836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Regresión múltiple</a:t>
            </a:r>
            <a:endParaRPr lang="en-US" sz="1400" dirty="0"/>
          </a:p>
        </p:txBody>
      </p:sp>
      <p:sp>
        <p:nvSpPr>
          <p:cNvPr id="20" name="Text 17"/>
          <p:cNvSpPr txBox="1"/>
          <p:nvPr/>
        </p:nvSpPr>
        <p:spPr>
          <a:xfrm>
            <a:off x="4023360" y="2916936"/>
            <a:ext cx="2468880" cy="658368"/>
          </a:xfrm>
          <a:prstGeom prst="rect">
            <a:avLst/>
          </a:prstGeom>
          <a:noFill/>
          <a:ln/>
        </p:spPr>
        <p:txBody>
          <a:bodyPr wrap="square" lIns="0" tIns="0" rIns="0" bIns="0" rtlCol="0" anchor="ctr"/>
          <a:lstStyle/>
          <a:p>
            <a:pPr indent="0" marL="0">
              <a:buNone/>
            </a:pPr>
            <a:r>
              <a:rPr lang="en-US" sz="1150" dirty="0">
                <a:solidFill>
                  <a:srgbClr val="5B6B7F"/>
                </a:solidFill>
                <a:latin typeface="Calibri" pitchFamily="34" charset="0"/>
                <a:ea typeface="Calibri" pitchFamily="34" charset="-122"/>
                <a:cs typeface="Calibri" pitchFamily="34" charset="-120"/>
              </a:rPr>
              <a:t>confusión, dummies, R² ajustado</a:t>
            </a:r>
            <a:endParaRPr lang="en-US" sz="1150" dirty="0"/>
          </a:p>
        </p:txBody>
      </p:sp>
      <p:sp>
        <p:nvSpPr>
          <p:cNvPr id="21" name="Text 18"/>
          <p:cNvSpPr txBox="1"/>
          <p:nvPr/>
        </p:nvSpPr>
        <p:spPr>
          <a:xfrm>
            <a:off x="6492240" y="2916936"/>
            <a:ext cx="914400" cy="658368"/>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22" name="Shape 19"/>
          <p:cNvSpPr/>
          <p:nvPr/>
        </p:nvSpPr>
        <p:spPr>
          <a:xfrm>
            <a:off x="548640" y="3666744"/>
            <a:ext cx="7040880" cy="658368"/>
          </a:xfrm>
          <a:prstGeom prst="roundRect">
            <a:avLst>
              <a:gd name="adj" fmla="val 972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3" name="Text 20"/>
          <p:cNvSpPr txBox="1"/>
          <p:nvPr/>
        </p:nvSpPr>
        <p:spPr>
          <a:xfrm>
            <a:off x="777240" y="3666744"/>
            <a:ext cx="1097280" cy="658368"/>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Bloque 3</a:t>
            </a:r>
            <a:endParaRPr lang="en-US" sz="1100" dirty="0"/>
          </a:p>
        </p:txBody>
      </p:sp>
      <p:sp>
        <p:nvSpPr>
          <p:cNvPr id="24" name="Text 21"/>
          <p:cNvSpPr txBox="1"/>
          <p:nvPr/>
        </p:nvSpPr>
        <p:spPr>
          <a:xfrm>
            <a:off x="1828800" y="3666744"/>
            <a:ext cx="2194560" cy="65836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Cuidados y reporte</a:t>
            </a:r>
            <a:endParaRPr lang="en-US" sz="1400" dirty="0"/>
          </a:p>
        </p:txBody>
      </p:sp>
      <p:sp>
        <p:nvSpPr>
          <p:cNvPr id="25" name="Text 22"/>
          <p:cNvSpPr txBox="1"/>
          <p:nvPr/>
        </p:nvSpPr>
        <p:spPr>
          <a:xfrm>
            <a:off x="4023360" y="3666744"/>
            <a:ext cx="2468880" cy="658368"/>
          </a:xfrm>
          <a:prstGeom prst="rect">
            <a:avLst/>
          </a:prstGeom>
          <a:noFill/>
          <a:ln/>
        </p:spPr>
        <p:txBody>
          <a:bodyPr wrap="square" lIns="0" tIns="0" rIns="0" bIns="0" rtlCol="0" anchor="ctr"/>
          <a:lstStyle/>
          <a:p>
            <a:pPr indent="0" marL="0">
              <a:buNone/>
            </a:pPr>
            <a:r>
              <a:rPr lang="en-US" sz="1150" dirty="0">
                <a:solidFill>
                  <a:srgbClr val="5B6B7F"/>
                </a:solidFill>
                <a:latin typeface="Calibri" pitchFamily="34" charset="0"/>
                <a:ea typeface="Calibri" pitchFamily="34" charset="-122"/>
                <a:cs typeface="Calibri" pitchFamily="34" charset="-120"/>
              </a:rPr>
              <a:t>residuos, extrapolación, tabla</a:t>
            </a:r>
            <a:endParaRPr lang="en-US" sz="1150" dirty="0"/>
          </a:p>
        </p:txBody>
      </p:sp>
      <p:sp>
        <p:nvSpPr>
          <p:cNvPr id="26" name="Text 23"/>
          <p:cNvSpPr txBox="1"/>
          <p:nvPr/>
        </p:nvSpPr>
        <p:spPr>
          <a:xfrm>
            <a:off x="6492240" y="3666744"/>
            <a:ext cx="914400" cy="658368"/>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10 min</a:t>
            </a:r>
            <a:endParaRPr lang="en-US" sz="1300" dirty="0"/>
          </a:p>
        </p:txBody>
      </p:sp>
      <p:sp>
        <p:nvSpPr>
          <p:cNvPr id="27" name="Shape 24"/>
          <p:cNvSpPr/>
          <p:nvPr/>
        </p:nvSpPr>
        <p:spPr>
          <a:xfrm>
            <a:off x="548640" y="4416552"/>
            <a:ext cx="7040880" cy="658368"/>
          </a:xfrm>
          <a:prstGeom prst="roundRect">
            <a:avLst>
              <a:gd name="adj" fmla="val 972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28" name="Text 25"/>
          <p:cNvSpPr txBox="1"/>
          <p:nvPr/>
        </p:nvSpPr>
        <p:spPr>
          <a:xfrm>
            <a:off x="777240" y="4416552"/>
            <a:ext cx="1097280" cy="658368"/>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Cierre</a:t>
            </a:r>
            <a:endParaRPr lang="en-US" sz="1100" dirty="0"/>
          </a:p>
        </p:txBody>
      </p:sp>
      <p:sp>
        <p:nvSpPr>
          <p:cNvPr id="29" name="Text 26"/>
          <p:cNvSpPr txBox="1"/>
          <p:nvPr/>
        </p:nvSpPr>
        <p:spPr>
          <a:xfrm>
            <a:off x="1828800" y="4416552"/>
            <a:ext cx="2194560" cy="65836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Dudas y commit</a:t>
            </a:r>
            <a:endParaRPr lang="en-US" sz="1400" dirty="0"/>
          </a:p>
        </p:txBody>
      </p:sp>
      <p:sp>
        <p:nvSpPr>
          <p:cNvPr id="30" name="Text 27"/>
          <p:cNvSpPr txBox="1"/>
          <p:nvPr/>
        </p:nvSpPr>
        <p:spPr>
          <a:xfrm>
            <a:off x="4023360" y="4416552"/>
            <a:ext cx="2468880" cy="658368"/>
          </a:xfrm>
          <a:prstGeom prst="rect">
            <a:avLst/>
          </a:prstGeom>
          <a:noFill/>
          <a:ln/>
        </p:spPr>
        <p:txBody>
          <a:bodyPr wrap="square" lIns="0" tIns="0" rIns="0" bIns="0" rtlCol="0" anchor="ctr"/>
          <a:lstStyle/>
          <a:p>
            <a:pPr indent="0" marL="0">
              <a:buNone/>
            </a:pPr>
            <a:r>
              <a:rPr lang="en-US" sz="1150" dirty="0">
                <a:solidFill>
                  <a:srgbClr val="5B6B7F"/>
                </a:solidFill>
                <a:latin typeface="Calibri" pitchFamily="34" charset="0"/>
                <a:ea typeface="Calibri" pitchFamily="34" charset="-122"/>
                <a:cs typeface="Calibri" pitchFamily="34" charset="-120"/>
              </a:rPr>
              <a:t>git add · commit</a:t>
            </a:r>
            <a:endParaRPr lang="en-US" sz="1150" dirty="0"/>
          </a:p>
        </p:txBody>
      </p:sp>
      <p:sp>
        <p:nvSpPr>
          <p:cNvPr id="31" name="Text 28"/>
          <p:cNvSpPr txBox="1"/>
          <p:nvPr/>
        </p:nvSpPr>
        <p:spPr>
          <a:xfrm>
            <a:off x="6492240" y="4416552"/>
            <a:ext cx="914400" cy="658368"/>
          </a:xfrm>
          <a:prstGeom prst="rect">
            <a:avLst/>
          </a:prstGeom>
          <a:noFill/>
          <a:ln/>
        </p:spPr>
        <p:txBody>
          <a:bodyPr wrap="square" lIns="0" tIns="0" rIns="0" bIns="0" rtlCol="0" anchor="ctr"/>
          <a:lstStyle/>
          <a:p>
            <a:pPr algn="r" indent="0" marL="0">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32" name="Shape 29"/>
          <p:cNvSpPr/>
          <p:nvPr/>
        </p:nvSpPr>
        <p:spPr>
          <a:xfrm>
            <a:off x="7772400" y="1417320"/>
            <a:ext cx="3867912" cy="3611880"/>
          </a:xfrm>
          <a:prstGeom prst="roundRect">
            <a:avLst>
              <a:gd name="adj" fmla="val 1772"/>
            </a:avLst>
          </a:prstGeom>
          <a:solidFill>
            <a:srgbClr val="FFFFFF"/>
          </a:solidFill>
          <a:ln w="9525">
            <a:solidFill>
              <a:srgbClr val="E4EEF2"/>
            </a:solidFill>
            <a:prstDash val="solid"/>
          </a:ln>
          <a:effectLst>
            <a:outerShdw sx="100000" sy="100000" kx="0" ky="0" algn="bl" rotWithShape="0" blurRad="76200" dist="25400" dir="5400000">
              <a:srgbClr val="000000">
                <a:alpha val="10000"/>
              </a:srgbClr>
            </a:outerShdw>
          </a:effectLst>
        </p:spPr>
      </p:sp>
      <p:sp>
        <p:nvSpPr>
          <p:cNvPr id="33" name="Text 30"/>
          <p:cNvSpPr txBox="1"/>
          <p:nvPr/>
        </p:nvSpPr>
        <p:spPr>
          <a:xfrm>
            <a:off x="8001000" y="1600200"/>
            <a:ext cx="329184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CÓMO TRABAJAR</a:t>
            </a:r>
            <a:endParaRPr lang="en-US" sz="900" dirty="0"/>
          </a:p>
        </p:txBody>
      </p:sp>
      <p:sp>
        <p:nvSpPr>
          <p:cNvPr id="34" name="Shape 31"/>
          <p:cNvSpPr/>
          <p:nvPr/>
        </p:nvSpPr>
        <p:spPr>
          <a:xfrm>
            <a:off x="8028432" y="2167128"/>
            <a:ext cx="118872" cy="118872"/>
          </a:xfrm>
          <a:prstGeom prst="ellipse">
            <a:avLst/>
          </a:prstGeom>
          <a:solidFill>
            <a:srgbClr val="1C7293"/>
          </a:solidFill>
          <a:ln w="12700">
            <a:solidFill>
              <a:srgbClr val="1C7293"/>
            </a:solidFill>
            <a:prstDash val="solid"/>
          </a:ln>
        </p:spPr>
      </p:sp>
      <p:sp>
        <p:nvSpPr>
          <p:cNvPr id="35" name="Text 32"/>
          <p:cNvSpPr txBox="1"/>
          <p:nvPr/>
        </p:nvSpPr>
        <p:spPr>
          <a:xfrm>
            <a:off x="8275320" y="2039112"/>
            <a:ext cx="3200400" cy="594360"/>
          </a:xfrm>
          <a:prstGeom prst="rect">
            <a:avLst/>
          </a:prstGeom>
          <a:noFill/>
          <a:ln/>
        </p:spPr>
        <p:txBody>
          <a:bodyPr wrap="square" lIns="0" tIns="0" rIns="0" bIns="0" rtlCol="0" anchor="t"/>
          <a:lstStyle/>
          <a:p>
            <a:pPr indent="0" marL="0">
              <a:buNone/>
            </a:pPr>
            <a:r>
              <a:rPr lang="en-US" sz="1200" dirty="0">
                <a:solidFill>
                  <a:srgbClr val="1E2A44"/>
                </a:solidFill>
                <a:latin typeface="Calibri" pitchFamily="34" charset="0"/>
                <a:ea typeface="Calibri" pitchFamily="34" charset="-122"/>
                <a:cs typeface="Calibri" pitchFamily="34" charset="-120"/>
              </a:rPr>
              <a:t>Escribe en tu propio script (R/sesion4.R).</a:t>
            </a:r>
            <a:endParaRPr lang="en-US" sz="1200" dirty="0"/>
          </a:p>
        </p:txBody>
      </p:sp>
      <p:sp>
        <p:nvSpPr>
          <p:cNvPr id="36" name="Shape 33"/>
          <p:cNvSpPr/>
          <p:nvPr/>
        </p:nvSpPr>
        <p:spPr>
          <a:xfrm>
            <a:off x="8028432" y="2807208"/>
            <a:ext cx="118872" cy="118872"/>
          </a:xfrm>
          <a:prstGeom prst="ellipse">
            <a:avLst/>
          </a:prstGeom>
          <a:solidFill>
            <a:srgbClr val="1C7293"/>
          </a:solidFill>
          <a:ln w="12700">
            <a:solidFill>
              <a:srgbClr val="1C7293"/>
            </a:solidFill>
            <a:prstDash val="solid"/>
          </a:ln>
        </p:spPr>
      </p:sp>
      <p:sp>
        <p:nvSpPr>
          <p:cNvPr id="37" name="Text 34"/>
          <p:cNvSpPr txBox="1"/>
          <p:nvPr/>
        </p:nvSpPr>
        <p:spPr>
          <a:xfrm>
            <a:off x="8275320" y="2679192"/>
            <a:ext cx="3200400" cy="594360"/>
          </a:xfrm>
          <a:prstGeom prst="rect">
            <a:avLst/>
          </a:prstGeom>
          <a:noFill/>
          <a:ln/>
        </p:spPr>
        <p:txBody>
          <a:bodyPr wrap="square" lIns="0" tIns="0" rIns="0" bIns="0" rtlCol="0" anchor="t"/>
          <a:lstStyle/>
          <a:p>
            <a:pPr indent="0" marL="0">
              <a:buNone/>
            </a:pPr>
            <a:r>
              <a:rPr lang="en-US" sz="1200" dirty="0">
                <a:solidFill>
                  <a:srgbClr val="1E2A44"/>
                </a:solidFill>
                <a:latin typeface="Calibri" pitchFamily="34" charset="0"/>
                <a:ea typeface="Calibri" pitchFamily="34" charset="-122"/>
                <a:cs typeface="Calibri" pitchFamily="34" charset="-120"/>
              </a:rPr>
              <a:t>La guía es una hoja de ruta.</a:t>
            </a:r>
            <a:endParaRPr lang="en-US" sz="1200" dirty="0"/>
          </a:p>
        </p:txBody>
      </p:sp>
      <p:sp>
        <p:nvSpPr>
          <p:cNvPr id="38" name="Shape 35"/>
          <p:cNvSpPr/>
          <p:nvPr/>
        </p:nvSpPr>
        <p:spPr>
          <a:xfrm>
            <a:off x="8028432" y="3447288"/>
            <a:ext cx="118872" cy="118872"/>
          </a:xfrm>
          <a:prstGeom prst="ellipse">
            <a:avLst/>
          </a:prstGeom>
          <a:solidFill>
            <a:srgbClr val="1C7293"/>
          </a:solidFill>
          <a:ln w="12700">
            <a:solidFill>
              <a:srgbClr val="1C7293"/>
            </a:solidFill>
            <a:prstDash val="solid"/>
          </a:ln>
        </p:spPr>
      </p:sp>
      <p:sp>
        <p:nvSpPr>
          <p:cNvPr id="39" name="Text 36"/>
          <p:cNvSpPr txBox="1"/>
          <p:nvPr/>
        </p:nvSpPr>
        <p:spPr>
          <a:xfrm>
            <a:off x="8275320" y="3319272"/>
            <a:ext cx="3200400" cy="594360"/>
          </a:xfrm>
          <a:prstGeom prst="rect">
            <a:avLst/>
          </a:prstGeom>
          <a:noFill/>
          <a:ln/>
        </p:spPr>
        <p:txBody>
          <a:bodyPr wrap="square" lIns="0" tIns="0" rIns="0" bIns="0" rtlCol="0" anchor="t"/>
          <a:lstStyle/>
          <a:p>
            <a:pPr indent="0" marL="0">
              <a:buNone/>
            </a:pPr>
            <a:r>
              <a:rPr lang="en-US" sz="1200" dirty="0">
                <a:solidFill>
                  <a:srgbClr val="1E2A44"/>
                </a:solidFill>
                <a:latin typeface="Calibri" pitchFamily="34" charset="0"/>
                <a:ea typeface="Calibri" pitchFamily="34" charset="-122"/>
                <a:cs typeface="Calibri" pitchFamily="34" charset="-120"/>
              </a:rPr>
              <a:t>Si te trabas más de 3 minutos, avanza y pregunta por el chat.</a:t>
            </a:r>
            <a:endParaRPr lang="en-US" sz="1200" dirty="0"/>
          </a:p>
        </p:txBody>
      </p:sp>
      <p:sp>
        <p:nvSpPr>
          <p:cNvPr id="40" name="Shape 37"/>
          <p:cNvSpPr/>
          <p:nvPr/>
        </p:nvSpPr>
        <p:spPr>
          <a:xfrm>
            <a:off x="8028432" y="4087368"/>
            <a:ext cx="118872" cy="118872"/>
          </a:xfrm>
          <a:prstGeom prst="ellipse">
            <a:avLst/>
          </a:prstGeom>
          <a:solidFill>
            <a:srgbClr val="1C7293"/>
          </a:solidFill>
          <a:ln w="12700">
            <a:solidFill>
              <a:srgbClr val="1C7293"/>
            </a:solidFill>
            <a:prstDash val="solid"/>
          </a:ln>
        </p:spPr>
      </p:sp>
      <p:sp>
        <p:nvSpPr>
          <p:cNvPr id="41" name="Text 38"/>
          <p:cNvSpPr txBox="1"/>
          <p:nvPr/>
        </p:nvSpPr>
        <p:spPr>
          <a:xfrm>
            <a:off x="8275320" y="3959352"/>
            <a:ext cx="3200400" cy="594360"/>
          </a:xfrm>
          <a:prstGeom prst="rect">
            <a:avLst/>
          </a:prstGeom>
          <a:noFill/>
          <a:ln/>
        </p:spPr>
        <p:txBody>
          <a:bodyPr wrap="square" lIns="0" tIns="0" rIns="0" bIns="0" rtlCol="0" anchor="t"/>
          <a:lstStyle/>
          <a:p>
            <a:pPr indent="0" marL="0">
              <a:buNone/>
            </a:pPr>
            <a:r>
              <a:rPr lang="en-US" sz="1200" dirty="0">
                <a:solidFill>
                  <a:srgbClr val="1E2A44"/>
                </a:solidFill>
                <a:latin typeface="Calibri" pitchFamily="34" charset="0"/>
                <a:ea typeface="Calibri" pitchFamily="34" charset="-122"/>
                <a:cs typeface="Calibri" pitchFamily="34" charset="-120"/>
              </a:rPr>
              <a:t>Datos: egresados.csv en data/raw.</a:t>
            </a:r>
            <a:endParaRPr lang="en-US" sz="1200" dirty="0"/>
          </a:p>
        </p:txBody>
      </p:sp>
      <p:sp>
        <p:nvSpPr>
          <p:cNvPr id="42" name="Shape 39"/>
          <p:cNvSpPr/>
          <p:nvPr/>
        </p:nvSpPr>
        <p:spPr>
          <a:xfrm>
            <a:off x="548640" y="5349240"/>
            <a:ext cx="11091672" cy="640080"/>
          </a:xfrm>
          <a:prstGeom prst="rect">
            <a:avLst/>
          </a:prstGeom>
          <a:solidFill>
            <a:srgbClr val="E4EEF2"/>
          </a:solidFill>
          <a:ln w="12700">
            <a:solidFill>
              <a:srgbClr val="E4EEF2"/>
            </a:solidFill>
            <a:prstDash val="solid"/>
          </a:ln>
        </p:spPr>
      </p:sp>
      <p:sp>
        <p:nvSpPr>
          <p:cNvPr id="43" name="Shape 40"/>
          <p:cNvSpPr/>
          <p:nvPr/>
        </p:nvSpPr>
        <p:spPr>
          <a:xfrm>
            <a:off x="548640" y="5349240"/>
            <a:ext cx="64008" cy="640080"/>
          </a:xfrm>
          <a:prstGeom prst="rect">
            <a:avLst/>
          </a:prstGeom>
          <a:solidFill>
            <a:srgbClr val="1C7293"/>
          </a:solidFill>
          <a:ln w="12700">
            <a:solidFill>
              <a:srgbClr val="1C7293"/>
            </a:solidFill>
            <a:prstDash val="solid"/>
          </a:ln>
        </p:spPr>
      </p:sp>
      <p:sp>
        <p:nvSpPr>
          <p:cNvPr id="44" name="Text 41"/>
          <p:cNvSpPr txBox="1"/>
          <p:nvPr/>
        </p:nvSpPr>
        <p:spPr>
          <a:xfrm>
            <a:off x="749808" y="5349240"/>
            <a:ext cx="10771632" cy="640080"/>
          </a:xfrm>
          <a:prstGeom prst="rect">
            <a:avLst/>
          </a:prstGeom>
          <a:noFill/>
          <a:ln/>
        </p:spPr>
        <p:txBody>
          <a:bodyPr wrap="square" lIns="0" tIns="0" rIns="0" bIns="0" rtlCol="0" anchor="ctr"/>
          <a:lstStyle/>
          <a:p>
            <a:pPr indent="0" marL="0">
              <a:buNone/>
            </a:pPr>
            <a:r>
              <a:rPr lang="en-US" sz="1350" i="1" dirty="0">
                <a:solidFill>
                  <a:srgbClr val="1E2A44"/>
                </a:solidFill>
                <a:latin typeface="Calibri" pitchFamily="34" charset="0"/>
                <a:ea typeface="Calibri" pitchFamily="34" charset="-122"/>
                <a:cs typeface="Calibri" pitchFamily="34" charset="-120"/>
              </a:rPr>
              <a:t>Tienes: guía de práctica (.qmd y .R), datos y estas diapositivas.</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indent="0" marL="0">
              <a:buNone/>
            </a:pPr>
            <a:r>
              <a:rPr lang="en-US" sz="2600" b="1" dirty="0">
                <a:solidFill>
                  <a:srgbClr val="21295C"/>
                </a:solidFill>
                <a:latin typeface="Cambria" pitchFamily="34" charset="0"/>
                <a:ea typeface="Cambria" pitchFamily="34" charset="-122"/>
                <a:cs typeface="Cambria" pitchFamily="34" charset="-120"/>
              </a:rPr>
              <a:t>Lo esencial y dónde seguir</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indent="0" marL="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4</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algn="r" indent="0" marL="0">
              <a:buNone/>
            </a:pPr>
            <a:r>
              <a:rPr lang="en-US" sz="800" dirty="0">
                <a:solidFill>
                  <a:srgbClr val="8A97A6"/>
                </a:solidFill>
                <a:latin typeface="Calibri" pitchFamily="34" charset="0"/>
                <a:ea typeface="Calibri" pitchFamily="34" charset="-122"/>
                <a:cs typeface="Calibri" pitchFamily="34" charset="-120"/>
              </a:rPr>
              <a:t>34</a:t>
            </a:r>
            <a:endParaRPr lang="en-US" sz="800" dirty="0"/>
          </a:p>
        </p:txBody>
      </p:sp>
      <p:sp>
        <p:nvSpPr>
          <p:cNvPr id="7" name="Shape 4"/>
          <p:cNvSpPr/>
          <p:nvPr/>
        </p:nvSpPr>
        <p:spPr>
          <a:xfrm>
            <a:off x="548640" y="1508760"/>
            <a:ext cx="384048" cy="384048"/>
          </a:xfrm>
          <a:prstGeom prst="ellipse">
            <a:avLst/>
          </a:prstGeom>
          <a:solidFill>
            <a:srgbClr val="065A82"/>
          </a:solidFill>
          <a:ln w="12700">
            <a:solidFill>
              <a:srgbClr val="065A82"/>
            </a:solidFill>
            <a:prstDash val="solid"/>
          </a:ln>
        </p:spPr>
      </p:sp>
      <p:sp>
        <p:nvSpPr>
          <p:cNvPr id="8" name="Text 5"/>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143000" y="1481328"/>
            <a:ext cx="5943600" cy="548640"/>
          </a:xfrm>
          <a:prstGeom prst="rect">
            <a:avLst/>
          </a:prstGeom>
          <a:noFill/>
          <a:ln/>
        </p:spPr>
        <p:txBody>
          <a:bodyPr wrap="square" lIns="0" tIns="0" rIns="0" bIns="0" rtlCol="0" anchor="ctr"/>
          <a:lstStyle/>
          <a:p>
            <a:pPr indent="0" marL="0">
              <a:buNone/>
            </a:pPr>
            <a:r>
              <a:rPr lang="en-US" sz="1400" dirty="0">
                <a:solidFill>
                  <a:srgbClr val="1E2A44"/>
                </a:solidFill>
                <a:latin typeface="Calibri" pitchFamily="34" charset="0"/>
                <a:ea typeface="Calibri" pitchFamily="34" charset="-122"/>
                <a:cs typeface="Calibri" pitchFamily="34" charset="-120"/>
              </a:rPr>
              <a:t>lm(y ~ x, data) ajusta la recta; summary() y broom la leen.</a:t>
            </a:r>
            <a:endParaRPr lang="en-US" sz="1400" dirty="0"/>
          </a:p>
        </p:txBody>
      </p:sp>
      <p:sp>
        <p:nvSpPr>
          <p:cNvPr id="10" name="Shape 7"/>
          <p:cNvSpPr/>
          <p:nvPr/>
        </p:nvSpPr>
        <p:spPr>
          <a:xfrm>
            <a:off x="548640" y="2295144"/>
            <a:ext cx="384048" cy="384048"/>
          </a:xfrm>
          <a:prstGeom prst="ellipse">
            <a:avLst/>
          </a:prstGeom>
          <a:solidFill>
            <a:srgbClr val="065A82"/>
          </a:solidFill>
          <a:ln w="12700">
            <a:solidFill>
              <a:srgbClr val="065A82"/>
            </a:solidFill>
            <a:prstDash val="solid"/>
          </a:ln>
        </p:spPr>
      </p:sp>
      <p:sp>
        <p:nvSpPr>
          <p:cNvPr id="11" name="Text 8"/>
          <p:cNvSpPr txBox="1"/>
          <p:nvPr/>
        </p:nvSpPr>
        <p:spPr>
          <a:xfrm>
            <a:off x="548640" y="22951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143000" y="2267712"/>
            <a:ext cx="5943600" cy="548640"/>
          </a:xfrm>
          <a:prstGeom prst="rect">
            <a:avLst/>
          </a:prstGeom>
          <a:noFill/>
          <a:ln/>
        </p:spPr>
        <p:txBody>
          <a:bodyPr wrap="square" lIns="0" tIns="0" rIns="0" bIns="0" rtlCol="0" anchor="ctr"/>
          <a:lstStyle/>
          <a:p>
            <a:pPr indent="0" marL="0">
              <a:buNone/>
            </a:pPr>
            <a:r>
              <a:rPr lang="en-US" sz="1400" dirty="0">
                <a:solidFill>
                  <a:srgbClr val="1E2A44"/>
                </a:solidFill>
                <a:latin typeface="Calibri" pitchFamily="34" charset="0"/>
                <a:ea typeface="Calibri" pitchFamily="34" charset="-122"/>
                <a:cs typeface="Calibri" pitchFamily="34" charset="-120"/>
              </a:rPr>
              <a:t>La pendiente se interpreta con unidades y “en promedio”; el IC dice más que el valor p.</a:t>
            </a:r>
            <a:endParaRPr lang="en-US" sz="1400" dirty="0"/>
          </a:p>
        </p:txBody>
      </p:sp>
      <p:sp>
        <p:nvSpPr>
          <p:cNvPr id="13" name="Shape 10"/>
          <p:cNvSpPr/>
          <p:nvPr/>
        </p:nvSpPr>
        <p:spPr>
          <a:xfrm>
            <a:off x="548640" y="3081528"/>
            <a:ext cx="384048" cy="384048"/>
          </a:xfrm>
          <a:prstGeom prst="ellipse">
            <a:avLst/>
          </a:prstGeom>
          <a:solidFill>
            <a:srgbClr val="065A82"/>
          </a:solidFill>
          <a:ln w="12700">
            <a:solidFill>
              <a:srgbClr val="065A82"/>
            </a:solidFill>
            <a:prstDash val="solid"/>
          </a:ln>
        </p:spPr>
      </p:sp>
      <p:sp>
        <p:nvSpPr>
          <p:cNvPr id="14" name="Text 11"/>
          <p:cNvSpPr txBox="1"/>
          <p:nvPr/>
        </p:nvSpPr>
        <p:spPr>
          <a:xfrm>
            <a:off x="548640" y="3081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143000" y="3054096"/>
            <a:ext cx="5943600" cy="548640"/>
          </a:xfrm>
          <a:prstGeom prst="rect">
            <a:avLst/>
          </a:prstGeom>
          <a:noFill/>
          <a:ln/>
        </p:spPr>
        <p:txBody>
          <a:bodyPr wrap="square" lIns="0" tIns="0" rIns="0" bIns="0" rtlCol="0" anchor="ctr"/>
          <a:lstStyle/>
          <a:p>
            <a:pPr indent="0" marL="0">
              <a:buNone/>
            </a:pPr>
            <a:r>
              <a:rPr lang="en-US" sz="1400" dirty="0">
                <a:solidFill>
                  <a:srgbClr val="1E2A44"/>
                </a:solidFill>
                <a:latin typeface="Calibri" pitchFamily="34" charset="0"/>
                <a:ea typeface="Calibri" pitchFamily="34" charset="-122"/>
                <a:cs typeface="Calibri" pitchFamily="34" charset="-120"/>
              </a:rPr>
              <a:t>R² dice cuánto explica el modelo; el ajustado permite comparar.</a:t>
            </a:r>
            <a:endParaRPr lang="en-US" sz="1400" dirty="0"/>
          </a:p>
        </p:txBody>
      </p:sp>
      <p:sp>
        <p:nvSpPr>
          <p:cNvPr id="16" name="Shape 13"/>
          <p:cNvSpPr/>
          <p:nvPr/>
        </p:nvSpPr>
        <p:spPr>
          <a:xfrm>
            <a:off x="548640" y="3867912"/>
            <a:ext cx="384048" cy="384048"/>
          </a:xfrm>
          <a:prstGeom prst="ellipse">
            <a:avLst/>
          </a:prstGeom>
          <a:solidFill>
            <a:srgbClr val="065A82"/>
          </a:solidFill>
          <a:ln w="12700">
            <a:solidFill>
              <a:srgbClr val="065A82"/>
            </a:solidFill>
            <a:prstDash val="solid"/>
          </a:ln>
        </p:spPr>
      </p:sp>
      <p:sp>
        <p:nvSpPr>
          <p:cNvPr id="17" name="Text 14"/>
          <p:cNvSpPr txBox="1"/>
          <p:nvPr/>
        </p:nvSpPr>
        <p:spPr>
          <a:xfrm>
            <a:off x="548640" y="3867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5"/>
          <p:cNvSpPr txBox="1"/>
          <p:nvPr/>
        </p:nvSpPr>
        <p:spPr>
          <a:xfrm>
            <a:off x="1143000" y="3840480"/>
            <a:ext cx="5943600" cy="548640"/>
          </a:xfrm>
          <a:prstGeom prst="rect">
            <a:avLst/>
          </a:prstGeom>
          <a:noFill/>
          <a:ln/>
        </p:spPr>
        <p:txBody>
          <a:bodyPr wrap="square" lIns="0" tIns="0" rIns="0" bIns="0" rtlCol="0" anchor="ctr"/>
          <a:lstStyle/>
          <a:p>
            <a:pPr indent="0" marL="0">
              <a:buNone/>
            </a:pPr>
            <a:r>
              <a:rPr lang="en-US" sz="1400" dirty="0">
                <a:solidFill>
                  <a:srgbClr val="1E2A44"/>
                </a:solidFill>
                <a:latin typeface="Calibri" pitchFamily="34" charset="0"/>
                <a:ea typeface="Calibri" pitchFamily="34" charset="-122"/>
                <a:cs typeface="Calibri" pitchFamily="34" charset="-120"/>
              </a:rPr>
              <a:t>En regresión múltiple: “manteniendo constantes las demás”.</a:t>
            </a:r>
            <a:endParaRPr lang="en-US" sz="1400" dirty="0"/>
          </a:p>
        </p:txBody>
      </p:sp>
      <p:sp>
        <p:nvSpPr>
          <p:cNvPr id="19" name="Shape 16"/>
          <p:cNvSpPr/>
          <p:nvPr/>
        </p:nvSpPr>
        <p:spPr>
          <a:xfrm>
            <a:off x="548640" y="4654296"/>
            <a:ext cx="384048" cy="384048"/>
          </a:xfrm>
          <a:prstGeom prst="ellipse">
            <a:avLst/>
          </a:prstGeom>
          <a:solidFill>
            <a:srgbClr val="065A82"/>
          </a:solidFill>
          <a:ln w="12700">
            <a:solidFill>
              <a:srgbClr val="065A82"/>
            </a:solidFill>
            <a:prstDash val="solid"/>
          </a:ln>
        </p:spPr>
      </p:sp>
      <p:sp>
        <p:nvSpPr>
          <p:cNvPr id="20" name="Text 17"/>
          <p:cNvSpPr txBox="1"/>
          <p:nvPr/>
        </p:nvSpPr>
        <p:spPr>
          <a:xfrm>
            <a:off x="548640" y="46542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8"/>
          <p:cNvSpPr txBox="1"/>
          <p:nvPr/>
        </p:nvSpPr>
        <p:spPr>
          <a:xfrm>
            <a:off x="1143000" y="4626864"/>
            <a:ext cx="5943600" cy="548640"/>
          </a:xfrm>
          <a:prstGeom prst="rect">
            <a:avLst/>
          </a:prstGeom>
          <a:noFill/>
          <a:ln/>
        </p:spPr>
        <p:txBody>
          <a:bodyPr wrap="square" lIns="0" tIns="0" rIns="0" bIns="0" rtlCol="0" anchor="ctr"/>
          <a:lstStyle/>
          <a:p>
            <a:pPr indent="0" marL="0">
              <a:buNone/>
            </a:pPr>
            <a:r>
              <a:rPr lang="en-US" sz="1400" dirty="0">
                <a:solidFill>
                  <a:srgbClr val="1E2A44"/>
                </a:solidFill>
                <a:latin typeface="Calibri" pitchFamily="34" charset="0"/>
                <a:ea typeface="Calibri" pitchFamily="34" charset="-122"/>
                <a:cs typeface="Calibri" pitchFamily="34" charset="-120"/>
              </a:rPr>
              <a:t>La regresión describe asociaciones, no causas; no extrapoles.</a:t>
            </a:r>
            <a:endParaRPr lang="en-US" sz="1400" dirty="0"/>
          </a:p>
        </p:txBody>
      </p:sp>
      <p:sp>
        <p:nvSpPr>
          <p:cNvPr id="22" name="Text 19"/>
          <p:cNvSpPr txBox="1"/>
          <p:nvPr/>
        </p:nvSpPr>
        <p:spPr>
          <a:xfrm>
            <a:off x="7406640" y="1417320"/>
            <a:ext cx="4114800" cy="22860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PARA SEGUIR</a:t>
            </a:r>
            <a:endParaRPr lang="en-US" sz="900" dirty="0"/>
          </a:p>
        </p:txBody>
      </p:sp>
      <p:sp>
        <p:nvSpPr>
          <p:cNvPr id="23" name="Text 20"/>
          <p:cNvSpPr txBox="1"/>
          <p:nvPr/>
        </p:nvSpPr>
        <p:spPr>
          <a:xfrm>
            <a:off x="7635240" y="1783080"/>
            <a:ext cx="3931920" cy="274320"/>
          </a:xfrm>
          <a:prstGeom prst="rect">
            <a:avLst/>
          </a:prstGeom>
          <a:noFill/>
          <a:ln/>
        </p:spPr>
        <p:txBody>
          <a:bodyPr wrap="square" lIns="0" tIns="0" rIns="0" bIns="0" rtlCol="0" anchor="t"/>
          <a:lstStyle/>
          <a:p>
            <a:pPr indent="0" marL="0">
              <a:buNone/>
            </a:pPr>
            <a:r>
              <a:rPr lang="en-US" sz="1250" b="1" dirty="0">
                <a:solidFill>
                  <a:srgbClr val="21295C"/>
                </a:solidFill>
                <a:latin typeface="Calibri" pitchFamily="34" charset="0"/>
                <a:ea typeface="Calibri" pitchFamily="34" charset="-122"/>
                <a:cs typeface="Calibri" pitchFamily="34" charset="-120"/>
              </a:rPr>
              <a:t>An Introduction to Statistical Learning</a:t>
            </a:r>
            <a:endParaRPr lang="en-US" sz="1250" dirty="0"/>
          </a:p>
        </p:txBody>
      </p:sp>
      <p:sp>
        <p:nvSpPr>
          <p:cNvPr id="24" name="Text 21"/>
          <p:cNvSpPr txBox="1"/>
          <p:nvPr/>
        </p:nvSpPr>
        <p:spPr>
          <a:xfrm>
            <a:off x="7635240" y="2057400"/>
            <a:ext cx="3931920" cy="32004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James, Witten, Hastie, Tibshirani</a:t>
            </a:r>
            <a:endParaRPr lang="en-US" sz="1100" dirty="0"/>
          </a:p>
        </p:txBody>
      </p:sp>
      <p:sp>
        <p:nvSpPr>
          <p:cNvPr id="25" name="Text 22"/>
          <p:cNvSpPr txBox="1"/>
          <p:nvPr/>
        </p:nvSpPr>
        <p:spPr>
          <a:xfrm>
            <a:off x="7635240" y="2514600"/>
            <a:ext cx="3931920" cy="274320"/>
          </a:xfrm>
          <a:prstGeom prst="rect">
            <a:avLst/>
          </a:prstGeom>
          <a:noFill/>
          <a:ln/>
        </p:spPr>
        <p:txBody>
          <a:bodyPr wrap="square" lIns="0" tIns="0" rIns="0" bIns="0" rtlCol="0" anchor="t"/>
          <a:lstStyle/>
          <a:p>
            <a:pPr indent="0" marL="0">
              <a:buNone/>
            </a:pPr>
            <a:r>
              <a:rPr lang="en-US" sz="1250" b="1" dirty="0">
                <a:solidFill>
                  <a:srgbClr val="21295C"/>
                </a:solidFill>
                <a:latin typeface="Calibri" pitchFamily="34" charset="0"/>
                <a:ea typeface="Calibri" pitchFamily="34" charset="-122"/>
                <a:cs typeface="Calibri" pitchFamily="34" charset="-120"/>
              </a:rPr>
              <a:t>Regression and Other Stories</a:t>
            </a:r>
            <a:endParaRPr lang="en-US" sz="1250" dirty="0"/>
          </a:p>
        </p:txBody>
      </p:sp>
      <p:sp>
        <p:nvSpPr>
          <p:cNvPr id="26" name="Text 23"/>
          <p:cNvSpPr txBox="1"/>
          <p:nvPr/>
        </p:nvSpPr>
        <p:spPr>
          <a:xfrm>
            <a:off x="7635240" y="2788920"/>
            <a:ext cx="3931920" cy="32004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Gelman, Hill, Vehtari</a:t>
            </a:r>
            <a:endParaRPr lang="en-US" sz="1100" dirty="0"/>
          </a:p>
        </p:txBody>
      </p:sp>
      <p:sp>
        <p:nvSpPr>
          <p:cNvPr id="27" name="Text 24"/>
          <p:cNvSpPr txBox="1"/>
          <p:nvPr/>
        </p:nvSpPr>
        <p:spPr>
          <a:xfrm>
            <a:off x="7635240" y="3246120"/>
            <a:ext cx="3931920" cy="274320"/>
          </a:xfrm>
          <a:prstGeom prst="rect">
            <a:avLst/>
          </a:prstGeom>
          <a:noFill/>
          <a:ln/>
        </p:spPr>
        <p:txBody>
          <a:bodyPr wrap="square" lIns="0" tIns="0" rIns="0" bIns="0" rtlCol="0" anchor="t"/>
          <a:lstStyle/>
          <a:p>
            <a:pPr indent="0" marL="0">
              <a:buNone/>
            </a:pPr>
            <a:r>
              <a:rPr lang="en-US" sz="1250" b="1" dirty="0">
                <a:solidFill>
                  <a:srgbClr val="21295C"/>
                </a:solidFill>
                <a:latin typeface="Calibri" pitchFamily="34" charset="0"/>
                <a:ea typeface="Calibri" pitchFamily="34" charset="-122"/>
                <a:cs typeface="Calibri" pitchFamily="34" charset="-120"/>
              </a:rPr>
              <a:t>Documentación de broom</a:t>
            </a:r>
            <a:endParaRPr lang="en-US" sz="1250" dirty="0"/>
          </a:p>
        </p:txBody>
      </p:sp>
      <p:sp>
        <p:nvSpPr>
          <p:cNvPr id="28" name="Text 25"/>
          <p:cNvSpPr txBox="1"/>
          <p:nvPr/>
        </p:nvSpPr>
        <p:spPr>
          <a:xfrm>
            <a:off x="7635240" y="3520440"/>
            <a:ext cx="3931920" cy="32004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broom.tidymodels.org</a:t>
            </a:r>
            <a:endParaRPr lang="en-US" sz="1100" dirty="0"/>
          </a:p>
        </p:txBody>
      </p:sp>
      <p:sp>
        <p:nvSpPr>
          <p:cNvPr id="29" name="Shape 26"/>
          <p:cNvSpPr/>
          <p:nvPr/>
        </p:nvSpPr>
        <p:spPr>
          <a:xfrm>
            <a:off x="7406640" y="4160520"/>
            <a:ext cx="4233672" cy="1463040"/>
          </a:xfrm>
          <a:prstGeom prst="roundRect">
            <a:avLst>
              <a:gd name="adj" fmla="val 4375"/>
            </a:avLst>
          </a:prstGeom>
          <a:solidFill>
            <a:srgbClr val="21295C"/>
          </a:solidFill>
          <a:ln w="12700">
            <a:solidFill>
              <a:srgbClr val="21295C"/>
            </a:solidFill>
            <a:prstDash val="solid"/>
          </a:ln>
        </p:spPr>
      </p:sp>
      <p:sp>
        <p:nvSpPr>
          <p:cNvPr id="30" name="Text 27"/>
          <p:cNvSpPr txBox="1"/>
          <p:nvPr/>
        </p:nvSpPr>
        <p:spPr>
          <a:xfrm>
            <a:off x="7680960" y="4297680"/>
            <a:ext cx="3657600" cy="228600"/>
          </a:xfrm>
          <a:prstGeom prst="rect">
            <a:avLst/>
          </a:prstGeom>
          <a:noFill/>
          <a:ln/>
        </p:spPr>
        <p:txBody>
          <a:bodyPr wrap="square" lIns="0" tIns="0" rIns="0" bIns="0" rtlCol="0" anchor="ctr"/>
          <a:lstStyle/>
          <a:p>
            <a:pPr indent="0" marL="0">
              <a:buNone/>
            </a:pPr>
            <a:r>
              <a:rPr lang="en-US" sz="900" b="1" spc="200" kern="0" dirty="0">
                <a:solidFill>
                  <a:srgbClr val="8FB8D8"/>
                </a:solidFill>
                <a:latin typeface="Calibri" pitchFamily="34" charset="0"/>
                <a:ea typeface="Calibri" pitchFamily="34" charset="-122"/>
                <a:cs typeface="Calibri" pitchFamily="34" charset="-120"/>
              </a:rPr>
              <a:t>PRÓXIMA SESIÓN</a:t>
            </a:r>
            <a:endParaRPr lang="en-US" sz="900" dirty="0"/>
          </a:p>
        </p:txBody>
      </p:sp>
      <p:sp>
        <p:nvSpPr>
          <p:cNvPr id="31" name="Text 28"/>
          <p:cNvSpPr txBox="1"/>
          <p:nvPr/>
        </p:nvSpPr>
        <p:spPr>
          <a:xfrm>
            <a:off x="7680960" y="4572000"/>
            <a:ext cx="374904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Sesión 5 · Diagnóstico de modelos</a:t>
            </a:r>
            <a:endParaRPr lang="en-US" sz="1600" dirty="0"/>
          </a:p>
        </p:txBody>
      </p:sp>
      <p:sp>
        <p:nvSpPr>
          <p:cNvPr id="32" name="Text 29"/>
          <p:cNvSpPr txBox="1"/>
          <p:nvPr/>
        </p:nvSpPr>
        <p:spPr>
          <a:xfrm>
            <a:off x="7680960" y="4983480"/>
            <a:ext cx="3749040" cy="594360"/>
          </a:xfrm>
          <a:prstGeom prst="rect">
            <a:avLst/>
          </a:prstGeom>
          <a:noFill/>
          <a:ln/>
        </p:spPr>
        <p:txBody>
          <a:bodyPr wrap="square" lIns="0" tIns="0" rIns="0" bIns="0" rtlCol="0" anchor="t"/>
          <a:lstStyle/>
          <a:p>
            <a:pPr indent="0" marL="0">
              <a:buNone/>
            </a:pPr>
            <a:r>
              <a:rPr lang="en-US" sz="1200" dirty="0">
                <a:solidFill>
                  <a:srgbClr val="C9DDEC"/>
                </a:solidFill>
                <a:latin typeface="Calibri" pitchFamily="34" charset="0"/>
                <a:ea typeface="Calibri" pitchFamily="34" charset="-122"/>
                <a:cs typeface="Calibri" pitchFamily="34" charset="-120"/>
              </a:rPr>
              <a:t>Guarda tu modelo completo: lo diagnosticaremos (normalidad, varianza, multicolinealidad).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4 · Regresión lineal</dc:title>
  <dc:subject>PptxGenJS Presentation</dc:subject>
  <dc:creator>Pablo Lemus</dc:creator>
  <cp:lastModifiedBy>Pablo Lemus</cp:lastModifiedBy>
  <cp:revision>1</cp:revision>
  <dcterms:created xsi:type="dcterms:W3CDTF">2026-10-21T22:01:56Z</dcterms:created>
  <dcterms:modified xsi:type="dcterms:W3CDTF">2026-10-21T22:01:56Z</dcterms:modified>
</cp:coreProperties>
</file>